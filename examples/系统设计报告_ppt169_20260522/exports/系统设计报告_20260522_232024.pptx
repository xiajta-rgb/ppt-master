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jpg" ContentType="image/jpeg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A0E1A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3B82F6">
                  <a:alpha val="8000"/>
                </a:srgbClr>
              </a:gs>
              <a:gs pos="100000">
                <a:srgbClr val="3B82F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06B6D4">
                  <a:alpha val="6000"/>
                </a:srgbClr>
              </a:gs>
              <a:gs pos="100000">
                <a:srgbClr val="06B6D4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8B5CF6">
                  <a:alpha val="5000"/>
                </a:srgbClr>
              </a:gs>
              <a:gs pos="100000">
                <a:srgbClr val="8B5CF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grpSp>
        <p:nvGrpSpPr>
          <p:cNvPr id="33" name="Group 33"/>
          <p:cNvGrpSpPr/>
          <p:nvPr/>
        </p:nvGrpSpPr>
        <p:grpSpPr>
          <a:xfrm>
            <a:off x="0" y="0"/>
            <a:ext cx="18297525" cy="10296525"/>
            <a:chOff x="0" y="0"/>
            <a:chExt cx="18297525" cy="10296525"/>
          </a:xfrm>
        </p:grpSpPr>
        <p:sp>
          <p:nvSpPr>
            <p:cNvPr id="6" name="Line 6"/>
            <p:cNvSpPr/>
            <p:nvPr/>
          </p:nvSpPr>
          <p:spPr>
            <a:xfrm>
              <a:off x="0" y="0"/>
              <a:ext cx="9525" cy="10287000"/>
            </a:xfrm>
            <a:custGeom>
              <a:avLst/>
              <a:gdLst/>
              <a:ahLst/>
              <a:cxnLst/>
              <a:rect l="l" t="t" r="r" b="b"/>
              <a:pathLst>
                <a:path w="9525" h="10287000">
                  <a:moveTo>
                    <a:pt x="0" y="0"/>
                  </a:moveTo>
                  <a:lnTo>
                    <a:pt x="0" y="10287000"/>
                  </a:lnTo>
                </a:path>
              </a:pathLst>
            </a:custGeom>
            <a:noFill/>
            <a:ln w="9525">
              <a:solidFill>
                <a:srgbClr val="1E293B">
                  <a:alpha val="15000"/>
                </a:srgbClr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1143000" y="0"/>
              <a:ext cx="9525" cy="10287000"/>
            </a:xfrm>
            <a:custGeom>
              <a:avLst/>
              <a:gdLst/>
              <a:ahLst/>
              <a:cxnLst/>
              <a:rect l="l" t="t" r="r" b="b"/>
              <a:pathLst>
                <a:path w="9525" h="10287000">
                  <a:moveTo>
                    <a:pt x="0" y="0"/>
                  </a:moveTo>
                  <a:lnTo>
                    <a:pt x="0" y="10287000"/>
                  </a:lnTo>
                </a:path>
              </a:pathLst>
            </a:custGeom>
            <a:noFill/>
            <a:ln w="9525">
              <a:solidFill>
                <a:srgbClr val="1E293B">
                  <a:alpha val="15000"/>
                </a:srgbClr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2286000" y="0"/>
              <a:ext cx="9525" cy="10287000"/>
            </a:xfrm>
            <a:custGeom>
              <a:avLst/>
              <a:gdLst/>
              <a:ahLst/>
              <a:cxnLst/>
              <a:rect l="l" t="t" r="r" b="b"/>
              <a:pathLst>
                <a:path w="9525" h="10287000">
                  <a:moveTo>
                    <a:pt x="0" y="0"/>
                  </a:moveTo>
                  <a:lnTo>
                    <a:pt x="0" y="10287000"/>
                  </a:lnTo>
                </a:path>
              </a:pathLst>
            </a:custGeom>
            <a:noFill/>
            <a:ln w="9525">
              <a:solidFill>
                <a:srgbClr val="1E293B">
                  <a:alpha val="15000"/>
                </a:srgbClr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3429000" y="0"/>
              <a:ext cx="9525" cy="10287000"/>
            </a:xfrm>
            <a:custGeom>
              <a:avLst/>
              <a:gdLst/>
              <a:ahLst/>
              <a:cxnLst/>
              <a:rect l="l" t="t" r="r" b="b"/>
              <a:pathLst>
                <a:path w="9525" h="10287000">
                  <a:moveTo>
                    <a:pt x="0" y="0"/>
                  </a:moveTo>
                  <a:lnTo>
                    <a:pt x="0" y="10287000"/>
                  </a:lnTo>
                </a:path>
              </a:pathLst>
            </a:custGeom>
            <a:noFill/>
            <a:ln w="9525">
              <a:solidFill>
                <a:srgbClr val="1E293B">
                  <a:alpha val="15000"/>
                </a:srgbClr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4572000" y="0"/>
              <a:ext cx="9525" cy="10287000"/>
            </a:xfrm>
            <a:custGeom>
              <a:avLst/>
              <a:gdLst/>
              <a:ahLst/>
              <a:cxnLst/>
              <a:rect l="l" t="t" r="r" b="b"/>
              <a:pathLst>
                <a:path w="9525" h="10287000">
                  <a:moveTo>
                    <a:pt x="0" y="0"/>
                  </a:moveTo>
                  <a:lnTo>
                    <a:pt x="0" y="10287000"/>
                  </a:lnTo>
                </a:path>
              </a:pathLst>
            </a:custGeom>
            <a:noFill/>
            <a:ln w="9525">
              <a:solidFill>
                <a:srgbClr val="1E293B">
                  <a:alpha val="15000"/>
                </a:srgbClr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5715000" y="0"/>
              <a:ext cx="9525" cy="10287000"/>
            </a:xfrm>
            <a:custGeom>
              <a:avLst/>
              <a:gdLst/>
              <a:ahLst/>
              <a:cxnLst/>
              <a:rect l="l" t="t" r="r" b="b"/>
              <a:pathLst>
                <a:path w="9525" h="10287000">
                  <a:moveTo>
                    <a:pt x="0" y="0"/>
                  </a:moveTo>
                  <a:lnTo>
                    <a:pt x="0" y="10287000"/>
                  </a:lnTo>
                </a:path>
              </a:pathLst>
            </a:custGeom>
            <a:noFill/>
            <a:ln w="9525">
              <a:solidFill>
                <a:srgbClr val="1E293B">
                  <a:alpha val="15000"/>
                </a:srgbClr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6858000" y="0"/>
              <a:ext cx="9525" cy="10287000"/>
            </a:xfrm>
            <a:custGeom>
              <a:avLst/>
              <a:gdLst/>
              <a:ahLst/>
              <a:cxnLst/>
              <a:rect l="l" t="t" r="r" b="b"/>
              <a:pathLst>
                <a:path w="9525" h="10287000">
                  <a:moveTo>
                    <a:pt x="0" y="0"/>
                  </a:moveTo>
                  <a:lnTo>
                    <a:pt x="0" y="10287000"/>
                  </a:lnTo>
                </a:path>
              </a:pathLst>
            </a:custGeom>
            <a:noFill/>
            <a:ln w="9525">
              <a:solidFill>
                <a:srgbClr val="1E293B">
                  <a:alpha val="15000"/>
                </a:srgbClr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8001000" y="0"/>
              <a:ext cx="9525" cy="10287000"/>
            </a:xfrm>
            <a:custGeom>
              <a:avLst/>
              <a:gdLst/>
              <a:ahLst/>
              <a:cxnLst/>
              <a:rect l="l" t="t" r="r" b="b"/>
              <a:pathLst>
                <a:path w="9525" h="10287000">
                  <a:moveTo>
                    <a:pt x="0" y="0"/>
                  </a:moveTo>
                  <a:lnTo>
                    <a:pt x="0" y="10287000"/>
                  </a:lnTo>
                </a:path>
              </a:pathLst>
            </a:custGeom>
            <a:noFill/>
            <a:ln w="9525">
              <a:solidFill>
                <a:srgbClr val="1E293B">
                  <a:alpha val="15000"/>
                </a:srgbClr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9144000" y="0"/>
              <a:ext cx="9525" cy="10287000"/>
            </a:xfrm>
            <a:custGeom>
              <a:avLst/>
              <a:gdLst/>
              <a:ahLst/>
              <a:cxnLst/>
              <a:rect l="l" t="t" r="r" b="b"/>
              <a:pathLst>
                <a:path w="9525" h="10287000">
                  <a:moveTo>
                    <a:pt x="0" y="0"/>
                  </a:moveTo>
                  <a:lnTo>
                    <a:pt x="0" y="10287000"/>
                  </a:lnTo>
                </a:path>
              </a:pathLst>
            </a:custGeom>
            <a:noFill/>
            <a:ln w="9525">
              <a:solidFill>
                <a:srgbClr val="1E293B">
                  <a:alpha val="15000"/>
                </a:srgbClr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10287000" y="0"/>
              <a:ext cx="9525" cy="10287000"/>
            </a:xfrm>
            <a:custGeom>
              <a:avLst/>
              <a:gdLst/>
              <a:ahLst/>
              <a:cxnLst/>
              <a:rect l="l" t="t" r="r" b="b"/>
              <a:pathLst>
                <a:path w="9525" h="10287000">
                  <a:moveTo>
                    <a:pt x="0" y="0"/>
                  </a:moveTo>
                  <a:lnTo>
                    <a:pt x="0" y="10287000"/>
                  </a:lnTo>
                </a:path>
              </a:pathLst>
            </a:custGeom>
            <a:noFill/>
            <a:ln w="9525">
              <a:solidFill>
                <a:srgbClr val="1E293B">
                  <a:alpha val="15000"/>
                </a:srgbClr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11430000" y="0"/>
              <a:ext cx="9525" cy="10287000"/>
            </a:xfrm>
            <a:custGeom>
              <a:avLst/>
              <a:gdLst/>
              <a:ahLst/>
              <a:cxnLst/>
              <a:rect l="l" t="t" r="r" b="b"/>
              <a:pathLst>
                <a:path w="9525" h="10287000">
                  <a:moveTo>
                    <a:pt x="0" y="0"/>
                  </a:moveTo>
                  <a:lnTo>
                    <a:pt x="0" y="10287000"/>
                  </a:lnTo>
                </a:path>
              </a:pathLst>
            </a:custGeom>
            <a:noFill/>
            <a:ln w="9525">
              <a:solidFill>
                <a:srgbClr val="1E293B">
                  <a:alpha val="15000"/>
                </a:srgbClr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12573000" y="0"/>
              <a:ext cx="9525" cy="10287000"/>
            </a:xfrm>
            <a:custGeom>
              <a:avLst/>
              <a:gdLst/>
              <a:ahLst/>
              <a:cxnLst/>
              <a:rect l="l" t="t" r="r" b="b"/>
              <a:pathLst>
                <a:path w="9525" h="10287000">
                  <a:moveTo>
                    <a:pt x="0" y="0"/>
                  </a:moveTo>
                  <a:lnTo>
                    <a:pt x="0" y="10287000"/>
                  </a:lnTo>
                </a:path>
              </a:pathLst>
            </a:custGeom>
            <a:noFill/>
            <a:ln w="9525">
              <a:solidFill>
                <a:srgbClr val="1E293B">
                  <a:alpha val="15000"/>
                </a:srgbClr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13716000" y="0"/>
              <a:ext cx="9525" cy="10287000"/>
            </a:xfrm>
            <a:custGeom>
              <a:avLst/>
              <a:gdLst/>
              <a:ahLst/>
              <a:cxnLst/>
              <a:rect l="l" t="t" r="r" b="b"/>
              <a:pathLst>
                <a:path w="9525" h="10287000">
                  <a:moveTo>
                    <a:pt x="0" y="0"/>
                  </a:moveTo>
                  <a:lnTo>
                    <a:pt x="0" y="10287000"/>
                  </a:lnTo>
                </a:path>
              </a:pathLst>
            </a:custGeom>
            <a:noFill/>
            <a:ln w="9525">
              <a:solidFill>
                <a:srgbClr val="1E293B">
                  <a:alpha val="15000"/>
                </a:srgbClr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14859000" y="0"/>
              <a:ext cx="9525" cy="10287000"/>
            </a:xfrm>
            <a:custGeom>
              <a:avLst/>
              <a:gdLst/>
              <a:ahLst/>
              <a:cxnLst/>
              <a:rect l="l" t="t" r="r" b="b"/>
              <a:pathLst>
                <a:path w="9525" h="10287000">
                  <a:moveTo>
                    <a:pt x="0" y="0"/>
                  </a:moveTo>
                  <a:lnTo>
                    <a:pt x="0" y="10287000"/>
                  </a:lnTo>
                </a:path>
              </a:pathLst>
            </a:custGeom>
            <a:noFill/>
            <a:ln w="9525">
              <a:solidFill>
                <a:srgbClr val="1E293B">
                  <a:alpha val="15000"/>
                </a:srgbClr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16002000" y="0"/>
              <a:ext cx="9525" cy="10287000"/>
            </a:xfrm>
            <a:custGeom>
              <a:avLst/>
              <a:gdLst/>
              <a:ahLst/>
              <a:cxnLst/>
              <a:rect l="l" t="t" r="r" b="b"/>
              <a:pathLst>
                <a:path w="9525" h="10287000">
                  <a:moveTo>
                    <a:pt x="0" y="0"/>
                  </a:moveTo>
                  <a:lnTo>
                    <a:pt x="0" y="10287000"/>
                  </a:lnTo>
                </a:path>
              </a:pathLst>
            </a:custGeom>
            <a:noFill/>
            <a:ln w="9525">
              <a:solidFill>
                <a:srgbClr val="1E293B">
                  <a:alpha val="15000"/>
                </a:srgbClr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17145000" y="0"/>
              <a:ext cx="9525" cy="10287000"/>
            </a:xfrm>
            <a:custGeom>
              <a:avLst/>
              <a:gdLst/>
              <a:ahLst/>
              <a:cxnLst/>
              <a:rect l="l" t="t" r="r" b="b"/>
              <a:pathLst>
                <a:path w="9525" h="10287000">
                  <a:moveTo>
                    <a:pt x="0" y="0"/>
                  </a:moveTo>
                  <a:lnTo>
                    <a:pt x="0" y="10287000"/>
                  </a:lnTo>
                </a:path>
              </a:pathLst>
            </a:custGeom>
            <a:noFill/>
            <a:ln w="9525">
              <a:solidFill>
                <a:srgbClr val="1E293B">
                  <a:alpha val="15000"/>
                </a:srgbClr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18288000" y="0"/>
              <a:ext cx="9525" cy="10287000"/>
            </a:xfrm>
            <a:custGeom>
              <a:avLst/>
              <a:gdLst/>
              <a:ahLst/>
              <a:cxnLst/>
              <a:rect l="l" t="t" r="r" b="b"/>
              <a:pathLst>
                <a:path w="9525" h="10287000">
                  <a:moveTo>
                    <a:pt x="0" y="0"/>
                  </a:moveTo>
                  <a:lnTo>
                    <a:pt x="0" y="10287000"/>
                  </a:lnTo>
                </a:path>
              </a:pathLst>
            </a:custGeom>
            <a:noFill/>
            <a:ln w="9525">
              <a:solidFill>
                <a:srgbClr val="1E293B">
                  <a:alpha val="15000"/>
                </a:srgbClr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0" y="0"/>
              <a:ext cx="18288000" cy="9525"/>
            </a:xfrm>
            <a:custGeom>
              <a:avLst/>
              <a:gdLst/>
              <a:ahLst/>
              <a:cxnLst/>
              <a:rect l="l" t="t" r="r" b="b"/>
              <a:pathLst>
                <a:path w="18288000" h="9525">
                  <a:moveTo>
                    <a:pt x="0" y="0"/>
                  </a:moveTo>
                  <a:lnTo>
                    <a:pt x="18288000" y="0"/>
                  </a:lnTo>
                </a:path>
              </a:pathLst>
            </a:custGeom>
            <a:noFill/>
            <a:ln w="9525">
              <a:solidFill>
                <a:srgbClr val="1E293B">
                  <a:alpha val="15000"/>
                </a:srgbClr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0" y="1143000"/>
              <a:ext cx="18288000" cy="9525"/>
            </a:xfrm>
            <a:custGeom>
              <a:avLst/>
              <a:gdLst/>
              <a:ahLst/>
              <a:cxnLst/>
              <a:rect l="l" t="t" r="r" b="b"/>
              <a:pathLst>
                <a:path w="18288000" h="9525">
                  <a:moveTo>
                    <a:pt x="0" y="0"/>
                  </a:moveTo>
                  <a:lnTo>
                    <a:pt x="18288000" y="0"/>
                  </a:lnTo>
                </a:path>
              </a:pathLst>
            </a:custGeom>
            <a:noFill/>
            <a:ln w="9525">
              <a:solidFill>
                <a:srgbClr val="1E293B">
                  <a:alpha val="15000"/>
                </a:srgbClr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0" y="2286000"/>
              <a:ext cx="18288000" cy="9525"/>
            </a:xfrm>
            <a:custGeom>
              <a:avLst/>
              <a:gdLst/>
              <a:ahLst/>
              <a:cxnLst/>
              <a:rect l="l" t="t" r="r" b="b"/>
              <a:pathLst>
                <a:path w="18288000" h="9525">
                  <a:moveTo>
                    <a:pt x="0" y="0"/>
                  </a:moveTo>
                  <a:lnTo>
                    <a:pt x="18288000" y="0"/>
                  </a:lnTo>
                </a:path>
              </a:pathLst>
            </a:custGeom>
            <a:noFill/>
            <a:ln w="9525">
              <a:solidFill>
                <a:srgbClr val="1E293B">
                  <a:alpha val="15000"/>
                </a:srgbClr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0" y="3429000"/>
              <a:ext cx="18288000" cy="9525"/>
            </a:xfrm>
            <a:custGeom>
              <a:avLst/>
              <a:gdLst/>
              <a:ahLst/>
              <a:cxnLst/>
              <a:rect l="l" t="t" r="r" b="b"/>
              <a:pathLst>
                <a:path w="18288000" h="9525">
                  <a:moveTo>
                    <a:pt x="0" y="0"/>
                  </a:moveTo>
                  <a:lnTo>
                    <a:pt x="18288000" y="0"/>
                  </a:lnTo>
                </a:path>
              </a:pathLst>
            </a:custGeom>
            <a:noFill/>
            <a:ln w="9525">
              <a:solidFill>
                <a:srgbClr val="1E293B">
                  <a:alpha val="15000"/>
                </a:srgbClr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0" y="4572000"/>
              <a:ext cx="18288000" cy="9525"/>
            </a:xfrm>
            <a:custGeom>
              <a:avLst/>
              <a:gdLst/>
              <a:ahLst/>
              <a:cxnLst/>
              <a:rect l="l" t="t" r="r" b="b"/>
              <a:pathLst>
                <a:path w="18288000" h="9525">
                  <a:moveTo>
                    <a:pt x="0" y="0"/>
                  </a:moveTo>
                  <a:lnTo>
                    <a:pt x="18288000" y="0"/>
                  </a:lnTo>
                </a:path>
              </a:pathLst>
            </a:custGeom>
            <a:noFill/>
            <a:ln w="9525">
              <a:solidFill>
                <a:srgbClr val="1E293B">
                  <a:alpha val="15000"/>
                </a:srgbClr>
              </a:solidFill>
            </a:ln>
          </p:spPr>
        </p:sp>
        <p:sp>
          <p:nvSpPr>
            <p:cNvPr id="28" name="Line 28"/>
            <p:cNvSpPr/>
            <p:nvPr/>
          </p:nvSpPr>
          <p:spPr>
            <a:xfrm>
              <a:off x="0" y="5715000"/>
              <a:ext cx="18288000" cy="9525"/>
            </a:xfrm>
            <a:custGeom>
              <a:avLst/>
              <a:gdLst/>
              <a:ahLst/>
              <a:cxnLst/>
              <a:rect l="l" t="t" r="r" b="b"/>
              <a:pathLst>
                <a:path w="18288000" h="9525">
                  <a:moveTo>
                    <a:pt x="0" y="0"/>
                  </a:moveTo>
                  <a:lnTo>
                    <a:pt x="18288000" y="0"/>
                  </a:lnTo>
                </a:path>
              </a:pathLst>
            </a:custGeom>
            <a:noFill/>
            <a:ln w="9525">
              <a:solidFill>
                <a:srgbClr val="1E293B">
                  <a:alpha val="15000"/>
                </a:srgbClr>
              </a:solidFill>
            </a:ln>
          </p:spPr>
        </p:sp>
        <p:sp>
          <p:nvSpPr>
            <p:cNvPr id="29" name="Line 29"/>
            <p:cNvSpPr/>
            <p:nvPr/>
          </p:nvSpPr>
          <p:spPr>
            <a:xfrm>
              <a:off x="0" y="6858000"/>
              <a:ext cx="18288000" cy="9525"/>
            </a:xfrm>
            <a:custGeom>
              <a:avLst/>
              <a:gdLst/>
              <a:ahLst/>
              <a:cxnLst/>
              <a:rect l="l" t="t" r="r" b="b"/>
              <a:pathLst>
                <a:path w="18288000" h="9525">
                  <a:moveTo>
                    <a:pt x="0" y="0"/>
                  </a:moveTo>
                  <a:lnTo>
                    <a:pt x="18288000" y="0"/>
                  </a:lnTo>
                </a:path>
              </a:pathLst>
            </a:custGeom>
            <a:noFill/>
            <a:ln w="9525">
              <a:solidFill>
                <a:srgbClr val="1E293B">
                  <a:alpha val="15000"/>
                </a:srgbClr>
              </a:solidFill>
            </a:ln>
          </p:spPr>
        </p:sp>
        <p:sp>
          <p:nvSpPr>
            <p:cNvPr id="30" name="Line 30"/>
            <p:cNvSpPr/>
            <p:nvPr/>
          </p:nvSpPr>
          <p:spPr>
            <a:xfrm>
              <a:off x="0" y="8001000"/>
              <a:ext cx="18288000" cy="9525"/>
            </a:xfrm>
            <a:custGeom>
              <a:avLst/>
              <a:gdLst/>
              <a:ahLst/>
              <a:cxnLst/>
              <a:rect l="l" t="t" r="r" b="b"/>
              <a:pathLst>
                <a:path w="18288000" h="9525">
                  <a:moveTo>
                    <a:pt x="0" y="0"/>
                  </a:moveTo>
                  <a:lnTo>
                    <a:pt x="18288000" y="0"/>
                  </a:lnTo>
                </a:path>
              </a:pathLst>
            </a:custGeom>
            <a:noFill/>
            <a:ln w="9525">
              <a:solidFill>
                <a:srgbClr val="1E293B">
                  <a:alpha val="15000"/>
                </a:srgbClr>
              </a:solidFill>
            </a:ln>
          </p:spPr>
        </p:sp>
        <p:sp>
          <p:nvSpPr>
            <p:cNvPr id="31" name="Line 31"/>
            <p:cNvSpPr/>
            <p:nvPr/>
          </p:nvSpPr>
          <p:spPr>
            <a:xfrm>
              <a:off x="0" y="9144000"/>
              <a:ext cx="18288000" cy="9525"/>
            </a:xfrm>
            <a:custGeom>
              <a:avLst/>
              <a:gdLst/>
              <a:ahLst/>
              <a:cxnLst/>
              <a:rect l="l" t="t" r="r" b="b"/>
              <a:pathLst>
                <a:path w="18288000" h="9525">
                  <a:moveTo>
                    <a:pt x="0" y="0"/>
                  </a:moveTo>
                  <a:lnTo>
                    <a:pt x="18288000" y="0"/>
                  </a:lnTo>
                </a:path>
              </a:pathLst>
            </a:custGeom>
            <a:noFill/>
            <a:ln w="9525">
              <a:solidFill>
                <a:srgbClr val="1E293B">
                  <a:alpha val="15000"/>
                </a:srgbClr>
              </a:solidFill>
            </a:ln>
          </p:spPr>
        </p:sp>
        <p:sp>
          <p:nvSpPr>
            <p:cNvPr id="32" name="Line 32"/>
            <p:cNvSpPr/>
            <p:nvPr/>
          </p:nvSpPr>
          <p:spPr>
            <a:xfrm>
              <a:off x="0" y="10287000"/>
              <a:ext cx="18288000" cy="9525"/>
            </a:xfrm>
            <a:custGeom>
              <a:avLst/>
              <a:gdLst/>
              <a:ahLst/>
              <a:cxnLst/>
              <a:rect l="l" t="t" r="r" b="b"/>
              <a:pathLst>
                <a:path w="18288000" h="9525">
                  <a:moveTo>
                    <a:pt x="0" y="0"/>
                  </a:moveTo>
                  <a:lnTo>
                    <a:pt x="18288000" y="0"/>
                  </a:lnTo>
                </a:path>
              </a:pathLst>
            </a:custGeom>
            <a:noFill/>
            <a:ln w="9525">
              <a:solidFill>
                <a:srgbClr val="1E293B">
                  <a:alpha val="15000"/>
                </a:srgbClr>
              </a:solidFill>
            </a:ln>
          </p:spPr>
        </p:sp>
      </p:grpSp>
      <p:sp>
        <p:nvSpPr>
          <p:cNvPr id="34" name="Rectangle 34"/>
          <p:cNvSpPr/>
          <p:nvPr/>
        </p:nvSpPr>
        <p:spPr>
          <a:xfrm>
            <a:off x="8191500" y="2952750"/>
            <a:ext cx="1905000" cy="342900"/>
          </a:xfrm>
          <a:prstGeom prst="rect">
            <a:avLst/>
          </a:prstGeom>
          <a:solidFill>
            <a:srgbClr val="06B6D4">
              <a:alpha val="10000"/>
            </a:srgbClr>
          </a:solidFill>
          <a:ln w="9525">
            <a:solidFill>
              <a:srgbClr val="06B6D4">
                <a:alpha val="25000"/>
              </a:srgbClr>
            </a:solidFill>
          </a:ln>
        </p:spPr>
      </p:sp>
      <p:sp>
        <p:nvSpPr>
          <p:cNvPr id="35" name="Ellipse 35"/>
          <p:cNvSpPr/>
          <p:nvPr/>
        </p:nvSpPr>
        <p:spPr>
          <a:xfrm>
            <a:off x="8362950" y="3086100"/>
            <a:ext cx="76200" cy="7620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8195346" y="3076099"/>
            <a:ext cx="189730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06B6D4"/>
                </a:solidFill>
                <a:latin typeface="Consolas"/>
                <a:ea typeface="Microsoft YaHei"/>
                <a:cs typeface="Consolas"/>
              </a:rPr>
              <a:t>SYSTEM DESIGN REPORT v2.0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5763006" y="3512820"/>
            <a:ext cx="6761988" cy="1097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540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全数智化企划研发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5763006" y="4370070"/>
            <a:ext cx="6761988" cy="1097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5400" b="1" dirty="0">
                <a:gradFill>
                  <a:gsLst>
                    <a:gs pos="0">
                      <a:srgbClr val="06B6D4"/>
                    </a:gs>
                    <a:gs pos="50000">
                      <a:srgbClr val="3B82F6"/>
                    </a:gs>
                    <a:gs pos="100000">
                      <a:srgbClr val="8B5CF6"/>
                    </a:gs>
                  </a:gsLst>
                  <a:lin ang="2700000" scaled="1"/>
                </a:gradFill>
                <a:latin typeface="Arial"/>
                <a:ea typeface="Microsoft YaHei"/>
                <a:cs typeface="Arial"/>
              </a:rPr>
              <a:t>业务系统设计报告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4508206" y="5474018"/>
            <a:ext cx="927158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以数智化企划设计中心（VOC）为轴心，融合亚马逊市场爬虫、品牌色彩库、利润测算工具与中台运营分析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7056596" y="5740718"/>
            <a:ext cx="417480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构建跨境电商企划研发部的一体化数智业务平台</a:t>
            </a:r>
          </a:p>
        </p:txBody>
      </p:sp>
      <p:grpSp>
        <p:nvGrpSpPr>
          <p:cNvPr id="53" name="Group 53"/>
          <p:cNvGrpSpPr/>
          <p:nvPr/>
        </p:nvGrpSpPr>
        <p:grpSpPr>
          <a:xfrm>
            <a:off x="6096000" y="6477000"/>
            <a:ext cx="6096000" cy="857250"/>
            <a:chOff x="6096000" y="6477000"/>
            <a:chExt cx="6096000" cy="857250"/>
          </a:xfrm>
        </p:grpSpPr>
        <p:sp>
          <p:nvSpPr>
            <p:cNvPr id="41" name="Rectangle 41"/>
            <p:cNvSpPr/>
            <p:nvPr/>
          </p:nvSpPr>
          <p:spPr>
            <a:xfrm>
              <a:off x="6096000" y="6477000"/>
              <a:ext cx="1333500" cy="857250"/>
            </a:xfrm>
            <a:prstGeom prst="rect">
              <a:avLst/>
            </a:prstGeom>
            <a:solidFill>
              <a:srgbClr val="161D2E"/>
            </a:solidFill>
            <a:ln w="9525">
              <a:solidFill>
                <a:srgbClr val="1E293B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614596" y="6566535"/>
              <a:ext cx="296308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5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394371" y="7019449"/>
              <a:ext cx="73675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核心子系统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7620000" y="6477000"/>
              <a:ext cx="1333500" cy="857250"/>
            </a:xfrm>
            <a:prstGeom prst="rect">
              <a:avLst/>
            </a:prstGeom>
            <a:solidFill>
              <a:srgbClr val="161D2E"/>
            </a:solidFill>
            <a:ln w="9525">
              <a:solidFill>
                <a:srgbClr val="1E293B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024732" y="6566535"/>
              <a:ext cx="524037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3B82F6"/>
                  </a:solidFill>
                  <a:latin typeface="Arial"/>
                  <a:ea typeface="Microsoft YaHei"/>
                  <a:cs typeface="Arial"/>
                </a:rPr>
                <a:t>24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868531" y="7019449"/>
              <a:ext cx="83643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API 能力模块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9144000" y="6477000"/>
              <a:ext cx="1333500" cy="857250"/>
            </a:xfrm>
            <a:prstGeom prst="rect">
              <a:avLst/>
            </a:prstGeom>
            <a:solidFill>
              <a:srgbClr val="161D2E"/>
            </a:solidFill>
            <a:ln w="9525">
              <a:solidFill>
                <a:srgbClr val="1E293B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9662596" y="6566535"/>
              <a:ext cx="296308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8B5CF6"/>
                  </a:solidFill>
                  <a:latin typeface="Arial"/>
                  <a:ea typeface="Microsoft YaHei"/>
                  <a:cs typeface="Arial"/>
                </a:rPr>
                <a:t>6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442371" y="7019449"/>
              <a:ext cx="73675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业务域覆盖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10668000" y="6477000"/>
              <a:ext cx="1524000" cy="857250"/>
            </a:xfrm>
            <a:prstGeom prst="rect">
              <a:avLst/>
            </a:prstGeom>
            <a:solidFill>
              <a:srgbClr val="161D2E"/>
            </a:solidFill>
            <a:ln w="9525">
              <a:solidFill>
                <a:srgbClr val="1E293B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10992010" y="6566535"/>
              <a:ext cx="875981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2914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0990421" y="7019449"/>
              <a:ext cx="87915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品牌色彩体系</a:t>
              </a:r>
            </a:p>
          </p:txBody>
        </p:sp>
      </p:grpSp>
      <p:sp>
        <p:nvSpPr>
          <p:cNvPr id="54" name="Line 54"/>
          <p:cNvSpPr/>
          <p:nvPr/>
        </p:nvSpPr>
        <p:spPr>
          <a:xfrm>
            <a:off x="8191500" y="7905750"/>
            <a:ext cx="1905000" cy="9525"/>
          </a:xfrm>
          <a:custGeom>
            <a:avLst/>
            <a:gdLst/>
            <a:ahLst/>
            <a:cxnLst/>
            <a:rect l="l" t="t" r="r" b="b"/>
            <a:pathLst>
              <a:path w="1905000" h="9525">
                <a:moveTo>
                  <a:pt x="0" y="0"/>
                </a:moveTo>
                <a:lnTo>
                  <a:pt x="1905000" y="0"/>
                </a:lnTo>
              </a:path>
            </a:pathLst>
          </a:custGeom>
          <a:noFill/>
          <a:ln w="9525">
            <a:solidFill>
              <a:srgbClr val="1E293B"/>
            </a:solidFill>
          </a:ln>
        </p:spPr>
      </p:sp>
      <p:sp>
        <p:nvSpPr>
          <p:cNvPr id="55" name="TextBox 55"/>
          <p:cNvSpPr txBox="1"/>
          <p:nvPr/>
        </p:nvSpPr>
        <p:spPr>
          <a:xfrm>
            <a:off x="8539886" y="8157210"/>
            <a:ext cx="120822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LASEN</a:t>
            </a:r>
            <a:r>
              <a:rPr lang="zh-CN" sz="1200" b="1" dirty="0">
                <a:solidFill>
                  <a:srgbClr val="06B6D4"/>
                </a:solidFill>
                <a:latin typeface="Arial"/>
                <a:ea typeface="Microsoft YaHei"/>
                <a:cs typeface="Arial"/>
              </a:rPr>
              <a:t>.</a:t>
            </a:r>
            <a:r>
              <a:rPr lang="zh-CN" sz="1200" b="1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Digital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8363902" y="8459152"/>
            <a:ext cx="156019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2026.05 · 企划研发部</a:t>
            </a:r>
          </a:p>
        </p:txBody>
      </p:sp>
    </p:spTree>
  </p:cSld>
  <p:clrMapOvr>
    <a:masterClrMapping/>
  </p:clrMapOvr>
  <p:transition 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A0E1A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571500" y="381000"/>
            <a:ext cx="17145000" cy="419100"/>
          </a:xfrm>
          <a:prstGeom prst="rect">
            <a:avLst/>
          </a:prstGeom>
          <a:solidFill>
            <a:srgbClr val="161D2E"/>
          </a:solidFill>
          <a:ln w="9525">
            <a:solidFill>
              <a:srgbClr val="1E293B"/>
            </a:solidFill>
          </a:ln>
        </p:spPr>
      </p:sp>
      <p:sp>
        <p:nvSpPr>
          <p:cNvPr id="4" name="TextBox 4"/>
          <p:cNvSpPr txBox="1"/>
          <p:nvPr/>
        </p:nvSpPr>
        <p:spPr>
          <a:xfrm>
            <a:off x="748665" y="534352"/>
            <a:ext cx="105719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06B6D4"/>
                </a:solidFill>
                <a:latin typeface="Arial"/>
                <a:ea typeface="Microsoft YaHei"/>
                <a:cs typeface="Arial"/>
              </a:rPr>
              <a:t>LASEN.Digital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6491347" y="558641"/>
            <a:ext cx="104513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系统设计报告 v2.0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0070" y="1141095"/>
            <a:ext cx="65083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06B6D4"/>
                </a:solidFill>
                <a:latin typeface="Arial"/>
                <a:ea typeface="Microsoft YaHei"/>
                <a:cs typeface="Arial"/>
              </a:rPr>
              <a:t>OVERVIEW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41020" y="1341120"/>
            <a:ext cx="1533144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系统总览</a:t>
            </a:r>
          </a:p>
        </p:txBody>
      </p:sp>
      <p:sp>
        <p:nvSpPr>
          <p:cNvPr id="8" name="Rectangle 8"/>
          <p:cNvSpPr/>
          <p:nvPr/>
        </p:nvSpPr>
        <p:spPr>
          <a:xfrm>
            <a:off x="571500" y="1809750"/>
            <a:ext cx="17145000" cy="476250"/>
          </a:xfrm>
          <a:prstGeom prst="rect">
            <a:avLst/>
          </a:prstGeom>
          <a:solidFill>
            <a:srgbClr val="06B6D4">
              <a:alpha val="6000"/>
            </a:srgbClr>
          </a:solidFill>
          <a:ln w="9525">
            <a:solidFill>
              <a:srgbClr val="06B6D4">
                <a:alpha val="15000"/>
              </a:srgbClr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4146994" y="1975485"/>
            <a:ext cx="999401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以VOC数智化企划设计中心为轴心，融合亚马逊市场爬虫、品牌色彩库、利润测算工具与中台运营分析，构建一体化数智业务平台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571500" y="2571750"/>
            <a:ext cx="17145000" cy="1543050"/>
            <a:chOff x="571500" y="2571750"/>
            <a:chExt cx="17145000" cy="1543050"/>
          </a:xfrm>
        </p:grpSpPr>
        <p:sp>
          <p:nvSpPr>
            <p:cNvPr id="10" name="Rectangle 10"/>
            <p:cNvSpPr/>
            <p:nvPr/>
          </p:nvSpPr>
          <p:spPr>
            <a:xfrm>
              <a:off x="571500" y="2571750"/>
              <a:ext cx="4000500" cy="1524000"/>
            </a:xfrm>
            <a:prstGeom prst="rect">
              <a:avLst/>
            </a:prstGeom>
            <a:solidFill>
              <a:srgbClr val="161D2E"/>
            </a:solidFill>
            <a:ln w="9525">
              <a:solidFill>
                <a:srgbClr val="1E293B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571500" y="2571750"/>
              <a:ext cx="4000500" cy="38100"/>
            </a:xfrm>
            <a:prstGeom prst="rect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243965" y="2953702"/>
              <a:ext cx="79343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核心子系统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46760" y="3261360"/>
              <a:ext cx="460924" cy="853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5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318260" y="3585210"/>
              <a:ext cx="9067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大系统协同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4762500" y="2571750"/>
              <a:ext cx="4000500" cy="1524000"/>
            </a:xfrm>
            <a:prstGeom prst="rect">
              <a:avLst/>
            </a:prstGeom>
            <a:solidFill>
              <a:srgbClr val="161D2E"/>
            </a:solidFill>
            <a:ln w="9525">
              <a:solidFill>
                <a:srgbClr val="1E293B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762500" y="2571750"/>
              <a:ext cx="4000500" cy="38100"/>
            </a:xfrm>
            <a:prstGeom prst="rect">
              <a:avLst/>
            </a:prstGeom>
            <a:solidFill>
              <a:srgbClr val="3B82F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434965" y="2953702"/>
              <a:ext cx="90077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API 能力模块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937760" y="3261360"/>
              <a:ext cx="815169" cy="853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3B82F6"/>
                  </a:solidFill>
                  <a:latin typeface="Arial"/>
                  <a:ea typeface="Microsoft YaHei"/>
                  <a:cs typeface="Arial"/>
                </a:rPr>
                <a:t>24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604510" y="3585210"/>
              <a:ext cx="80162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个API模块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8953500" y="2571750"/>
              <a:ext cx="4000500" cy="1524000"/>
            </a:xfrm>
            <a:prstGeom prst="rect">
              <a:avLst/>
            </a:prstGeom>
            <a:solidFill>
              <a:srgbClr val="161D2E"/>
            </a:solidFill>
            <a:ln w="9525">
              <a:solidFill>
                <a:srgbClr val="1E293B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8953500" y="2571750"/>
              <a:ext cx="4000500" cy="38100"/>
            </a:xfrm>
            <a:prstGeom prst="rect">
              <a:avLst/>
            </a:prstGeom>
            <a:solidFill>
              <a:srgbClr val="8B5CF6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625965" y="2953702"/>
              <a:ext cx="79343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业务域覆盖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128760" y="3261360"/>
              <a:ext cx="460924" cy="853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8B5CF6"/>
                  </a:solidFill>
                  <a:latin typeface="Arial"/>
                  <a:ea typeface="Microsoft YaHei"/>
                  <a:cs typeface="Arial"/>
                </a:rPr>
                <a:t>6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547860" y="3585210"/>
              <a:ext cx="7315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大业务域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13144500" y="2571750"/>
              <a:ext cx="4572000" cy="1524000"/>
            </a:xfrm>
            <a:prstGeom prst="rect">
              <a:avLst/>
            </a:prstGeom>
            <a:solidFill>
              <a:srgbClr val="161D2E"/>
            </a:solidFill>
            <a:ln w="9525">
              <a:solidFill>
                <a:srgbClr val="1E293B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13144500" y="2571750"/>
              <a:ext cx="4572000" cy="38100"/>
            </a:xfrm>
            <a:prstGeom prst="rect">
              <a:avLst/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3816965" y="2953702"/>
              <a:ext cx="9467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品牌色彩体系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3319760" y="3261360"/>
              <a:ext cx="1362637" cy="853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2914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4253210" y="3585210"/>
              <a:ext cx="121348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色LASEN标准色</a:t>
              </a:r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554355" y="4521518"/>
            <a:ext cx="148347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五大子系统定位</a:t>
            </a:r>
          </a:p>
        </p:txBody>
      </p:sp>
      <p:grpSp>
        <p:nvGrpSpPr>
          <p:cNvPr id="67" name="Group 67"/>
          <p:cNvGrpSpPr/>
          <p:nvPr/>
        </p:nvGrpSpPr>
        <p:grpSpPr>
          <a:xfrm>
            <a:off x="571500" y="4914900"/>
            <a:ext cx="17145000" cy="1905000"/>
            <a:chOff x="571500" y="4914900"/>
            <a:chExt cx="17145000" cy="1905000"/>
          </a:xfrm>
        </p:grpSpPr>
        <p:sp>
          <p:nvSpPr>
            <p:cNvPr id="32" name="Rectangle 32"/>
            <p:cNvSpPr/>
            <p:nvPr/>
          </p:nvSpPr>
          <p:spPr>
            <a:xfrm>
              <a:off x="571500" y="4914900"/>
              <a:ext cx="3314700" cy="1905000"/>
            </a:xfrm>
            <a:prstGeom prst="rect">
              <a:avLst/>
            </a:prstGeom>
            <a:solidFill>
              <a:srgbClr val="161D2E"/>
            </a:solidFill>
            <a:ln w="9525">
              <a:solidFill>
                <a:srgbClr val="06B6D4">
                  <a:alpha val="30000"/>
                </a:srgbClr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571500" y="4914900"/>
              <a:ext cx="3314700" cy="28575"/>
            </a:xfrm>
            <a:prstGeom prst="rect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127760" y="5223510"/>
              <a:ext cx="223875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1F5F9"/>
                  </a:solidFill>
                  <a:latin typeface="Arial"/>
                  <a:ea typeface="Microsoft YaHei"/>
                  <a:cs typeface="Arial"/>
                </a:rPr>
                <a:t>VOC · 数智化企划设计中心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89622" y="5530691"/>
              <a:ext cx="152709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64748B"/>
                  </a:solidFill>
                  <a:latin typeface="Consolas"/>
                  <a:ea typeface="Microsoft YaHei"/>
                  <a:cs typeface="Consolas"/>
                </a:rPr>
                <a:t>voc.pythonanywhere.com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86765" y="5773102"/>
              <a:ext cx="19435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核心中枢系统，24个API模块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86765" y="6001702"/>
              <a:ext cx="21889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消费者洞察·竞品分析·规划管理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86765" y="6230302"/>
              <a:ext cx="198191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灵感库·色彩调研·知识库RAG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4076700" y="4914900"/>
              <a:ext cx="3314700" cy="1905000"/>
            </a:xfrm>
            <a:prstGeom prst="rect">
              <a:avLst/>
            </a:prstGeom>
            <a:solidFill>
              <a:srgbClr val="161D2E"/>
            </a:solidFill>
            <a:ln w="9525">
              <a:solidFill>
                <a:srgbClr val="F59E0B">
                  <a:alpha val="30000"/>
                </a:srgbClr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4076700" y="4914900"/>
              <a:ext cx="3314700" cy="28575"/>
            </a:xfrm>
            <a:prstGeom prst="rect">
              <a:avLst/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4632960" y="5223510"/>
              <a:ext cx="197192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1F5F9"/>
                  </a:solidFill>
                  <a:latin typeface="Arial"/>
                  <a:ea typeface="Microsoft YaHei"/>
                  <a:cs typeface="Arial"/>
                </a:rPr>
                <a:t>AMZN · 亚马逊数据爬虫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294822" y="5530691"/>
              <a:ext cx="161746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64748B"/>
                  </a:solidFill>
                  <a:latin typeface="Consolas"/>
                  <a:ea typeface="Microsoft YaHei"/>
                  <a:cs typeface="Consolas"/>
                </a:rPr>
                <a:t>amzn.pythonanywhere.com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291965" y="5773102"/>
              <a:ext cx="125349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市场情报采集引擎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4291965" y="6001702"/>
              <a:ext cx="197424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Best Sellers·New Releases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291965" y="6230302"/>
              <a:ext cx="158319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Playwright·Supabase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7581900" y="4914900"/>
              <a:ext cx="3314700" cy="1905000"/>
            </a:xfrm>
            <a:prstGeom prst="rect">
              <a:avLst/>
            </a:prstGeom>
            <a:solidFill>
              <a:srgbClr val="161D2E"/>
            </a:solidFill>
            <a:ln w="9525">
              <a:solidFill>
                <a:srgbClr val="8B5CF6">
                  <a:alpha val="30000"/>
                </a:srgbClr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7581900" y="4914900"/>
              <a:ext cx="3314700" cy="28575"/>
            </a:xfrm>
            <a:prstGeom prst="rect">
              <a:avLst/>
            </a:prstGeom>
            <a:solidFill>
              <a:srgbClr val="8B5CF6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8138160" y="5223510"/>
              <a:ext cx="174189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1F5F9"/>
                  </a:solidFill>
                  <a:latin typeface="Arial"/>
                  <a:ea typeface="Microsoft YaHei"/>
                  <a:cs typeface="Arial"/>
                </a:rPr>
                <a:t>COLOR · 品牌色彩库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800022" y="5530691"/>
              <a:ext cx="162951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64748B"/>
                  </a:solidFill>
                  <a:latin typeface="Consolas"/>
                  <a:ea typeface="Microsoft YaHei"/>
                  <a:cs typeface="Consolas"/>
                </a:rPr>
                <a:t>color.pythonanywhere.com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797165" y="5773102"/>
              <a:ext cx="110013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设计标准化体系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797165" y="6001702"/>
              <a:ext cx="140684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2914色·KMeans聚类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797165" y="6230302"/>
              <a:ext cx="146818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AI图片理解·调色工具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11087100" y="4914900"/>
              <a:ext cx="3314700" cy="1905000"/>
            </a:xfrm>
            <a:prstGeom prst="rect">
              <a:avLst/>
            </a:prstGeom>
            <a:solidFill>
              <a:srgbClr val="161D2E"/>
            </a:solidFill>
            <a:ln w="9525">
              <a:solidFill>
                <a:srgbClr val="10B981">
                  <a:alpha val="30000"/>
                </a:srgbClr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11087100" y="4914900"/>
              <a:ext cx="3314700" cy="28575"/>
            </a:xfrm>
            <a:prstGeom prst="rect">
              <a:avLst/>
            </a:prstGeom>
            <a:solidFill>
              <a:srgbClr val="10B981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11643360" y="5223510"/>
              <a:ext cx="220195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1F5F9"/>
                  </a:solidFill>
                  <a:latin typeface="Arial"/>
                  <a:ea typeface="Microsoft YaHei"/>
                  <a:cs typeface="Arial"/>
                </a:rPr>
                <a:t>YFB · 利润测算与货盘工具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305222" y="5530691"/>
              <a:ext cx="152709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64748B"/>
                  </a:solidFill>
                  <a:latin typeface="Consolas"/>
                  <a:ea typeface="Microsoft YaHei"/>
                  <a:cs typeface="Consolas"/>
                </a:rPr>
                <a:t>yfb.pythonanywhere.com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302365" y="5773102"/>
              <a:ext cx="9467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商业决策引擎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302365" y="6001702"/>
              <a:ext cx="159086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FBA全链路·利润计算器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302365" y="6230302"/>
              <a:ext cx="133783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货盘规划·净利润率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14592300" y="4914900"/>
              <a:ext cx="3124200" cy="1905000"/>
            </a:xfrm>
            <a:prstGeom prst="rect">
              <a:avLst/>
            </a:prstGeom>
            <a:solidFill>
              <a:srgbClr val="161D2E"/>
            </a:solidFill>
            <a:ln w="9525">
              <a:solidFill>
                <a:srgbClr val="F43F5E">
                  <a:alpha val="30000"/>
                </a:srgbClr>
              </a:solidFill>
            </a:ln>
          </p:spPr>
        </p:sp>
        <p:sp>
          <p:nvSpPr>
            <p:cNvPr id="61" name="Rectangle 61"/>
            <p:cNvSpPr/>
            <p:nvPr/>
          </p:nvSpPr>
          <p:spPr>
            <a:xfrm>
              <a:off x="14592300" y="4914900"/>
              <a:ext cx="3124200" cy="28575"/>
            </a:xfrm>
            <a:prstGeom prst="rect">
              <a:avLst/>
            </a:prstGeom>
            <a:solidFill>
              <a:srgbClr val="F43F5E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15148560" y="5223510"/>
              <a:ext cx="185230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1F5F9"/>
                  </a:solidFill>
                  <a:latin typeface="Arial"/>
                  <a:ea typeface="Microsoft YaHei"/>
                  <a:cs typeface="Arial"/>
                </a:rPr>
                <a:t>LASEN · 中台运营分析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4810422" y="5530691"/>
              <a:ext cx="162951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64748B"/>
                  </a:solidFill>
                  <a:latin typeface="Consolas"/>
                  <a:ea typeface="Microsoft YaHei"/>
                  <a:cs typeface="Consolas"/>
                </a:rPr>
                <a:t>lasen.pythonanywhere.com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4807565" y="5773102"/>
              <a:ext cx="110013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运营反馈仪表盘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4807565" y="6001702"/>
              <a:ext cx="133783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评分预警·爆款监控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4807565" y="6230302"/>
              <a:ext cx="149118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数据仪表盘·自动爬取</a:t>
              </a:r>
            </a:p>
          </p:txBody>
        </p:sp>
      </p:grpSp>
      <p:sp>
        <p:nvSpPr>
          <p:cNvPr id="68" name="TextBox 68"/>
          <p:cNvSpPr txBox="1"/>
          <p:nvPr/>
        </p:nvSpPr>
        <p:spPr>
          <a:xfrm>
            <a:off x="554355" y="7188518"/>
            <a:ext cx="127644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业务闭环链路</a:t>
            </a:r>
          </a:p>
        </p:txBody>
      </p:sp>
      <p:grpSp>
        <p:nvGrpSpPr>
          <p:cNvPr id="92" name="Group 92"/>
          <p:cNvGrpSpPr/>
          <p:nvPr/>
        </p:nvGrpSpPr>
        <p:grpSpPr>
          <a:xfrm>
            <a:off x="571500" y="7581900"/>
            <a:ext cx="17145000" cy="762000"/>
            <a:chOff x="571500" y="7581900"/>
            <a:chExt cx="17145000" cy="762000"/>
          </a:xfrm>
        </p:grpSpPr>
        <p:sp>
          <p:nvSpPr>
            <p:cNvPr id="69" name="Rectangle 69"/>
            <p:cNvSpPr/>
            <p:nvPr/>
          </p:nvSpPr>
          <p:spPr>
            <a:xfrm>
              <a:off x="571500" y="7581900"/>
              <a:ext cx="2476500" cy="762000"/>
            </a:xfrm>
            <a:prstGeom prst="rect">
              <a:avLst/>
            </a:prstGeom>
            <a:solidFill>
              <a:srgbClr val="F59E0B">
                <a:alpha val="8000"/>
              </a:srgbClr>
            </a:solidFill>
            <a:ln w="9525">
              <a:solidFill>
                <a:srgbClr val="F59E0B">
                  <a:alpha val="25000"/>
                </a:srgbClr>
              </a:solidFill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1450419" y="7784306"/>
              <a:ext cx="71866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市场洞察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473946" y="8045291"/>
              <a:ext cx="67160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64748B"/>
                  </a:solidFill>
                  <a:latin typeface="Consolas"/>
                  <a:ea typeface="Microsoft YaHei"/>
                  <a:cs typeface="Consolas"/>
                </a:rPr>
                <a:t>AMZN + VOC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3219450" y="7839075"/>
              <a:ext cx="15859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3524250" y="7581900"/>
              <a:ext cx="2476500" cy="762000"/>
            </a:xfrm>
            <a:prstGeom prst="rect">
              <a:avLst/>
            </a:prstGeom>
            <a:solidFill>
              <a:srgbClr val="3B82F6">
                <a:alpha val="8000"/>
              </a:srgbClr>
            </a:solidFill>
            <a:ln w="9525">
              <a:solidFill>
                <a:srgbClr val="3B82F6">
                  <a:alpha val="25000"/>
                </a:srgbClr>
              </a:solidFill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4403169" y="7784306"/>
              <a:ext cx="71866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3B82F6"/>
                  </a:solidFill>
                  <a:latin typeface="Arial"/>
                  <a:ea typeface="Microsoft YaHei"/>
                  <a:cs typeface="Arial"/>
                </a:rPr>
                <a:t>企划立项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4640568" y="8045291"/>
              <a:ext cx="24386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64748B"/>
                  </a:solidFill>
                  <a:latin typeface="Consolas"/>
                  <a:ea typeface="Microsoft YaHei"/>
                  <a:cs typeface="Consolas"/>
                </a:rPr>
                <a:t>VOC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6172200" y="7839075"/>
              <a:ext cx="15859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77" name="Rectangle 77"/>
            <p:cNvSpPr/>
            <p:nvPr/>
          </p:nvSpPr>
          <p:spPr>
            <a:xfrm>
              <a:off x="6477000" y="7581900"/>
              <a:ext cx="2476500" cy="762000"/>
            </a:xfrm>
            <a:prstGeom prst="rect">
              <a:avLst/>
            </a:prstGeom>
            <a:solidFill>
              <a:srgbClr val="8B5CF6">
                <a:alpha val="8000"/>
              </a:srgbClr>
            </a:solidFill>
            <a:ln w="9525">
              <a:solidFill>
                <a:srgbClr val="8B5CF6">
                  <a:alpha val="25000"/>
                </a:srgbClr>
              </a:solidFill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7355919" y="7784306"/>
              <a:ext cx="71866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8B5CF6"/>
                  </a:solidFill>
                  <a:latin typeface="Arial"/>
                  <a:ea typeface="Microsoft YaHei"/>
                  <a:cs typeface="Arial"/>
                </a:rPr>
                <a:t>设计研发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7334262" y="8045291"/>
              <a:ext cx="76197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64748B"/>
                  </a:solidFill>
                  <a:latin typeface="Consolas"/>
                  <a:ea typeface="Microsoft YaHei"/>
                  <a:cs typeface="Consolas"/>
                </a:rPr>
                <a:t>VOC + COLOR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9124950" y="7839075"/>
              <a:ext cx="15859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81" name="Rectangle 81"/>
            <p:cNvSpPr/>
            <p:nvPr/>
          </p:nvSpPr>
          <p:spPr>
            <a:xfrm>
              <a:off x="9429750" y="7581900"/>
              <a:ext cx="2476500" cy="762000"/>
            </a:xfrm>
            <a:prstGeom prst="rect">
              <a:avLst/>
            </a:prstGeom>
            <a:solidFill>
              <a:srgbClr val="10B981">
                <a:alpha val="8000"/>
              </a:srgbClr>
            </a:solidFill>
            <a:ln w="9525">
              <a:solidFill>
                <a:srgbClr val="10B981">
                  <a:alpha val="25000"/>
                </a:srgbClr>
              </a:solidFill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10308669" y="7784306"/>
              <a:ext cx="71866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10B981"/>
                  </a:solidFill>
                  <a:latin typeface="Arial"/>
                  <a:ea typeface="Microsoft YaHei"/>
                  <a:cs typeface="Arial"/>
                </a:rPr>
                <a:t>成本定价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10377380" y="8045291"/>
              <a:ext cx="58123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64748B"/>
                  </a:solidFill>
                  <a:latin typeface="Consolas"/>
                  <a:ea typeface="Microsoft YaHei"/>
                  <a:cs typeface="Consolas"/>
                </a:rPr>
                <a:t>YFB + VOC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12077700" y="7839075"/>
              <a:ext cx="15859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85" name="Rectangle 85"/>
            <p:cNvSpPr/>
            <p:nvPr/>
          </p:nvSpPr>
          <p:spPr>
            <a:xfrm>
              <a:off x="12382500" y="7581900"/>
              <a:ext cx="2476500" cy="762000"/>
            </a:xfrm>
            <a:prstGeom prst="rect">
              <a:avLst/>
            </a:prstGeom>
            <a:solidFill>
              <a:srgbClr val="06B6D4">
                <a:alpha val="8000"/>
              </a:srgbClr>
            </a:solidFill>
            <a:ln w="9525">
              <a:solidFill>
                <a:srgbClr val="06B6D4">
                  <a:alpha val="25000"/>
                </a:srgbClr>
              </a:solidFill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13261419" y="7784306"/>
              <a:ext cx="71866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上架执行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13498818" y="8045291"/>
              <a:ext cx="24386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64748B"/>
                  </a:solidFill>
                  <a:latin typeface="Consolas"/>
                  <a:ea typeface="Microsoft YaHei"/>
                  <a:cs typeface="Consolas"/>
                </a:rPr>
                <a:t>VOC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15030450" y="7839075"/>
              <a:ext cx="15859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89" name="Rectangle 89"/>
            <p:cNvSpPr/>
            <p:nvPr/>
          </p:nvSpPr>
          <p:spPr>
            <a:xfrm>
              <a:off x="15335250" y="7581900"/>
              <a:ext cx="2381250" cy="762000"/>
            </a:xfrm>
            <a:prstGeom prst="rect">
              <a:avLst/>
            </a:prstGeom>
            <a:solidFill>
              <a:srgbClr val="F43F5E">
                <a:alpha val="8000"/>
              </a:srgbClr>
            </a:solidFill>
            <a:ln w="9525">
              <a:solidFill>
                <a:srgbClr val="F43F5E">
                  <a:alpha val="25000"/>
                </a:srgbClr>
              </a:solidFill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16166544" y="7784306"/>
              <a:ext cx="71866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43F5E"/>
                  </a:solidFill>
                  <a:latin typeface="Arial"/>
                  <a:ea typeface="Microsoft YaHei"/>
                  <a:cs typeface="Arial"/>
                </a:rPr>
                <a:t>运营反馈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16349722" y="8045291"/>
              <a:ext cx="35230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64748B"/>
                  </a:solidFill>
                  <a:latin typeface="Consolas"/>
                  <a:ea typeface="Microsoft YaHei"/>
                  <a:cs typeface="Consolas"/>
                </a:rPr>
                <a:t>LASEN</a:t>
              </a:r>
            </a:p>
          </p:txBody>
        </p:sp>
      </p:grpSp>
      <p:sp>
        <p:nvSpPr>
          <p:cNvPr id="93" name="TextBox 93"/>
          <p:cNvSpPr txBox="1"/>
          <p:nvPr/>
        </p:nvSpPr>
        <p:spPr>
          <a:xfrm>
            <a:off x="8216706" y="8657749"/>
            <a:ext cx="185458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↻ 运营数据回流驱动迭代优化</a:t>
            </a:r>
          </a:p>
        </p:txBody>
      </p:sp>
      <p:sp>
        <p:nvSpPr>
          <p:cNvPr id="94" name="TextBox 94"/>
          <p:cNvSpPr txBox="1"/>
          <p:nvPr/>
        </p:nvSpPr>
        <p:spPr>
          <a:xfrm>
            <a:off x="8946761" y="10007441"/>
            <a:ext cx="39447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02 / 14</a:t>
            </a:r>
          </a:p>
        </p:txBody>
      </p:sp>
    </p:spTree>
  </p:cSld>
  <p:clrMapOvr>
    <a:masterClrMapping/>
  </p:clrMapOvr>
  <p:transition 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A0E1A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571500" y="381000"/>
            <a:ext cx="17145000" cy="419100"/>
          </a:xfrm>
          <a:prstGeom prst="rect">
            <a:avLst/>
          </a:prstGeom>
          <a:solidFill>
            <a:srgbClr val="161D2E"/>
          </a:solidFill>
          <a:ln w="9525">
            <a:solidFill>
              <a:srgbClr val="1E293B"/>
            </a:solidFill>
          </a:ln>
        </p:spPr>
      </p:sp>
      <p:sp>
        <p:nvSpPr>
          <p:cNvPr id="4" name="TextBox 4"/>
          <p:cNvSpPr txBox="1"/>
          <p:nvPr/>
        </p:nvSpPr>
        <p:spPr>
          <a:xfrm>
            <a:off x="748665" y="534352"/>
            <a:ext cx="105719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06B6D4"/>
                </a:solidFill>
                <a:latin typeface="Arial"/>
                <a:ea typeface="Microsoft YaHei"/>
                <a:cs typeface="Arial"/>
              </a:rPr>
              <a:t>LASEN.Digital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6491347" y="558641"/>
            <a:ext cx="104513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系统设计报告 v2.0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0070" y="1141095"/>
            <a:ext cx="157555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06B6D4"/>
                </a:solidFill>
                <a:latin typeface="Arial"/>
                <a:ea typeface="Microsoft YaHei"/>
                <a:cs typeface="Arial"/>
              </a:rPr>
              <a:t>SYSTEM DECOMPOSITION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41020" y="1341120"/>
            <a:ext cx="2637282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五大子系统解构</a:t>
            </a:r>
          </a:p>
        </p:txBody>
      </p:sp>
      <p:sp>
        <p:nvSpPr>
          <p:cNvPr id="8" name="Rectangle 8"/>
          <p:cNvSpPr/>
          <p:nvPr/>
        </p:nvSpPr>
        <p:spPr>
          <a:xfrm>
            <a:off x="571500" y="1809750"/>
            <a:ext cx="17145000" cy="476250"/>
          </a:xfrm>
          <a:prstGeom prst="rect">
            <a:avLst/>
          </a:prstGeom>
          <a:solidFill>
            <a:srgbClr val="06B6D4">
              <a:alpha val="6000"/>
            </a:srgbClr>
          </a:solidFill>
          <a:ln w="9525">
            <a:solidFill>
              <a:srgbClr val="06B6D4">
                <a:alpha val="15000"/>
              </a:srgbClr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5233606" y="1975485"/>
            <a:ext cx="782078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五大子系统各司其职，VOC为核心中枢，AMZN/COLOR/YFB/LASEN为四大翼，形成一核四翼协同架构</a:t>
            </a:r>
          </a:p>
        </p:txBody>
      </p:sp>
      <p:grpSp>
        <p:nvGrpSpPr>
          <p:cNvPr id="38" name="Group 38"/>
          <p:cNvGrpSpPr/>
          <p:nvPr/>
        </p:nvGrpSpPr>
        <p:grpSpPr>
          <a:xfrm>
            <a:off x="571500" y="2571750"/>
            <a:ext cx="5524500" cy="4381500"/>
            <a:chOff x="571500" y="2571750"/>
            <a:chExt cx="5524500" cy="4381500"/>
          </a:xfrm>
        </p:grpSpPr>
        <p:sp>
          <p:nvSpPr>
            <p:cNvPr id="10" name="Rectangle 10"/>
            <p:cNvSpPr/>
            <p:nvPr/>
          </p:nvSpPr>
          <p:spPr>
            <a:xfrm>
              <a:off x="571500" y="2571750"/>
              <a:ext cx="5524500" cy="4381500"/>
            </a:xfrm>
            <a:prstGeom prst="rect">
              <a:avLst/>
            </a:prstGeom>
            <a:solidFill>
              <a:srgbClr val="161D2E"/>
            </a:solidFill>
            <a:ln w="9525">
              <a:solidFill>
                <a:srgbClr val="06B6D4">
                  <a:alpha val="25000"/>
                </a:srgbClr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571500" y="2571750"/>
              <a:ext cx="5524500" cy="47625"/>
            </a:xfrm>
            <a:prstGeom prst="rect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312545" y="2850832"/>
              <a:ext cx="510019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1F5F9"/>
                  </a:solidFill>
                  <a:latin typeface="Arial"/>
                  <a:ea typeface="Microsoft YaHei"/>
                  <a:cs typeface="Arial"/>
                </a:rPr>
                <a:t>VOC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890712" y="2907506"/>
              <a:ext cx="164699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· 数智化企划设计中心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838200" y="3371850"/>
              <a:ext cx="762000" cy="247650"/>
            </a:xfrm>
            <a:prstGeom prst="rect">
              <a:avLst/>
            </a:prstGeom>
            <a:solidFill>
              <a:srgbClr val="06B6D4">
                <a:alpha val="12000"/>
              </a:srgbClr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31735" y="3446145"/>
              <a:ext cx="57492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核心中枢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1695450" y="3371850"/>
              <a:ext cx="762000" cy="247650"/>
            </a:xfrm>
            <a:prstGeom prst="rect">
              <a:avLst/>
            </a:prstGeom>
            <a:solidFill>
              <a:srgbClr val="3B82F6">
                <a:alpha val="12000"/>
              </a:srgbClr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871796" y="3446145"/>
              <a:ext cx="40930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3B82F6"/>
                  </a:solidFill>
                  <a:latin typeface="Arial"/>
                  <a:ea typeface="Microsoft YaHei"/>
                  <a:cs typeface="Arial"/>
                </a:rPr>
                <a:t>24 API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26770" y="3808095"/>
              <a:ext cx="166592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Consolas"/>
                  <a:ea typeface="Microsoft YaHei"/>
                  <a:cs typeface="Consolas"/>
                </a:rPr>
                <a:t>voc.pythonanywhere.com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26770" y="4036695"/>
              <a:ext cx="196167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Consolas"/>
                  <a:ea typeface="Microsoft YaHei"/>
                  <a:cs typeface="Consolas"/>
                </a:rPr>
                <a:t>Next.js 14 + Supabase + Python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838200" y="4286250"/>
              <a:ext cx="4991100" cy="9525"/>
            </a:xfrm>
            <a:custGeom>
              <a:avLst/>
              <a:gdLst/>
              <a:ahLst/>
              <a:cxnLst/>
              <a:rect l="l" t="t" r="r" b="b"/>
              <a:pathLst>
                <a:path w="4991100" h="9525">
                  <a:moveTo>
                    <a:pt x="0" y="0"/>
                  </a:moveTo>
                  <a:lnTo>
                    <a:pt x="4991100" y="0"/>
                  </a:lnTo>
                </a:path>
              </a:pathLst>
            </a:custGeom>
            <a:noFill/>
            <a:ln w="9525">
              <a:solidFill>
                <a:srgbClr val="1E293B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24865" y="4439602"/>
              <a:ext cx="6707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核心能力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923925" y="4772025"/>
              <a:ext cx="57150" cy="57150"/>
            </a:xfrm>
            <a:prstGeom prst="ellipse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053465" y="4734878"/>
              <a:ext cx="335441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消费者评论分析（VOC）— 洞察消费者需求与痛点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923925" y="5019675"/>
              <a:ext cx="57150" cy="57150"/>
            </a:xfrm>
            <a:prstGeom prst="ellipse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053465" y="4982528"/>
              <a:ext cx="35307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竞品分析 — 亚马逊Best Sellers/New Releases榜单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923925" y="5267325"/>
              <a:ext cx="57150" cy="57150"/>
            </a:xfrm>
            <a:prstGeom prst="ellipse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053465" y="5230178"/>
              <a:ext cx="281001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产品规划管理 — 需求池、企划、进度跟踪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923925" y="5514975"/>
              <a:ext cx="57150" cy="57150"/>
            </a:xfrm>
            <a:prstGeom prst="ellipse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053465" y="5477828"/>
              <a:ext cx="204325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灵感库 — 设计灵感采集与关联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923925" y="5762625"/>
              <a:ext cx="57150" cy="57150"/>
            </a:xfrm>
            <a:prstGeom prst="ellipse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053465" y="5725478"/>
              <a:ext cx="204325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色彩调研 — 品牌色彩趋势分析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923925" y="6010275"/>
              <a:ext cx="57150" cy="57150"/>
            </a:xfrm>
            <a:prstGeom prst="ellipse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053465" y="5973128"/>
              <a:ext cx="229628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RAG知识库 — 智能问答与知识检索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923925" y="6257925"/>
              <a:ext cx="57150" cy="57150"/>
            </a:xfrm>
            <a:prstGeom prst="ellipse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053465" y="6220778"/>
              <a:ext cx="183623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成本数据 — FBA成本项管理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923925" y="6505575"/>
              <a:ext cx="57150" cy="57150"/>
            </a:xfrm>
            <a:prstGeom prst="ellipse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053465" y="6468428"/>
              <a:ext cx="204325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合同管理 — 供应商合同与结算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6286500" y="2571750"/>
            <a:ext cx="5524500" cy="4381500"/>
            <a:chOff x="6286500" y="2571750"/>
            <a:chExt cx="5524500" cy="4381500"/>
          </a:xfrm>
        </p:grpSpPr>
        <p:sp>
          <p:nvSpPr>
            <p:cNvPr id="39" name="Rectangle 39"/>
            <p:cNvSpPr/>
            <p:nvPr/>
          </p:nvSpPr>
          <p:spPr>
            <a:xfrm>
              <a:off x="6286500" y="2571750"/>
              <a:ext cx="5524500" cy="4381500"/>
            </a:xfrm>
            <a:prstGeom prst="rect">
              <a:avLst/>
            </a:prstGeom>
            <a:solidFill>
              <a:srgbClr val="161D2E"/>
            </a:solidFill>
            <a:ln w="9525">
              <a:solidFill>
                <a:srgbClr val="F59E0B">
                  <a:alpha val="25000"/>
                </a:srgbClr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6286500" y="2571750"/>
              <a:ext cx="5524500" cy="47625"/>
            </a:xfrm>
            <a:prstGeom prst="rect">
              <a:avLst/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027545" y="2850832"/>
              <a:ext cx="64918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1F5F9"/>
                  </a:solidFill>
                  <a:latin typeface="Arial"/>
                  <a:ea typeface="Microsoft YaHei"/>
                  <a:cs typeface="Arial"/>
                </a:rPr>
                <a:t>AMZN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681912" y="2907506"/>
              <a:ext cx="131837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· 亚马逊数据爬虫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553200" y="3371850"/>
              <a:ext cx="762000" cy="247650"/>
            </a:xfrm>
            <a:prstGeom prst="rect">
              <a:avLst/>
            </a:prstGeom>
            <a:solidFill>
              <a:srgbClr val="F59E0B">
                <a:alpha val="12000"/>
              </a:srgbClr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646735" y="3446145"/>
              <a:ext cx="57492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情报引擎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7410450" y="3371850"/>
              <a:ext cx="762000" cy="247650"/>
            </a:xfrm>
            <a:prstGeom prst="rect">
              <a:avLst/>
            </a:prstGeom>
            <a:solidFill>
              <a:srgbClr val="F59E0B">
                <a:alpha val="12000"/>
              </a:srgbClr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583345" y="3446145"/>
              <a:ext cx="41620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2 榜单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541770" y="3808095"/>
              <a:ext cx="176450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Consolas"/>
                  <a:ea typeface="Microsoft YaHei"/>
                  <a:cs typeface="Consolas"/>
                </a:rPr>
                <a:t>amzn.pythonanywhere.com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541770" y="4036695"/>
              <a:ext cx="202082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Consolas"/>
                  <a:ea typeface="Microsoft YaHei"/>
                  <a:cs typeface="Consolas"/>
                </a:rPr>
                <a:t>Playwright + Supabase + Python</a:t>
              </a:r>
            </a:p>
          </p:txBody>
        </p:sp>
        <p:sp>
          <p:nvSpPr>
            <p:cNvPr id="49" name="Line 49"/>
            <p:cNvSpPr/>
            <p:nvPr/>
          </p:nvSpPr>
          <p:spPr>
            <a:xfrm>
              <a:off x="6553200" y="4286250"/>
              <a:ext cx="4991100" cy="9525"/>
            </a:xfrm>
            <a:custGeom>
              <a:avLst/>
              <a:gdLst/>
              <a:ahLst/>
              <a:cxnLst/>
              <a:rect l="l" t="t" r="r" b="b"/>
              <a:pathLst>
                <a:path w="4991100" h="9525">
                  <a:moveTo>
                    <a:pt x="0" y="0"/>
                  </a:moveTo>
                  <a:lnTo>
                    <a:pt x="4991100" y="0"/>
                  </a:lnTo>
                </a:path>
              </a:pathLst>
            </a:custGeom>
            <a:noFill/>
            <a:ln w="9525">
              <a:solidFill>
                <a:srgbClr val="1E293B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539865" y="4439602"/>
              <a:ext cx="6707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核心能力</a:t>
              </a:r>
            </a:p>
          </p:txBody>
        </p:sp>
        <p:sp>
          <p:nvSpPr>
            <p:cNvPr id="51" name="Ellipse 51"/>
            <p:cNvSpPr/>
            <p:nvPr/>
          </p:nvSpPr>
          <p:spPr>
            <a:xfrm>
              <a:off x="6638925" y="4772025"/>
              <a:ext cx="57150" cy="57150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768465" y="4734878"/>
              <a:ext cx="267966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Best Sellers 榜单爬取 — 品类热销趋势</a:t>
              </a:r>
            </a:p>
          </p:txBody>
        </p:sp>
        <p:sp>
          <p:nvSpPr>
            <p:cNvPr id="53" name="Ellipse 53"/>
            <p:cNvSpPr/>
            <p:nvPr/>
          </p:nvSpPr>
          <p:spPr>
            <a:xfrm>
              <a:off x="6638925" y="5019675"/>
              <a:ext cx="57150" cy="57150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768465" y="4982528"/>
              <a:ext cx="274867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New Releases 榜单爬取 — 新品动态追踪</a:t>
              </a:r>
            </a:p>
          </p:txBody>
        </p:sp>
        <p:sp>
          <p:nvSpPr>
            <p:cNvPr id="55" name="Ellipse 55"/>
            <p:cNvSpPr/>
            <p:nvPr/>
          </p:nvSpPr>
          <p:spPr>
            <a:xfrm>
              <a:off x="6638925" y="5267325"/>
              <a:ext cx="57150" cy="57150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768465" y="5230178"/>
              <a:ext cx="299404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自动化爬虫调度 — Playwright浏览器自动化</a:t>
              </a:r>
            </a:p>
          </p:txBody>
        </p:sp>
        <p:sp>
          <p:nvSpPr>
            <p:cNvPr id="57" name="Ellipse 57"/>
            <p:cNvSpPr/>
            <p:nvPr/>
          </p:nvSpPr>
          <p:spPr>
            <a:xfrm>
              <a:off x="6638925" y="5514975"/>
              <a:ext cx="57150" cy="57150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768465" y="5477828"/>
              <a:ext cx="261066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Supabase 数据存储 — 结构化市场数据</a:t>
              </a:r>
            </a:p>
          </p:txBody>
        </p:sp>
        <p:sp>
          <p:nvSpPr>
            <p:cNvPr id="59" name="Ellipse 59"/>
            <p:cNvSpPr/>
            <p:nvPr/>
          </p:nvSpPr>
          <p:spPr>
            <a:xfrm>
              <a:off x="6638925" y="5762625"/>
              <a:ext cx="57150" cy="57150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768465" y="5725478"/>
              <a:ext cx="251864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品类覆盖 — 服装/家居/运动等多品类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539865" y="6173152"/>
              <a:ext cx="6707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数据流向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539865" y="6439852"/>
              <a:ext cx="315506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AMZN → VOC 竞品分析模块（当前集成度 15%）</a:t>
              </a:r>
            </a:p>
          </p:txBody>
        </p:sp>
      </p:grpSp>
      <p:grpSp>
        <p:nvGrpSpPr>
          <p:cNvPr id="88" name="Group 88"/>
          <p:cNvGrpSpPr/>
          <p:nvPr/>
        </p:nvGrpSpPr>
        <p:grpSpPr>
          <a:xfrm>
            <a:off x="12001500" y="2571750"/>
            <a:ext cx="5715000" cy="4381500"/>
            <a:chOff x="12001500" y="2571750"/>
            <a:chExt cx="5715000" cy="4381500"/>
          </a:xfrm>
        </p:grpSpPr>
        <p:sp>
          <p:nvSpPr>
            <p:cNvPr id="64" name="Rectangle 64"/>
            <p:cNvSpPr/>
            <p:nvPr/>
          </p:nvSpPr>
          <p:spPr>
            <a:xfrm>
              <a:off x="12001500" y="2571750"/>
              <a:ext cx="5715000" cy="4381500"/>
            </a:xfrm>
            <a:prstGeom prst="rect">
              <a:avLst/>
            </a:prstGeom>
            <a:solidFill>
              <a:srgbClr val="161D2E"/>
            </a:solidFill>
            <a:ln w="9525">
              <a:solidFill>
                <a:srgbClr val="8B5CF6">
                  <a:alpha val="25000"/>
                </a:srgbClr>
              </a:solidFill>
            </a:ln>
          </p:spPr>
        </p:sp>
        <p:sp>
          <p:nvSpPr>
            <p:cNvPr id="65" name="Rectangle 65"/>
            <p:cNvSpPr/>
            <p:nvPr/>
          </p:nvSpPr>
          <p:spPr>
            <a:xfrm>
              <a:off x="12001500" y="2571750"/>
              <a:ext cx="5715000" cy="47625"/>
            </a:xfrm>
            <a:prstGeom prst="rect">
              <a:avLst/>
            </a:prstGeom>
            <a:solidFill>
              <a:srgbClr val="8B5CF6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12742545" y="2850832"/>
              <a:ext cx="83896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1F5F9"/>
                  </a:solidFill>
                  <a:latin typeface="Arial"/>
                  <a:ea typeface="Microsoft YaHei"/>
                  <a:cs typeface="Arial"/>
                </a:rPr>
                <a:t>COLOR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3473112" y="2907506"/>
              <a:ext cx="98976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· 品牌色彩库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12268200" y="3371850"/>
              <a:ext cx="762000" cy="247650"/>
            </a:xfrm>
            <a:prstGeom prst="rect">
              <a:avLst/>
            </a:prstGeom>
            <a:solidFill>
              <a:srgbClr val="8B5CF6">
                <a:alpha val="12000"/>
              </a:srgbClr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12361736" y="3446145"/>
              <a:ext cx="57492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8B5CF6"/>
                  </a:solidFill>
                  <a:latin typeface="Arial"/>
                  <a:ea typeface="Microsoft YaHei"/>
                  <a:cs typeface="Arial"/>
                </a:rPr>
                <a:t>设计标准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13125450" y="3371850"/>
              <a:ext cx="762000" cy="247650"/>
            </a:xfrm>
            <a:prstGeom prst="rect">
              <a:avLst/>
            </a:prstGeom>
            <a:solidFill>
              <a:srgbClr val="8B5CF6">
                <a:alpha val="12000"/>
              </a:srgbClr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13270742" y="3446145"/>
              <a:ext cx="47141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8B5CF6"/>
                  </a:solidFill>
                  <a:latin typeface="Arial"/>
                  <a:ea typeface="Microsoft YaHei"/>
                  <a:cs typeface="Arial"/>
                </a:rPr>
                <a:t>2914 色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2256770" y="3808095"/>
              <a:ext cx="177765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Consolas"/>
                  <a:ea typeface="Microsoft YaHei"/>
                  <a:cs typeface="Consolas"/>
                </a:rPr>
                <a:t>color.pythonanywhere.com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2256770" y="4036695"/>
              <a:ext cx="181051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Consolas"/>
                  <a:ea typeface="Microsoft YaHei"/>
                  <a:cs typeface="Consolas"/>
                </a:rPr>
                <a:t>Next.js + Supabase + Python</a:t>
              </a:r>
            </a:p>
          </p:txBody>
        </p:sp>
        <p:sp>
          <p:nvSpPr>
            <p:cNvPr id="74" name="Line 74"/>
            <p:cNvSpPr/>
            <p:nvPr/>
          </p:nvSpPr>
          <p:spPr>
            <a:xfrm>
              <a:off x="12268200" y="4286250"/>
              <a:ext cx="5181600" cy="9525"/>
            </a:xfrm>
            <a:custGeom>
              <a:avLst/>
              <a:gdLst/>
              <a:ahLst/>
              <a:cxnLst/>
              <a:rect l="l" t="t" r="r" b="b"/>
              <a:pathLst>
                <a:path w="5181600" h="9525">
                  <a:moveTo>
                    <a:pt x="0" y="0"/>
                  </a:moveTo>
                  <a:lnTo>
                    <a:pt x="5181600" y="0"/>
                  </a:lnTo>
                </a:path>
              </a:pathLst>
            </a:custGeom>
            <a:noFill/>
            <a:ln w="9525">
              <a:solidFill>
                <a:srgbClr val="1E293B"/>
              </a:solidFill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12254865" y="4439602"/>
              <a:ext cx="6707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核心能力</a:t>
              </a:r>
            </a:p>
          </p:txBody>
        </p:sp>
        <p:sp>
          <p:nvSpPr>
            <p:cNvPr id="76" name="Ellipse 76"/>
            <p:cNvSpPr/>
            <p:nvPr/>
          </p:nvSpPr>
          <p:spPr>
            <a:xfrm>
              <a:off x="12353925" y="4772025"/>
              <a:ext cx="57150" cy="57150"/>
            </a:xfrm>
            <a:prstGeom prst="ellipse">
              <a:avLst/>
            </a:prstGeom>
            <a:solidFill>
              <a:srgbClr val="8B5CF6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12483465" y="4734878"/>
              <a:ext cx="307071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2914色LASEN标准色库 — 品牌色彩标准化体系</a:t>
              </a:r>
            </a:p>
          </p:txBody>
        </p:sp>
        <p:sp>
          <p:nvSpPr>
            <p:cNvPr id="78" name="Ellipse 78"/>
            <p:cNvSpPr/>
            <p:nvPr/>
          </p:nvSpPr>
          <p:spPr>
            <a:xfrm>
              <a:off x="12353925" y="5019675"/>
              <a:ext cx="57150" cy="57150"/>
            </a:xfrm>
            <a:prstGeom prst="ellipse">
              <a:avLst/>
            </a:prstGeom>
            <a:solidFill>
              <a:srgbClr val="8B5CF6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12483465" y="4982528"/>
              <a:ext cx="227328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KMeans聚类分析 — 色彩智能分组</a:t>
              </a:r>
            </a:p>
          </p:txBody>
        </p:sp>
        <p:sp>
          <p:nvSpPr>
            <p:cNvPr id="80" name="Ellipse 80"/>
            <p:cNvSpPr/>
            <p:nvPr/>
          </p:nvSpPr>
          <p:spPr>
            <a:xfrm>
              <a:off x="12353925" y="5267325"/>
              <a:ext cx="57150" cy="57150"/>
            </a:xfrm>
            <a:prstGeom prst="ellipse">
              <a:avLst/>
            </a:prstGeom>
            <a:solidFill>
              <a:srgbClr val="8B5CF6"/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12483465" y="5230178"/>
              <a:ext cx="202025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AI图片理解 — 产品图色彩提取</a:t>
              </a:r>
            </a:p>
          </p:txBody>
        </p:sp>
        <p:sp>
          <p:nvSpPr>
            <p:cNvPr id="82" name="Ellipse 82"/>
            <p:cNvSpPr/>
            <p:nvPr/>
          </p:nvSpPr>
          <p:spPr>
            <a:xfrm>
              <a:off x="12353925" y="5514975"/>
              <a:ext cx="57150" cy="57150"/>
            </a:xfrm>
            <a:prstGeom prst="ellipse">
              <a:avLst/>
            </a:prstGeom>
            <a:solidFill>
              <a:srgbClr val="8B5CF6"/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12483465" y="5477828"/>
              <a:ext cx="219660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调色工具 — 色彩搭配与方案生成</a:t>
              </a:r>
            </a:p>
          </p:txBody>
        </p:sp>
        <p:sp>
          <p:nvSpPr>
            <p:cNvPr id="84" name="Ellipse 84"/>
            <p:cNvSpPr/>
            <p:nvPr/>
          </p:nvSpPr>
          <p:spPr>
            <a:xfrm>
              <a:off x="12353925" y="5762625"/>
              <a:ext cx="57150" cy="57150"/>
            </a:xfrm>
            <a:prstGeom prst="ellipse">
              <a:avLst/>
            </a:prstGeom>
            <a:solidFill>
              <a:srgbClr val="8B5CF6"/>
            </a:solidFill>
            <a:ln>
              <a:noFill/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12483465" y="5725478"/>
              <a:ext cx="219660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灵感关联 — 色彩与设计灵感联动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12254865" y="6173152"/>
              <a:ext cx="6707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数据流向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12254865" y="6439852"/>
              <a:ext cx="330841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COLOR → VOC 色彩调研模块（当前集成度 20%）</a:t>
              </a:r>
            </a:p>
          </p:txBody>
        </p:sp>
      </p:grpSp>
      <p:sp>
        <p:nvSpPr>
          <p:cNvPr id="89" name="TextBox 89"/>
          <p:cNvSpPr txBox="1"/>
          <p:nvPr/>
        </p:nvSpPr>
        <p:spPr>
          <a:xfrm>
            <a:off x="8946761" y="10007441"/>
            <a:ext cx="39447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03 / 14</a:t>
            </a:r>
          </a:p>
        </p:txBody>
      </p:sp>
    </p:spTree>
  </p:cSld>
  <p:clrMapOvr>
    <a:masterClrMapping/>
  </p:clrMapOvr>
  <p:transition 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A0E1A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571500" y="381000"/>
            <a:ext cx="17145000" cy="419100"/>
          </a:xfrm>
          <a:prstGeom prst="rect">
            <a:avLst/>
          </a:prstGeom>
          <a:solidFill>
            <a:srgbClr val="161D2E"/>
          </a:solidFill>
          <a:ln w="9525">
            <a:solidFill>
              <a:srgbClr val="1E293B"/>
            </a:solidFill>
          </a:ln>
        </p:spPr>
      </p:sp>
      <p:sp>
        <p:nvSpPr>
          <p:cNvPr id="4" name="TextBox 4"/>
          <p:cNvSpPr txBox="1"/>
          <p:nvPr/>
        </p:nvSpPr>
        <p:spPr>
          <a:xfrm>
            <a:off x="748665" y="534352"/>
            <a:ext cx="105719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06B6D4"/>
                </a:solidFill>
                <a:latin typeface="Arial"/>
                <a:ea typeface="Microsoft YaHei"/>
                <a:cs typeface="Arial"/>
              </a:rPr>
              <a:t>LASEN.Digital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6491347" y="558641"/>
            <a:ext cx="104513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系统设计报告 v2.0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0070" y="1141095"/>
            <a:ext cx="217592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06B6D4"/>
                </a:solidFill>
                <a:latin typeface="Arial"/>
                <a:ea typeface="Microsoft YaHei"/>
                <a:cs typeface="Arial"/>
              </a:rPr>
              <a:t>SYSTEM DECOMPOSITION (CONT.)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41020" y="1341120"/>
            <a:ext cx="3741420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五大子系统解构（续）</a:t>
            </a:r>
          </a:p>
        </p:txBody>
      </p:sp>
      <p:sp>
        <p:nvSpPr>
          <p:cNvPr id="8" name="Rectangle 8"/>
          <p:cNvSpPr/>
          <p:nvPr/>
        </p:nvSpPr>
        <p:spPr>
          <a:xfrm>
            <a:off x="571500" y="1809750"/>
            <a:ext cx="17145000" cy="476250"/>
          </a:xfrm>
          <a:prstGeom prst="rect">
            <a:avLst/>
          </a:prstGeom>
          <a:solidFill>
            <a:srgbClr val="06B6D4">
              <a:alpha val="6000"/>
            </a:srgbClr>
          </a:solidFill>
          <a:ln w="9525">
            <a:solidFill>
              <a:srgbClr val="06B6D4">
                <a:alpha val="15000"/>
              </a:srgbClr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6201918" y="1975485"/>
            <a:ext cx="588416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YFB与LASEN分别支撑商业决策与运营反馈，补全企划研发全链路的下游闭环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571500" y="2571750"/>
            <a:ext cx="8382000" cy="4381500"/>
            <a:chOff x="571500" y="2571750"/>
            <a:chExt cx="8382000" cy="4381500"/>
          </a:xfrm>
        </p:grpSpPr>
        <p:sp>
          <p:nvSpPr>
            <p:cNvPr id="10" name="Rectangle 10"/>
            <p:cNvSpPr/>
            <p:nvPr/>
          </p:nvSpPr>
          <p:spPr>
            <a:xfrm>
              <a:off x="571500" y="2571750"/>
              <a:ext cx="8382000" cy="4381500"/>
            </a:xfrm>
            <a:prstGeom prst="rect">
              <a:avLst/>
            </a:prstGeom>
            <a:solidFill>
              <a:srgbClr val="161D2E"/>
            </a:solidFill>
            <a:ln w="9525">
              <a:solidFill>
                <a:srgbClr val="10B981">
                  <a:alpha val="25000"/>
                </a:srgbClr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571500" y="2571750"/>
              <a:ext cx="8382000" cy="47625"/>
            </a:xfrm>
            <a:prstGeom prst="rect">
              <a:avLst/>
            </a:prstGeom>
            <a:solidFill>
              <a:srgbClr val="10B98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312545" y="2850832"/>
              <a:ext cx="45941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1F5F9"/>
                  </a:solidFill>
                  <a:latin typeface="Arial"/>
                  <a:ea typeface="Microsoft YaHei"/>
                  <a:cs typeface="Arial"/>
                </a:rPr>
                <a:t>YFB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852612" y="2907506"/>
              <a:ext cx="164699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· 利润测算与货盘工具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838200" y="3371850"/>
              <a:ext cx="762000" cy="247650"/>
            </a:xfrm>
            <a:prstGeom prst="rect">
              <a:avLst/>
            </a:prstGeom>
            <a:solidFill>
              <a:srgbClr val="10B981">
                <a:alpha val="12000"/>
              </a:srgbClr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31735" y="3446145"/>
              <a:ext cx="57492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0B981"/>
                  </a:solidFill>
                  <a:latin typeface="Arial"/>
                  <a:ea typeface="Microsoft YaHei"/>
                  <a:cs typeface="Arial"/>
                </a:rPr>
                <a:t>商业决策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1695450" y="3371850"/>
              <a:ext cx="952500" cy="247650"/>
            </a:xfrm>
            <a:prstGeom prst="rect">
              <a:avLst/>
            </a:prstGeom>
            <a:solidFill>
              <a:srgbClr val="10B981">
                <a:alpha val="12000"/>
              </a:srgbClr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835929" y="3446145"/>
              <a:ext cx="67154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0B981"/>
                  </a:solidFill>
                  <a:latin typeface="Arial"/>
                  <a:ea typeface="Microsoft YaHei"/>
                  <a:cs typeface="Arial"/>
                </a:rPr>
                <a:t>10+ 成本项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26770" y="3808095"/>
              <a:ext cx="166592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Consolas"/>
                  <a:ea typeface="Microsoft YaHei"/>
                  <a:cs typeface="Consolas"/>
                </a:rPr>
                <a:t>yfb.pythonanywhere.com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26770" y="4036695"/>
              <a:ext cx="181051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Consolas"/>
                  <a:ea typeface="Microsoft YaHei"/>
                  <a:cs typeface="Consolas"/>
                </a:rPr>
                <a:t>Next.js + Supabase + Python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838200" y="4286250"/>
              <a:ext cx="7848600" cy="9525"/>
            </a:xfrm>
            <a:custGeom>
              <a:avLst/>
              <a:gdLst/>
              <a:ahLst/>
              <a:cxnLst/>
              <a:rect l="l" t="t" r="r" b="b"/>
              <a:pathLst>
                <a:path w="7848600" h="9525">
                  <a:moveTo>
                    <a:pt x="0" y="0"/>
                  </a:moveTo>
                  <a:lnTo>
                    <a:pt x="7848600" y="0"/>
                  </a:lnTo>
                </a:path>
              </a:pathLst>
            </a:custGeom>
            <a:noFill/>
            <a:ln w="9525">
              <a:solidFill>
                <a:srgbClr val="1E293B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24865" y="4439602"/>
              <a:ext cx="6707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核心能力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923925" y="4772025"/>
              <a:ext cx="57150" cy="57150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053465" y="4734878"/>
              <a:ext cx="290969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FBA利润计算器 — 全链路成本与利润率测算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923925" y="5019675"/>
              <a:ext cx="57150" cy="57150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053465" y="4982528"/>
              <a:ext cx="468858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成本项管理 — 10+成本项精细化管理（采购/头程/FBA/广告/退货等）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923925" y="5267325"/>
              <a:ext cx="57150" cy="57150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053465" y="5230178"/>
              <a:ext cx="281001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货盘规划 — 基于利润测算的货盘决策支持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923925" y="5514975"/>
              <a:ext cx="57150" cy="57150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053465" y="5477828"/>
              <a:ext cx="281001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净利润率分析 — 多维度利润率对比与趋势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923925" y="5762625"/>
              <a:ext cx="57150" cy="57150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053465" y="5725478"/>
              <a:ext cx="234996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供应商合同管理 — 合同与结算追踪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24865" y="6173152"/>
              <a:ext cx="6707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数据流向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24865" y="6439852"/>
              <a:ext cx="513330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VOC成本数据 → YFB利润测算 → 货盘规划决策（当前集成度：YFB嵌入VOC）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9144000" y="2571750"/>
            <a:ext cx="8572500" cy="4381500"/>
            <a:chOff x="9144000" y="2571750"/>
            <a:chExt cx="8572500" cy="4381500"/>
          </a:xfrm>
        </p:grpSpPr>
        <p:sp>
          <p:nvSpPr>
            <p:cNvPr id="35" name="Rectangle 35"/>
            <p:cNvSpPr/>
            <p:nvPr/>
          </p:nvSpPr>
          <p:spPr>
            <a:xfrm>
              <a:off x="9144000" y="2571750"/>
              <a:ext cx="8572500" cy="4381500"/>
            </a:xfrm>
            <a:prstGeom prst="rect">
              <a:avLst/>
            </a:prstGeom>
            <a:solidFill>
              <a:srgbClr val="161D2E"/>
            </a:solidFill>
            <a:ln w="9525">
              <a:solidFill>
                <a:srgbClr val="F43F5E">
                  <a:alpha val="25000"/>
                </a:srgbClr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9144000" y="2571750"/>
              <a:ext cx="8572500" cy="47625"/>
            </a:xfrm>
            <a:prstGeom prst="rect">
              <a:avLst/>
            </a:prstGeom>
            <a:solidFill>
              <a:srgbClr val="F43F5E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9885045" y="2850832"/>
              <a:ext cx="73774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1F5F9"/>
                  </a:solidFill>
                  <a:latin typeface="Arial"/>
                  <a:ea typeface="Microsoft YaHei"/>
                  <a:cs typeface="Arial"/>
                </a:rPr>
                <a:t>LASEN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653712" y="2907506"/>
              <a:ext cx="148268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· 中台产品表现分析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9410700" y="3371850"/>
              <a:ext cx="762000" cy="247650"/>
            </a:xfrm>
            <a:prstGeom prst="rect">
              <a:avLst/>
            </a:prstGeom>
            <a:solidFill>
              <a:srgbClr val="F43F5E">
                <a:alpha val="12000"/>
              </a:srgbClr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9504236" y="3446145"/>
              <a:ext cx="57492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43F5E"/>
                  </a:solidFill>
                  <a:latin typeface="Arial"/>
                  <a:ea typeface="Microsoft YaHei"/>
                  <a:cs typeface="Arial"/>
                </a:rPr>
                <a:t>运营反馈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10267950" y="3371850"/>
              <a:ext cx="762000" cy="247650"/>
            </a:xfrm>
            <a:prstGeom prst="rect">
              <a:avLst/>
            </a:prstGeom>
            <a:solidFill>
              <a:srgbClr val="F43F5E">
                <a:alpha val="12000"/>
              </a:srgbClr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10440845" y="3446145"/>
              <a:ext cx="41620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43F5E"/>
                  </a:solidFill>
                  <a:latin typeface="Arial"/>
                  <a:ea typeface="Microsoft YaHei"/>
                  <a:cs typeface="Arial"/>
                </a:rPr>
                <a:t>3 维度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399270" y="3808095"/>
              <a:ext cx="177765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Consolas"/>
                  <a:ea typeface="Microsoft YaHei"/>
                  <a:cs typeface="Consolas"/>
                </a:rPr>
                <a:t>lasen.pythonanywhere.com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399270" y="4036695"/>
              <a:ext cx="181051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Consolas"/>
                  <a:ea typeface="Microsoft YaHei"/>
                  <a:cs typeface="Consolas"/>
                </a:rPr>
                <a:t>Next.js + Supabase + Python</a:t>
              </a:r>
            </a:p>
          </p:txBody>
        </p:sp>
        <p:sp>
          <p:nvSpPr>
            <p:cNvPr id="45" name="Line 45"/>
            <p:cNvSpPr/>
            <p:nvPr/>
          </p:nvSpPr>
          <p:spPr>
            <a:xfrm>
              <a:off x="9410700" y="4286250"/>
              <a:ext cx="8039100" cy="9525"/>
            </a:xfrm>
            <a:custGeom>
              <a:avLst/>
              <a:gdLst/>
              <a:ahLst/>
              <a:cxnLst/>
              <a:rect l="l" t="t" r="r" b="b"/>
              <a:pathLst>
                <a:path w="8039100" h="9525">
                  <a:moveTo>
                    <a:pt x="0" y="0"/>
                  </a:moveTo>
                  <a:lnTo>
                    <a:pt x="8039100" y="0"/>
                  </a:lnTo>
                </a:path>
              </a:pathLst>
            </a:custGeom>
            <a:noFill/>
            <a:ln w="9525">
              <a:solidFill>
                <a:srgbClr val="1E293B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9397365" y="4439602"/>
              <a:ext cx="6707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核心能力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9496425" y="4772025"/>
              <a:ext cx="57150" cy="57150"/>
            </a:xfrm>
            <a:prstGeom prst="ellipse">
              <a:avLst/>
            </a:prstGeom>
            <a:solidFill>
              <a:srgbClr val="F43F5E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9625965" y="4734878"/>
              <a:ext cx="311672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评分预警监控 — 产品评分实时追踪与异常预警</a:t>
              </a:r>
            </a:p>
          </p:txBody>
        </p:sp>
        <p:sp>
          <p:nvSpPr>
            <p:cNvPr id="49" name="Ellipse 49"/>
            <p:cNvSpPr/>
            <p:nvPr/>
          </p:nvSpPr>
          <p:spPr>
            <a:xfrm>
              <a:off x="9496425" y="5019675"/>
              <a:ext cx="57150" cy="57150"/>
            </a:xfrm>
            <a:prstGeom prst="ellipse">
              <a:avLst/>
            </a:prstGeom>
            <a:solidFill>
              <a:srgbClr val="F43F5E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9625965" y="4982528"/>
              <a:ext cx="265666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爆款识别 — 自动识别高潜力产品与趋势</a:t>
              </a:r>
            </a:p>
          </p:txBody>
        </p:sp>
        <p:sp>
          <p:nvSpPr>
            <p:cNvPr id="51" name="Ellipse 51"/>
            <p:cNvSpPr/>
            <p:nvPr/>
          </p:nvSpPr>
          <p:spPr>
            <a:xfrm>
              <a:off x="9496425" y="5267325"/>
              <a:ext cx="57150" cy="57150"/>
            </a:xfrm>
            <a:prstGeom prst="ellipse">
              <a:avLst/>
            </a:prstGeom>
            <a:solidFill>
              <a:srgbClr val="F43F5E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9625965" y="5230178"/>
              <a:ext cx="250331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数据仪表盘 — 多维度产品表现可视化</a:t>
              </a:r>
            </a:p>
          </p:txBody>
        </p:sp>
        <p:sp>
          <p:nvSpPr>
            <p:cNvPr id="53" name="Ellipse 53"/>
            <p:cNvSpPr/>
            <p:nvPr/>
          </p:nvSpPr>
          <p:spPr>
            <a:xfrm>
              <a:off x="9496425" y="5514975"/>
              <a:ext cx="57150" cy="57150"/>
            </a:xfrm>
            <a:prstGeom prst="ellipse">
              <a:avLst/>
            </a:prstGeom>
            <a:solidFill>
              <a:srgbClr val="F43F5E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9625965" y="5477828"/>
              <a:ext cx="281001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自动数据爬取 — 定时采集亚马逊产品数据</a:t>
              </a:r>
            </a:p>
          </p:txBody>
        </p:sp>
        <p:sp>
          <p:nvSpPr>
            <p:cNvPr id="55" name="Ellipse 55"/>
            <p:cNvSpPr/>
            <p:nvPr/>
          </p:nvSpPr>
          <p:spPr>
            <a:xfrm>
              <a:off x="9496425" y="5762625"/>
              <a:ext cx="57150" cy="57150"/>
            </a:xfrm>
            <a:prstGeom prst="ellipse">
              <a:avLst/>
            </a:prstGeom>
            <a:solidFill>
              <a:srgbClr val="F43F5E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9625965" y="5725478"/>
              <a:ext cx="281001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迭代优化建议 — 基于运营数据的改进推荐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397365" y="6173152"/>
              <a:ext cx="6707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数据流向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9397365" y="6439852"/>
              <a:ext cx="395249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LASEN → VOC 运营反馈模块（当前集成度 0% — 关键断点）</a:t>
              </a:r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571500" y="7334250"/>
            <a:ext cx="17145000" cy="1143000"/>
            <a:chOff x="571500" y="7334250"/>
            <a:chExt cx="17145000" cy="1143000"/>
          </a:xfrm>
        </p:grpSpPr>
        <p:sp>
          <p:nvSpPr>
            <p:cNvPr id="60" name="Rectangle 60"/>
            <p:cNvSpPr/>
            <p:nvPr/>
          </p:nvSpPr>
          <p:spPr>
            <a:xfrm>
              <a:off x="571500" y="7334250"/>
              <a:ext cx="17145000" cy="1143000"/>
            </a:xfrm>
            <a:prstGeom prst="rect">
              <a:avLst/>
            </a:prstGeom>
            <a:solidFill>
              <a:srgbClr val="161D2E"/>
            </a:solidFill>
            <a:ln w="9525">
              <a:solidFill>
                <a:srgbClr val="1E293B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938212" y="7536656"/>
              <a:ext cx="123622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1F5F9"/>
                  </a:solidFill>
                  <a:latin typeface="Arial"/>
                  <a:ea typeface="Microsoft YaHei"/>
                  <a:cs typeface="Arial"/>
                </a:rPr>
                <a:t>子系统协同关系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952500" y="7848600"/>
              <a:ext cx="1524000" cy="419100"/>
            </a:xfrm>
            <a:prstGeom prst="rect">
              <a:avLst/>
            </a:prstGeom>
            <a:solidFill>
              <a:srgbClr val="06B6D4">
                <a:alpha val="10000"/>
              </a:srgbClr>
            </a:solidFill>
            <a:ln w="9525">
              <a:solidFill>
                <a:srgbClr val="06B6D4">
                  <a:alpha val="30000"/>
                </a:srgbClr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1367048" y="8001952"/>
              <a:ext cx="69490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VOC 核心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2651760" y="7985760"/>
              <a:ext cx="102946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← 数据供给 ←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4000500" y="7848600"/>
              <a:ext cx="1333500" cy="419100"/>
            </a:xfrm>
            <a:prstGeom prst="rect">
              <a:avLst/>
            </a:prstGeom>
            <a:solidFill>
              <a:srgbClr val="F59E0B">
                <a:alpha val="10000"/>
              </a:srgbClr>
            </a:solidFill>
            <a:ln w="9525">
              <a:solidFill>
                <a:srgbClr val="F59E0B">
                  <a:alpha val="30000"/>
                </a:srgbClr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4460691" y="8001952"/>
              <a:ext cx="41311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AMZN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5524500" y="7848600"/>
              <a:ext cx="1333500" cy="419100"/>
            </a:xfrm>
            <a:prstGeom prst="rect">
              <a:avLst/>
            </a:prstGeom>
            <a:solidFill>
              <a:srgbClr val="8B5CF6">
                <a:alpha val="10000"/>
              </a:srgbClr>
            </a:solidFill>
            <a:ln w="9525">
              <a:solidFill>
                <a:srgbClr val="8B5CF6">
                  <a:alpha val="30000"/>
                </a:srgbClr>
              </a:solidFill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5924308" y="8001952"/>
              <a:ext cx="53388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8B5CF6"/>
                  </a:solidFill>
                  <a:latin typeface="Arial"/>
                  <a:ea typeface="Microsoft YaHei"/>
                  <a:cs typeface="Arial"/>
                </a:rPr>
                <a:t>COLOR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7223760" y="7985760"/>
              <a:ext cx="102946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→ 数据消费 →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8572500" y="7848600"/>
              <a:ext cx="1333500" cy="419100"/>
            </a:xfrm>
            <a:prstGeom prst="rect">
              <a:avLst/>
            </a:prstGeom>
            <a:solidFill>
              <a:srgbClr val="10B981">
                <a:alpha val="10000"/>
              </a:srgbClr>
            </a:solidFill>
            <a:ln w="9525">
              <a:solidFill>
                <a:srgbClr val="10B981">
                  <a:alpha val="30000"/>
                </a:srgbClr>
              </a:solidFill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9093073" y="8001952"/>
              <a:ext cx="29235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0B981"/>
                  </a:solidFill>
                  <a:latin typeface="Arial"/>
                  <a:ea typeface="Microsoft YaHei"/>
                  <a:cs typeface="Arial"/>
                </a:rPr>
                <a:t>YFB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10096500" y="7848600"/>
              <a:ext cx="1333500" cy="419100"/>
            </a:xfrm>
            <a:prstGeom prst="rect">
              <a:avLst/>
            </a:prstGeom>
            <a:solidFill>
              <a:srgbClr val="F43F5E">
                <a:alpha val="10000"/>
              </a:srgbClr>
            </a:solidFill>
            <a:ln w="9525">
              <a:solidFill>
                <a:srgbClr val="F43F5E">
                  <a:alpha val="30000"/>
                </a:srgbClr>
              </a:solidFill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10528512" y="8001952"/>
              <a:ext cx="4694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43F5E"/>
                  </a:solidFill>
                  <a:latin typeface="Arial"/>
                  <a:ea typeface="Microsoft YaHei"/>
                  <a:cs typeface="Arial"/>
                </a:rPr>
                <a:t>LASEN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1795760" y="7985760"/>
              <a:ext cx="102946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→ 反馈回流 →</a:t>
              </a:r>
            </a:p>
          </p:txBody>
        </p:sp>
        <p:sp>
          <p:nvSpPr>
            <p:cNvPr id="75" name="Rectangle 75"/>
            <p:cNvSpPr/>
            <p:nvPr/>
          </p:nvSpPr>
          <p:spPr>
            <a:xfrm>
              <a:off x="13144500" y="7848600"/>
              <a:ext cx="1524000" cy="419100"/>
            </a:xfrm>
            <a:prstGeom prst="rect">
              <a:avLst/>
            </a:prstGeom>
            <a:solidFill>
              <a:srgbClr val="06B6D4">
                <a:alpha val="10000"/>
              </a:srgbClr>
            </a:solidFill>
            <a:ln w="9525">
              <a:solidFill>
                <a:srgbClr val="06B6D4">
                  <a:alpha val="30000"/>
                </a:srgbClr>
              </a:solidFill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13559048" y="8001952"/>
              <a:ext cx="69490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VOC 核心</a:t>
              </a:r>
            </a:p>
          </p:txBody>
        </p:sp>
      </p:grpSp>
      <p:sp>
        <p:nvSpPr>
          <p:cNvPr id="78" name="TextBox 78"/>
          <p:cNvSpPr txBox="1"/>
          <p:nvPr/>
        </p:nvSpPr>
        <p:spPr>
          <a:xfrm>
            <a:off x="8946761" y="10007441"/>
            <a:ext cx="39447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04 / 14</a:t>
            </a:r>
          </a:p>
        </p:txBody>
      </p:sp>
    </p:spTree>
  </p:cSld>
  <p:clrMapOvr>
    <a:masterClrMapping/>
  </p:clrMapOvr>
  <p:transition 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A0E1A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571500" y="381000"/>
            <a:ext cx="17145000" cy="419100"/>
          </a:xfrm>
          <a:prstGeom prst="rect">
            <a:avLst/>
          </a:prstGeom>
          <a:solidFill>
            <a:srgbClr val="161D2E"/>
          </a:solidFill>
          <a:ln w="9525">
            <a:solidFill>
              <a:srgbClr val="1E293B"/>
            </a:solidFill>
          </a:ln>
        </p:spPr>
      </p:sp>
      <p:sp>
        <p:nvSpPr>
          <p:cNvPr id="4" name="TextBox 4"/>
          <p:cNvSpPr txBox="1"/>
          <p:nvPr/>
        </p:nvSpPr>
        <p:spPr>
          <a:xfrm>
            <a:off x="748665" y="534352"/>
            <a:ext cx="105719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06B6D4"/>
                </a:solidFill>
                <a:latin typeface="Arial"/>
                <a:ea typeface="Microsoft YaHei"/>
                <a:cs typeface="Arial"/>
              </a:rPr>
              <a:t>LASEN.Digital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6491347" y="558641"/>
            <a:ext cx="104513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系统设计报告 v2.0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0070" y="1141095"/>
            <a:ext cx="89927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06B6D4"/>
                </a:solidFill>
                <a:latin typeface="Arial"/>
                <a:ea typeface="Microsoft YaHei"/>
                <a:cs typeface="Arial"/>
              </a:rPr>
              <a:t>ARCHITECTURE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41020" y="1341120"/>
            <a:ext cx="3005328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一核四翼架构设计</a:t>
            </a:r>
          </a:p>
        </p:txBody>
      </p:sp>
      <p:sp>
        <p:nvSpPr>
          <p:cNvPr id="8" name="Rectangle 8"/>
          <p:cNvSpPr/>
          <p:nvPr/>
        </p:nvSpPr>
        <p:spPr>
          <a:xfrm>
            <a:off x="571500" y="1809750"/>
            <a:ext cx="17145000" cy="476250"/>
          </a:xfrm>
          <a:prstGeom prst="rect">
            <a:avLst/>
          </a:prstGeom>
          <a:solidFill>
            <a:srgbClr val="06B6D4">
              <a:alpha val="6000"/>
            </a:srgbClr>
          </a:solidFill>
          <a:ln w="9525">
            <a:solidFill>
              <a:srgbClr val="06B6D4">
                <a:alpha val="15000"/>
              </a:srgbClr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6109906" y="1975485"/>
            <a:ext cx="606818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VOC为核心中枢，AMZN/COLOR/YFB/LASEN四翼环绕，底部统一数据中台支撑</a:t>
            </a:r>
          </a:p>
        </p:txBody>
      </p:sp>
      <p:sp>
        <p:nvSpPr>
          <p:cNvPr id="10" name="Ellipse 10"/>
          <p:cNvSpPr/>
          <p:nvPr/>
        </p:nvSpPr>
        <p:spPr>
          <a:xfrm>
            <a:off x="6096000" y="3048000"/>
            <a:ext cx="6096000" cy="4572000"/>
          </a:xfrm>
          <a:prstGeom prst="ellipse">
            <a:avLst/>
          </a:prstGeom>
          <a:gradFill>
            <a:gsLst>
              <a:gs pos="0">
                <a:srgbClr val="06B6D4">
                  <a:alpha val="12000"/>
                </a:srgbClr>
              </a:gs>
              <a:gs pos="100000">
                <a:srgbClr val="06B6D4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1" name="Line 11"/>
          <p:cNvSpPr/>
          <p:nvPr/>
        </p:nvSpPr>
        <p:spPr>
          <a:xfrm>
            <a:off x="5143500" y="3238500"/>
            <a:ext cx="2095500" cy="952500"/>
          </a:xfrm>
          <a:custGeom>
            <a:avLst/>
            <a:gdLst/>
            <a:ahLst/>
            <a:cxnLst/>
            <a:rect l="l" t="t" r="r" b="b"/>
            <a:pathLst>
              <a:path w="2095500" h="952500">
                <a:moveTo>
                  <a:pt x="2095500" y="952500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F59E0B">
                <a:alpha val="40000"/>
              </a:srgbClr>
            </a:solidFill>
            <a:custDash>
              <a:ds d="300000" sp="200000"/>
            </a:custDash>
          </a:ln>
        </p:spPr>
      </p:sp>
      <p:sp>
        <p:nvSpPr>
          <p:cNvPr id="12" name="Line 12"/>
          <p:cNvSpPr/>
          <p:nvPr/>
        </p:nvSpPr>
        <p:spPr>
          <a:xfrm>
            <a:off x="11049000" y="3238500"/>
            <a:ext cx="2095500" cy="952500"/>
          </a:xfrm>
          <a:custGeom>
            <a:avLst/>
            <a:gdLst/>
            <a:ahLst/>
            <a:cxnLst/>
            <a:rect l="l" t="t" r="r" b="b"/>
            <a:pathLst>
              <a:path w="2095500" h="952500">
                <a:moveTo>
                  <a:pt x="0" y="952500"/>
                </a:moveTo>
                <a:lnTo>
                  <a:pt x="2095500" y="0"/>
                </a:lnTo>
              </a:path>
            </a:pathLst>
          </a:custGeom>
          <a:noFill/>
          <a:ln w="19050">
            <a:solidFill>
              <a:srgbClr val="8B5CF6">
                <a:alpha val="40000"/>
              </a:srgbClr>
            </a:solidFill>
            <a:custDash>
              <a:ds d="300000" sp="200000"/>
            </a:custDash>
          </a:ln>
        </p:spPr>
      </p:sp>
      <p:sp>
        <p:nvSpPr>
          <p:cNvPr id="13" name="Line 13"/>
          <p:cNvSpPr/>
          <p:nvPr/>
        </p:nvSpPr>
        <p:spPr>
          <a:xfrm>
            <a:off x="5143500" y="6477000"/>
            <a:ext cx="2095500" cy="952500"/>
          </a:xfrm>
          <a:custGeom>
            <a:avLst/>
            <a:gdLst/>
            <a:ahLst/>
            <a:cxnLst/>
            <a:rect l="l" t="t" r="r" b="b"/>
            <a:pathLst>
              <a:path w="2095500" h="952500">
                <a:moveTo>
                  <a:pt x="2095500" y="0"/>
                </a:moveTo>
                <a:lnTo>
                  <a:pt x="0" y="952500"/>
                </a:lnTo>
              </a:path>
            </a:pathLst>
          </a:custGeom>
          <a:noFill/>
          <a:ln w="19050">
            <a:solidFill>
              <a:srgbClr val="10B981">
                <a:alpha val="40000"/>
              </a:srgbClr>
            </a:solidFill>
            <a:custDash>
              <a:ds d="300000" sp="200000"/>
            </a:custDash>
          </a:ln>
        </p:spPr>
      </p:sp>
      <p:sp>
        <p:nvSpPr>
          <p:cNvPr id="14" name="Line 14"/>
          <p:cNvSpPr/>
          <p:nvPr/>
        </p:nvSpPr>
        <p:spPr>
          <a:xfrm>
            <a:off x="11049000" y="6477000"/>
            <a:ext cx="2095500" cy="952500"/>
          </a:xfrm>
          <a:custGeom>
            <a:avLst/>
            <a:gdLst/>
            <a:ahLst/>
            <a:cxnLst/>
            <a:rect l="l" t="t" r="r" b="b"/>
            <a:pathLst>
              <a:path w="2095500" h="952500">
                <a:moveTo>
                  <a:pt x="0" y="0"/>
                </a:moveTo>
                <a:lnTo>
                  <a:pt x="2095500" y="952500"/>
                </a:lnTo>
              </a:path>
            </a:pathLst>
          </a:custGeom>
          <a:noFill/>
          <a:ln w="19050">
            <a:solidFill>
              <a:srgbClr val="F43F5E">
                <a:alpha val="40000"/>
              </a:srgbClr>
            </a:solidFill>
            <a:custDash>
              <a:ds d="300000" sp="200000"/>
            </a:custDash>
          </a:ln>
        </p:spPr>
      </p:sp>
      <p:grpSp>
        <p:nvGrpSpPr>
          <p:cNvPr id="22" name="Group 22"/>
          <p:cNvGrpSpPr/>
          <p:nvPr/>
        </p:nvGrpSpPr>
        <p:grpSpPr>
          <a:xfrm>
            <a:off x="7715250" y="4381500"/>
            <a:ext cx="2857500" cy="1905000"/>
            <a:chOff x="7715250" y="4381500"/>
            <a:chExt cx="2857500" cy="1905000"/>
          </a:xfrm>
        </p:grpSpPr>
        <p:sp>
          <p:nvSpPr>
            <p:cNvPr id="15" name="Rectangle 15"/>
            <p:cNvSpPr/>
            <p:nvPr/>
          </p:nvSpPr>
          <p:spPr>
            <a:xfrm>
              <a:off x="7715250" y="4381500"/>
              <a:ext cx="2857500" cy="1905000"/>
            </a:xfrm>
            <a:prstGeom prst="rect">
              <a:avLst/>
            </a:prstGeom>
            <a:solidFill>
              <a:srgbClr val="161D2E"/>
            </a:solidFill>
            <a:ln w="19050">
              <a:solidFill>
                <a:srgbClr val="06B6D4">
                  <a:alpha val="50000"/>
                </a:srgbClr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715250" y="4381500"/>
              <a:ext cx="2857500" cy="57150"/>
            </a:xfrm>
            <a:prstGeom prst="rect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865808" y="5139690"/>
              <a:ext cx="55638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1F5F9"/>
                  </a:solidFill>
                  <a:latin typeface="Arial"/>
                  <a:ea typeface="Microsoft YaHei"/>
                  <a:cs typeface="Arial"/>
                </a:rPr>
                <a:t>VOC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440579" y="5487352"/>
              <a:ext cx="140684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数智化企划设计中心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679085" y="5732145"/>
              <a:ext cx="92983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4748B"/>
                  </a:solidFill>
                  <a:latin typeface="Consolas"/>
                  <a:ea typeface="Microsoft YaHei"/>
                  <a:cs typeface="Consolas"/>
                </a:rPr>
                <a:t>24 API Modules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8286750" y="5981700"/>
              <a:ext cx="1714500" cy="228600"/>
            </a:xfrm>
            <a:prstGeom prst="rect">
              <a:avLst/>
            </a:prstGeom>
            <a:solidFill>
              <a:srgbClr val="06B6D4">
                <a:alpha val="10000"/>
              </a:srgbClr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639158" y="6046470"/>
              <a:ext cx="100968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核心中枢 · 一核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2857500" y="2571750"/>
            <a:ext cx="2667000" cy="1524000"/>
            <a:chOff x="2857500" y="2571750"/>
            <a:chExt cx="2667000" cy="1524000"/>
          </a:xfrm>
        </p:grpSpPr>
        <p:sp>
          <p:nvSpPr>
            <p:cNvPr id="23" name="Rectangle 23"/>
            <p:cNvSpPr/>
            <p:nvPr/>
          </p:nvSpPr>
          <p:spPr>
            <a:xfrm>
              <a:off x="2857500" y="2571750"/>
              <a:ext cx="2667000" cy="1524000"/>
            </a:xfrm>
            <a:prstGeom prst="rect">
              <a:avLst/>
            </a:prstGeom>
            <a:solidFill>
              <a:srgbClr val="161D2E"/>
            </a:solidFill>
            <a:ln w="14288">
              <a:solidFill>
                <a:srgbClr val="F59E0B">
                  <a:alpha val="40000"/>
                </a:srgbClr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2857500" y="2571750"/>
              <a:ext cx="2667000" cy="38100"/>
            </a:xfrm>
            <a:prstGeom prst="rect">
              <a:avLst/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3895916" y="3248025"/>
              <a:ext cx="59016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1F5F9"/>
                  </a:solidFill>
                  <a:latin typeface="Arial"/>
                  <a:ea typeface="Microsoft YaHei"/>
                  <a:cs typeface="Arial"/>
                </a:rPr>
                <a:t>AMZN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680222" y="3552349"/>
              <a:ext cx="102155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亚马逊数据爬虫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698557" y="3778091"/>
              <a:ext cx="98488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市场情报采集引擎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2763500" y="2571750"/>
            <a:ext cx="2667000" cy="1524000"/>
            <a:chOff x="12763500" y="2571750"/>
            <a:chExt cx="2667000" cy="1524000"/>
          </a:xfrm>
        </p:grpSpPr>
        <p:sp>
          <p:nvSpPr>
            <p:cNvPr id="29" name="Rectangle 29"/>
            <p:cNvSpPr/>
            <p:nvPr/>
          </p:nvSpPr>
          <p:spPr>
            <a:xfrm>
              <a:off x="12763500" y="2571750"/>
              <a:ext cx="2667000" cy="1524000"/>
            </a:xfrm>
            <a:prstGeom prst="rect">
              <a:avLst/>
            </a:prstGeom>
            <a:solidFill>
              <a:srgbClr val="161D2E"/>
            </a:solidFill>
            <a:ln w="14288">
              <a:solidFill>
                <a:srgbClr val="8B5CF6">
                  <a:alpha val="40000"/>
                </a:srgbClr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12763500" y="2571750"/>
              <a:ext cx="2667000" cy="38100"/>
            </a:xfrm>
            <a:prstGeom prst="rect">
              <a:avLst/>
            </a:prstGeom>
            <a:solidFill>
              <a:srgbClr val="8B5CF6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3715655" y="3248025"/>
              <a:ext cx="76269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1F5F9"/>
                  </a:solidFill>
                  <a:latin typeface="Arial"/>
                  <a:ea typeface="Microsoft YaHei"/>
                  <a:cs typeface="Arial"/>
                </a:rPr>
                <a:t>COLOR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3728621" y="3552349"/>
              <a:ext cx="73675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B5CF6"/>
                  </a:solidFill>
                  <a:latin typeface="Arial"/>
                  <a:ea typeface="Microsoft YaHei"/>
                  <a:cs typeface="Arial"/>
                </a:rPr>
                <a:t>品牌色彩库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3664803" y="3778091"/>
              <a:ext cx="86439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设计标准化体系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2857500" y="6667500"/>
            <a:ext cx="2667000" cy="1524000"/>
            <a:chOff x="2857500" y="6667500"/>
            <a:chExt cx="2667000" cy="1524000"/>
          </a:xfrm>
        </p:grpSpPr>
        <p:sp>
          <p:nvSpPr>
            <p:cNvPr id="35" name="Rectangle 35"/>
            <p:cNvSpPr/>
            <p:nvPr/>
          </p:nvSpPr>
          <p:spPr>
            <a:xfrm>
              <a:off x="2857500" y="6667500"/>
              <a:ext cx="2667000" cy="1524000"/>
            </a:xfrm>
            <a:prstGeom prst="rect">
              <a:avLst/>
            </a:prstGeom>
            <a:solidFill>
              <a:srgbClr val="161D2E"/>
            </a:solidFill>
            <a:ln w="14288">
              <a:solidFill>
                <a:srgbClr val="10B981">
                  <a:alpha val="40000"/>
                </a:srgbClr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2857500" y="6667500"/>
              <a:ext cx="2667000" cy="38100"/>
            </a:xfrm>
            <a:prstGeom prst="rect">
              <a:avLst/>
            </a:prstGeom>
            <a:solidFill>
              <a:srgbClr val="10B981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3982176" y="7343775"/>
              <a:ext cx="41764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1F5F9"/>
                  </a:solidFill>
                  <a:latin typeface="Arial"/>
                  <a:ea typeface="Microsoft YaHei"/>
                  <a:cs typeface="Arial"/>
                </a:rPr>
                <a:t>YFB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537823" y="7648099"/>
              <a:ext cx="130635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10B981"/>
                  </a:solidFill>
                  <a:latin typeface="Arial"/>
                  <a:ea typeface="Microsoft YaHei"/>
                  <a:cs typeface="Arial"/>
                </a:rPr>
                <a:t>利润测算与货盘工具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819049" y="7873841"/>
              <a:ext cx="74390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商业决策引擎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12763500" y="6667500"/>
            <a:ext cx="2667000" cy="1524000"/>
            <a:chOff x="12763500" y="6667500"/>
            <a:chExt cx="2667000" cy="1524000"/>
          </a:xfrm>
        </p:grpSpPr>
        <p:sp>
          <p:nvSpPr>
            <p:cNvPr id="41" name="Rectangle 41"/>
            <p:cNvSpPr/>
            <p:nvPr/>
          </p:nvSpPr>
          <p:spPr>
            <a:xfrm>
              <a:off x="12763500" y="6667500"/>
              <a:ext cx="2667000" cy="1524000"/>
            </a:xfrm>
            <a:prstGeom prst="rect">
              <a:avLst/>
            </a:prstGeom>
            <a:solidFill>
              <a:srgbClr val="161D2E"/>
            </a:solidFill>
            <a:ln w="14288">
              <a:solidFill>
                <a:srgbClr val="F43F5E">
                  <a:alpha val="40000"/>
                </a:srgbClr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12763500" y="6667500"/>
              <a:ext cx="2667000" cy="38100"/>
            </a:xfrm>
            <a:prstGeom prst="rect">
              <a:avLst/>
            </a:prstGeom>
            <a:solidFill>
              <a:srgbClr val="F43F5E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13761660" y="7343775"/>
              <a:ext cx="67067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1F5F9"/>
                  </a:solidFill>
                  <a:latin typeface="Arial"/>
                  <a:ea typeface="Microsoft YaHei"/>
                  <a:cs typeface="Arial"/>
                </a:rPr>
                <a:t>LASEN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3515022" y="7648099"/>
              <a:ext cx="116395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F43F5E"/>
                  </a:solidFill>
                  <a:latin typeface="Arial"/>
                  <a:ea typeface="Microsoft YaHei"/>
                  <a:cs typeface="Arial"/>
                </a:rPr>
                <a:t>中台产品表现分析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3664803" y="7873841"/>
              <a:ext cx="86439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运营反馈仪表盘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5143500" y="8667750"/>
            <a:ext cx="8001000" cy="571500"/>
            <a:chOff x="5143500" y="8667750"/>
            <a:chExt cx="8001000" cy="571500"/>
          </a:xfrm>
        </p:grpSpPr>
        <p:sp>
          <p:nvSpPr>
            <p:cNvPr id="47" name="Rectangle 47"/>
            <p:cNvSpPr/>
            <p:nvPr/>
          </p:nvSpPr>
          <p:spPr>
            <a:xfrm>
              <a:off x="5143500" y="8667750"/>
              <a:ext cx="8001000" cy="571500"/>
            </a:xfrm>
            <a:prstGeom prst="rect">
              <a:avLst/>
            </a:prstGeom>
            <a:solidFill>
              <a:srgbClr val="161D2E"/>
            </a:solidFill>
            <a:ln w="9525">
              <a:solidFill>
                <a:srgbClr val="1E293B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5737860" y="8881110"/>
              <a:ext cx="113461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3B82F6"/>
                  </a:solidFill>
                  <a:latin typeface="Arial"/>
                  <a:ea typeface="Microsoft YaHei"/>
                  <a:cs typeface="Arial"/>
                </a:rPr>
                <a:t>统一数据中台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416165" y="8897302"/>
              <a:ext cx="330841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Supabase · PostgreSQL · 统一数据存储与共享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5654040" y="3720941"/>
            <a:ext cx="6979920" cy="3310890"/>
            <a:chOff x="5654040" y="3720941"/>
            <a:chExt cx="6979920" cy="3310890"/>
          </a:xfrm>
        </p:grpSpPr>
        <p:sp>
          <p:nvSpPr>
            <p:cNvPr id="51" name="TextBox 51"/>
            <p:cNvSpPr txBox="1"/>
            <p:nvPr/>
          </p:nvSpPr>
          <p:spPr>
            <a:xfrm>
              <a:off x="5654040" y="3720941"/>
              <a:ext cx="50292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F59E0B">
                      <a:alpha val="70000"/>
                    </a:srgbClr>
                  </a:solidFill>
                  <a:latin typeface="Arial"/>
                  <a:ea typeface="Microsoft YaHei"/>
                  <a:cs typeface="Arial"/>
                </a:rPr>
                <a:t>竞品数据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2131040" y="3720941"/>
              <a:ext cx="50292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8B5CF6">
                      <a:alpha val="70000"/>
                    </a:srgbClr>
                  </a:solidFill>
                  <a:latin typeface="Arial"/>
                  <a:ea typeface="Microsoft YaHei"/>
                  <a:cs typeface="Arial"/>
                </a:rPr>
                <a:t>色彩数据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5654040" y="6864191"/>
              <a:ext cx="50292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10B981">
                      <a:alpha val="70000"/>
                    </a:srgbClr>
                  </a:solidFill>
                  <a:latin typeface="Arial"/>
                  <a:ea typeface="Microsoft YaHei"/>
                  <a:cs typeface="Arial"/>
                </a:rPr>
                <a:t>成本数据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2131040" y="6864191"/>
              <a:ext cx="50292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F43F5E">
                      <a:alpha val="70000"/>
                    </a:srgbClr>
                  </a:solidFill>
                  <a:latin typeface="Arial"/>
                  <a:ea typeface="Microsoft YaHei"/>
                  <a:cs typeface="Arial"/>
                </a:rPr>
                <a:t>运营数据</a:t>
              </a:r>
            </a:p>
          </p:txBody>
        </p:sp>
      </p:grpSp>
      <p:sp>
        <p:nvSpPr>
          <p:cNvPr id="56" name="TextBox 56"/>
          <p:cNvSpPr txBox="1"/>
          <p:nvPr/>
        </p:nvSpPr>
        <p:spPr>
          <a:xfrm>
            <a:off x="8946761" y="10007441"/>
            <a:ext cx="39447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05 / 14</a:t>
            </a:r>
          </a:p>
        </p:txBody>
      </p:sp>
    </p:spTree>
  </p:cSld>
  <p:clrMapOvr>
    <a:masterClrMapping/>
  </p:clrMapOvr>
  <p:transition 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A0E1A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571500" y="381000"/>
            <a:ext cx="17145000" cy="419100"/>
          </a:xfrm>
          <a:prstGeom prst="rect">
            <a:avLst/>
          </a:prstGeom>
          <a:solidFill>
            <a:srgbClr val="161D2E"/>
          </a:solidFill>
          <a:ln w="9525">
            <a:solidFill>
              <a:srgbClr val="1E293B"/>
            </a:solidFill>
          </a:ln>
        </p:spPr>
      </p:sp>
      <p:sp>
        <p:nvSpPr>
          <p:cNvPr id="4" name="TextBox 4"/>
          <p:cNvSpPr txBox="1"/>
          <p:nvPr/>
        </p:nvSpPr>
        <p:spPr>
          <a:xfrm>
            <a:off x="748665" y="534352"/>
            <a:ext cx="105719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06B6D4"/>
                </a:solidFill>
                <a:latin typeface="Arial"/>
                <a:ea typeface="Microsoft YaHei"/>
                <a:cs typeface="Arial"/>
              </a:rPr>
              <a:t>LASEN.Digital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6491347" y="558641"/>
            <a:ext cx="104513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系统设计报告 v2.0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0070" y="1141095"/>
            <a:ext cx="114080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06B6D4"/>
                </a:solidFill>
                <a:latin typeface="Arial"/>
                <a:ea typeface="Microsoft YaHei"/>
                <a:cs typeface="Arial"/>
              </a:rPr>
              <a:t>VOC API MODULES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41020" y="1341120"/>
            <a:ext cx="4091064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VOC 24 API模块完整清单</a:t>
            </a:r>
          </a:p>
        </p:txBody>
      </p:sp>
      <p:sp>
        <p:nvSpPr>
          <p:cNvPr id="8" name="Rectangle 8"/>
          <p:cNvSpPr/>
          <p:nvPr/>
        </p:nvSpPr>
        <p:spPr>
          <a:xfrm>
            <a:off x="571500" y="1809750"/>
            <a:ext cx="17145000" cy="476250"/>
          </a:xfrm>
          <a:prstGeom prst="rect">
            <a:avLst/>
          </a:prstGeom>
          <a:solidFill>
            <a:srgbClr val="06B6D4">
              <a:alpha val="6000"/>
            </a:srgbClr>
          </a:solidFill>
          <a:ln w="9525">
            <a:solidFill>
              <a:srgbClr val="06B6D4">
                <a:alpha val="15000"/>
              </a:srgbClr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4979480" y="1975485"/>
            <a:ext cx="832904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VOC系统包含24个API模块，覆盖市场洞察、企划管理、设计研发、成本合同、知识智能与系统支撑六大层级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571500" y="2476500"/>
            <a:ext cx="17145000" cy="857250"/>
            <a:chOff x="571500" y="2476500"/>
            <a:chExt cx="17145000" cy="857250"/>
          </a:xfrm>
        </p:grpSpPr>
        <p:sp>
          <p:nvSpPr>
            <p:cNvPr id="10" name="Rectangle 10"/>
            <p:cNvSpPr/>
            <p:nvPr/>
          </p:nvSpPr>
          <p:spPr>
            <a:xfrm>
              <a:off x="571500" y="2476500"/>
              <a:ext cx="3238500" cy="857250"/>
            </a:xfrm>
            <a:prstGeom prst="rect">
              <a:avLst/>
            </a:prstGeom>
            <a:solidFill>
              <a:srgbClr val="161D2E"/>
            </a:solidFill>
            <a:ln w="9525">
              <a:solidFill>
                <a:srgbClr val="06B6D4">
                  <a:alpha val="20000"/>
                </a:srgbClr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928732" y="2527935"/>
              <a:ext cx="524037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24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936290" y="2999899"/>
              <a:ext cx="50892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API模块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4000500" y="2476500"/>
              <a:ext cx="3238500" cy="857250"/>
            </a:xfrm>
            <a:prstGeom prst="rect">
              <a:avLst/>
            </a:prstGeom>
            <a:solidFill>
              <a:srgbClr val="161D2E"/>
            </a:solidFill>
            <a:ln w="9525">
              <a:solidFill>
                <a:srgbClr val="F59E0B">
                  <a:alpha val="20000"/>
                </a:srgbClr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471596" y="2527935"/>
              <a:ext cx="296308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322570" y="2999899"/>
              <a:ext cx="59436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榜单爬取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7429500" y="2476500"/>
              <a:ext cx="3238500" cy="857250"/>
            </a:xfrm>
            <a:prstGeom prst="rect">
              <a:avLst/>
            </a:prstGeom>
            <a:solidFill>
              <a:srgbClr val="161D2E"/>
            </a:solidFill>
            <a:ln w="9525">
              <a:solidFill>
                <a:srgbClr val="8B5CF6">
                  <a:alpha val="20000"/>
                </a:srgbClr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610760" y="2527935"/>
              <a:ext cx="875981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8B5CF6"/>
                  </a:solidFill>
                  <a:latin typeface="Arial"/>
                  <a:ea typeface="Microsoft YaHei"/>
                  <a:cs typeface="Arial"/>
                </a:rPr>
                <a:t>2914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751570" y="2999899"/>
              <a:ext cx="59436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品牌色彩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10858500" y="2476500"/>
              <a:ext cx="3238500" cy="857250"/>
            </a:xfrm>
            <a:prstGeom prst="rect">
              <a:avLst/>
            </a:prstGeom>
            <a:solidFill>
              <a:srgbClr val="161D2E"/>
            </a:solidFill>
            <a:ln w="9525">
              <a:solidFill>
                <a:srgbClr val="10B981">
                  <a:alpha val="20000"/>
                </a:srgbClr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2153624" y="2527935"/>
              <a:ext cx="648252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10B981"/>
                  </a:solidFill>
                  <a:latin typeface="Arial"/>
                  <a:ea typeface="Microsoft YaHei"/>
                  <a:cs typeface="Arial"/>
                </a:rPr>
                <a:t>10+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2251769" y="2999899"/>
              <a:ext cx="45196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成本项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4287500" y="2476500"/>
              <a:ext cx="3429000" cy="857250"/>
            </a:xfrm>
            <a:prstGeom prst="rect">
              <a:avLst/>
            </a:prstGeom>
            <a:solidFill>
              <a:srgbClr val="161D2E"/>
            </a:solidFill>
            <a:ln w="9525">
              <a:solidFill>
                <a:srgbClr val="F43F5E">
                  <a:alpha val="20000"/>
                </a:srgbClr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5853846" y="2527935"/>
              <a:ext cx="296308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F43F5E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5704820" y="2999899"/>
              <a:ext cx="59436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分析维度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571500" y="3571875"/>
            <a:ext cx="17145000" cy="6810375"/>
            <a:chOff x="571500" y="3571875"/>
            <a:chExt cx="17145000" cy="6810375"/>
          </a:xfrm>
        </p:grpSpPr>
        <p:sp>
          <p:nvSpPr>
            <p:cNvPr id="26" name="Rectangle 26"/>
            <p:cNvSpPr/>
            <p:nvPr/>
          </p:nvSpPr>
          <p:spPr>
            <a:xfrm>
              <a:off x="571500" y="3571875"/>
              <a:ext cx="17145000" cy="285750"/>
            </a:xfrm>
            <a:prstGeom prst="rect">
              <a:avLst/>
            </a:prstGeom>
            <a:solidFill>
              <a:srgbClr val="06B6D4">
                <a:alpha val="10000"/>
              </a:srgbClr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49618" y="3666649"/>
              <a:ext cx="77235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市场洞察层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71500" y="3905250"/>
              <a:ext cx="17145000" cy="64770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762000" y="3952875"/>
              <a:ext cx="4000500" cy="495300"/>
            </a:xfrm>
            <a:prstGeom prst="rect">
              <a:avLst/>
            </a:prstGeom>
            <a:solidFill>
              <a:srgbClr val="161D2E"/>
            </a:solidFill>
            <a:ln w="9525">
              <a:solidFill>
                <a:srgbClr val="1E293B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942022" y="4063841"/>
              <a:ext cx="12337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06B6D4"/>
                  </a:solidFill>
                  <a:latin typeface="Consolas"/>
                  <a:ea typeface="Microsoft YaHei"/>
                  <a:cs typeface="Consolas"/>
                </a:rPr>
                <a:t>01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224915" y="4039552"/>
              <a:ext cx="6400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1F5F9"/>
                  </a:solidFill>
                  <a:latin typeface="Arial"/>
                  <a:ea typeface="Microsoft YaHei"/>
                  <a:cs typeface="Arial"/>
                </a:rPr>
                <a:t>竞品分析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42022" y="4254341"/>
              <a:ext cx="203315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Best Sellers/New Releases榜单分析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4857750" y="3952875"/>
              <a:ext cx="4000500" cy="495300"/>
            </a:xfrm>
            <a:prstGeom prst="rect">
              <a:avLst/>
            </a:prstGeom>
            <a:solidFill>
              <a:srgbClr val="161D2E"/>
            </a:solidFill>
            <a:ln w="9525">
              <a:solidFill>
                <a:srgbClr val="1E293B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037772" y="4063841"/>
              <a:ext cx="15349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06B6D4"/>
                  </a:solidFill>
                  <a:latin typeface="Consolas"/>
                  <a:ea typeface="Microsoft YaHei"/>
                  <a:cs typeface="Consolas"/>
                </a:rPr>
                <a:t>02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320665" y="4039552"/>
              <a:ext cx="6400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1F5F9"/>
                  </a:solidFill>
                  <a:latin typeface="Arial"/>
                  <a:ea typeface="Microsoft YaHei"/>
                  <a:cs typeface="Arial"/>
                </a:rPr>
                <a:t>趋势洞察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037772" y="4254341"/>
              <a:ext cx="134635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市场趋势与品类机会识别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953500" y="3952875"/>
              <a:ext cx="4000500" cy="495300"/>
            </a:xfrm>
            <a:prstGeom prst="rect">
              <a:avLst/>
            </a:prstGeom>
            <a:solidFill>
              <a:srgbClr val="161D2E"/>
            </a:solidFill>
            <a:ln w="9525">
              <a:solidFill>
                <a:srgbClr val="1E293B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9133522" y="4063841"/>
              <a:ext cx="15349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06B6D4"/>
                  </a:solidFill>
                  <a:latin typeface="Consolas"/>
                  <a:ea typeface="Microsoft YaHei"/>
                  <a:cs typeface="Consolas"/>
                </a:rPr>
                <a:t>03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416415" y="4039552"/>
              <a:ext cx="110013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1F5F9"/>
                  </a:solidFill>
                  <a:latin typeface="Arial"/>
                  <a:ea typeface="Microsoft YaHei"/>
                  <a:cs typeface="Arial"/>
                </a:rPr>
                <a:t>消费者评论分析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133522" y="4254341"/>
              <a:ext cx="144877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VOC评论挖掘与消费者画像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13049250" y="3952875"/>
              <a:ext cx="4476750" cy="495300"/>
            </a:xfrm>
            <a:prstGeom prst="rect">
              <a:avLst/>
            </a:prstGeom>
            <a:solidFill>
              <a:srgbClr val="161D2E"/>
            </a:solidFill>
            <a:ln w="9525">
              <a:solidFill>
                <a:srgbClr val="1E293B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13229272" y="4063841"/>
              <a:ext cx="15349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06B6D4"/>
                  </a:solidFill>
                  <a:latin typeface="Consolas"/>
                  <a:ea typeface="Microsoft YaHei"/>
                  <a:cs typeface="Consolas"/>
                </a:rPr>
                <a:t>04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3512165" y="4039552"/>
              <a:ext cx="79343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1F5F9"/>
                  </a:solidFill>
                  <a:latin typeface="Arial"/>
                  <a:ea typeface="Microsoft YaHei"/>
                  <a:cs typeface="Arial"/>
                </a:rPr>
                <a:t>消费者画像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3229272" y="4254341"/>
              <a:ext cx="146685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目标消费者需求与偏好分析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571500" y="4552950"/>
            <a:ext cx="17145000" cy="876300"/>
            <a:chOff x="571500" y="4552950"/>
            <a:chExt cx="17145000" cy="876300"/>
          </a:xfrm>
        </p:grpSpPr>
        <p:sp>
          <p:nvSpPr>
            <p:cNvPr id="46" name="Rectangle 46"/>
            <p:cNvSpPr/>
            <p:nvPr/>
          </p:nvSpPr>
          <p:spPr>
            <a:xfrm>
              <a:off x="571500" y="4552950"/>
              <a:ext cx="17145000" cy="285750"/>
            </a:xfrm>
            <a:prstGeom prst="rect">
              <a:avLst/>
            </a:prstGeom>
            <a:solidFill>
              <a:srgbClr val="3B82F6">
                <a:alpha val="10000"/>
              </a:srgbClr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49618" y="4647724"/>
              <a:ext cx="77235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3B82F6"/>
                  </a:solidFill>
                  <a:latin typeface="Arial"/>
                  <a:ea typeface="Microsoft YaHei"/>
                  <a:cs typeface="Arial"/>
                </a:rPr>
                <a:t>企划管理层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762000" y="4933950"/>
              <a:ext cx="4000500" cy="495300"/>
            </a:xfrm>
            <a:prstGeom prst="rect">
              <a:avLst/>
            </a:prstGeom>
            <a:solidFill>
              <a:srgbClr val="161D2E"/>
            </a:solidFill>
            <a:ln w="9525">
              <a:solidFill>
                <a:srgbClr val="1E293B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942022" y="5044916"/>
              <a:ext cx="15349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3B82F6"/>
                  </a:solidFill>
                  <a:latin typeface="Consolas"/>
                  <a:ea typeface="Microsoft YaHei"/>
                  <a:cs typeface="Consolas"/>
                </a:rPr>
                <a:t>05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224915" y="5020628"/>
              <a:ext cx="79343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1F5F9"/>
                  </a:solidFill>
                  <a:latin typeface="Arial"/>
                  <a:ea typeface="Microsoft YaHei"/>
                  <a:cs typeface="Arial"/>
                </a:rPr>
                <a:t>需求池管理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42022" y="5235416"/>
              <a:ext cx="146685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产品需求收集与优先级排序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4857750" y="4933950"/>
              <a:ext cx="4000500" cy="495300"/>
            </a:xfrm>
            <a:prstGeom prst="rect">
              <a:avLst/>
            </a:prstGeom>
            <a:solidFill>
              <a:srgbClr val="161D2E"/>
            </a:solidFill>
            <a:ln w="9525">
              <a:solidFill>
                <a:srgbClr val="1E293B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5037772" y="5044916"/>
              <a:ext cx="15349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3B82F6"/>
                  </a:solidFill>
                  <a:latin typeface="Consolas"/>
                  <a:ea typeface="Microsoft YaHei"/>
                  <a:cs typeface="Consolas"/>
                </a:rPr>
                <a:t>06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5320665" y="5020628"/>
              <a:ext cx="6400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1F5F9"/>
                  </a:solidFill>
                  <a:latin typeface="Arial"/>
                  <a:ea typeface="Microsoft YaHei"/>
                  <a:cs typeface="Arial"/>
                </a:rPr>
                <a:t>产品规划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5037772" y="5235416"/>
              <a:ext cx="110537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企划方案制定与审批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8953500" y="4933950"/>
              <a:ext cx="4000500" cy="495300"/>
            </a:xfrm>
            <a:prstGeom prst="rect">
              <a:avLst/>
            </a:prstGeom>
            <a:solidFill>
              <a:srgbClr val="161D2E"/>
            </a:solidFill>
            <a:ln w="9525">
              <a:solidFill>
                <a:srgbClr val="1E293B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9133522" y="5044916"/>
              <a:ext cx="15349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3B82F6"/>
                  </a:solidFill>
                  <a:latin typeface="Consolas"/>
                  <a:ea typeface="Microsoft YaHei"/>
                  <a:cs typeface="Consolas"/>
                </a:rPr>
                <a:t>07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9416415" y="5020628"/>
              <a:ext cx="6400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1F5F9"/>
                  </a:solidFill>
                  <a:latin typeface="Arial"/>
                  <a:ea typeface="Microsoft YaHei"/>
                  <a:cs typeface="Arial"/>
                </a:rPr>
                <a:t>进度跟踪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9133522" y="5235416"/>
              <a:ext cx="122586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项目进度与里程碑管理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13049250" y="4933950"/>
              <a:ext cx="4476750" cy="495300"/>
            </a:xfrm>
            <a:prstGeom prst="rect">
              <a:avLst/>
            </a:prstGeom>
            <a:solidFill>
              <a:srgbClr val="161D2E"/>
            </a:solidFill>
            <a:ln w="9525">
              <a:solidFill>
                <a:srgbClr val="1E293B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13229272" y="5044916"/>
              <a:ext cx="15349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3B82F6"/>
                  </a:solidFill>
                  <a:latin typeface="Consolas"/>
                  <a:ea typeface="Microsoft YaHei"/>
                  <a:cs typeface="Consolas"/>
                </a:rPr>
                <a:t>08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3512165" y="5020628"/>
              <a:ext cx="6400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1F5F9"/>
                  </a:solidFill>
                  <a:latin typeface="Arial"/>
                  <a:ea typeface="Microsoft YaHei"/>
                  <a:cs typeface="Arial"/>
                </a:rPr>
                <a:t>月度计划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3229272" y="5235416"/>
              <a:ext cx="110537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月度企划与执行跟踪</a:t>
              </a:r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571500" y="5534025"/>
            <a:ext cx="17145000" cy="876300"/>
            <a:chOff x="571500" y="5534025"/>
            <a:chExt cx="17145000" cy="876300"/>
          </a:xfrm>
        </p:grpSpPr>
        <p:sp>
          <p:nvSpPr>
            <p:cNvPr id="65" name="Rectangle 65"/>
            <p:cNvSpPr/>
            <p:nvPr/>
          </p:nvSpPr>
          <p:spPr>
            <a:xfrm>
              <a:off x="571500" y="5534025"/>
              <a:ext cx="17145000" cy="285750"/>
            </a:xfrm>
            <a:prstGeom prst="rect">
              <a:avLst/>
            </a:prstGeom>
            <a:solidFill>
              <a:srgbClr val="8B5CF6">
                <a:alpha val="10000"/>
              </a:srgbClr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749618" y="5628799"/>
              <a:ext cx="77235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8B5CF6"/>
                  </a:solidFill>
                  <a:latin typeface="Arial"/>
                  <a:ea typeface="Microsoft YaHei"/>
                  <a:cs typeface="Arial"/>
                </a:rPr>
                <a:t>设计研发层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762000" y="5915025"/>
              <a:ext cx="4000500" cy="495300"/>
            </a:xfrm>
            <a:prstGeom prst="rect">
              <a:avLst/>
            </a:prstGeom>
            <a:solidFill>
              <a:srgbClr val="161D2E"/>
            </a:solidFill>
            <a:ln w="9525">
              <a:solidFill>
                <a:srgbClr val="1E293B"/>
              </a:solidFill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942022" y="6025991"/>
              <a:ext cx="15349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8B5CF6"/>
                  </a:solidFill>
                  <a:latin typeface="Consolas"/>
                  <a:ea typeface="Microsoft YaHei"/>
                  <a:cs typeface="Consolas"/>
                </a:rPr>
                <a:t>09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224915" y="6001702"/>
              <a:ext cx="48672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1F5F9"/>
                  </a:solidFill>
                  <a:latin typeface="Arial"/>
                  <a:ea typeface="Microsoft YaHei"/>
                  <a:cs typeface="Arial"/>
                </a:rPr>
                <a:t>灵感库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942022" y="6216491"/>
              <a:ext cx="134635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设计灵感采集与关联管理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4857750" y="5915025"/>
              <a:ext cx="4000500" cy="495300"/>
            </a:xfrm>
            <a:prstGeom prst="rect">
              <a:avLst/>
            </a:prstGeom>
            <a:solidFill>
              <a:srgbClr val="161D2E"/>
            </a:solidFill>
            <a:ln w="9525">
              <a:solidFill>
                <a:srgbClr val="1E293B"/>
              </a:solidFill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5037772" y="6025991"/>
              <a:ext cx="12337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8B5CF6"/>
                  </a:solidFill>
                  <a:latin typeface="Consolas"/>
                  <a:ea typeface="Microsoft YaHei"/>
                  <a:cs typeface="Consolas"/>
                </a:rPr>
                <a:t>10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5320665" y="6001702"/>
              <a:ext cx="6400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1F5F9"/>
                  </a:solidFill>
                  <a:latin typeface="Arial"/>
                  <a:ea typeface="Microsoft YaHei"/>
                  <a:cs typeface="Arial"/>
                </a:rPr>
                <a:t>色彩调研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5037772" y="6216491"/>
              <a:ext cx="134635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品牌色彩趋势与搭配分析</a:t>
              </a:r>
            </a:p>
          </p:txBody>
        </p:sp>
        <p:sp>
          <p:nvSpPr>
            <p:cNvPr id="75" name="Rectangle 75"/>
            <p:cNvSpPr/>
            <p:nvPr/>
          </p:nvSpPr>
          <p:spPr>
            <a:xfrm>
              <a:off x="8953500" y="5915025"/>
              <a:ext cx="4000500" cy="495300"/>
            </a:xfrm>
            <a:prstGeom prst="rect">
              <a:avLst/>
            </a:prstGeom>
            <a:solidFill>
              <a:srgbClr val="161D2E"/>
            </a:solidFill>
            <a:ln w="9525">
              <a:solidFill>
                <a:srgbClr val="1E293B"/>
              </a:solidFill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9133522" y="6025991"/>
              <a:ext cx="9325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8B5CF6"/>
                  </a:solidFill>
                  <a:latin typeface="Consolas"/>
                  <a:ea typeface="Microsoft YaHei"/>
                  <a:cs typeface="Consolas"/>
                </a:rPr>
                <a:t>11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9416415" y="6001702"/>
              <a:ext cx="6400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1F5F9"/>
                  </a:solidFill>
                  <a:latin typeface="Arial"/>
                  <a:ea typeface="Microsoft YaHei"/>
                  <a:cs typeface="Arial"/>
                </a:rPr>
                <a:t>面料管理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9133522" y="6216491"/>
              <a:ext cx="122586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面料信息与供应商管理</a:t>
              </a:r>
            </a:p>
          </p:txBody>
        </p:sp>
        <p:sp>
          <p:nvSpPr>
            <p:cNvPr id="79" name="Rectangle 79"/>
            <p:cNvSpPr/>
            <p:nvPr/>
          </p:nvSpPr>
          <p:spPr>
            <a:xfrm>
              <a:off x="13049250" y="5915025"/>
              <a:ext cx="4476750" cy="495300"/>
            </a:xfrm>
            <a:prstGeom prst="rect">
              <a:avLst/>
            </a:prstGeom>
            <a:solidFill>
              <a:srgbClr val="161D2E"/>
            </a:solidFill>
            <a:ln w="9525">
              <a:solidFill>
                <a:srgbClr val="1E293B"/>
              </a:solidFill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13229272" y="6025991"/>
              <a:ext cx="12337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8B5CF6"/>
                  </a:solidFill>
                  <a:latin typeface="Consolas"/>
                  <a:ea typeface="Microsoft YaHei"/>
                  <a:cs typeface="Consolas"/>
                </a:rPr>
                <a:t>12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13512165" y="6001702"/>
              <a:ext cx="6400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1F5F9"/>
                  </a:solidFill>
                  <a:latin typeface="Arial"/>
                  <a:ea typeface="Microsoft YaHei"/>
                  <a:cs typeface="Arial"/>
                </a:rPr>
                <a:t>设计规范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13229272" y="6216491"/>
              <a:ext cx="134635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品牌设计标准与规范管理</a:t>
              </a:r>
            </a:p>
          </p:txBody>
        </p:sp>
      </p:grpSp>
      <p:grpSp>
        <p:nvGrpSpPr>
          <p:cNvPr id="102" name="Group 102"/>
          <p:cNvGrpSpPr/>
          <p:nvPr/>
        </p:nvGrpSpPr>
        <p:grpSpPr>
          <a:xfrm>
            <a:off x="571500" y="6515100"/>
            <a:ext cx="17145000" cy="876300"/>
            <a:chOff x="571500" y="6515100"/>
            <a:chExt cx="17145000" cy="876300"/>
          </a:xfrm>
        </p:grpSpPr>
        <p:sp>
          <p:nvSpPr>
            <p:cNvPr id="84" name="Rectangle 84"/>
            <p:cNvSpPr/>
            <p:nvPr/>
          </p:nvSpPr>
          <p:spPr>
            <a:xfrm>
              <a:off x="571500" y="6515100"/>
              <a:ext cx="17145000" cy="285750"/>
            </a:xfrm>
            <a:prstGeom prst="rect">
              <a:avLst/>
            </a:prstGeom>
            <a:solidFill>
              <a:srgbClr val="10B981">
                <a:alpha val="10000"/>
              </a:srgbClr>
            </a:solidFill>
            <a:ln>
              <a:noFill/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749618" y="6609874"/>
              <a:ext cx="77235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0B981"/>
                  </a:solidFill>
                  <a:latin typeface="Arial"/>
                  <a:ea typeface="Microsoft YaHei"/>
                  <a:cs typeface="Arial"/>
                </a:rPr>
                <a:t>成本合同层</a:t>
              </a:r>
            </a:p>
          </p:txBody>
        </p:sp>
        <p:sp>
          <p:nvSpPr>
            <p:cNvPr id="86" name="Rectangle 86"/>
            <p:cNvSpPr/>
            <p:nvPr/>
          </p:nvSpPr>
          <p:spPr>
            <a:xfrm>
              <a:off x="762000" y="6896100"/>
              <a:ext cx="4000500" cy="495300"/>
            </a:xfrm>
            <a:prstGeom prst="rect">
              <a:avLst/>
            </a:prstGeom>
            <a:solidFill>
              <a:srgbClr val="161D2E"/>
            </a:solidFill>
            <a:ln w="9525">
              <a:solidFill>
                <a:srgbClr val="1E293B"/>
              </a:solidFill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942022" y="7007066"/>
              <a:ext cx="12337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10B981"/>
                  </a:solidFill>
                  <a:latin typeface="Consolas"/>
                  <a:ea typeface="Microsoft YaHei"/>
                  <a:cs typeface="Consolas"/>
                </a:rPr>
                <a:t>13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1224915" y="6982778"/>
              <a:ext cx="79343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1F5F9"/>
                  </a:solidFill>
                  <a:latin typeface="Arial"/>
                  <a:ea typeface="Microsoft YaHei"/>
                  <a:cs typeface="Arial"/>
                </a:rPr>
                <a:t>成本项管理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942022" y="7197566"/>
              <a:ext cx="118369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FBA全链路成本项管理</a:t>
              </a:r>
            </a:p>
          </p:txBody>
        </p:sp>
        <p:sp>
          <p:nvSpPr>
            <p:cNvPr id="90" name="Rectangle 90"/>
            <p:cNvSpPr/>
            <p:nvPr/>
          </p:nvSpPr>
          <p:spPr>
            <a:xfrm>
              <a:off x="4857750" y="6896100"/>
              <a:ext cx="4000500" cy="495300"/>
            </a:xfrm>
            <a:prstGeom prst="rect">
              <a:avLst/>
            </a:prstGeom>
            <a:solidFill>
              <a:srgbClr val="161D2E"/>
            </a:solidFill>
            <a:ln w="9525">
              <a:solidFill>
                <a:srgbClr val="1E293B"/>
              </a:solidFill>
            </a:ln>
          </p:spPr>
        </p:sp>
        <p:sp>
          <p:nvSpPr>
            <p:cNvPr id="91" name="TextBox 91"/>
            <p:cNvSpPr txBox="1"/>
            <p:nvPr/>
          </p:nvSpPr>
          <p:spPr>
            <a:xfrm>
              <a:off x="5037772" y="7007066"/>
              <a:ext cx="12337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10B981"/>
                  </a:solidFill>
                  <a:latin typeface="Consolas"/>
                  <a:ea typeface="Microsoft YaHei"/>
                  <a:cs typeface="Consolas"/>
                </a:rPr>
                <a:t>14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5320665" y="6982778"/>
              <a:ext cx="79343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1F5F9"/>
                  </a:solidFill>
                  <a:latin typeface="Arial"/>
                  <a:ea typeface="Microsoft YaHei"/>
                  <a:cs typeface="Arial"/>
                </a:rPr>
                <a:t>利润计算器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5037772" y="7197566"/>
              <a:ext cx="130418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FBA利润率与净利润测算</a:t>
              </a:r>
            </a:p>
          </p:txBody>
        </p:sp>
        <p:sp>
          <p:nvSpPr>
            <p:cNvPr id="94" name="Rectangle 94"/>
            <p:cNvSpPr/>
            <p:nvPr/>
          </p:nvSpPr>
          <p:spPr>
            <a:xfrm>
              <a:off x="8953500" y="6896100"/>
              <a:ext cx="4000500" cy="495300"/>
            </a:xfrm>
            <a:prstGeom prst="rect">
              <a:avLst/>
            </a:prstGeom>
            <a:solidFill>
              <a:srgbClr val="161D2E"/>
            </a:solidFill>
            <a:ln w="9525">
              <a:solidFill>
                <a:srgbClr val="1E293B"/>
              </a:solidFill>
            </a:ln>
          </p:spPr>
        </p:sp>
        <p:sp>
          <p:nvSpPr>
            <p:cNvPr id="95" name="TextBox 95"/>
            <p:cNvSpPr txBox="1"/>
            <p:nvPr/>
          </p:nvSpPr>
          <p:spPr>
            <a:xfrm>
              <a:off x="9133522" y="7007066"/>
              <a:ext cx="12337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10B981"/>
                  </a:solidFill>
                  <a:latin typeface="Consolas"/>
                  <a:ea typeface="Microsoft YaHei"/>
                  <a:cs typeface="Consolas"/>
                </a:rPr>
                <a:t>15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9416415" y="6982778"/>
              <a:ext cx="6400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1F5F9"/>
                  </a:solidFill>
                  <a:latin typeface="Arial"/>
                  <a:ea typeface="Microsoft YaHei"/>
                  <a:cs typeface="Arial"/>
                </a:rPr>
                <a:t>合同管理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9133522" y="7197566"/>
              <a:ext cx="122586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供应商合同与结算追踪</a:t>
              </a:r>
            </a:p>
          </p:txBody>
        </p:sp>
        <p:sp>
          <p:nvSpPr>
            <p:cNvPr id="98" name="Rectangle 98"/>
            <p:cNvSpPr/>
            <p:nvPr/>
          </p:nvSpPr>
          <p:spPr>
            <a:xfrm>
              <a:off x="13049250" y="6896100"/>
              <a:ext cx="4476750" cy="495300"/>
            </a:xfrm>
            <a:prstGeom prst="rect">
              <a:avLst/>
            </a:prstGeom>
            <a:solidFill>
              <a:srgbClr val="161D2E"/>
            </a:solidFill>
            <a:ln w="9525">
              <a:solidFill>
                <a:srgbClr val="1E293B"/>
              </a:solidFill>
            </a:ln>
          </p:spPr>
        </p:sp>
        <p:sp>
          <p:nvSpPr>
            <p:cNvPr id="99" name="TextBox 99"/>
            <p:cNvSpPr txBox="1"/>
            <p:nvPr/>
          </p:nvSpPr>
          <p:spPr>
            <a:xfrm>
              <a:off x="13229272" y="7007066"/>
              <a:ext cx="12337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10B981"/>
                  </a:solidFill>
                  <a:latin typeface="Consolas"/>
                  <a:ea typeface="Microsoft YaHei"/>
                  <a:cs typeface="Consolas"/>
                </a:rPr>
                <a:t>16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13512165" y="6982778"/>
              <a:ext cx="6400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1F5F9"/>
                  </a:solidFill>
                  <a:latin typeface="Arial"/>
                  <a:ea typeface="Microsoft YaHei"/>
                  <a:cs typeface="Arial"/>
                </a:rPr>
                <a:t>货盘规划</a:t>
              </a:r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13229272" y="7197566"/>
              <a:ext cx="134635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基于利润测算的货盘决策</a:t>
              </a:r>
            </a:p>
          </p:txBody>
        </p:sp>
      </p:grpSp>
      <p:grpSp>
        <p:nvGrpSpPr>
          <p:cNvPr id="121" name="Group 121"/>
          <p:cNvGrpSpPr/>
          <p:nvPr/>
        </p:nvGrpSpPr>
        <p:grpSpPr>
          <a:xfrm>
            <a:off x="571500" y="7496175"/>
            <a:ext cx="17145000" cy="876300"/>
            <a:chOff x="571500" y="7496175"/>
            <a:chExt cx="17145000" cy="876300"/>
          </a:xfrm>
        </p:grpSpPr>
        <p:sp>
          <p:nvSpPr>
            <p:cNvPr id="103" name="Rectangle 103"/>
            <p:cNvSpPr/>
            <p:nvPr/>
          </p:nvSpPr>
          <p:spPr>
            <a:xfrm>
              <a:off x="571500" y="7496175"/>
              <a:ext cx="17145000" cy="285750"/>
            </a:xfrm>
            <a:prstGeom prst="rect">
              <a:avLst/>
            </a:prstGeom>
            <a:solidFill>
              <a:srgbClr val="F59E0B">
                <a:alpha val="10000"/>
              </a:srgbClr>
            </a:solidFill>
            <a:ln>
              <a:noFill/>
            </a:ln>
          </p:spPr>
        </p:sp>
        <p:sp>
          <p:nvSpPr>
            <p:cNvPr id="104" name="TextBox 104"/>
            <p:cNvSpPr txBox="1"/>
            <p:nvPr/>
          </p:nvSpPr>
          <p:spPr>
            <a:xfrm>
              <a:off x="749618" y="7590949"/>
              <a:ext cx="77235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知识智能层</a:t>
              </a:r>
            </a:p>
          </p:txBody>
        </p:sp>
        <p:sp>
          <p:nvSpPr>
            <p:cNvPr id="105" name="Rectangle 105"/>
            <p:cNvSpPr/>
            <p:nvPr/>
          </p:nvSpPr>
          <p:spPr>
            <a:xfrm>
              <a:off x="762000" y="7877175"/>
              <a:ext cx="4000500" cy="495300"/>
            </a:xfrm>
            <a:prstGeom prst="rect">
              <a:avLst/>
            </a:prstGeom>
            <a:solidFill>
              <a:srgbClr val="161D2E"/>
            </a:solidFill>
            <a:ln w="9525">
              <a:solidFill>
                <a:srgbClr val="1E293B"/>
              </a:solidFill>
            </a:ln>
          </p:spPr>
        </p:sp>
        <p:sp>
          <p:nvSpPr>
            <p:cNvPr id="106" name="TextBox 106"/>
            <p:cNvSpPr txBox="1"/>
            <p:nvPr/>
          </p:nvSpPr>
          <p:spPr>
            <a:xfrm>
              <a:off x="942022" y="7988141"/>
              <a:ext cx="12337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F59E0B"/>
                  </a:solidFill>
                  <a:latin typeface="Consolas"/>
                  <a:ea typeface="Microsoft YaHei"/>
                  <a:cs typeface="Consolas"/>
                </a:rPr>
                <a:t>17</a:t>
              </a:r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1224915" y="7963852"/>
              <a:ext cx="73975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1F5F9"/>
                  </a:solidFill>
                  <a:latin typeface="Arial"/>
                  <a:ea typeface="Microsoft YaHei"/>
                  <a:cs typeface="Arial"/>
                </a:rPr>
                <a:t>RAG知识库</a:t>
              </a:r>
            </a:p>
          </p:txBody>
        </p:sp>
        <p:sp>
          <p:nvSpPr>
            <p:cNvPr id="108" name="TextBox 108"/>
            <p:cNvSpPr txBox="1"/>
            <p:nvPr/>
          </p:nvSpPr>
          <p:spPr>
            <a:xfrm>
              <a:off x="942022" y="8178641"/>
              <a:ext cx="110537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智能问答与知识检索</a:t>
              </a:r>
            </a:p>
          </p:txBody>
        </p:sp>
        <p:sp>
          <p:nvSpPr>
            <p:cNvPr id="109" name="Rectangle 109"/>
            <p:cNvSpPr/>
            <p:nvPr/>
          </p:nvSpPr>
          <p:spPr>
            <a:xfrm>
              <a:off x="4857750" y="7877175"/>
              <a:ext cx="4000500" cy="495300"/>
            </a:xfrm>
            <a:prstGeom prst="rect">
              <a:avLst/>
            </a:prstGeom>
            <a:solidFill>
              <a:srgbClr val="161D2E"/>
            </a:solidFill>
            <a:ln w="9525">
              <a:solidFill>
                <a:srgbClr val="1E293B"/>
              </a:solidFill>
            </a:ln>
          </p:spPr>
        </p:sp>
        <p:sp>
          <p:nvSpPr>
            <p:cNvPr id="110" name="TextBox 110"/>
            <p:cNvSpPr txBox="1"/>
            <p:nvPr/>
          </p:nvSpPr>
          <p:spPr>
            <a:xfrm>
              <a:off x="5037772" y="7988141"/>
              <a:ext cx="12337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F59E0B"/>
                  </a:solidFill>
                  <a:latin typeface="Consolas"/>
                  <a:ea typeface="Microsoft YaHei"/>
                  <a:cs typeface="Consolas"/>
                </a:rPr>
                <a:t>18</a:t>
              </a:r>
            </a:p>
          </p:txBody>
        </p:sp>
        <p:sp>
          <p:nvSpPr>
            <p:cNvPr id="111" name="TextBox 111"/>
            <p:cNvSpPr txBox="1"/>
            <p:nvPr/>
          </p:nvSpPr>
          <p:spPr>
            <a:xfrm>
              <a:off x="5320665" y="7963852"/>
              <a:ext cx="6400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1F5F9"/>
                  </a:solidFill>
                  <a:latin typeface="Arial"/>
                  <a:ea typeface="Microsoft YaHei"/>
                  <a:cs typeface="Arial"/>
                </a:rPr>
                <a:t>智能推荐</a:t>
              </a:r>
            </a:p>
          </p:txBody>
        </p:sp>
        <p:sp>
          <p:nvSpPr>
            <p:cNvPr id="112" name="TextBox 112"/>
            <p:cNvSpPr txBox="1"/>
            <p:nvPr/>
          </p:nvSpPr>
          <p:spPr>
            <a:xfrm>
              <a:off x="5037772" y="8178641"/>
              <a:ext cx="110537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品类机会与产品推荐</a:t>
              </a:r>
            </a:p>
          </p:txBody>
        </p:sp>
        <p:sp>
          <p:nvSpPr>
            <p:cNvPr id="113" name="Rectangle 113"/>
            <p:cNvSpPr/>
            <p:nvPr/>
          </p:nvSpPr>
          <p:spPr>
            <a:xfrm>
              <a:off x="8953500" y="7877175"/>
              <a:ext cx="4000500" cy="495300"/>
            </a:xfrm>
            <a:prstGeom prst="rect">
              <a:avLst/>
            </a:prstGeom>
            <a:solidFill>
              <a:srgbClr val="161D2E"/>
            </a:solidFill>
            <a:ln w="9525">
              <a:solidFill>
                <a:srgbClr val="1E293B"/>
              </a:solidFill>
            </a:ln>
          </p:spPr>
        </p:sp>
        <p:sp>
          <p:nvSpPr>
            <p:cNvPr id="114" name="TextBox 114"/>
            <p:cNvSpPr txBox="1"/>
            <p:nvPr/>
          </p:nvSpPr>
          <p:spPr>
            <a:xfrm>
              <a:off x="9133522" y="7988141"/>
              <a:ext cx="12337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F59E0B"/>
                  </a:solidFill>
                  <a:latin typeface="Consolas"/>
                  <a:ea typeface="Microsoft YaHei"/>
                  <a:cs typeface="Consolas"/>
                </a:rPr>
                <a:t>19</a:t>
              </a:r>
            </a:p>
          </p:txBody>
        </p:sp>
        <p:sp>
          <p:nvSpPr>
            <p:cNvPr id="115" name="TextBox 115"/>
            <p:cNvSpPr txBox="1"/>
            <p:nvPr/>
          </p:nvSpPr>
          <p:spPr>
            <a:xfrm>
              <a:off x="9416415" y="7963852"/>
              <a:ext cx="6400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1F5F9"/>
                  </a:solidFill>
                  <a:latin typeface="Arial"/>
                  <a:ea typeface="Microsoft YaHei"/>
                  <a:cs typeface="Arial"/>
                </a:rPr>
                <a:t>爆款预测</a:t>
              </a:r>
            </a:p>
          </p:txBody>
        </p:sp>
        <p:sp>
          <p:nvSpPr>
            <p:cNvPr id="116" name="TextBox 116"/>
            <p:cNvSpPr txBox="1"/>
            <p:nvPr/>
          </p:nvSpPr>
          <p:spPr>
            <a:xfrm>
              <a:off x="9133522" y="8178641"/>
              <a:ext cx="110537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高潜力产品自动识别</a:t>
              </a:r>
            </a:p>
          </p:txBody>
        </p:sp>
        <p:sp>
          <p:nvSpPr>
            <p:cNvPr id="117" name="Rectangle 117"/>
            <p:cNvSpPr/>
            <p:nvPr/>
          </p:nvSpPr>
          <p:spPr>
            <a:xfrm>
              <a:off x="13049250" y="7877175"/>
              <a:ext cx="4476750" cy="495300"/>
            </a:xfrm>
            <a:prstGeom prst="rect">
              <a:avLst/>
            </a:prstGeom>
            <a:solidFill>
              <a:srgbClr val="161D2E"/>
            </a:solidFill>
            <a:ln w="9525">
              <a:solidFill>
                <a:srgbClr val="1E293B"/>
              </a:solidFill>
            </a:ln>
          </p:spPr>
        </p:sp>
        <p:sp>
          <p:nvSpPr>
            <p:cNvPr id="118" name="TextBox 118"/>
            <p:cNvSpPr txBox="1"/>
            <p:nvPr/>
          </p:nvSpPr>
          <p:spPr>
            <a:xfrm>
              <a:off x="13229272" y="7988141"/>
              <a:ext cx="15349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F59E0B"/>
                  </a:solidFill>
                  <a:latin typeface="Consolas"/>
                  <a:ea typeface="Microsoft YaHei"/>
                  <a:cs typeface="Consolas"/>
                </a:rPr>
                <a:t>20</a:t>
              </a:r>
            </a:p>
          </p:txBody>
        </p:sp>
        <p:sp>
          <p:nvSpPr>
            <p:cNvPr id="119" name="TextBox 119"/>
            <p:cNvSpPr txBox="1"/>
            <p:nvPr/>
          </p:nvSpPr>
          <p:spPr>
            <a:xfrm>
              <a:off x="13512165" y="7963852"/>
              <a:ext cx="9467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1F5F9"/>
                  </a:solidFill>
                  <a:latin typeface="Arial"/>
                  <a:ea typeface="Microsoft YaHei"/>
                  <a:cs typeface="Arial"/>
                </a:rPr>
                <a:t>色彩方案推荐</a:t>
              </a:r>
            </a:p>
          </p:txBody>
        </p:sp>
        <p:sp>
          <p:nvSpPr>
            <p:cNvPr id="120" name="TextBox 120"/>
            <p:cNvSpPr txBox="1"/>
            <p:nvPr/>
          </p:nvSpPr>
          <p:spPr>
            <a:xfrm>
              <a:off x="13229272" y="8178641"/>
              <a:ext cx="120779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AI驱动的色彩搭配建议</a:t>
              </a:r>
            </a:p>
          </p:txBody>
        </p:sp>
      </p:grpSp>
      <p:grpSp>
        <p:nvGrpSpPr>
          <p:cNvPr id="140" name="Group 140"/>
          <p:cNvGrpSpPr/>
          <p:nvPr/>
        </p:nvGrpSpPr>
        <p:grpSpPr>
          <a:xfrm>
            <a:off x="571500" y="8477250"/>
            <a:ext cx="17145000" cy="876300"/>
            <a:chOff x="571500" y="8477250"/>
            <a:chExt cx="17145000" cy="876300"/>
          </a:xfrm>
        </p:grpSpPr>
        <p:sp>
          <p:nvSpPr>
            <p:cNvPr id="122" name="Rectangle 122"/>
            <p:cNvSpPr/>
            <p:nvPr/>
          </p:nvSpPr>
          <p:spPr>
            <a:xfrm>
              <a:off x="571500" y="8477250"/>
              <a:ext cx="17145000" cy="285750"/>
            </a:xfrm>
            <a:prstGeom prst="rect">
              <a:avLst/>
            </a:prstGeom>
            <a:solidFill>
              <a:srgbClr val="F43F5E">
                <a:alpha val="10000"/>
              </a:srgbClr>
            </a:solidFill>
            <a:ln>
              <a:noFill/>
            </a:ln>
          </p:spPr>
        </p:sp>
        <p:sp>
          <p:nvSpPr>
            <p:cNvPr id="123" name="TextBox 123"/>
            <p:cNvSpPr txBox="1"/>
            <p:nvPr/>
          </p:nvSpPr>
          <p:spPr>
            <a:xfrm>
              <a:off x="749618" y="8572024"/>
              <a:ext cx="77235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F43F5E"/>
                  </a:solidFill>
                  <a:latin typeface="Arial"/>
                  <a:ea typeface="Microsoft YaHei"/>
                  <a:cs typeface="Arial"/>
                </a:rPr>
                <a:t>系统支撑层</a:t>
              </a:r>
            </a:p>
          </p:txBody>
        </p:sp>
        <p:sp>
          <p:nvSpPr>
            <p:cNvPr id="124" name="Rectangle 124"/>
            <p:cNvSpPr/>
            <p:nvPr/>
          </p:nvSpPr>
          <p:spPr>
            <a:xfrm>
              <a:off x="762000" y="8858250"/>
              <a:ext cx="4000500" cy="495300"/>
            </a:xfrm>
            <a:prstGeom prst="rect">
              <a:avLst/>
            </a:prstGeom>
            <a:solidFill>
              <a:srgbClr val="161D2E"/>
            </a:solidFill>
            <a:ln w="9525">
              <a:solidFill>
                <a:srgbClr val="1E293B"/>
              </a:solidFill>
            </a:ln>
          </p:spPr>
        </p:sp>
        <p:sp>
          <p:nvSpPr>
            <p:cNvPr id="125" name="TextBox 125"/>
            <p:cNvSpPr txBox="1"/>
            <p:nvPr/>
          </p:nvSpPr>
          <p:spPr>
            <a:xfrm>
              <a:off x="942022" y="8969216"/>
              <a:ext cx="12337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F43F5E"/>
                  </a:solidFill>
                  <a:latin typeface="Consolas"/>
                  <a:ea typeface="Microsoft YaHei"/>
                  <a:cs typeface="Consolas"/>
                </a:rPr>
                <a:t>21</a:t>
              </a:r>
            </a:p>
          </p:txBody>
        </p:sp>
        <p:sp>
          <p:nvSpPr>
            <p:cNvPr id="126" name="TextBox 126"/>
            <p:cNvSpPr txBox="1"/>
            <p:nvPr/>
          </p:nvSpPr>
          <p:spPr>
            <a:xfrm>
              <a:off x="1224915" y="8944928"/>
              <a:ext cx="6400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1F5F9"/>
                  </a:solidFill>
                  <a:latin typeface="Arial"/>
                  <a:ea typeface="Microsoft YaHei"/>
                  <a:cs typeface="Arial"/>
                </a:rPr>
                <a:t>用户权限</a:t>
              </a:r>
            </a:p>
          </p:txBody>
        </p:sp>
        <p:sp>
          <p:nvSpPr>
            <p:cNvPr id="127" name="TextBox 127"/>
            <p:cNvSpPr txBox="1"/>
            <p:nvPr/>
          </p:nvSpPr>
          <p:spPr>
            <a:xfrm>
              <a:off x="942022" y="9159716"/>
              <a:ext cx="110537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角色权限与访问控制</a:t>
              </a:r>
            </a:p>
          </p:txBody>
        </p:sp>
        <p:sp>
          <p:nvSpPr>
            <p:cNvPr id="128" name="Rectangle 128"/>
            <p:cNvSpPr/>
            <p:nvPr/>
          </p:nvSpPr>
          <p:spPr>
            <a:xfrm>
              <a:off x="4857750" y="8858250"/>
              <a:ext cx="4000500" cy="495300"/>
            </a:xfrm>
            <a:prstGeom prst="rect">
              <a:avLst/>
            </a:prstGeom>
            <a:solidFill>
              <a:srgbClr val="161D2E"/>
            </a:solidFill>
            <a:ln w="9525">
              <a:solidFill>
                <a:srgbClr val="1E293B"/>
              </a:solidFill>
            </a:ln>
          </p:spPr>
        </p:sp>
        <p:sp>
          <p:nvSpPr>
            <p:cNvPr id="129" name="TextBox 129"/>
            <p:cNvSpPr txBox="1"/>
            <p:nvPr/>
          </p:nvSpPr>
          <p:spPr>
            <a:xfrm>
              <a:off x="5037772" y="8969216"/>
              <a:ext cx="15349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F43F5E"/>
                  </a:solidFill>
                  <a:latin typeface="Consolas"/>
                  <a:ea typeface="Microsoft YaHei"/>
                  <a:cs typeface="Consolas"/>
                </a:rPr>
                <a:t>22</a:t>
              </a:r>
            </a:p>
          </p:txBody>
        </p:sp>
        <p:sp>
          <p:nvSpPr>
            <p:cNvPr id="130" name="TextBox 130"/>
            <p:cNvSpPr txBox="1"/>
            <p:nvPr/>
          </p:nvSpPr>
          <p:spPr>
            <a:xfrm>
              <a:off x="5320665" y="8944928"/>
              <a:ext cx="6400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1F5F9"/>
                  </a:solidFill>
                  <a:latin typeface="Arial"/>
                  <a:ea typeface="Microsoft YaHei"/>
                  <a:cs typeface="Arial"/>
                </a:rPr>
                <a:t>数据同步</a:t>
              </a:r>
            </a:p>
          </p:txBody>
        </p:sp>
        <p:sp>
          <p:nvSpPr>
            <p:cNvPr id="131" name="TextBox 131"/>
            <p:cNvSpPr txBox="1"/>
            <p:nvPr/>
          </p:nvSpPr>
          <p:spPr>
            <a:xfrm>
              <a:off x="5037772" y="9159716"/>
              <a:ext cx="122586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跨系统数据同步与集成</a:t>
              </a:r>
            </a:p>
          </p:txBody>
        </p:sp>
        <p:sp>
          <p:nvSpPr>
            <p:cNvPr id="132" name="Rectangle 132"/>
            <p:cNvSpPr/>
            <p:nvPr/>
          </p:nvSpPr>
          <p:spPr>
            <a:xfrm>
              <a:off x="8953500" y="8858250"/>
              <a:ext cx="4000500" cy="495300"/>
            </a:xfrm>
            <a:prstGeom prst="rect">
              <a:avLst/>
            </a:prstGeom>
            <a:solidFill>
              <a:srgbClr val="161D2E"/>
            </a:solidFill>
            <a:ln w="9525">
              <a:solidFill>
                <a:srgbClr val="1E293B"/>
              </a:solidFill>
            </a:ln>
          </p:spPr>
        </p:sp>
        <p:sp>
          <p:nvSpPr>
            <p:cNvPr id="133" name="TextBox 133"/>
            <p:cNvSpPr txBox="1"/>
            <p:nvPr/>
          </p:nvSpPr>
          <p:spPr>
            <a:xfrm>
              <a:off x="9133522" y="8969216"/>
              <a:ext cx="15349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F43F5E"/>
                  </a:solidFill>
                  <a:latin typeface="Consolas"/>
                  <a:ea typeface="Microsoft YaHei"/>
                  <a:cs typeface="Consolas"/>
                </a:rPr>
                <a:t>23</a:t>
              </a:r>
            </a:p>
          </p:txBody>
        </p:sp>
        <p:sp>
          <p:nvSpPr>
            <p:cNvPr id="134" name="TextBox 134"/>
            <p:cNvSpPr txBox="1"/>
            <p:nvPr/>
          </p:nvSpPr>
          <p:spPr>
            <a:xfrm>
              <a:off x="9416415" y="8944928"/>
              <a:ext cx="6400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1F5F9"/>
                  </a:solidFill>
                  <a:latin typeface="Arial"/>
                  <a:ea typeface="Microsoft YaHei"/>
                  <a:cs typeface="Arial"/>
                </a:rPr>
                <a:t>通知预警</a:t>
              </a:r>
            </a:p>
          </p:txBody>
        </p:sp>
        <p:sp>
          <p:nvSpPr>
            <p:cNvPr id="135" name="TextBox 135"/>
            <p:cNvSpPr txBox="1"/>
            <p:nvPr/>
          </p:nvSpPr>
          <p:spPr>
            <a:xfrm>
              <a:off x="9133522" y="9159716"/>
              <a:ext cx="110537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评分预警与自动通知</a:t>
              </a:r>
            </a:p>
          </p:txBody>
        </p:sp>
        <p:sp>
          <p:nvSpPr>
            <p:cNvPr id="136" name="Rectangle 136"/>
            <p:cNvSpPr/>
            <p:nvPr/>
          </p:nvSpPr>
          <p:spPr>
            <a:xfrm>
              <a:off x="13049250" y="8858250"/>
              <a:ext cx="4476750" cy="495300"/>
            </a:xfrm>
            <a:prstGeom prst="rect">
              <a:avLst/>
            </a:prstGeom>
            <a:solidFill>
              <a:srgbClr val="161D2E"/>
            </a:solidFill>
            <a:ln w="9525">
              <a:solidFill>
                <a:srgbClr val="1E293B"/>
              </a:solidFill>
            </a:ln>
          </p:spPr>
        </p:sp>
        <p:sp>
          <p:nvSpPr>
            <p:cNvPr id="137" name="TextBox 137"/>
            <p:cNvSpPr txBox="1"/>
            <p:nvPr/>
          </p:nvSpPr>
          <p:spPr>
            <a:xfrm>
              <a:off x="13229272" y="8969216"/>
              <a:ext cx="15349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F43F5E"/>
                  </a:solidFill>
                  <a:latin typeface="Consolas"/>
                  <a:ea typeface="Microsoft YaHei"/>
                  <a:cs typeface="Consolas"/>
                </a:rPr>
                <a:t>24</a:t>
              </a:r>
            </a:p>
          </p:txBody>
        </p:sp>
        <p:sp>
          <p:nvSpPr>
            <p:cNvPr id="138" name="TextBox 138"/>
            <p:cNvSpPr txBox="1"/>
            <p:nvPr/>
          </p:nvSpPr>
          <p:spPr>
            <a:xfrm>
              <a:off x="13512165" y="8944928"/>
              <a:ext cx="6400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1F5F9"/>
                  </a:solidFill>
                  <a:latin typeface="Arial"/>
                  <a:ea typeface="Microsoft YaHei"/>
                  <a:cs typeface="Arial"/>
                </a:rPr>
                <a:t>系统配置</a:t>
              </a:r>
            </a:p>
          </p:txBody>
        </p:sp>
        <p:sp>
          <p:nvSpPr>
            <p:cNvPr id="139" name="TextBox 139"/>
            <p:cNvSpPr txBox="1"/>
            <p:nvPr/>
          </p:nvSpPr>
          <p:spPr>
            <a:xfrm>
              <a:off x="13229272" y="9159716"/>
              <a:ext cx="110537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系统参数与全局配置</a:t>
              </a:r>
            </a:p>
          </p:txBody>
        </p:sp>
      </p:grpSp>
      <p:sp>
        <p:nvSpPr>
          <p:cNvPr id="141" name="TextBox 141"/>
          <p:cNvSpPr txBox="1"/>
          <p:nvPr/>
        </p:nvSpPr>
        <p:spPr>
          <a:xfrm>
            <a:off x="8946761" y="10007441"/>
            <a:ext cx="39447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06 / 14</a:t>
            </a:r>
          </a:p>
        </p:txBody>
      </p:sp>
    </p:spTree>
  </p:cSld>
  <p:clrMapOvr>
    <a:masterClrMapping/>
  </p:clrMapOvr>
  <p:transition 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A0E1A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571500" y="381000"/>
            <a:ext cx="17145000" cy="419100"/>
          </a:xfrm>
          <a:prstGeom prst="rect">
            <a:avLst/>
          </a:prstGeom>
          <a:solidFill>
            <a:srgbClr val="161D2E"/>
          </a:solidFill>
          <a:ln w="9525">
            <a:solidFill>
              <a:srgbClr val="1E293B"/>
            </a:solidFill>
          </a:ln>
        </p:spPr>
      </p:sp>
      <p:sp>
        <p:nvSpPr>
          <p:cNvPr id="4" name="TextBox 4"/>
          <p:cNvSpPr txBox="1"/>
          <p:nvPr/>
        </p:nvSpPr>
        <p:spPr>
          <a:xfrm>
            <a:off x="748665" y="534352"/>
            <a:ext cx="105719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06B6D4"/>
                </a:solidFill>
                <a:latin typeface="Arial"/>
                <a:ea typeface="Microsoft YaHei"/>
                <a:cs typeface="Arial"/>
              </a:rPr>
              <a:t>LASEN.Digital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6491347" y="558641"/>
            <a:ext cx="104513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系统设计报告 v2.0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0070" y="1141095"/>
            <a:ext cx="118910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06B6D4"/>
                </a:solidFill>
                <a:latin typeface="Arial"/>
                <a:ea typeface="Microsoft YaHei"/>
                <a:cs typeface="Arial"/>
              </a:rPr>
              <a:t>BUSINESS DOMAINS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41020" y="1341120"/>
            <a:ext cx="2637282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六大业务域映射</a:t>
            </a:r>
          </a:p>
        </p:txBody>
      </p:sp>
      <p:sp>
        <p:nvSpPr>
          <p:cNvPr id="8" name="Rectangle 8"/>
          <p:cNvSpPr/>
          <p:nvPr/>
        </p:nvSpPr>
        <p:spPr>
          <a:xfrm>
            <a:off x="571500" y="1809750"/>
            <a:ext cx="17145000" cy="476250"/>
          </a:xfrm>
          <a:prstGeom prst="rect">
            <a:avLst/>
          </a:prstGeom>
          <a:solidFill>
            <a:srgbClr val="06B6D4">
              <a:alpha val="6000"/>
            </a:srgbClr>
          </a:solidFill>
          <a:ln w="9525">
            <a:solidFill>
              <a:srgbClr val="06B6D4">
                <a:alpha val="15000"/>
              </a:srgbClr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6236970" y="1975485"/>
            <a:ext cx="58140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六大业务域覆盖企划研发全链路，从市场情报到运营反馈形成完整业务闭环</a:t>
            </a:r>
          </a:p>
        </p:txBody>
      </p:sp>
      <p:grpSp>
        <p:nvGrpSpPr>
          <p:cNvPr id="36" name="Group 36"/>
          <p:cNvGrpSpPr/>
          <p:nvPr/>
        </p:nvGrpSpPr>
        <p:grpSpPr>
          <a:xfrm>
            <a:off x="571500" y="2571750"/>
            <a:ext cx="5524500" cy="3238500"/>
            <a:chOff x="571500" y="2571750"/>
            <a:chExt cx="5524500" cy="3238500"/>
          </a:xfrm>
        </p:grpSpPr>
        <p:sp>
          <p:nvSpPr>
            <p:cNvPr id="10" name="Rectangle 10"/>
            <p:cNvSpPr/>
            <p:nvPr/>
          </p:nvSpPr>
          <p:spPr>
            <a:xfrm>
              <a:off x="571500" y="2571750"/>
              <a:ext cx="5524500" cy="3238500"/>
            </a:xfrm>
            <a:prstGeom prst="rect">
              <a:avLst/>
            </a:prstGeom>
            <a:solidFill>
              <a:srgbClr val="161D2E"/>
            </a:solidFill>
            <a:ln w="9525">
              <a:solidFill>
                <a:srgbClr val="F59E0B">
                  <a:alpha val="25000"/>
                </a:srgbClr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571500" y="2571750"/>
              <a:ext cx="5524500" cy="47625"/>
            </a:xfrm>
            <a:prstGeom prst="rect">
              <a:avLst/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838200" y="2819400"/>
              <a:ext cx="342900" cy="342900"/>
            </a:xfrm>
            <a:prstGeom prst="rect">
              <a:avLst/>
            </a:prstGeom>
            <a:solidFill>
              <a:srgbClr val="F59E0B">
                <a:alpha val="12000"/>
              </a:srgbClr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16200" y="2918460"/>
              <a:ext cx="1869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276350" y="2867025"/>
              <a:ext cx="118824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1F5F9"/>
                  </a:solidFill>
                  <a:latin typeface="Arial"/>
                  <a:ea typeface="Microsoft YaHei"/>
                  <a:cs typeface="Arial"/>
                </a:rPr>
                <a:t>市场情报域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2667000" y="2857500"/>
              <a:ext cx="762000" cy="228600"/>
            </a:xfrm>
            <a:prstGeom prst="rect">
              <a:avLst/>
            </a:prstGeom>
            <a:solidFill>
              <a:srgbClr val="F59E0B">
                <a:alpha val="12000"/>
              </a:srgbClr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2885704" y="2930366"/>
              <a:ext cx="32459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AMZN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838200" y="3314700"/>
              <a:ext cx="4991100" cy="9525"/>
            </a:xfrm>
            <a:custGeom>
              <a:avLst/>
              <a:gdLst/>
              <a:ahLst/>
              <a:cxnLst/>
              <a:rect l="l" t="t" r="r" b="b"/>
              <a:pathLst>
                <a:path w="4991100" h="9525">
                  <a:moveTo>
                    <a:pt x="0" y="0"/>
                  </a:moveTo>
                  <a:lnTo>
                    <a:pt x="4991100" y="0"/>
                  </a:lnTo>
                </a:path>
              </a:pathLst>
            </a:custGeom>
            <a:noFill/>
            <a:ln w="9525">
              <a:solidFill>
                <a:srgbClr val="1E293B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24865" y="3487102"/>
              <a:ext cx="6707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数据流向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838200" y="3752850"/>
              <a:ext cx="1143000" cy="304800"/>
            </a:xfrm>
            <a:prstGeom prst="rect">
              <a:avLst/>
            </a:prstGeom>
            <a:solidFill>
              <a:srgbClr val="F59E0B">
                <a:alpha val="8000"/>
              </a:srgbClr>
            </a:solidFill>
            <a:ln w="9525">
              <a:solidFill>
                <a:srgbClr val="F59E0B">
                  <a:alpha val="20000"/>
                </a:srgbClr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68376" y="3847624"/>
              <a:ext cx="68264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AMZN爬虫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099310" y="3823335"/>
              <a:ext cx="12687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2324100" y="3752850"/>
              <a:ext cx="1333500" cy="304800"/>
            </a:xfrm>
            <a:prstGeom prst="rect">
              <a:avLst/>
            </a:prstGeom>
            <a:solidFill>
              <a:srgbClr val="06B6D4">
                <a:alpha val="8000"/>
              </a:srgbClr>
            </a:solidFill>
            <a:ln w="9525">
              <a:solidFill>
                <a:srgbClr val="06B6D4">
                  <a:alpha val="20000"/>
                </a:srgbClr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2541125" y="3847624"/>
              <a:ext cx="89944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VOC竞品分析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775710" y="3823335"/>
              <a:ext cx="12687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4000500" y="3752850"/>
              <a:ext cx="1143000" cy="304800"/>
            </a:xfrm>
            <a:prstGeom prst="rect">
              <a:avLst/>
            </a:prstGeom>
            <a:solidFill>
              <a:srgbClr val="3B82F6">
                <a:alpha val="8000"/>
              </a:srgbClr>
            </a:solidFill>
            <a:ln w="9525">
              <a:solidFill>
                <a:srgbClr val="3B82F6">
                  <a:alpha val="20000"/>
                </a:srgbClr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4260580" y="3847624"/>
              <a:ext cx="62284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3B82F6"/>
                  </a:solidFill>
                  <a:latin typeface="Arial"/>
                  <a:ea typeface="Microsoft YaHei"/>
                  <a:cs typeface="Arial"/>
                </a:rPr>
                <a:t>趋势洞察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24865" y="4344352"/>
              <a:ext cx="6707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核心价值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923925" y="4676775"/>
              <a:ext cx="57150" cy="57150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053465" y="4639628"/>
              <a:ext cx="171354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实时采集亚马逊市场数据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923925" y="4924425"/>
              <a:ext cx="57150" cy="57150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053465" y="4887278"/>
              <a:ext cx="202025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竞品动态追踪与品类趋势分析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923925" y="5172075"/>
              <a:ext cx="57150" cy="57150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053465" y="5134928"/>
              <a:ext cx="202025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为企划决策提供市场情报支撑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838200" y="5448300"/>
              <a:ext cx="4991100" cy="228600"/>
            </a:xfrm>
            <a:prstGeom prst="rect">
              <a:avLst/>
            </a:prstGeom>
            <a:solidFill>
              <a:srgbClr val="F59E0B">
                <a:alpha val="6000"/>
              </a:srgbClr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2389465" y="5521166"/>
              <a:ext cx="188856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64748B"/>
                  </a:solidFill>
                  <a:latin typeface="Consolas"/>
                  <a:ea typeface="Microsoft YaHei"/>
                  <a:cs typeface="Consolas"/>
                </a:rPr>
                <a:t>集成度: AMZN→VOC 15% · 关键断点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6286500" y="2571750"/>
            <a:ext cx="5524500" cy="3238500"/>
            <a:chOff x="6286500" y="2571750"/>
            <a:chExt cx="5524500" cy="3238500"/>
          </a:xfrm>
        </p:grpSpPr>
        <p:sp>
          <p:nvSpPr>
            <p:cNvPr id="37" name="Rectangle 37"/>
            <p:cNvSpPr/>
            <p:nvPr/>
          </p:nvSpPr>
          <p:spPr>
            <a:xfrm>
              <a:off x="6286500" y="2571750"/>
              <a:ext cx="5524500" cy="3238500"/>
            </a:xfrm>
            <a:prstGeom prst="rect">
              <a:avLst/>
            </a:prstGeom>
            <a:solidFill>
              <a:srgbClr val="161D2E"/>
            </a:solidFill>
            <a:ln w="9525">
              <a:solidFill>
                <a:srgbClr val="06B6D4">
                  <a:alpha val="25000"/>
                </a:srgbClr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6286500" y="2571750"/>
              <a:ext cx="5524500" cy="47625"/>
            </a:xfrm>
            <a:prstGeom prst="rect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6553200" y="2819400"/>
              <a:ext cx="342900" cy="342900"/>
            </a:xfrm>
            <a:prstGeom prst="rect">
              <a:avLst/>
            </a:prstGeom>
            <a:solidFill>
              <a:srgbClr val="06B6D4">
                <a:alpha val="12000"/>
              </a:srgbClr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608197" y="2918460"/>
              <a:ext cx="23290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991350" y="2867025"/>
              <a:ext cx="141827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1F5F9"/>
                  </a:solidFill>
                  <a:latin typeface="Arial"/>
                  <a:ea typeface="Microsoft YaHei"/>
                  <a:cs typeface="Arial"/>
                </a:rPr>
                <a:t>消费者洞察域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8572500" y="2857500"/>
              <a:ext cx="571500" cy="228600"/>
            </a:xfrm>
            <a:prstGeom prst="rect">
              <a:avLst/>
            </a:prstGeom>
            <a:solidFill>
              <a:srgbClr val="06B6D4">
                <a:alpha val="12000"/>
              </a:srgbClr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730745" y="2930366"/>
              <a:ext cx="25500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VOC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6553200" y="3314700"/>
              <a:ext cx="4991100" cy="9525"/>
            </a:xfrm>
            <a:custGeom>
              <a:avLst/>
              <a:gdLst/>
              <a:ahLst/>
              <a:cxnLst/>
              <a:rect l="l" t="t" r="r" b="b"/>
              <a:pathLst>
                <a:path w="4991100" h="9525">
                  <a:moveTo>
                    <a:pt x="0" y="0"/>
                  </a:moveTo>
                  <a:lnTo>
                    <a:pt x="4991100" y="0"/>
                  </a:lnTo>
                </a:path>
              </a:pathLst>
            </a:custGeom>
            <a:noFill/>
            <a:ln w="9525">
              <a:solidFill>
                <a:srgbClr val="1E293B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539865" y="3487102"/>
              <a:ext cx="6707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数据流向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553200" y="3752850"/>
              <a:ext cx="1333500" cy="304800"/>
            </a:xfrm>
            <a:prstGeom prst="rect">
              <a:avLst/>
            </a:prstGeom>
            <a:solidFill>
              <a:srgbClr val="06B6D4">
                <a:alpha val="8000"/>
              </a:srgbClr>
            </a:solidFill>
            <a:ln w="9525">
              <a:solidFill>
                <a:srgbClr val="06B6D4">
                  <a:alpha val="20000"/>
                </a:srgbClr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770225" y="3847624"/>
              <a:ext cx="89944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VOC评论分析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004810" y="3823335"/>
              <a:ext cx="12687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8229600" y="3752850"/>
              <a:ext cx="1143000" cy="304800"/>
            </a:xfrm>
            <a:prstGeom prst="rect">
              <a:avLst/>
            </a:prstGeom>
            <a:solidFill>
              <a:srgbClr val="3B82F6">
                <a:alpha val="8000"/>
              </a:srgbClr>
            </a:solidFill>
            <a:ln w="9525">
              <a:solidFill>
                <a:srgbClr val="3B82F6">
                  <a:alpha val="20000"/>
                </a:srgbClr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8414921" y="3847624"/>
              <a:ext cx="77235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3B82F6"/>
                  </a:solidFill>
                  <a:latin typeface="Arial"/>
                  <a:ea typeface="Microsoft YaHei"/>
                  <a:cs typeface="Arial"/>
                </a:rPr>
                <a:t>消费者画像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490710" y="3823335"/>
              <a:ext cx="12687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9715500" y="3752850"/>
              <a:ext cx="1143000" cy="304800"/>
            </a:xfrm>
            <a:prstGeom prst="rect">
              <a:avLst/>
            </a:prstGeom>
            <a:solidFill>
              <a:srgbClr val="8B5CF6">
                <a:alpha val="8000"/>
              </a:srgbClr>
            </a:solidFill>
            <a:ln w="9525">
              <a:solidFill>
                <a:srgbClr val="8B5CF6">
                  <a:alpha val="20000"/>
                </a:srgbClr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9975580" y="3847624"/>
              <a:ext cx="62284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8B5CF6"/>
                  </a:solidFill>
                  <a:latin typeface="Arial"/>
                  <a:ea typeface="Microsoft YaHei"/>
                  <a:cs typeface="Arial"/>
                </a:rPr>
                <a:t>需求挖掘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539865" y="4344352"/>
              <a:ext cx="6707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核心价值</a:t>
              </a:r>
            </a:p>
          </p:txBody>
        </p:sp>
        <p:sp>
          <p:nvSpPr>
            <p:cNvPr id="55" name="Ellipse 55"/>
            <p:cNvSpPr/>
            <p:nvPr/>
          </p:nvSpPr>
          <p:spPr>
            <a:xfrm>
              <a:off x="6638925" y="4676775"/>
              <a:ext cx="57150" cy="57150"/>
            </a:xfrm>
            <a:prstGeom prst="ellipse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768465" y="4639628"/>
              <a:ext cx="217360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消费者评论深度挖掘与情感分析</a:t>
              </a:r>
            </a:p>
          </p:txBody>
        </p:sp>
        <p:sp>
          <p:nvSpPr>
            <p:cNvPr id="57" name="Ellipse 57"/>
            <p:cNvSpPr/>
            <p:nvPr/>
          </p:nvSpPr>
          <p:spPr>
            <a:xfrm>
              <a:off x="6638925" y="4924425"/>
              <a:ext cx="57150" cy="57150"/>
            </a:xfrm>
            <a:prstGeom prst="ellipse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768465" y="4887278"/>
              <a:ext cx="217360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构建消费者画像与需求偏好模型</a:t>
              </a:r>
            </a:p>
          </p:txBody>
        </p:sp>
        <p:sp>
          <p:nvSpPr>
            <p:cNvPr id="59" name="Ellipse 59"/>
            <p:cNvSpPr/>
            <p:nvPr/>
          </p:nvSpPr>
          <p:spPr>
            <a:xfrm>
              <a:off x="6638925" y="5172075"/>
              <a:ext cx="57150" cy="57150"/>
            </a:xfrm>
            <a:prstGeom prst="ellipse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768465" y="5134928"/>
              <a:ext cx="217360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驱动产品企划的消费者需求洞察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6553200" y="5448300"/>
              <a:ext cx="4991100" cy="228600"/>
            </a:xfrm>
            <a:prstGeom prst="rect">
              <a:avLst/>
            </a:prstGeom>
            <a:solidFill>
              <a:srgbClr val="06B6D4">
                <a:alpha val="6000"/>
              </a:srgbClr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8203871" y="5521166"/>
              <a:ext cx="168975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64748B"/>
                  </a:solidFill>
                  <a:latin typeface="Consolas"/>
                  <a:ea typeface="Microsoft YaHei"/>
                  <a:cs typeface="Consolas"/>
                </a:rPr>
                <a:t>集成度: VOC内部闭环 · 已实现</a:t>
              </a:r>
            </a:p>
          </p:txBody>
        </p:sp>
      </p:grpSp>
      <p:grpSp>
        <p:nvGrpSpPr>
          <p:cNvPr id="93" name="Group 93"/>
          <p:cNvGrpSpPr/>
          <p:nvPr/>
        </p:nvGrpSpPr>
        <p:grpSpPr>
          <a:xfrm>
            <a:off x="12001500" y="2571750"/>
            <a:ext cx="5715000" cy="3238500"/>
            <a:chOff x="12001500" y="2571750"/>
            <a:chExt cx="5715000" cy="3238500"/>
          </a:xfrm>
        </p:grpSpPr>
        <p:sp>
          <p:nvSpPr>
            <p:cNvPr id="64" name="Rectangle 64"/>
            <p:cNvSpPr/>
            <p:nvPr/>
          </p:nvSpPr>
          <p:spPr>
            <a:xfrm>
              <a:off x="12001500" y="2571750"/>
              <a:ext cx="5715000" cy="3238500"/>
            </a:xfrm>
            <a:prstGeom prst="rect">
              <a:avLst/>
            </a:prstGeom>
            <a:solidFill>
              <a:srgbClr val="161D2E"/>
            </a:solidFill>
            <a:ln w="9525">
              <a:solidFill>
                <a:srgbClr val="3B82F6">
                  <a:alpha val="25000"/>
                </a:srgbClr>
              </a:solidFill>
            </a:ln>
          </p:spPr>
        </p:sp>
        <p:sp>
          <p:nvSpPr>
            <p:cNvPr id="65" name="Rectangle 65"/>
            <p:cNvSpPr/>
            <p:nvPr/>
          </p:nvSpPr>
          <p:spPr>
            <a:xfrm>
              <a:off x="12001500" y="2571750"/>
              <a:ext cx="5715000" cy="47625"/>
            </a:xfrm>
            <a:prstGeom prst="rect">
              <a:avLst/>
            </a:prstGeom>
            <a:solidFill>
              <a:srgbClr val="3B82F6"/>
            </a:solidFill>
            <a:ln>
              <a:noFill/>
            </a:ln>
          </p:spPr>
        </p:sp>
        <p:sp>
          <p:nvSpPr>
            <p:cNvPr id="66" name="Rectangle 66"/>
            <p:cNvSpPr/>
            <p:nvPr/>
          </p:nvSpPr>
          <p:spPr>
            <a:xfrm>
              <a:off x="12268200" y="2819400"/>
              <a:ext cx="342900" cy="342900"/>
            </a:xfrm>
            <a:prstGeom prst="rect">
              <a:avLst/>
            </a:prstGeom>
            <a:solidFill>
              <a:srgbClr val="3B82F6">
                <a:alpha val="12000"/>
              </a:srgbClr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12323197" y="2918460"/>
              <a:ext cx="23290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3B82F6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2706350" y="2867025"/>
              <a:ext cx="118824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1F5F9"/>
                  </a:solidFill>
                  <a:latin typeface="Arial"/>
                  <a:ea typeface="Microsoft YaHei"/>
                  <a:cs typeface="Arial"/>
                </a:rPr>
                <a:t>企划管理域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14097000" y="2857500"/>
              <a:ext cx="571500" cy="228600"/>
            </a:xfrm>
            <a:prstGeom prst="rect">
              <a:avLst/>
            </a:prstGeom>
            <a:solidFill>
              <a:srgbClr val="3B82F6">
                <a:alpha val="12000"/>
              </a:srgbClr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14255245" y="2930366"/>
              <a:ext cx="25500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3B82F6"/>
                  </a:solidFill>
                  <a:latin typeface="Arial"/>
                  <a:ea typeface="Microsoft YaHei"/>
                  <a:cs typeface="Arial"/>
                </a:rPr>
                <a:t>VOC</a:t>
              </a:r>
            </a:p>
          </p:txBody>
        </p:sp>
        <p:sp>
          <p:nvSpPr>
            <p:cNvPr id="71" name="Line 71"/>
            <p:cNvSpPr/>
            <p:nvPr/>
          </p:nvSpPr>
          <p:spPr>
            <a:xfrm>
              <a:off x="12268200" y="3314700"/>
              <a:ext cx="5181600" cy="9525"/>
            </a:xfrm>
            <a:custGeom>
              <a:avLst/>
              <a:gdLst/>
              <a:ahLst/>
              <a:cxnLst/>
              <a:rect l="l" t="t" r="r" b="b"/>
              <a:pathLst>
                <a:path w="5181600" h="9525">
                  <a:moveTo>
                    <a:pt x="0" y="0"/>
                  </a:moveTo>
                  <a:lnTo>
                    <a:pt x="5181600" y="0"/>
                  </a:lnTo>
                </a:path>
              </a:pathLst>
            </a:custGeom>
            <a:noFill/>
            <a:ln w="9525">
              <a:solidFill>
                <a:srgbClr val="1E293B"/>
              </a:solidFill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12254865" y="3487102"/>
              <a:ext cx="6707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数据流向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12268200" y="3752850"/>
              <a:ext cx="952500" cy="304800"/>
            </a:xfrm>
            <a:prstGeom prst="rect">
              <a:avLst/>
            </a:prstGeom>
            <a:solidFill>
              <a:srgbClr val="3B82F6">
                <a:alpha val="8000"/>
              </a:srgbClr>
            </a:solidFill>
            <a:ln w="9525">
              <a:solidFill>
                <a:srgbClr val="3B82F6">
                  <a:alpha val="20000"/>
                </a:srgbClr>
              </a:solidFill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12507789" y="3847624"/>
              <a:ext cx="47332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3B82F6"/>
                  </a:solidFill>
                  <a:latin typeface="Arial"/>
                  <a:ea typeface="Microsoft YaHei"/>
                  <a:cs typeface="Arial"/>
                </a:rPr>
                <a:t>需求池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3338810" y="3823335"/>
              <a:ext cx="12687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13563600" y="3752850"/>
              <a:ext cx="952500" cy="304800"/>
            </a:xfrm>
            <a:prstGeom prst="rect">
              <a:avLst/>
            </a:prstGeom>
            <a:solidFill>
              <a:srgbClr val="06B6D4">
                <a:alpha val="8000"/>
              </a:srgbClr>
            </a:solidFill>
            <a:ln w="9525">
              <a:solidFill>
                <a:srgbClr val="06B6D4">
                  <a:alpha val="20000"/>
                </a:srgbClr>
              </a:solidFill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13728430" y="3847624"/>
              <a:ext cx="62284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产品规划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14634210" y="3823335"/>
              <a:ext cx="12687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79" name="Rectangle 79"/>
            <p:cNvSpPr/>
            <p:nvPr/>
          </p:nvSpPr>
          <p:spPr>
            <a:xfrm>
              <a:off x="14859000" y="3752850"/>
              <a:ext cx="952500" cy="304800"/>
            </a:xfrm>
            <a:prstGeom prst="rect">
              <a:avLst/>
            </a:prstGeom>
            <a:solidFill>
              <a:srgbClr val="8B5CF6">
                <a:alpha val="8000"/>
              </a:srgbClr>
            </a:solidFill>
            <a:ln w="9525">
              <a:solidFill>
                <a:srgbClr val="8B5CF6">
                  <a:alpha val="20000"/>
                </a:srgbClr>
              </a:solidFill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15023830" y="3847624"/>
              <a:ext cx="62284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8B5CF6"/>
                  </a:solidFill>
                  <a:latin typeface="Arial"/>
                  <a:ea typeface="Microsoft YaHei"/>
                  <a:cs typeface="Arial"/>
                </a:rPr>
                <a:t>进度跟踪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15929610" y="3823335"/>
              <a:ext cx="12687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82" name="Rectangle 82"/>
            <p:cNvSpPr/>
            <p:nvPr/>
          </p:nvSpPr>
          <p:spPr>
            <a:xfrm>
              <a:off x="16154400" y="3752850"/>
              <a:ext cx="952500" cy="304800"/>
            </a:xfrm>
            <a:prstGeom prst="rect">
              <a:avLst/>
            </a:prstGeom>
            <a:solidFill>
              <a:srgbClr val="F59E0B">
                <a:alpha val="8000"/>
              </a:srgbClr>
            </a:solidFill>
            <a:ln w="9525">
              <a:solidFill>
                <a:srgbClr val="F59E0B">
                  <a:alpha val="20000"/>
                </a:srgbClr>
              </a:solidFill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16319230" y="3847624"/>
              <a:ext cx="62284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月度计划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12254865" y="4344352"/>
              <a:ext cx="6707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核心价值</a:t>
              </a:r>
            </a:p>
          </p:txBody>
        </p:sp>
        <p:sp>
          <p:nvSpPr>
            <p:cNvPr id="85" name="Ellipse 85"/>
            <p:cNvSpPr/>
            <p:nvPr/>
          </p:nvSpPr>
          <p:spPr>
            <a:xfrm>
              <a:off x="12353925" y="4676775"/>
              <a:ext cx="57150" cy="57150"/>
            </a:xfrm>
            <a:prstGeom prst="ellipse">
              <a:avLst/>
            </a:prstGeom>
            <a:solidFill>
              <a:srgbClr val="3B82F6"/>
            </a:solidFill>
            <a:ln>
              <a:noFill/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12483465" y="4639628"/>
              <a:ext cx="217360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需求池到产品规划的全流程管理</a:t>
              </a:r>
            </a:p>
          </p:txBody>
        </p:sp>
        <p:sp>
          <p:nvSpPr>
            <p:cNvPr id="87" name="Ellipse 87"/>
            <p:cNvSpPr/>
            <p:nvPr/>
          </p:nvSpPr>
          <p:spPr>
            <a:xfrm>
              <a:off x="12353925" y="4924425"/>
              <a:ext cx="57150" cy="57150"/>
            </a:xfrm>
            <a:prstGeom prst="ellipse">
              <a:avLst/>
            </a:prstGeom>
            <a:solidFill>
              <a:srgbClr val="3B82F6"/>
            </a:solidFill>
            <a:ln>
              <a:noFill/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12483465" y="4887278"/>
              <a:ext cx="186690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项目进度跟踪与里程碑管控</a:t>
              </a:r>
            </a:p>
          </p:txBody>
        </p:sp>
        <p:sp>
          <p:nvSpPr>
            <p:cNvPr id="89" name="Ellipse 89"/>
            <p:cNvSpPr/>
            <p:nvPr/>
          </p:nvSpPr>
          <p:spPr>
            <a:xfrm>
              <a:off x="12353925" y="5172075"/>
              <a:ext cx="57150" cy="57150"/>
            </a:xfrm>
            <a:prstGeom prst="ellipse">
              <a:avLst/>
            </a:prstGeom>
            <a:solidFill>
              <a:srgbClr val="3B82F6"/>
            </a:solidFill>
            <a:ln>
              <a:noFill/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12483465" y="5134928"/>
              <a:ext cx="171354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月度计划制定与执行闭环</a:t>
              </a:r>
            </a:p>
          </p:txBody>
        </p:sp>
        <p:sp>
          <p:nvSpPr>
            <p:cNvPr id="91" name="Rectangle 91"/>
            <p:cNvSpPr/>
            <p:nvPr/>
          </p:nvSpPr>
          <p:spPr>
            <a:xfrm>
              <a:off x="12268200" y="5448300"/>
              <a:ext cx="5181600" cy="228600"/>
            </a:xfrm>
            <a:prstGeom prst="rect">
              <a:avLst/>
            </a:prstGeom>
            <a:solidFill>
              <a:srgbClr val="3B82F6">
                <a:alpha val="6000"/>
              </a:srgbClr>
            </a:solidFill>
            <a:ln>
              <a:noFill/>
            </a:ln>
          </p:spPr>
        </p:sp>
        <p:sp>
          <p:nvSpPr>
            <p:cNvPr id="92" name="TextBox 92"/>
            <p:cNvSpPr txBox="1"/>
            <p:nvPr/>
          </p:nvSpPr>
          <p:spPr>
            <a:xfrm>
              <a:off x="14014121" y="5521166"/>
              <a:ext cx="168975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64748B"/>
                  </a:solidFill>
                  <a:latin typeface="Consolas"/>
                  <a:ea typeface="Microsoft YaHei"/>
                  <a:cs typeface="Consolas"/>
                </a:rPr>
                <a:t>集成度: VOC内部闭环 · 已实现</a:t>
              </a:r>
            </a:p>
          </p:txBody>
        </p:sp>
      </p:grpSp>
      <p:grpSp>
        <p:nvGrpSpPr>
          <p:cNvPr id="120" name="Group 120"/>
          <p:cNvGrpSpPr/>
          <p:nvPr/>
        </p:nvGrpSpPr>
        <p:grpSpPr>
          <a:xfrm>
            <a:off x="571500" y="6096000"/>
            <a:ext cx="5524500" cy="3238500"/>
            <a:chOff x="571500" y="6096000"/>
            <a:chExt cx="5524500" cy="3238500"/>
          </a:xfrm>
        </p:grpSpPr>
        <p:sp>
          <p:nvSpPr>
            <p:cNvPr id="94" name="Rectangle 94"/>
            <p:cNvSpPr/>
            <p:nvPr/>
          </p:nvSpPr>
          <p:spPr>
            <a:xfrm>
              <a:off x="571500" y="6096000"/>
              <a:ext cx="5524500" cy="3238500"/>
            </a:xfrm>
            <a:prstGeom prst="rect">
              <a:avLst/>
            </a:prstGeom>
            <a:solidFill>
              <a:srgbClr val="161D2E"/>
            </a:solidFill>
            <a:ln w="9525">
              <a:solidFill>
                <a:srgbClr val="8B5CF6">
                  <a:alpha val="25000"/>
                </a:srgbClr>
              </a:solidFill>
            </a:ln>
          </p:spPr>
        </p:sp>
        <p:sp>
          <p:nvSpPr>
            <p:cNvPr id="95" name="Rectangle 95"/>
            <p:cNvSpPr/>
            <p:nvPr/>
          </p:nvSpPr>
          <p:spPr>
            <a:xfrm>
              <a:off x="571500" y="6096000"/>
              <a:ext cx="5524500" cy="47625"/>
            </a:xfrm>
            <a:prstGeom prst="rect">
              <a:avLst/>
            </a:prstGeom>
            <a:solidFill>
              <a:srgbClr val="8B5CF6"/>
            </a:solidFill>
            <a:ln>
              <a:noFill/>
            </a:ln>
          </p:spPr>
        </p:sp>
        <p:sp>
          <p:nvSpPr>
            <p:cNvPr id="96" name="Rectangle 96"/>
            <p:cNvSpPr/>
            <p:nvPr/>
          </p:nvSpPr>
          <p:spPr>
            <a:xfrm>
              <a:off x="838200" y="6343650"/>
              <a:ext cx="342900" cy="342900"/>
            </a:xfrm>
            <a:prstGeom prst="rect">
              <a:avLst/>
            </a:prstGeom>
            <a:solidFill>
              <a:srgbClr val="8B5CF6">
                <a:alpha val="12000"/>
              </a:srgbClr>
            </a:solidFill>
            <a:ln>
              <a:noFill/>
            </a:ln>
          </p:spPr>
        </p:sp>
        <p:sp>
          <p:nvSpPr>
            <p:cNvPr id="97" name="TextBox 97"/>
            <p:cNvSpPr txBox="1"/>
            <p:nvPr/>
          </p:nvSpPr>
          <p:spPr>
            <a:xfrm>
              <a:off x="893197" y="6442710"/>
              <a:ext cx="23290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8B5CF6"/>
                  </a:solidFill>
                  <a:latin typeface="Arial"/>
                  <a:ea typeface="Microsoft YaHei"/>
                  <a:cs typeface="Arial"/>
                </a:rPr>
                <a:t>04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1276350" y="6391275"/>
              <a:ext cx="118824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1F5F9"/>
                  </a:solidFill>
                  <a:latin typeface="Arial"/>
                  <a:ea typeface="Microsoft YaHei"/>
                  <a:cs typeface="Arial"/>
                </a:rPr>
                <a:t>设计标准域</a:t>
              </a:r>
            </a:p>
          </p:txBody>
        </p:sp>
        <p:sp>
          <p:nvSpPr>
            <p:cNvPr id="99" name="Rectangle 99"/>
            <p:cNvSpPr/>
            <p:nvPr/>
          </p:nvSpPr>
          <p:spPr>
            <a:xfrm>
              <a:off x="2667000" y="6381750"/>
              <a:ext cx="762000" cy="228600"/>
            </a:xfrm>
            <a:prstGeom prst="rect">
              <a:avLst/>
            </a:prstGeom>
            <a:solidFill>
              <a:srgbClr val="8B5CF6">
                <a:alpha val="12000"/>
              </a:srgbClr>
            </a:solidFill>
            <a:ln>
              <a:noFill/>
            </a:ln>
          </p:spPr>
        </p:sp>
        <p:sp>
          <p:nvSpPr>
            <p:cNvPr id="100" name="TextBox 100"/>
            <p:cNvSpPr txBox="1"/>
            <p:nvPr/>
          </p:nvSpPr>
          <p:spPr>
            <a:xfrm>
              <a:off x="2838260" y="6454616"/>
              <a:ext cx="41948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8B5CF6"/>
                  </a:solidFill>
                  <a:latin typeface="Arial"/>
                  <a:ea typeface="Microsoft YaHei"/>
                  <a:cs typeface="Arial"/>
                </a:rPr>
                <a:t>COLOR</a:t>
              </a:r>
            </a:p>
          </p:txBody>
        </p:sp>
        <p:sp>
          <p:nvSpPr>
            <p:cNvPr id="101" name="Line 101"/>
            <p:cNvSpPr/>
            <p:nvPr/>
          </p:nvSpPr>
          <p:spPr>
            <a:xfrm>
              <a:off x="838200" y="6838950"/>
              <a:ext cx="4991100" cy="9525"/>
            </a:xfrm>
            <a:custGeom>
              <a:avLst/>
              <a:gdLst/>
              <a:ahLst/>
              <a:cxnLst/>
              <a:rect l="l" t="t" r="r" b="b"/>
              <a:pathLst>
                <a:path w="4991100" h="9525">
                  <a:moveTo>
                    <a:pt x="0" y="0"/>
                  </a:moveTo>
                  <a:lnTo>
                    <a:pt x="4991100" y="0"/>
                  </a:lnTo>
                </a:path>
              </a:pathLst>
            </a:custGeom>
            <a:noFill/>
            <a:ln w="9525">
              <a:solidFill>
                <a:srgbClr val="1E293B"/>
              </a:solidFill>
            </a:ln>
          </p:spPr>
        </p:sp>
        <p:sp>
          <p:nvSpPr>
            <p:cNvPr id="102" name="TextBox 102"/>
            <p:cNvSpPr txBox="1"/>
            <p:nvPr/>
          </p:nvSpPr>
          <p:spPr>
            <a:xfrm>
              <a:off x="824865" y="7011352"/>
              <a:ext cx="6707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数据流向</a:t>
              </a:r>
            </a:p>
          </p:txBody>
        </p:sp>
        <p:sp>
          <p:nvSpPr>
            <p:cNvPr id="103" name="Rectangle 103"/>
            <p:cNvSpPr/>
            <p:nvPr/>
          </p:nvSpPr>
          <p:spPr>
            <a:xfrm>
              <a:off x="838200" y="7277100"/>
              <a:ext cx="1143000" cy="304800"/>
            </a:xfrm>
            <a:prstGeom prst="rect">
              <a:avLst/>
            </a:prstGeom>
            <a:solidFill>
              <a:srgbClr val="8B5CF6">
                <a:alpha val="8000"/>
              </a:srgbClr>
            </a:solidFill>
            <a:ln w="9525">
              <a:solidFill>
                <a:srgbClr val="8B5CF6">
                  <a:alpha val="20000"/>
                </a:srgbClr>
              </a:solidFill>
            </a:ln>
          </p:spPr>
        </p:sp>
        <p:sp>
          <p:nvSpPr>
            <p:cNvPr id="104" name="TextBox 104"/>
            <p:cNvSpPr txBox="1"/>
            <p:nvPr/>
          </p:nvSpPr>
          <p:spPr>
            <a:xfrm>
              <a:off x="937548" y="7371874"/>
              <a:ext cx="94430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8B5CF6"/>
                  </a:solidFill>
                  <a:latin typeface="Arial"/>
                  <a:ea typeface="Microsoft YaHei"/>
                  <a:cs typeface="Arial"/>
                </a:rPr>
                <a:t>COLOR色彩库</a:t>
              </a:r>
            </a:p>
          </p:txBody>
        </p:sp>
        <p:sp>
          <p:nvSpPr>
            <p:cNvPr id="105" name="TextBox 105"/>
            <p:cNvSpPr txBox="1"/>
            <p:nvPr/>
          </p:nvSpPr>
          <p:spPr>
            <a:xfrm>
              <a:off x="2099310" y="7347585"/>
              <a:ext cx="12687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106" name="Rectangle 106"/>
            <p:cNvSpPr/>
            <p:nvPr/>
          </p:nvSpPr>
          <p:spPr>
            <a:xfrm>
              <a:off x="2324100" y="7277100"/>
              <a:ext cx="1333500" cy="304800"/>
            </a:xfrm>
            <a:prstGeom prst="rect">
              <a:avLst/>
            </a:prstGeom>
            <a:solidFill>
              <a:srgbClr val="06B6D4">
                <a:alpha val="8000"/>
              </a:srgbClr>
            </a:solidFill>
            <a:ln w="9525">
              <a:solidFill>
                <a:srgbClr val="06B6D4">
                  <a:alpha val="20000"/>
                </a:srgbClr>
              </a:solidFill>
            </a:ln>
          </p:spPr>
        </p:sp>
        <p:sp>
          <p:nvSpPr>
            <p:cNvPr id="107" name="TextBox 107"/>
            <p:cNvSpPr txBox="1"/>
            <p:nvPr/>
          </p:nvSpPr>
          <p:spPr>
            <a:xfrm>
              <a:off x="2541125" y="7371874"/>
              <a:ext cx="89944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VOC色彩调研</a:t>
              </a:r>
            </a:p>
          </p:txBody>
        </p:sp>
        <p:sp>
          <p:nvSpPr>
            <p:cNvPr id="108" name="TextBox 108"/>
            <p:cNvSpPr txBox="1"/>
            <p:nvPr/>
          </p:nvSpPr>
          <p:spPr>
            <a:xfrm>
              <a:off x="3775710" y="7347585"/>
              <a:ext cx="12687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109" name="Rectangle 109"/>
            <p:cNvSpPr/>
            <p:nvPr/>
          </p:nvSpPr>
          <p:spPr>
            <a:xfrm>
              <a:off x="4000500" y="7277100"/>
              <a:ext cx="1143000" cy="304800"/>
            </a:xfrm>
            <a:prstGeom prst="rect">
              <a:avLst/>
            </a:prstGeom>
            <a:solidFill>
              <a:srgbClr val="F59E0B">
                <a:alpha val="8000"/>
              </a:srgbClr>
            </a:solidFill>
            <a:ln w="9525">
              <a:solidFill>
                <a:srgbClr val="F59E0B">
                  <a:alpha val="20000"/>
                </a:srgbClr>
              </a:solidFill>
            </a:ln>
          </p:spPr>
        </p:sp>
        <p:sp>
          <p:nvSpPr>
            <p:cNvPr id="110" name="TextBox 110"/>
            <p:cNvSpPr txBox="1"/>
            <p:nvPr/>
          </p:nvSpPr>
          <p:spPr>
            <a:xfrm>
              <a:off x="4260580" y="7371874"/>
              <a:ext cx="62284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灵感关联</a:t>
              </a:r>
            </a:p>
          </p:txBody>
        </p:sp>
        <p:sp>
          <p:nvSpPr>
            <p:cNvPr id="111" name="TextBox 111"/>
            <p:cNvSpPr txBox="1"/>
            <p:nvPr/>
          </p:nvSpPr>
          <p:spPr>
            <a:xfrm>
              <a:off x="824865" y="7868602"/>
              <a:ext cx="6707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核心价值</a:t>
              </a:r>
            </a:p>
          </p:txBody>
        </p:sp>
        <p:sp>
          <p:nvSpPr>
            <p:cNvPr id="112" name="Ellipse 112"/>
            <p:cNvSpPr/>
            <p:nvPr/>
          </p:nvSpPr>
          <p:spPr>
            <a:xfrm>
              <a:off x="923925" y="8201025"/>
              <a:ext cx="57150" cy="57150"/>
            </a:xfrm>
            <a:prstGeom prst="ellipse">
              <a:avLst/>
            </a:prstGeom>
            <a:solidFill>
              <a:srgbClr val="8B5CF6"/>
            </a:solidFill>
            <a:ln>
              <a:noFill/>
            </a:ln>
          </p:spPr>
        </p:sp>
        <p:sp>
          <p:nvSpPr>
            <p:cNvPr id="113" name="TextBox 113"/>
            <p:cNvSpPr txBox="1"/>
            <p:nvPr/>
          </p:nvSpPr>
          <p:spPr>
            <a:xfrm>
              <a:off x="1053465" y="8163878"/>
              <a:ext cx="185923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2914色品牌色彩标准化体系</a:t>
              </a:r>
            </a:p>
          </p:txBody>
        </p:sp>
        <p:sp>
          <p:nvSpPr>
            <p:cNvPr id="114" name="Ellipse 114"/>
            <p:cNvSpPr/>
            <p:nvPr/>
          </p:nvSpPr>
          <p:spPr>
            <a:xfrm>
              <a:off x="923925" y="8448675"/>
              <a:ext cx="57150" cy="57150"/>
            </a:xfrm>
            <a:prstGeom prst="ellipse">
              <a:avLst/>
            </a:prstGeom>
            <a:solidFill>
              <a:srgbClr val="8B5CF6"/>
            </a:solidFill>
            <a:ln>
              <a:noFill/>
            </a:ln>
          </p:spPr>
        </p:sp>
        <p:sp>
          <p:nvSpPr>
            <p:cNvPr id="115" name="TextBox 115"/>
            <p:cNvSpPr txBox="1"/>
            <p:nvPr/>
          </p:nvSpPr>
          <p:spPr>
            <a:xfrm>
              <a:off x="1053465" y="8411528"/>
              <a:ext cx="15371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AI图片理解与色彩提取</a:t>
              </a:r>
            </a:p>
          </p:txBody>
        </p:sp>
        <p:sp>
          <p:nvSpPr>
            <p:cNvPr id="116" name="Ellipse 116"/>
            <p:cNvSpPr/>
            <p:nvPr/>
          </p:nvSpPr>
          <p:spPr>
            <a:xfrm>
              <a:off x="923925" y="8696325"/>
              <a:ext cx="57150" cy="57150"/>
            </a:xfrm>
            <a:prstGeom prst="ellipse">
              <a:avLst/>
            </a:prstGeom>
            <a:solidFill>
              <a:srgbClr val="8B5CF6"/>
            </a:solidFill>
            <a:ln>
              <a:noFill/>
            </a:ln>
          </p:spPr>
        </p:sp>
        <p:sp>
          <p:nvSpPr>
            <p:cNvPr id="117" name="TextBox 117"/>
            <p:cNvSpPr txBox="1"/>
            <p:nvPr/>
          </p:nvSpPr>
          <p:spPr>
            <a:xfrm>
              <a:off x="1053465" y="8659178"/>
              <a:ext cx="140684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色彩与设计灵感联动</a:t>
              </a:r>
            </a:p>
          </p:txBody>
        </p:sp>
        <p:sp>
          <p:nvSpPr>
            <p:cNvPr id="118" name="Rectangle 118"/>
            <p:cNvSpPr/>
            <p:nvPr/>
          </p:nvSpPr>
          <p:spPr>
            <a:xfrm>
              <a:off x="838200" y="8972550"/>
              <a:ext cx="4991100" cy="228600"/>
            </a:xfrm>
            <a:prstGeom prst="rect">
              <a:avLst/>
            </a:prstGeom>
            <a:solidFill>
              <a:srgbClr val="8B5CF6">
                <a:alpha val="6000"/>
              </a:srgbClr>
            </a:solidFill>
            <a:ln>
              <a:noFill/>
            </a:ln>
          </p:spPr>
        </p:sp>
        <p:sp>
          <p:nvSpPr>
            <p:cNvPr id="119" name="TextBox 119"/>
            <p:cNvSpPr txBox="1"/>
            <p:nvPr/>
          </p:nvSpPr>
          <p:spPr>
            <a:xfrm>
              <a:off x="2389465" y="9045416"/>
              <a:ext cx="188856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64748B"/>
                  </a:solidFill>
                  <a:latin typeface="Consolas"/>
                  <a:ea typeface="Microsoft YaHei"/>
                  <a:cs typeface="Consolas"/>
                </a:rPr>
                <a:t>集成度: COLOR→VOC 20% · 需加强</a:t>
              </a:r>
            </a:p>
          </p:txBody>
        </p:sp>
      </p:grpSp>
      <p:grpSp>
        <p:nvGrpSpPr>
          <p:cNvPr id="147" name="Group 147"/>
          <p:cNvGrpSpPr/>
          <p:nvPr/>
        </p:nvGrpSpPr>
        <p:grpSpPr>
          <a:xfrm>
            <a:off x="6286500" y="6096000"/>
            <a:ext cx="5524500" cy="3238500"/>
            <a:chOff x="6286500" y="6096000"/>
            <a:chExt cx="5524500" cy="3238500"/>
          </a:xfrm>
        </p:grpSpPr>
        <p:sp>
          <p:nvSpPr>
            <p:cNvPr id="121" name="Rectangle 121"/>
            <p:cNvSpPr/>
            <p:nvPr/>
          </p:nvSpPr>
          <p:spPr>
            <a:xfrm>
              <a:off x="6286500" y="6096000"/>
              <a:ext cx="5524500" cy="3238500"/>
            </a:xfrm>
            <a:prstGeom prst="rect">
              <a:avLst/>
            </a:prstGeom>
            <a:solidFill>
              <a:srgbClr val="161D2E"/>
            </a:solidFill>
            <a:ln w="9525">
              <a:solidFill>
                <a:srgbClr val="10B981">
                  <a:alpha val="25000"/>
                </a:srgbClr>
              </a:solidFill>
            </a:ln>
          </p:spPr>
        </p:sp>
        <p:sp>
          <p:nvSpPr>
            <p:cNvPr id="122" name="Rectangle 122"/>
            <p:cNvSpPr/>
            <p:nvPr/>
          </p:nvSpPr>
          <p:spPr>
            <a:xfrm>
              <a:off x="6286500" y="6096000"/>
              <a:ext cx="5524500" cy="47625"/>
            </a:xfrm>
            <a:prstGeom prst="rect">
              <a:avLst/>
            </a:prstGeom>
            <a:solidFill>
              <a:srgbClr val="10B981"/>
            </a:solidFill>
            <a:ln>
              <a:noFill/>
            </a:ln>
          </p:spPr>
        </p:sp>
        <p:sp>
          <p:nvSpPr>
            <p:cNvPr id="123" name="Rectangle 123"/>
            <p:cNvSpPr/>
            <p:nvPr/>
          </p:nvSpPr>
          <p:spPr>
            <a:xfrm>
              <a:off x="6553200" y="6343650"/>
              <a:ext cx="342900" cy="342900"/>
            </a:xfrm>
            <a:prstGeom prst="rect">
              <a:avLst/>
            </a:prstGeom>
            <a:solidFill>
              <a:srgbClr val="10B981">
                <a:alpha val="12000"/>
              </a:srgbClr>
            </a:solidFill>
            <a:ln>
              <a:noFill/>
            </a:ln>
          </p:spPr>
        </p:sp>
        <p:sp>
          <p:nvSpPr>
            <p:cNvPr id="124" name="TextBox 124"/>
            <p:cNvSpPr txBox="1"/>
            <p:nvPr/>
          </p:nvSpPr>
          <p:spPr>
            <a:xfrm>
              <a:off x="6608197" y="6442710"/>
              <a:ext cx="23290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0B981"/>
                  </a:solidFill>
                  <a:latin typeface="Arial"/>
                  <a:ea typeface="Microsoft YaHei"/>
                  <a:cs typeface="Arial"/>
                </a:rPr>
                <a:t>05</a:t>
              </a:r>
            </a:p>
          </p:txBody>
        </p:sp>
        <p:sp>
          <p:nvSpPr>
            <p:cNvPr id="125" name="TextBox 125"/>
            <p:cNvSpPr txBox="1"/>
            <p:nvPr/>
          </p:nvSpPr>
          <p:spPr>
            <a:xfrm>
              <a:off x="6991350" y="6391275"/>
              <a:ext cx="118824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1F5F9"/>
                  </a:solidFill>
                  <a:latin typeface="Arial"/>
                  <a:ea typeface="Microsoft YaHei"/>
                  <a:cs typeface="Arial"/>
                </a:rPr>
                <a:t>商业决策域</a:t>
              </a:r>
            </a:p>
          </p:txBody>
        </p:sp>
        <p:sp>
          <p:nvSpPr>
            <p:cNvPr id="126" name="Rectangle 126"/>
            <p:cNvSpPr/>
            <p:nvPr/>
          </p:nvSpPr>
          <p:spPr>
            <a:xfrm>
              <a:off x="8382000" y="6381750"/>
              <a:ext cx="571500" cy="228600"/>
            </a:xfrm>
            <a:prstGeom prst="rect">
              <a:avLst/>
            </a:prstGeom>
            <a:solidFill>
              <a:srgbClr val="10B981">
                <a:alpha val="12000"/>
              </a:srgbClr>
            </a:solidFill>
            <a:ln>
              <a:noFill/>
            </a:ln>
          </p:spPr>
        </p:sp>
        <p:sp>
          <p:nvSpPr>
            <p:cNvPr id="127" name="TextBox 127"/>
            <p:cNvSpPr txBox="1"/>
            <p:nvPr/>
          </p:nvSpPr>
          <p:spPr>
            <a:xfrm>
              <a:off x="8552897" y="6454616"/>
              <a:ext cx="22970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10B981"/>
                  </a:solidFill>
                  <a:latin typeface="Arial"/>
                  <a:ea typeface="Microsoft YaHei"/>
                  <a:cs typeface="Arial"/>
                </a:rPr>
                <a:t>YFB</a:t>
              </a:r>
            </a:p>
          </p:txBody>
        </p:sp>
        <p:sp>
          <p:nvSpPr>
            <p:cNvPr id="128" name="Line 128"/>
            <p:cNvSpPr/>
            <p:nvPr/>
          </p:nvSpPr>
          <p:spPr>
            <a:xfrm>
              <a:off x="6553200" y="6838950"/>
              <a:ext cx="4991100" cy="9525"/>
            </a:xfrm>
            <a:custGeom>
              <a:avLst/>
              <a:gdLst/>
              <a:ahLst/>
              <a:cxnLst/>
              <a:rect l="l" t="t" r="r" b="b"/>
              <a:pathLst>
                <a:path w="4991100" h="9525">
                  <a:moveTo>
                    <a:pt x="0" y="0"/>
                  </a:moveTo>
                  <a:lnTo>
                    <a:pt x="4991100" y="0"/>
                  </a:lnTo>
                </a:path>
              </a:pathLst>
            </a:custGeom>
            <a:noFill/>
            <a:ln w="9525">
              <a:solidFill>
                <a:srgbClr val="1E293B"/>
              </a:solidFill>
            </a:ln>
          </p:spPr>
        </p:sp>
        <p:sp>
          <p:nvSpPr>
            <p:cNvPr id="129" name="TextBox 129"/>
            <p:cNvSpPr txBox="1"/>
            <p:nvPr/>
          </p:nvSpPr>
          <p:spPr>
            <a:xfrm>
              <a:off x="6539865" y="7011352"/>
              <a:ext cx="6707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数据流向</a:t>
              </a:r>
            </a:p>
          </p:txBody>
        </p:sp>
        <p:sp>
          <p:nvSpPr>
            <p:cNvPr id="130" name="Rectangle 130"/>
            <p:cNvSpPr/>
            <p:nvPr/>
          </p:nvSpPr>
          <p:spPr>
            <a:xfrm>
              <a:off x="6553200" y="7277100"/>
              <a:ext cx="1333500" cy="304800"/>
            </a:xfrm>
            <a:prstGeom prst="rect">
              <a:avLst/>
            </a:prstGeom>
            <a:solidFill>
              <a:srgbClr val="06B6D4">
                <a:alpha val="8000"/>
              </a:srgbClr>
            </a:solidFill>
            <a:ln w="9525">
              <a:solidFill>
                <a:srgbClr val="06B6D4">
                  <a:alpha val="20000"/>
                </a:srgbClr>
              </a:solidFill>
            </a:ln>
          </p:spPr>
        </p:sp>
        <p:sp>
          <p:nvSpPr>
            <p:cNvPr id="131" name="TextBox 131"/>
            <p:cNvSpPr txBox="1"/>
            <p:nvPr/>
          </p:nvSpPr>
          <p:spPr>
            <a:xfrm>
              <a:off x="6770225" y="7371874"/>
              <a:ext cx="89944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VOC成本数据</a:t>
              </a:r>
            </a:p>
          </p:txBody>
        </p:sp>
        <p:sp>
          <p:nvSpPr>
            <p:cNvPr id="132" name="TextBox 132"/>
            <p:cNvSpPr txBox="1"/>
            <p:nvPr/>
          </p:nvSpPr>
          <p:spPr>
            <a:xfrm>
              <a:off x="8004810" y="7347585"/>
              <a:ext cx="12687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133" name="Rectangle 133"/>
            <p:cNvSpPr/>
            <p:nvPr/>
          </p:nvSpPr>
          <p:spPr>
            <a:xfrm>
              <a:off x="8229600" y="7277100"/>
              <a:ext cx="1143000" cy="304800"/>
            </a:xfrm>
            <a:prstGeom prst="rect">
              <a:avLst/>
            </a:prstGeom>
            <a:solidFill>
              <a:srgbClr val="10B981">
                <a:alpha val="8000"/>
              </a:srgbClr>
            </a:solidFill>
            <a:ln w="9525">
              <a:solidFill>
                <a:srgbClr val="10B981">
                  <a:alpha val="20000"/>
                </a:srgbClr>
              </a:solidFill>
            </a:ln>
          </p:spPr>
        </p:sp>
        <p:sp>
          <p:nvSpPr>
            <p:cNvPr id="134" name="TextBox 134"/>
            <p:cNvSpPr txBox="1"/>
            <p:nvPr/>
          </p:nvSpPr>
          <p:spPr>
            <a:xfrm>
              <a:off x="8366327" y="7371874"/>
              <a:ext cx="86954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10B981"/>
                  </a:solidFill>
                  <a:latin typeface="Arial"/>
                  <a:ea typeface="Microsoft YaHei"/>
                  <a:cs typeface="Arial"/>
                </a:rPr>
                <a:t>YFB利润测算</a:t>
              </a:r>
            </a:p>
          </p:txBody>
        </p:sp>
        <p:sp>
          <p:nvSpPr>
            <p:cNvPr id="135" name="TextBox 135"/>
            <p:cNvSpPr txBox="1"/>
            <p:nvPr/>
          </p:nvSpPr>
          <p:spPr>
            <a:xfrm>
              <a:off x="9490710" y="7347585"/>
              <a:ext cx="12687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136" name="Rectangle 136"/>
            <p:cNvSpPr/>
            <p:nvPr/>
          </p:nvSpPr>
          <p:spPr>
            <a:xfrm>
              <a:off x="9715500" y="7277100"/>
              <a:ext cx="1143000" cy="304800"/>
            </a:xfrm>
            <a:prstGeom prst="rect">
              <a:avLst/>
            </a:prstGeom>
            <a:solidFill>
              <a:srgbClr val="F59E0B">
                <a:alpha val="8000"/>
              </a:srgbClr>
            </a:solidFill>
            <a:ln w="9525">
              <a:solidFill>
                <a:srgbClr val="F59E0B">
                  <a:alpha val="20000"/>
                </a:srgbClr>
              </a:solidFill>
            </a:ln>
          </p:spPr>
        </p:sp>
        <p:sp>
          <p:nvSpPr>
            <p:cNvPr id="137" name="TextBox 137"/>
            <p:cNvSpPr txBox="1"/>
            <p:nvPr/>
          </p:nvSpPr>
          <p:spPr>
            <a:xfrm>
              <a:off x="9975580" y="7371874"/>
              <a:ext cx="62284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货盘规划</a:t>
              </a:r>
            </a:p>
          </p:txBody>
        </p:sp>
        <p:sp>
          <p:nvSpPr>
            <p:cNvPr id="138" name="TextBox 138"/>
            <p:cNvSpPr txBox="1"/>
            <p:nvPr/>
          </p:nvSpPr>
          <p:spPr>
            <a:xfrm>
              <a:off x="6539865" y="7868602"/>
              <a:ext cx="6707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核心价值</a:t>
              </a:r>
            </a:p>
          </p:txBody>
        </p:sp>
        <p:sp>
          <p:nvSpPr>
            <p:cNvPr id="139" name="Ellipse 139"/>
            <p:cNvSpPr/>
            <p:nvPr/>
          </p:nvSpPr>
          <p:spPr>
            <a:xfrm>
              <a:off x="6638925" y="8201025"/>
              <a:ext cx="57150" cy="57150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</p:spPr>
        </p:sp>
        <p:sp>
          <p:nvSpPr>
            <p:cNvPr id="140" name="TextBox 140"/>
            <p:cNvSpPr txBox="1"/>
            <p:nvPr/>
          </p:nvSpPr>
          <p:spPr>
            <a:xfrm>
              <a:off x="6768465" y="8163878"/>
              <a:ext cx="196657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FBA全链路成本与利润率测算</a:t>
              </a:r>
            </a:p>
          </p:txBody>
        </p:sp>
        <p:sp>
          <p:nvSpPr>
            <p:cNvPr id="141" name="Ellipse 141"/>
            <p:cNvSpPr/>
            <p:nvPr/>
          </p:nvSpPr>
          <p:spPr>
            <a:xfrm>
              <a:off x="6638925" y="8448675"/>
              <a:ext cx="57150" cy="57150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</p:spPr>
        </p:sp>
        <p:sp>
          <p:nvSpPr>
            <p:cNvPr id="142" name="TextBox 142"/>
            <p:cNvSpPr txBox="1"/>
            <p:nvPr/>
          </p:nvSpPr>
          <p:spPr>
            <a:xfrm>
              <a:off x="6768465" y="8411528"/>
              <a:ext cx="146818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10+成本项精细化管理</a:t>
              </a:r>
            </a:p>
          </p:txBody>
        </p:sp>
        <p:sp>
          <p:nvSpPr>
            <p:cNvPr id="143" name="Ellipse 143"/>
            <p:cNvSpPr/>
            <p:nvPr/>
          </p:nvSpPr>
          <p:spPr>
            <a:xfrm>
              <a:off x="6638925" y="8696325"/>
              <a:ext cx="57150" cy="57150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</p:spPr>
        </p:sp>
        <p:sp>
          <p:nvSpPr>
            <p:cNvPr id="144" name="TextBox 144"/>
            <p:cNvSpPr txBox="1"/>
            <p:nvPr/>
          </p:nvSpPr>
          <p:spPr>
            <a:xfrm>
              <a:off x="6768465" y="8659178"/>
              <a:ext cx="171354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数据驱动的货盘决策支持</a:t>
              </a:r>
            </a:p>
          </p:txBody>
        </p:sp>
        <p:sp>
          <p:nvSpPr>
            <p:cNvPr id="145" name="Rectangle 145"/>
            <p:cNvSpPr/>
            <p:nvPr/>
          </p:nvSpPr>
          <p:spPr>
            <a:xfrm>
              <a:off x="6553200" y="8972550"/>
              <a:ext cx="4991100" cy="228600"/>
            </a:xfrm>
            <a:prstGeom prst="rect">
              <a:avLst/>
            </a:prstGeom>
            <a:solidFill>
              <a:srgbClr val="10B981">
                <a:alpha val="6000"/>
              </a:srgbClr>
            </a:solidFill>
            <a:ln>
              <a:noFill/>
            </a:ln>
          </p:spPr>
        </p:sp>
        <p:sp>
          <p:nvSpPr>
            <p:cNvPr id="146" name="TextBox 146"/>
            <p:cNvSpPr txBox="1"/>
            <p:nvPr/>
          </p:nvSpPr>
          <p:spPr>
            <a:xfrm>
              <a:off x="8224957" y="9045416"/>
              <a:ext cx="164758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64748B"/>
                  </a:solidFill>
                  <a:latin typeface="Consolas"/>
                  <a:ea typeface="Microsoft YaHei"/>
                  <a:cs typeface="Consolas"/>
                </a:rPr>
                <a:t>集成度: YFB嵌入VOC · 已实现</a:t>
              </a:r>
            </a:p>
          </p:txBody>
        </p:sp>
      </p:grpSp>
      <p:grpSp>
        <p:nvGrpSpPr>
          <p:cNvPr id="174" name="Group 174"/>
          <p:cNvGrpSpPr/>
          <p:nvPr/>
        </p:nvGrpSpPr>
        <p:grpSpPr>
          <a:xfrm>
            <a:off x="12001500" y="6096000"/>
            <a:ext cx="5715000" cy="3238500"/>
            <a:chOff x="12001500" y="6096000"/>
            <a:chExt cx="5715000" cy="3238500"/>
          </a:xfrm>
        </p:grpSpPr>
        <p:sp>
          <p:nvSpPr>
            <p:cNvPr id="148" name="Rectangle 148"/>
            <p:cNvSpPr/>
            <p:nvPr/>
          </p:nvSpPr>
          <p:spPr>
            <a:xfrm>
              <a:off x="12001500" y="6096000"/>
              <a:ext cx="5715000" cy="3238500"/>
            </a:xfrm>
            <a:prstGeom prst="rect">
              <a:avLst/>
            </a:prstGeom>
            <a:solidFill>
              <a:srgbClr val="161D2E"/>
            </a:solidFill>
            <a:ln w="9525">
              <a:solidFill>
                <a:srgbClr val="F43F5E">
                  <a:alpha val="25000"/>
                </a:srgbClr>
              </a:solidFill>
            </a:ln>
          </p:spPr>
        </p:sp>
        <p:sp>
          <p:nvSpPr>
            <p:cNvPr id="149" name="Rectangle 149"/>
            <p:cNvSpPr/>
            <p:nvPr/>
          </p:nvSpPr>
          <p:spPr>
            <a:xfrm>
              <a:off x="12001500" y="6096000"/>
              <a:ext cx="5715000" cy="47625"/>
            </a:xfrm>
            <a:prstGeom prst="rect">
              <a:avLst/>
            </a:prstGeom>
            <a:solidFill>
              <a:srgbClr val="F43F5E"/>
            </a:solidFill>
            <a:ln>
              <a:noFill/>
            </a:ln>
          </p:spPr>
        </p:sp>
        <p:sp>
          <p:nvSpPr>
            <p:cNvPr id="150" name="Rectangle 150"/>
            <p:cNvSpPr/>
            <p:nvPr/>
          </p:nvSpPr>
          <p:spPr>
            <a:xfrm>
              <a:off x="12268200" y="6343650"/>
              <a:ext cx="342900" cy="342900"/>
            </a:xfrm>
            <a:prstGeom prst="rect">
              <a:avLst/>
            </a:prstGeom>
            <a:solidFill>
              <a:srgbClr val="F43F5E">
                <a:alpha val="12000"/>
              </a:srgbClr>
            </a:solidFill>
            <a:ln>
              <a:noFill/>
            </a:ln>
          </p:spPr>
        </p:sp>
        <p:sp>
          <p:nvSpPr>
            <p:cNvPr id="151" name="TextBox 151"/>
            <p:cNvSpPr txBox="1"/>
            <p:nvPr/>
          </p:nvSpPr>
          <p:spPr>
            <a:xfrm>
              <a:off x="12323197" y="6442710"/>
              <a:ext cx="23290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43F5E"/>
                  </a:solidFill>
                  <a:latin typeface="Arial"/>
                  <a:ea typeface="Microsoft YaHei"/>
                  <a:cs typeface="Arial"/>
                </a:rPr>
                <a:t>06</a:t>
              </a:r>
            </a:p>
          </p:txBody>
        </p:sp>
        <p:sp>
          <p:nvSpPr>
            <p:cNvPr id="152" name="TextBox 152"/>
            <p:cNvSpPr txBox="1"/>
            <p:nvPr/>
          </p:nvSpPr>
          <p:spPr>
            <a:xfrm>
              <a:off x="12706350" y="6391275"/>
              <a:ext cx="118824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1F5F9"/>
                  </a:solidFill>
                  <a:latin typeface="Arial"/>
                  <a:ea typeface="Microsoft YaHei"/>
                  <a:cs typeface="Arial"/>
                </a:rPr>
                <a:t>运营反馈域</a:t>
              </a:r>
            </a:p>
          </p:txBody>
        </p:sp>
        <p:sp>
          <p:nvSpPr>
            <p:cNvPr id="153" name="Rectangle 153"/>
            <p:cNvSpPr/>
            <p:nvPr/>
          </p:nvSpPr>
          <p:spPr>
            <a:xfrm>
              <a:off x="14097000" y="6381750"/>
              <a:ext cx="762000" cy="228600"/>
            </a:xfrm>
            <a:prstGeom prst="rect">
              <a:avLst/>
            </a:prstGeom>
            <a:solidFill>
              <a:srgbClr val="F43F5E">
                <a:alpha val="12000"/>
              </a:srgbClr>
            </a:solidFill>
            <a:ln>
              <a:noFill/>
            </a:ln>
          </p:spPr>
        </p:sp>
        <p:sp>
          <p:nvSpPr>
            <p:cNvPr id="154" name="TextBox 154"/>
            <p:cNvSpPr txBox="1"/>
            <p:nvPr/>
          </p:nvSpPr>
          <p:spPr>
            <a:xfrm>
              <a:off x="14293563" y="6454616"/>
              <a:ext cx="36887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F43F5E"/>
                  </a:solidFill>
                  <a:latin typeface="Arial"/>
                  <a:ea typeface="Microsoft YaHei"/>
                  <a:cs typeface="Arial"/>
                </a:rPr>
                <a:t>LASEN</a:t>
              </a:r>
            </a:p>
          </p:txBody>
        </p:sp>
        <p:sp>
          <p:nvSpPr>
            <p:cNvPr id="155" name="Line 155"/>
            <p:cNvSpPr/>
            <p:nvPr/>
          </p:nvSpPr>
          <p:spPr>
            <a:xfrm>
              <a:off x="12268200" y="6838950"/>
              <a:ext cx="5181600" cy="9525"/>
            </a:xfrm>
            <a:custGeom>
              <a:avLst/>
              <a:gdLst/>
              <a:ahLst/>
              <a:cxnLst/>
              <a:rect l="l" t="t" r="r" b="b"/>
              <a:pathLst>
                <a:path w="5181600" h="9525">
                  <a:moveTo>
                    <a:pt x="0" y="0"/>
                  </a:moveTo>
                  <a:lnTo>
                    <a:pt x="5181600" y="0"/>
                  </a:lnTo>
                </a:path>
              </a:pathLst>
            </a:custGeom>
            <a:noFill/>
            <a:ln w="9525">
              <a:solidFill>
                <a:srgbClr val="1E293B"/>
              </a:solidFill>
            </a:ln>
          </p:spPr>
        </p:sp>
        <p:sp>
          <p:nvSpPr>
            <p:cNvPr id="156" name="TextBox 156"/>
            <p:cNvSpPr txBox="1"/>
            <p:nvPr/>
          </p:nvSpPr>
          <p:spPr>
            <a:xfrm>
              <a:off x="12254865" y="7011352"/>
              <a:ext cx="6707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数据流向</a:t>
              </a:r>
            </a:p>
          </p:txBody>
        </p:sp>
        <p:sp>
          <p:nvSpPr>
            <p:cNvPr id="157" name="Rectangle 157"/>
            <p:cNvSpPr/>
            <p:nvPr/>
          </p:nvSpPr>
          <p:spPr>
            <a:xfrm>
              <a:off x="12268200" y="7277100"/>
              <a:ext cx="1333500" cy="304800"/>
            </a:xfrm>
            <a:prstGeom prst="rect">
              <a:avLst/>
            </a:prstGeom>
            <a:solidFill>
              <a:srgbClr val="F43F5E">
                <a:alpha val="8000"/>
              </a:srgbClr>
            </a:solidFill>
            <a:ln w="9525">
              <a:solidFill>
                <a:srgbClr val="F43F5E">
                  <a:alpha val="20000"/>
                </a:srgbClr>
              </a:solidFill>
            </a:ln>
          </p:spPr>
        </p:sp>
        <p:sp>
          <p:nvSpPr>
            <p:cNvPr id="158" name="TextBox 158"/>
            <p:cNvSpPr txBox="1"/>
            <p:nvPr/>
          </p:nvSpPr>
          <p:spPr>
            <a:xfrm>
              <a:off x="12417942" y="7371874"/>
              <a:ext cx="103401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43F5E"/>
                  </a:solidFill>
                  <a:latin typeface="Arial"/>
                  <a:ea typeface="Microsoft YaHei"/>
                  <a:cs typeface="Arial"/>
                </a:rPr>
                <a:t>LASEN评分数据</a:t>
              </a:r>
            </a:p>
          </p:txBody>
        </p:sp>
        <p:sp>
          <p:nvSpPr>
            <p:cNvPr id="159" name="TextBox 159"/>
            <p:cNvSpPr txBox="1"/>
            <p:nvPr/>
          </p:nvSpPr>
          <p:spPr>
            <a:xfrm>
              <a:off x="13719810" y="7347585"/>
              <a:ext cx="12687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160" name="Rectangle 160"/>
            <p:cNvSpPr/>
            <p:nvPr/>
          </p:nvSpPr>
          <p:spPr>
            <a:xfrm>
              <a:off x="13944600" y="7277100"/>
              <a:ext cx="1143000" cy="304800"/>
            </a:xfrm>
            <a:prstGeom prst="rect">
              <a:avLst/>
            </a:prstGeom>
            <a:solidFill>
              <a:srgbClr val="F59E0B">
                <a:alpha val="8000"/>
              </a:srgbClr>
            </a:solidFill>
            <a:ln w="9525">
              <a:solidFill>
                <a:srgbClr val="F59E0B">
                  <a:alpha val="20000"/>
                </a:srgbClr>
              </a:solidFill>
            </a:ln>
          </p:spPr>
        </p:sp>
        <p:sp>
          <p:nvSpPr>
            <p:cNvPr id="161" name="TextBox 161"/>
            <p:cNvSpPr txBox="1"/>
            <p:nvPr/>
          </p:nvSpPr>
          <p:spPr>
            <a:xfrm>
              <a:off x="14204680" y="7371874"/>
              <a:ext cx="62284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预警监控</a:t>
              </a:r>
            </a:p>
          </p:txBody>
        </p:sp>
        <p:sp>
          <p:nvSpPr>
            <p:cNvPr id="162" name="TextBox 162"/>
            <p:cNvSpPr txBox="1"/>
            <p:nvPr/>
          </p:nvSpPr>
          <p:spPr>
            <a:xfrm>
              <a:off x="15205710" y="7347585"/>
              <a:ext cx="12687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163" name="Rectangle 163"/>
            <p:cNvSpPr/>
            <p:nvPr/>
          </p:nvSpPr>
          <p:spPr>
            <a:xfrm>
              <a:off x="15430500" y="7277100"/>
              <a:ext cx="1143000" cy="304800"/>
            </a:xfrm>
            <a:prstGeom prst="rect">
              <a:avLst/>
            </a:prstGeom>
            <a:solidFill>
              <a:srgbClr val="06B6D4">
                <a:alpha val="8000"/>
              </a:srgbClr>
            </a:solidFill>
            <a:ln w="9525">
              <a:solidFill>
                <a:srgbClr val="06B6D4">
                  <a:alpha val="20000"/>
                </a:srgbClr>
              </a:solidFill>
            </a:ln>
          </p:spPr>
        </p:sp>
        <p:sp>
          <p:nvSpPr>
            <p:cNvPr id="164" name="TextBox 164"/>
            <p:cNvSpPr txBox="1"/>
            <p:nvPr/>
          </p:nvSpPr>
          <p:spPr>
            <a:xfrm>
              <a:off x="15690580" y="7371874"/>
              <a:ext cx="62284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迭代优化</a:t>
              </a:r>
            </a:p>
          </p:txBody>
        </p:sp>
        <p:sp>
          <p:nvSpPr>
            <p:cNvPr id="165" name="TextBox 165"/>
            <p:cNvSpPr txBox="1"/>
            <p:nvPr/>
          </p:nvSpPr>
          <p:spPr>
            <a:xfrm>
              <a:off x="12254865" y="7868602"/>
              <a:ext cx="6707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核心价值</a:t>
              </a:r>
            </a:p>
          </p:txBody>
        </p:sp>
        <p:sp>
          <p:nvSpPr>
            <p:cNvPr id="166" name="Ellipse 166"/>
            <p:cNvSpPr/>
            <p:nvPr/>
          </p:nvSpPr>
          <p:spPr>
            <a:xfrm>
              <a:off x="12353925" y="8201025"/>
              <a:ext cx="57150" cy="57150"/>
            </a:xfrm>
            <a:prstGeom prst="ellipse">
              <a:avLst/>
            </a:prstGeom>
            <a:solidFill>
              <a:srgbClr val="F43F5E"/>
            </a:solidFill>
            <a:ln>
              <a:noFill/>
            </a:ln>
          </p:spPr>
        </p:sp>
        <p:sp>
          <p:nvSpPr>
            <p:cNvPr id="167" name="TextBox 167"/>
            <p:cNvSpPr txBox="1"/>
            <p:nvPr/>
          </p:nvSpPr>
          <p:spPr>
            <a:xfrm>
              <a:off x="12483465" y="8163878"/>
              <a:ext cx="202025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产品评分实时监控与异常预警</a:t>
              </a:r>
            </a:p>
          </p:txBody>
        </p:sp>
        <p:sp>
          <p:nvSpPr>
            <p:cNvPr id="168" name="Ellipse 168"/>
            <p:cNvSpPr/>
            <p:nvPr/>
          </p:nvSpPr>
          <p:spPr>
            <a:xfrm>
              <a:off x="12353925" y="8448675"/>
              <a:ext cx="57150" cy="57150"/>
            </a:xfrm>
            <a:prstGeom prst="ellipse">
              <a:avLst/>
            </a:prstGeom>
            <a:solidFill>
              <a:srgbClr val="F43F5E"/>
            </a:solidFill>
            <a:ln>
              <a:noFill/>
            </a:ln>
          </p:spPr>
        </p:sp>
        <p:sp>
          <p:nvSpPr>
            <p:cNvPr id="169" name="TextBox 169"/>
            <p:cNvSpPr txBox="1"/>
            <p:nvPr/>
          </p:nvSpPr>
          <p:spPr>
            <a:xfrm>
              <a:off x="12483465" y="8411528"/>
              <a:ext cx="171354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爆款识别与运营趋势分析</a:t>
              </a:r>
            </a:p>
          </p:txBody>
        </p:sp>
        <p:sp>
          <p:nvSpPr>
            <p:cNvPr id="170" name="Ellipse 170"/>
            <p:cNvSpPr/>
            <p:nvPr/>
          </p:nvSpPr>
          <p:spPr>
            <a:xfrm>
              <a:off x="12353925" y="8696325"/>
              <a:ext cx="57150" cy="57150"/>
            </a:xfrm>
            <a:prstGeom prst="ellipse">
              <a:avLst/>
            </a:prstGeom>
            <a:solidFill>
              <a:srgbClr val="F43F5E"/>
            </a:solidFill>
            <a:ln>
              <a:noFill/>
            </a:ln>
          </p:spPr>
        </p:sp>
        <p:sp>
          <p:nvSpPr>
            <p:cNvPr id="171" name="TextBox 171"/>
            <p:cNvSpPr txBox="1"/>
            <p:nvPr/>
          </p:nvSpPr>
          <p:spPr>
            <a:xfrm>
              <a:off x="12483465" y="8659178"/>
              <a:ext cx="186690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运营数据驱动产品迭代优化</a:t>
              </a:r>
            </a:p>
          </p:txBody>
        </p:sp>
        <p:sp>
          <p:nvSpPr>
            <p:cNvPr id="172" name="Rectangle 172"/>
            <p:cNvSpPr/>
            <p:nvPr/>
          </p:nvSpPr>
          <p:spPr>
            <a:xfrm>
              <a:off x="12268200" y="8972550"/>
              <a:ext cx="5181600" cy="228600"/>
            </a:xfrm>
            <a:prstGeom prst="rect">
              <a:avLst/>
            </a:prstGeom>
            <a:solidFill>
              <a:srgbClr val="F43F5E">
                <a:alpha val="6000"/>
              </a:srgbClr>
            </a:solidFill>
            <a:ln>
              <a:noFill/>
            </a:ln>
          </p:spPr>
        </p:sp>
        <p:sp>
          <p:nvSpPr>
            <p:cNvPr id="173" name="TextBox 173"/>
            <p:cNvSpPr txBox="1"/>
            <p:nvPr/>
          </p:nvSpPr>
          <p:spPr>
            <a:xfrm>
              <a:off x="13911703" y="9045416"/>
              <a:ext cx="189459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F43F5E"/>
                  </a:solidFill>
                  <a:latin typeface="Consolas"/>
                  <a:ea typeface="Microsoft YaHei"/>
                  <a:cs typeface="Consolas"/>
                </a:rPr>
                <a:t>集成度: LASEN→VOC 0% · 关键断点</a:t>
              </a:r>
            </a:p>
          </p:txBody>
        </p:sp>
      </p:grpSp>
      <p:sp>
        <p:nvSpPr>
          <p:cNvPr id="175" name="TextBox 175"/>
          <p:cNvSpPr txBox="1"/>
          <p:nvPr/>
        </p:nvSpPr>
        <p:spPr>
          <a:xfrm>
            <a:off x="8946761" y="10007441"/>
            <a:ext cx="39447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07 / 14</a:t>
            </a:r>
          </a:p>
        </p:txBody>
      </p:sp>
    </p:spTree>
  </p:cSld>
  <p:clrMapOvr>
    <a:masterClrMapping/>
  </p:clrMapOvr>
  <p:transition 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A0E1A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571500" y="381000"/>
            <a:ext cx="17145000" cy="419100"/>
          </a:xfrm>
          <a:prstGeom prst="rect">
            <a:avLst/>
          </a:prstGeom>
          <a:solidFill>
            <a:srgbClr val="161D2E"/>
          </a:solidFill>
          <a:ln w="9525">
            <a:solidFill>
              <a:srgbClr val="1E293B"/>
            </a:solidFill>
          </a:ln>
        </p:spPr>
      </p:sp>
      <p:sp>
        <p:nvSpPr>
          <p:cNvPr id="4" name="TextBox 4"/>
          <p:cNvSpPr txBox="1"/>
          <p:nvPr/>
        </p:nvSpPr>
        <p:spPr>
          <a:xfrm>
            <a:off x="748665" y="534352"/>
            <a:ext cx="105719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06B6D4"/>
                </a:solidFill>
                <a:latin typeface="Arial"/>
                <a:ea typeface="Microsoft YaHei"/>
                <a:cs typeface="Arial"/>
              </a:rPr>
              <a:t>LASEN.Digital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6491347" y="558641"/>
            <a:ext cx="104513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系统设计报告 v2.0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0070" y="1141095"/>
            <a:ext cx="72674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06B6D4"/>
                </a:solidFill>
                <a:latin typeface="Arial"/>
                <a:ea typeface="Microsoft YaHei"/>
                <a:cs typeface="Arial"/>
              </a:rPr>
              <a:t>DATA FLOW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41020" y="1341120"/>
            <a:ext cx="3741420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产品全生命周期数据流</a:t>
            </a:r>
          </a:p>
        </p:txBody>
      </p:sp>
      <p:sp>
        <p:nvSpPr>
          <p:cNvPr id="8" name="Rectangle 8"/>
          <p:cNvSpPr/>
          <p:nvPr/>
        </p:nvSpPr>
        <p:spPr>
          <a:xfrm>
            <a:off x="571500" y="1809750"/>
            <a:ext cx="17145000" cy="476250"/>
          </a:xfrm>
          <a:prstGeom prst="rect">
            <a:avLst/>
          </a:prstGeom>
          <a:solidFill>
            <a:srgbClr val="06B6D4">
              <a:alpha val="6000"/>
            </a:srgbClr>
          </a:solidFill>
          <a:ln w="9525">
            <a:solidFill>
              <a:srgbClr val="06B6D4">
                <a:alpha val="15000"/>
              </a:srgbClr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6236970" y="1975485"/>
            <a:ext cx="58140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从市场洞察到运营反馈，数据在六大阶段中流转，驱动产品全生命周期闭环</a:t>
            </a:r>
          </a:p>
        </p:txBody>
      </p:sp>
      <p:grpSp>
        <p:nvGrpSpPr>
          <p:cNvPr id="45" name="Group 45"/>
          <p:cNvGrpSpPr/>
          <p:nvPr/>
        </p:nvGrpSpPr>
        <p:grpSpPr>
          <a:xfrm>
            <a:off x="571500" y="2571750"/>
            <a:ext cx="17145000" cy="952500"/>
            <a:chOff x="571500" y="2571750"/>
            <a:chExt cx="17145000" cy="952500"/>
          </a:xfrm>
        </p:grpSpPr>
        <p:sp>
          <p:nvSpPr>
            <p:cNvPr id="10" name="Rectangle 10"/>
            <p:cNvSpPr/>
            <p:nvPr/>
          </p:nvSpPr>
          <p:spPr>
            <a:xfrm>
              <a:off x="571500" y="2571750"/>
              <a:ext cx="2667000" cy="952500"/>
            </a:xfrm>
            <a:prstGeom prst="rect">
              <a:avLst/>
            </a:prstGeom>
            <a:solidFill>
              <a:srgbClr val="F59E0B">
                <a:alpha val="8000"/>
              </a:srgbClr>
            </a:solidFill>
            <a:ln w="9525">
              <a:solidFill>
                <a:srgbClr val="F59E0B">
                  <a:alpha val="30000"/>
                </a:srgbClr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571500" y="2571750"/>
              <a:ext cx="2667000" cy="38100"/>
            </a:xfrm>
            <a:prstGeom prst="rect">
              <a:avLst/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51522" y="2768441"/>
              <a:ext cx="49087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F59E0B"/>
                  </a:solidFill>
                  <a:latin typeface="Consolas"/>
                  <a:ea typeface="Microsoft YaHei"/>
                  <a:cs typeface="Consolas"/>
                </a:rPr>
                <a:t>STAGE 01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44855" y="2959418"/>
              <a:ext cx="8623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1F5F9"/>
                  </a:solidFill>
                  <a:latin typeface="Arial"/>
                  <a:ea typeface="Microsoft YaHei"/>
                  <a:cs typeface="Arial"/>
                </a:rPr>
                <a:t>市场洞察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50570" y="3236595"/>
              <a:ext cx="152133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AMZN爬虫 → VOC竞品分析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406140" y="2901315"/>
              <a:ext cx="19031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3733800" y="2571750"/>
              <a:ext cx="2667000" cy="952500"/>
            </a:xfrm>
            <a:prstGeom prst="rect">
              <a:avLst/>
            </a:prstGeom>
            <a:solidFill>
              <a:srgbClr val="3B82F6">
                <a:alpha val="8000"/>
              </a:srgbClr>
            </a:solidFill>
            <a:ln w="9525">
              <a:solidFill>
                <a:srgbClr val="3B82F6">
                  <a:alpha val="30000"/>
                </a:srgbClr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3733800" y="2571750"/>
              <a:ext cx="2667000" cy="38100"/>
            </a:xfrm>
            <a:prstGeom prst="rect">
              <a:avLst/>
            </a:prstGeom>
            <a:solidFill>
              <a:srgbClr val="3B82F6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3913822" y="2768441"/>
              <a:ext cx="52099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3B82F6"/>
                  </a:solidFill>
                  <a:latin typeface="Consolas"/>
                  <a:ea typeface="Microsoft YaHei"/>
                  <a:cs typeface="Consolas"/>
                </a:rPr>
                <a:t>STAGE 02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907155" y="2959418"/>
              <a:ext cx="8623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1F5F9"/>
                  </a:solidFill>
                  <a:latin typeface="Arial"/>
                  <a:ea typeface="Microsoft YaHei"/>
                  <a:cs typeface="Arial"/>
                </a:rPr>
                <a:t>企划立项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912870" y="3236595"/>
              <a:ext cx="13373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VOC需求池 → 产品规划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568440" y="2901315"/>
              <a:ext cx="19031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6896100" y="2571750"/>
              <a:ext cx="2667000" cy="952500"/>
            </a:xfrm>
            <a:prstGeom prst="rect">
              <a:avLst/>
            </a:prstGeom>
            <a:solidFill>
              <a:srgbClr val="8B5CF6">
                <a:alpha val="8000"/>
              </a:srgbClr>
            </a:solidFill>
            <a:ln w="9525">
              <a:solidFill>
                <a:srgbClr val="8B5CF6">
                  <a:alpha val="30000"/>
                </a:srgbClr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6896100" y="2571750"/>
              <a:ext cx="2667000" cy="38100"/>
            </a:xfrm>
            <a:prstGeom prst="rect">
              <a:avLst/>
            </a:prstGeom>
            <a:solidFill>
              <a:srgbClr val="8B5CF6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076122" y="2768441"/>
              <a:ext cx="52099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8B5CF6"/>
                  </a:solidFill>
                  <a:latin typeface="Consolas"/>
                  <a:ea typeface="Microsoft YaHei"/>
                  <a:cs typeface="Consolas"/>
                </a:rPr>
                <a:t>STAGE 03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069455" y="2959418"/>
              <a:ext cx="8623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1F5F9"/>
                  </a:solidFill>
                  <a:latin typeface="Arial"/>
                  <a:ea typeface="Microsoft YaHei"/>
                  <a:cs typeface="Arial"/>
                </a:rPr>
                <a:t>设计研发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075170" y="3236595"/>
              <a:ext cx="161991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VOC灵感库 + COLOR色彩库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730740" y="2901315"/>
              <a:ext cx="19031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10058400" y="2571750"/>
              <a:ext cx="2667000" cy="952500"/>
            </a:xfrm>
            <a:prstGeom prst="rect">
              <a:avLst/>
            </a:prstGeom>
            <a:solidFill>
              <a:srgbClr val="10B981">
                <a:alpha val="8000"/>
              </a:srgbClr>
            </a:solidFill>
            <a:ln w="9525">
              <a:solidFill>
                <a:srgbClr val="10B981">
                  <a:alpha val="30000"/>
                </a:srgbClr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10058400" y="2571750"/>
              <a:ext cx="2667000" cy="38100"/>
            </a:xfrm>
            <a:prstGeom prst="rect">
              <a:avLst/>
            </a:prstGeom>
            <a:solidFill>
              <a:srgbClr val="10B981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0238422" y="2768441"/>
              <a:ext cx="52099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10B981"/>
                  </a:solidFill>
                  <a:latin typeface="Consolas"/>
                  <a:ea typeface="Microsoft YaHei"/>
                  <a:cs typeface="Consolas"/>
                </a:rPr>
                <a:t>STAGE 04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231755" y="2959418"/>
              <a:ext cx="8623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1F5F9"/>
                  </a:solidFill>
                  <a:latin typeface="Arial"/>
                  <a:ea typeface="Microsoft YaHei"/>
                  <a:cs typeface="Arial"/>
                </a:rPr>
                <a:t>成本定价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0237470" y="3236595"/>
              <a:ext cx="142274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VOC成本 → YFB利润测算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2893040" y="2901315"/>
              <a:ext cx="19031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13220700" y="2571750"/>
              <a:ext cx="2286000" cy="952500"/>
            </a:xfrm>
            <a:prstGeom prst="rect">
              <a:avLst/>
            </a:prstGeom>
            <a:solidFill>
              <a:srgbClr val="06B6D4">
                <a:alpha val="8000"/>
              </a:srgbClr>
            </a:solidFill>
            <a:ln w="9525">
              <a:solidFill>
                <a:srgbClr val="06B6D4">
                  <a:alpha val="30000"/>
                </a:srgbClr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13220700" y="2571750"/>
              <a:ext cx="2286000" cy="38100"/>
            </a:xfrm>
            <a:prstGeom prst="rect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3400722" y="2768441"/>
              <a:ext cx="52099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06B6D4"/>
                  </a:solidFill>
                  <a:latin typeface="Consolas"/>
                  <a:ea typeface="Microsoft YaHei"/>
                  <a:cs typeface="Consolas"/>
                </a:rPr>
                <a:t>STAGE 05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3394055" y="2959418"/>
              <a:ext cx="8623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1F5F9"/>
                  </a:solidFill>
                  <a:latin typeface="Arial"/>
                  <a:ea typeface="Microsoft YaHei"/>
                  <a:cs typeface="Arial"/>
                </a:rPr>
                <a:t>上架执行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3399770" y="3236595"/>
              <a:ext cx="79181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VOC进度跟踪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5674340" y="2901315"/>
              <a:ext cx="19031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16002000" y="2571750"/>
              <a:ext cx="1714500" cy="952500"/>
            </a:xfrm>
            <a:prstGeom prst="rect">
              <a:avLst/>
            </a:prstGeom>
            <a:solidFill>
              <a:srgbClr val="F43F5E">
                <a:alpha val="8000"/>
              </a:srgbClr>
            </a:solidFill>
            <a:ln w="9525">
              <a:solidFill>
                <a:srgbClr val="F43F5E">
                  <a:alpha val="30000"/>
                </a:srgbClr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16002000" y="2571750"/>
              <a:ext cx="1714500" cy="38100"/>
            </a:xfrm>
            <a:prstGeom prst="rect">
              <a:avLst/>
            </a:prstGeom>
            <a:solidFill>
              <a:srgbClr val="F43F5E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16182022" y="2768441"/>
              <a:ext cx="52099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F43F5E"/>
                  </a:solidFill>
                  <a:latin typeface="Consolas"/>
                  <a:ea typeface="Microsoft YaHei"/>
                  <a:cs typeface="Consolas"/>
                </a:rPr>
                <a:t>STAGE 06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6175355" y="2959418"/>
              <a:ext cx="8623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1F5F9"/>
                  </a:solidFill>
                  <a:latin typeface="Arial"/>
                  <a:ea typeface="Microsoft YaHei"/>
                  <a:cs typeface="Arial"/>
                </a:rPr>
                <a:t>运营反馈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6181070" y="3236595"/>
              <a:ext cx="64722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LASEN监控</a:t>
              </a:r>
            </a:p>
          </p:txBody>
        </p:sp>
      </p:grpSp>
      <p:sp>
        <p:nvSpPr>
          <p:cNvPr id="46" name="TextBox 46"/>
          <p:cNvSpPr txBox="1"/>
          <p:nvPr/>
        </p:nvSpPr>
        <p:spPr>
          <a:xfrm>
            <a:off x="7362313" y="3895249"/>
            <a:ext cx="356337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↻ 运营反馈数据回流至市场洞察阶段，驱动产品迭代优化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554355" y="4331018"/>
            <a:ext cx="169049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核心数据实体关系</a:t>
            </a:r>
          </a:p>
        </p:txBody>
      </p:sp>
      <p:grpSp>
        <p:nvGrpSpPr>
          <p:cNvPr id="73" name="Group 73"/>
          <p:cNvGrpSpPr/>
          <p:nvPr/>
        </p:nvGrpSpPr>
        <p:grpSpPr>
          <a:xfrm>
            <a:off x="571500" y="4762500"/>
            <a:ext cx="5334000" cy="4572000"/>
            <a:chOff x="571500" y="4762500"/>
            <a:chExt cx="5334000" cy="4572000"/>
          </a:xfrm>
        </p:grpSpPr>
        <p:sp>
          <p:nvSpPr>
            <p:cNvPr id="48" name="Rectangle 48"/>
            <p:cNvSpPr/>
            <p:nvPr/>
          </p:nvSpPr>
          <p:spPr>
            <a:xfrm>
              <a:off x="571500" y="4762500"/>
              <a:ext cx="5334000" cy="4572000"/>
            </a:xfrm>
            <a:prstGeom prst="rect">
              <a:avLst/>
            </a:prstGeom>
            <a:solidFill>
              <a:srgbClr val="161D2E"/>
            </a:solidFill>
            <a:ln w="9525">
              <a:solidFill>
                <a:srgbClr val="1E293B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2095500" y="5048250"/>
              <a:ext cx="1524000" cy="571500"/>
            </a:xfrm>
            <a:prstGeom prst="rect">
              <a:avLst/>
            </a:prstGeom>
            <a:solidFill>
              <a:srgbClr val="06B6D4">
                <a:alpha val="10000"/>
              </a:srgbClr>
            </a:solidFill>
            <a:ln w="14288">
              <a:solidFill>
                <a:srgbClr val="06B6D4">
                  <a:alpha val="40000"/>
                </a:srgbClr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2670691" y="5279231"/>
              <a:ext cx="37361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产品</a:t>
              </a:r>
            </a:p>
          </p:txBody>
        </p:sp>
        <p:sp>
          <p:nvSpPr>
            <p:cNvPr id="51" name="Line 51"/>
            <p:cNvSpPr/>
            <p:nvPr/>
          </p:nvSpPr>
          <p:spPr>
            <a:xfrm>
              <a:off x="1333500" y="5619750"/>
              <a:ext cx="1524000" cy="571500"/>
            </a:xfrm>
            <a:custGeom>
              <a:avLst/>
              <a:gdLst/>
              <a:ahLst/>
              <a:cxnLst/>
              <a:rect l="l" t="t" r="r" b="b"/>
              <a:pathLst>
                <a:path w="1524000" h="571500">
                  <a:moveTo>
                    <a:pt x="1524000" y="0"/>
                  </a:moveTo>
                  <a:lnTo>
                    <a:pt x="0" y="571500"/>
                  </a:lnTo>
                </a:path>
              </a:pathLst>
            </a:custGeom>
            <a:noFill/>
            <a:ln w="14288">
              <a:solidFill>
                <a:srgbClr val="1E293B"/>
              </a:solidFill>
            </a:ln>
          </p:spPr>
        </p:sp>
        <p:sp>
          <p:nvSpPr>
            <p:cNvPr id="52" name="Line 52"/>
            <p:cNvSpPr/>
            <p:nvPr/>
          </p:nvSpPr>
          <p:spPr>
            <a:xfrm>
              <a:off x="2857500" y="5619750"/>
              <a:ext cx="9525" cy="571500"/>
            </a:xfrm>
            <a:custGeom>
              <a:avLst/>
              <a:gdLst/>
              <a:ahLst/>
              <a:cxnLst/>
              <a:rect l="l" t="t" r="r" b="b"/>
              <a:pathLst>
                <a:path w="9525" h="571500">
                  <a:moveTo>
                    <a:pt x="0" y="0"/>
                  </a:moveTo>
                  <a:lnTo>
                    <a:pt x="0" y="571500"/>
                  </a:lnTo>
                </a:path>
              </a:pathLst>
            </a:custGeom>
            <a:noFill/>
            <a:ln w="14288">
              <a:solidFill>
                <a:srgbClr val="1E293B"/>
              </a:solidFill>
            </a:ln>
          </p:spPr>
        </p:sp>
        <p:sp>
          <p:nvSpPr>
            <p:cNvPr id="53" name="Line 53"/>
            <p:cNvSpPr/>
            <p:nvPr/>
          </p:nvSpPr>
          <p:spPr>
            <a:xfrm>
              <a:off x="2857500" y="5619750"/>
              <a:ext cx="1524000" cy="571500"/>
            </a:xfrm>
            <a:custGeom>
              <a:avLst/>
              <a:gdLst/>
              <a:ahLst/>
              <a:cxnLst/>
              <a:rect l="l" t="t" r="r" b="b"/>
              <a:pathLst>
                <a:path w="1524000" h="571500">
                  <a:moveTo>
                    <a:pt x="0" y="0"/>
                  </a:moveTo>
                  <a:lnTo>
                    <a:pt x="1524000" y="571500"/>
                  </a:lnTo>
                </a:path>
              </a:pathLst>
            </a:custGeom>
            <a:noFill/>
            <a:ln w="14288">
              <a:solidFill>
                <a:srgbClr val="1E293B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571500" y="6191250"/>
              <a:ext cx="1524000" cy="476250"/>
            </a:xfrm>
            <a:prstGeom prst="rect">
              <a:avLst/>
            </a:prstGeom>
            <a:solidFill>
              <a:srgbClr val="8B5CF6">
                <a:alpha val="8000"/>
              </a:srgbClr>
            </a:solidFill>
            <a:ln w="9525">
              <a:solidFill>
                <a:srgbClr val="8B5CF6">
                  <a:alpha val="30000"/>
                </a:srgbClr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1159145" y="6363652"/>
              <a:ext cx="3487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8B5CF6"/>
                  </a:solidFill>
                  <a:latin typeface="Arial"/>
                  <a:ea typeface="Microsoft YaHei"/>
                  <a:cs typeface="Arial"/>
                </a:rPr>
                <a:t>灵感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2095500" y="6191250"/>
              <a:ext cx="1524000" cy="476250"/>
            </a:xfrm>
            <a:prstGeom prst="rect">
              <a:avLst/>
            </a:prstGeom>
            <a:solidFill>
              <a:srgbClr val="10B981">
                <a:alpha val="8000"/>
              </a:srgbClr>
            </a:solidFill>
            <a:ln w="9525">
              <a:solidFill>
                <a:srgbClr val="10B981">
                  <a:alpha val="30000"/>
                </a:srgbClr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2683145" y="6363652"/>
              <a:ext cx="3487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0B981"/>
                  </a:solidFill>
                  <a:latin typeface="Arial"/>
                  <a:ea typeface="Microsoft YaHei"/>
                  <a:cs typeface="Arial"/>
                </a:rPr>
                <a:t>成本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3619500" y="6191250"/>
              <a:ext cx="1524000" cy="476250"/>
            </a:xfrm>
            <a:prstGeom prst="rect">
              <a:avLst/>
            </a:prstGeom>
            <a:solidFill>
              <a:srgbClr val="3B82F6">
                <a:alpha val="8000"/>
              </a:srgbClr>
            </a:solidFill>
            <a:ln w="9525">
              <a:solidFill>
                <a:srgbClr val="3B82F6">
                  <a:alpha val="30000"/>
                </a:srgbClr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4207145" y="6363652"/>
              <a:ext cx="3487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3B82F6"/>
                  </a:solidFill>
                  <a:latin typeface="Arial"/>
                  <a:ea typeface="Microsoft YaHei"/>
                  <a:cs typeface="Arial"/>
                </a:rPr>
                <a:t>进度</a:t>
              </a:r>
            </a:p>
          </p:txBody>
        </p:sp>
        <p:sp>
          <p:nvSpPr>
            <p:cNvPr id="60" name="Line 60"/>
            <p:cNvSpPr/>
            <p:nvPr/>
          </p:nvSpPr>
          <p:spPr>
            <a:xfrm>
              <a:off x="1333500" y="6667500"/>
              <a:ext cx="9525" cy="476250"/>
            </a:xfrm>
            <a:custGeom>
              <a:avLst/>
              <a:gdLst/>
              <a:ahLst/>
              <a:cxnLst/>
              <a:rect l="l" t="t" r="r" b="b"/>
              <a:pathLst>
                <a:path w="9525" h="476250">
                  <a:moveTo>
                    <a:pt x="0" y="0"/>
                  </a:moveTo>
                  <a:lnTo>
                    <a:pt x="0" y="476250"/>
                  </a:lnTo>
                </a:path>
              </a:pathLst>
            </a:custGeom>
            <a:noFill/>
            <a:ln w="9525">
              <a:solidFill>
                <a:srgbClr val="1E293B"/>
              </a:solidFill>
            </a:ln>
          </p:spPr>
        </p:sp>
        <p:sp>
          <p:nvSpPr>
            <p:cNvPr id="61" name="Line 61"/>
            <p:cNvSpPr/>
            <p:nvPr/>
          </p:nvSpPr>
          <p:spPr>
            <a:xfrm>
              <a:off x="2857500" y="6667500"/>
              <a:ext cx="9525" cy="476250"/>
            </a:xfrm>
            <a:custGeom>
              <a:avLst/>
              <a:gdLst/>
              <a:ahLst/>
              <a:cxnLst/>
              <a:rect l="l" t="t" r="r" b="b"/>
              <a:pathLst>
                <a:path w="9525" h="476250">
                  <a:moveTo>
                    <a:pt x="0" y="0"/>
                  </a:moveTo>
                  <a:lnTo>
                    <a:pt x="0" y="476250"/>
                  </a:lnTo>
                </a:path>
              </a:pathLst>
            </a:custGeom>
            <a:noFill/>
            <a:ln w="9525">
              <a:solidFill>
                <a:srgbClr val="1E293B"/>
              </a:solidFill>
            </a:ln>
          </p:spPr>
        </p:sp>
        <p:sp>
          <p:nvSpPr>
            <p:cNvPr id="62" name="Line 62"/>
            <p:cNvSpPr/>
            <p:nvPr/>
          </p:nvSpPr>
          <p:spPr>
            <a:xfrm>
              <a:off x="4381500" y="6667500"/>
              <a:ext cx="9525" cy="476250"/>
            </a:xfrm>
            <a:custGeom>
              <a:avLst/>
              <a:gdLst/>
              <a:ahLst/>
              <a:cxnLst/>
              <a:rect l="l" t="t" r="r" b="b"/>
              <a:pathLst>
                <a:path w="9525" h="476250">
                  <a:moveTo>
                    <a:pt x="0" y="0"/>
                  </a:moveTo>
                  <a:lnTo>
                    <a:pt x="0" y="476250"/>
                  </a:lnTo>
                </a:path>
              </a:pathLst>
            </a:custGeom>
            <a:noFill/>
            <a:ln w="9525">
              <a:solidFill>
                <a:srgbClr val="1E293B"/>
              </a:solidFill>
            </a:ln>
          </p:spPr>
        </p:sp>
        <p:sp>
          <p:nvSpPr>
            <p:cNvPr id="63" name="Rectangle 63"/>
            <p:cNvSpPr/>
            <p:nvPr/>
          </p:nvSpPr>
          <p:spPr>
            <a:xfrm>
              <a:off x="571500" y="7143750"/>
              <a:ext cx="1524000" cy="476250"/>
            </a:xfrm>
            <a:prstGeom prst="rect">
              <a:avLst/>
            </a:prstGeom>
            <a:solidFill>
              <a:srgbClr val="F59E0B">
                <a:alpha val="8000"/>
              </a:srgbClr>
            </a:solidFill>
            <a:ln w="9525">
              <a:solidFill>
                <a:srgbClr val="F59E0B">
                  <a:alpha val="30000"/>
                </a:srgbClr>
              </a:solidFill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1159145" y="7316152"/>
              <a:ext cx="3487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竞品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2095500" y="7143750"/>
              <a:ext cx="1524000" cy="476250"/>
            </a:xfrm>
            <a:prstGeom prst="rect">
              <a:avLst/>
            </a:prstGeom>
            <a:solidFill>
              <a:srgbClr val="F43F5E">
                <a:alpha val="8000"/>
              </a:srgbClr>
            </a:solidFill>
            <a:ln w="9525">
              <a:solidFill>
                <a:srgbClr val="F43F5E">
                  <a:alpha val="30000"/>
                </a:srgbClr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2683145" y="7316152"/>
              <a:ext cx="3487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43F5E"/>
                  </a:solidFill>
                  <a:latin typeface="Arial"/>
                  <a:ea typeface="Microsoft YaHei"/>
                  <a:cs typeface="Arial"/>
                </a:rPr>
                <a:t>表现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3619500" y="7143750"/>
              <a:ext cx="1524000" cy="476250"/>
            </a:xfrm>
            <a:prstGeom prst="rect">
              <a:avLst/>
            </a:prstGeom>
            <a:solidFill>
              <a:srgbClr val="8B5CF6">
                <a:alpha val="8000"/>
              </a:srgbClr>
            </a:solidFill>
            <a:ln w="9525">
              <a:solidFill>
                <a:srgbClr val="8B5CF6">
                  <a:alpha val="30000"/>
                </a:srgbClr>
              </a:solidFill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4207145" y="7316152"/>
              <a:ext cx="3487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8B5CF6"/>
                  </a:solidFill>
                  <a:latin typeface="Arial"/>
                  <a:ea typeface="Microsoft YaHei"/>
                  <a:cs typeface="Arial"/>
                </a:rPr>
                <a:t>面料</a:t>
              </a:r>
            </a:p>
          </p:txBody>
        </p:sp>
        <p:sp>
          <p:nvSpPr>
            <p:cNvPr id="69" name="Line 69"/>
            <p:cNvSpPr/>
            <p:nvPr/>
          </p:nvSpPr>
          <p:spPr>
            <a:xfrm>
              <a:off x="2857500" y="7620000"/>
              <a:ext cx="9525" cy="381000"/>
            </a:xfrm>
            <a:custGeom>
              <a:avLst/>
              <a:gdLst/>
              <a:ahLst/>
              <a:cxnLst/>
              <a:rect l="l" t="t" r="r" b="b"/>
              <a:pathLst>
                <a:path w="9525" h="381000">
                  <a:moveTo>
                    <a:pt x="0" y="0"/>
                  </a:moveTo>
                  <a:lnTo>
                    <a:pt x="0" y="381000"/>
                  </a:lnTo>
                </a:path>
              </a:pathLst>
            </a:custGeom>
            <a:noFill/>
            <a:ln w="9525">
              <a:solidFill>
                <a:srgbClr val="1E293B"/>
              </a:solidFill>
            </a:ln>
          </p:spPr>
        </p:sp>
        <p:sp>
          <p:nvSpPr>
            <p:cNvPr id="70" name="Rectangle 70"/>
            <p:cNvSpPr/>
            <p:nvPr/>
          </p:nvSpPr>
          <p:spPr>
            <a:xfrm>
              <a:off x="1905000" y="8001000"/>
              <a:ext cx="1905000" cy="476250"/>
            </a:xfrm>
            <a:prstGeom prst="rect">
              <a:avLst/>
            </a:prstGeom>
            <a:solidFill>
              <a:srgbClr val="161D2E"/>
            </a:solidFill>
            <a:ln w="9525">
              <a:solidFill>
                <a:srgbClr val="1E293B"/>
              </a:solidFill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2269471" y="8191024"/>
              <a:ext cx="117605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3B82F6"/>
                  </a:solidFill>
                  <a:latin typeface="Arial"/>
                  <a:ea typeface="Microsoft YaHei"/>
                  <a:cs typeface="Arial"/>
                </a:rPr>
                <a:t>Supabase 数据库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636776" y="8761095"/>
              <a:ext cx="244144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7大核心数据实体 · 统一PostgreSQL存储</a:t>
              </a:r>
            </a:p>
          </p:txBody>
        </p:sp>
      </p:grpSp>
      <p:grpSp>
        <p:nvGrpSpPr>
          <p:cNvPr id="111" name="Group 111"/>
          <p:cNvGrpSpPr/>
          <p:nvPr/>
        </p:nvGrpSpPr>
        <p:grpSpPr>
          <a:xfrm>
            <a:off x="6096000" y="4762500"/>
            <a:ext cx="11620500" cy="4572000"/>
            <a:chOff x="6096000" y="4762500"/>
            <a:chExt cx="11620500" cy="4572000"/>
          </a:xfrm>
        </p:grpSpPr>
        <p:sp>
          <p:nvSpPr>
            <p:cNvPr id="74" name="Rectangle 74"/>
            <p:cNvSpPr/>
            <p:nvPr/>
          </p:nvSpPr>
          <p:spPr>
            <a:xfrm>
              <a:off x="6096000" y="4762500"/>
              <a:ext cx="11620500" cy="4572000"/>
            </a:xfrm>
            <a:prstGeom prst="rect">
              <a:avLst/>
            </a:prstGeom>
            <a:solidFill>
              <a:srgbClr val="161D2E"/>
            </a:solidFill>
            <a:ln w="9525">
              <a:solidFill>
                <a:srgbClr val="1E293B"/>
              </a:solidFill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6461760" y="4975860"/>
              <a:ext cx="15026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1F5F9"/>
                  </a:solidFill>
                  <a:latin typeface="Arial"/>
                  <a:ea typeface="Microsoft YaHei"/>
                  <a:cs typeface="Arial"/>
                </a:rPr>
                <a:t>数据实体详细属性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6477000" y="5295900"/>
              <a:ext cx="1714500" cy="266700"/>
            </a:xfrm>
            <a:prstGeom prst="rect">
              <a:avLst/>
            </a:prstGeom>
            <a:solidFill>
              <a:srgbClr val="06B6D4">
                <a:alpha val="10000"/>
              </a:srgbClr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6898417" y="5379720"/>
              <a:ext cx="87166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产品 Product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8370570" y="5379720"/>
              <a:ext cx="251374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SKU/名称/类目/状态/成本/定价/上架时间</a:t>
              </a:r>
            </a:p>
          </p:txBody>
        </p:sp>
        <p:sp>
          <p:nvSpPr>
            <p:cNvPr id="79" name="Rectangle 79"/>
            <p:cNvSpPr/>
            <p:nvPr/>
          </p:nvSpPr>
          <p:spPr>
            <a:xfrm>
              <a:off x="6477000" y="5657850"/>
              <a:ext cx="1714500" cy="266700"/>
            </a:xfrm>
            <a:prstGeom prst="rect">
              <a:avLst/>
            </a:prstGeom>
            <a:solidFill>
              <a:srgbClr val="8B5CF6">
                <a:alpha val="10000"/>
              </a:srgbClr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6798354" y="5741670"/>
              <a:ext cx="107179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8B5CF6"/>
                  </a:solidFill>
                  <a:latin typeface="Arial"/>
                  <a:ea typeface="Microsoft YaHei"/>
                  <a:cs typeface="Arial"/>
                </a:rPr>
                <a:t>灵感 Inspiration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8370570" y="5741670"/>
              <a:ext cx="248745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来源/类型/图片/标签/关联产品/色彩方案</a:t>
              </a:r>
            </a:p>
          </p:txBody>
        </p:sp>
        <p:sp>
          <p:nvSpPr>
            <p:cNvPr id="82" name="Rectangle 82"/>
            <p:cNvSpPr/>
            <p:nvPr/>
          </p:nvSpPr>
          <p:spPr>
            <a:xfrm>
              <a:off x="6477000" y="6019800"/>
              <a:ext cx="1714500" cy="266700"/>
            </a:xfrm>
            <a:prstGeom prst="rect">
              <a:avLst/>
            </a:prstGeom>
            <a:solidFill>
              <a:srgbClr val="10B981">
                <a:alpha val="10000"/>
              </a:srgbClr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7012281" y="6103620"/>
              <a:ext cx="64393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0B981"/>
                  </a:solidFill>
                  <a:latin typeface="Arial"/>
                  <a:ea typeface="Microsoft YaHei"/>
                  <a:cs typeface="Arial"/>
                </a:rPr>
                <a:t>成本 Cost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8370570" y="6103620"/>
              <a:ext cx="296722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采购价/头程运费/FBA费用/广告费/退货率/净利润</a:t>
              </a:r>
            </a:p>
          </p:txBody>
        </p:sp>
        <p:sp>
          <p:nvSpPr>
            <p:cNvPr id="85" name="Rectangle 85"/>
            <p:cNvSpPr/>
            <p:nvPr/>
          </p:nvSpPr>
          <p:spPr>
            <a:xfrm>
              <a:off x="6477000" y="6381750"/>
              <a:ext cx="1714500" cy="266700"/>
            </a:xfrm>
            <a:prstGeom prst="rect">
              <a:avLst/>
            </a:prstGeom>
            <a:solidFill>
              <a:srgbClr val="3B82F6">
                <a:alpha val="10000"/>
              </a:srgbClr>
            </a:solidFill>
            <a:ln>
              <a:noFill/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6860462" y="6465570"/>
              <a:ext cx="94757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3B82F6"/>
                  </a:solidFill>
                  <a:latin typeface="Arial"/>
                  <a:ea typeface="Microsoft YaHei"/>
                  <a:cs typeface="Arial"/>
                </a:rPr>
                <a:t>进度 Progress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8370570" y="6465570"/>
              <a:ext cx="241515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阶段/里程碑/负责人/预计完成/实际完成</a:t>
              </a:r>
            </a:p>
          </p:txBody>
        </p:sp>
        <p:sp>
          <p:nvSpPr>
            <p:cNvPr id="88" name="Rectangle 88"/>
            <p:cNvSpPr/>
            <p:nvPr/>
          </p:nvSpPr>
          <p:spPr>
            <a:xfrm>
              <a:off x="6477000" y="6743700"/>
              <a:ext cx="1714500" cy="266700"/>
            </a:xfrm>
            <a:prstGeom prst="rect">
              <a:avLst/>
            </a:prstGeom>
            <a:solidFill>
              <a:srgbClr val="F59E0B">
                <a:alpha val="10000"/>
              </a:srgbClr>
            </a:solidFill>
            <a:ln>
              <a:noFill/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6788003" y="6827520"/>
              <a:ext cx="109249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竞品 Competitor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8370570" y="6827520"/>
              <a:ext cx="208654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ASIN/排名/评分/评论数/价格/趋势</a:t>
              </a:r>
            </a:p>
          </p:txBody>
        </p:sp>
        <p:sp>
          <p:nvSpPr>
            <p:cNvPr id="91" name="Rectangle 91"/>
            <p:cNvSpPr/>
            <p:nvPr/>
          </p:nvSpPr>
          <p:spPr>
            <a:xfrm>
              <a:off x="6477000" y="7105650"/>
              <a:ext cx="1714500" cy="266700"/>
            </a:xfrm>
            <a:prstGeom prst="rect">
              <a:avLst/>
            </a:prstGeom>
            <a:solidFill>
              <a:srgbClr val="F43F5E">
                <a:alpha val="10000"/>
              </a:srgbClr>
            </a:solidFill>
            <a:ln>
              <a:noFill/>
            </a:ln>
          </p:spPr>
        </p:sp>
        <p:sp>
          <p:nvSpPr>
            <p:cNvPr id="92" name="TextBox 92"/>
            <p:cNvSpPr txBox="1"/>
            <p:nvPr/>
          </p:nvSpPr>
          <p:spPr>
            <a:xfrm>
              <a:off x="6732796" y="7189470"/>
              <a:ext cx="120290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43F5E"/>
                  </a:solidFill>
                  <a:latin typeface="Arial"/>
                  <a:ea typeface="Microsoft YaHei"/>
                  <a:cs typeface="Arial"/>
                </a:rPr>
                <a:t>表现 Performance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8370570" y="7189470"/>
              <a:ext cx="228371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评分/销量/退货率/评论趋势/预警状态</a:t>
              </a:r>
            </a:p>
          </p:txBody>
        </p:sp>
        <p:sp>
          <p:nvSpPr>
            <p:cNvPr id="94" name="Rectangle 94"/>
            <p:cNvSpPr/>
            <p:nvPr/>
          </p:nvSpPr>
          <p:spPr>
            <a:xfrm>
              <a:off x="6477000" y="7467600"/>
              <a:ext cx="1714500" cy="266700"/>
            </a:xfrm>
            <a:prstGeom prst="rect">
              <a:avLst/>
            </a:prstGeom>
            <a:solidFill>
              <a:srgbClr val="8B5CF6">
                <a:alpha val="10000"/>
              </a:srgbClr>
            </a:solidFill>
            <a:ln>
              <a:noFill/>
            </a:ln>
          </p:spPr>
        </p:sp>
        <p:sp>
          <p:nvSpPr>
            <p:cNvPr id="95" name="TextBox 95"/>
            <p:cNvSpPr txBox="1"/>
            <p:nvPr/>
          </p:nvSpPr>
          <p:spPr>
            <a:xfrm>
              <a:off x="6953624" y="7551420"/>
              <a:ext cx="76125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8B5CF6"/>
                  </a:solidFill>
                  <a:latin typeface="Arial"/>
                  <a:ea typeface="Microsoft YaHei"/>
                  <a:cs typeface="Arial"/>
                </a:rPr>
                <a:t>面料 Fabric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8370570" y="7551420"/>
              <a:ext cx="209311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名称/成分/克重/供应商/价格/色卡</a:t>
              </a:r>
            </a:p>
          </p:txBody>
        </p:sp>
        <p:sp>
          <p:nvSpPr>
            <p:cNvPr id="97" name="Line 97"/>
            <p:cNvSpPr/>
            <p:nvPr/>
          </p:nvSpPr>
          <p:spPr>
            <a:xfrm>
              <a:off x="6477000" y="7905750"/>
              <a:ext cx="10858500" cy="9525"/>
            </a:xfrm>
            <a:custGeom>
              <a:avLst/>
              <a:gdLst/>
              <a:ahLst/>
              <a:cxnLst/>
              <a:rect l="l" t="t" r="r" b="b"/>
              <a:pathLst>
                <a:path w="10858500" h="9525">
                  <a:moveTo>
                    <a:pt x="0" y="0"/>
                  </a:moveTo>
                  <a:lnTo>
                    <a:pt x="10858500" y="0"/>
                  </a:lnTo>
                </a:path>
              </a:pathLst>
            </a:custGeom>
            <a:noFill/>
            <a:ln w="9525">
              <a:solidFill>
                <a:srgbClr val="1E293B"/>
              </a:solidFill>
            </a:ln>
          </p:spPr>
        </p:sp>
        <p:sp>
          <p:nvSpPr>
            <p:cNvPr id="98" name="TextBox 98"/>
            <p:cNvSpPr txBox="1"/>
            <p:nvPr/>
          </p:nvSpPr>
          <p:spPr>
            <a:xfrm>
              <a:off x="6463665" y="8078152"/>
              <a:ext cx="147585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1F5F9"/>
                  </a:solidFill>
                  <a:latin typeface="Arial"/>
                  <a:ea typeface="Microsoft YaHei"/>
                  <a:cs typeface="Arial"/>
                </a:rPr>
                <a:t>跨系统数据流转路径</a:t>
              </a:r>
            </a:p>
          </p:txBody>
        </p:sp>
        <p:sp>
          <p:nvSpPr>
            <p:cNvPr id="99" name="Rectangle 99"/>
            <p:cNvSpPr/>
            <p:nvPr/>
          </p:nvSpPr>
          <p:spPr>
            <a:xfrm>
              <a:off x="6477000" y="8382000"/>
              <a:ext cx="1524000" cy="342900"/>
            </a:xfrm>
            <a:prstGeom prst="rect">
              <a:avLst/>
            </a:prstGeom>
            <a:solidFill>
              <a:srgbClr val="F59E0B">
                <a:alpha val="8000"/>
              </a:srgbClr>
            </a:solidFill>
            <a:ln w="9525">
              <a:solidFill>
                <a:srgbClr val="F59E0B">
                  <a:alpha val="20000"/>
                </a:srgbClr>
              </a:solidFill>
            </a:ln>
          </p:spPr>
        </p:sp>
        <p:sp>
          <p:nvSpPr>
            <p:cNvPr id="100" name="TextBox 100"/>
            <p:cNvSpPr txBox="1"/>
            <p:nvPr/>
          </p:nvSpPr>
          <p:spPr>
            <a:xfrm>
              <a:off x="7047195" y="8495824"/>
              <a:ext cx="38361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AMZN</a:t>
              </a:r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8159115" y="8487728"/>
              <a:ext cx="90077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→ 竞品数据 →</a:t>
              </a:r>
            </a:p>
          </p:txBody>
        </p:sp>
        <p:sp>
          <p:nvSpPr>
            <p:cNvPr id="102" name="Rectangle 102"/>
            <p:cNvSpPr/>
            <p:nvPr/>
          </p:nvSpPr>
          <p:spPr>
            <a:xfrm>
              <a:off x="9334500" y="8382000"/>
              <a:ext cx="1524000" cy="342900"/>
            </a:xfrm>
            <a:prstGeom prst="rect">
              <a:avLst/>
            </a:prstGeom>
            <a:solidFill>
              <a:srgbClr val="06B6D4">
                <a:alpha val="8000"/>
              </a:srgbClr>
            </a:solidFill>
            <a:ln w="9525">
              <a:solidFill>
                <a:srgbClr val="06B6D4">
                  <a:alpha val="20000"/>
                </a:srgbClr>
              </a:solidFill>
            </a:ln>
          </p:spPr>
        </p:sp>
        <p:sp>
          <p:nvSpPr>
            <p:cNvPr id="103" name="TextBox 103"/>
            <p:cNvSpPr txBox="1"/>
            <p:nvPr/>
          </p:nvSpPr>
          <p:spPr>
            <a:xfrm>
              <a:off x="9945813" y="8495824"/>
              <a:ext cx="30137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VOC</a:t>
              </a:r>
            </a:p>
          </p:txBody>
        </p:sp>
        <p:sp>
          <p:nvSpPr>
            <p:cNvPr id="104" name="TextBox 104"/>
            <p:cNvSpPr txBox="1"/>
            <p:nvPr/>
          </p:nvSpPr>
          <p:spPr>
            <a:xfrm>
              <a:off x="11016615" y="8487728"/>
              <a:ext cx="98512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→ 成本/进度 →</a:t>
              </a:r>
            </a:p>
          </p:txBody>
        </p:sp>
        <p:sp>
          <p:nvSpPr>
            <p:cNvPr id="105" name="Rectangle 105"/>
            <p:cNvSpPr/>
            <p:nvPr/>
          </p:nvSpPr>
          <p:spPr>
            <a:xfrm>
              <a:off x="12192000" y="8382000"/>
              <a:ext cx="1524000" cy="342900"/>
            </a:xfrm>
            <a:prstGeom prst="rect">
              <a:avLst/>
            </a:prstGeom>
            <a:solidFill>
              <a:srgbClr val="10B981">
                <a:alpha val="8000"/>
              </a:srgbClr>
            </a:solidFill>
            <a:ln w="9525">
              <a:solidFill>
                <a:srgbClr val="10B981">
                  <a:alpha val="20000"/>
                </a:srgbClr>
              </a:solidFill>
            </a:ln>
          </p:spPr>
        </p:sp>
        <p:sp>
          <p:nvSpPr>
            <p:cNvPr id="106" name="TextBox 106"/>
            <p:cNvSpPr txBox="1"/>
            <p:nvPr/>
          </p:nvSpPr>
          <p:spPr>
            <a:xfrm>
              <a:off x="12818265" y="8495824"/>
              <a:ext cx="27147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10B981"/>
                  </a:solidFill>
                  <a:latin typeface="Arial"/>
                  <a:ea typeface="Microsoft YaHei"/>
                  <a:cs typeface="Arial"/>
                </a:rPr>
                <a:t>YFB</a:t>
              </a:r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13874115" y="8487728"/>
              <a:ext cx="90077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→ 运营数据 →</a:t>
              </a:r>
            </a:p>
          </p:txBody>
        </p:sp>
        <p:sp>
          <p:nvSpPr>
            <p:cNvPr id="108" name="Rectangle 108"/>
            <p:cNvSpPr/>
            <p:nvPr/>
          </p:nvSpPr>
          <p:spPr>
            <a:xfrm>
              <a:off x="15049500" y="8382000"/>
              <a:ext cx="1524000" cy="342900"/>
            </a:xfrm>
            <a:prstGeom prst="rect">
              <a:avLst/>
            </a:prstGeom>
            <a:solidFill>
              <a:srgbClr val="F43F5E">
                <a:alpha val="8000"/>
              </a:srgbClr>
            </a:solidFill>
            <a:ln w="9525">
              <a:solidFill>
                <a:srgbClr val="F43F5E">
                  <a:alpha val="20000"/>
                </a:srgbClr>
              </a:solidFill>
            </a:ln>
          </p:spPr>
        </p:sp>
        <p:sp>
          <p:nvSpPr>
            <p:cNvPr id="109" name="TextBox 109"/>
            <p:cNvSpPr txBox="1"/>
            <p:nvPr/>
          </p:nvSpPr>
          <p:spPr>
            <a:xfrm>
              <a:off x="15593529" y="8495824"/>
              <a:ext cx="43594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43F5E"/>
                  </a:solidFill>
                  <a:latin typeface="Arial"/>
                  <a:ea typeface="Microsoft YaHei"/>
                  <a:cs typeface="Arial"/>
                </a:rPr>
                <a:t>LASEN</a:t>
              </a:r>
            </a:p>
          </p:txBody>
        </p:sp>
        <p:sp>
          <p:nvSpPr>
            <p:cNvPr id="110" name="TextBox 110"/>
            <p:cNvSpPr txBox="1"/>
            <p:nvPr/>
          </p:nvSpPr>
          <p:spPr>
            <a:xfrm>
              <a:off x="7328487" y="8951595"/>
              <a:ext cx="363102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COLOR → 色彩数据 → VOC色彩调研 · 面料数据 → VOC面料管理</a:t>
              </a:r>
            </a:p>
          </p:txBody>
        </p:sp>
      </p:grpSp>
      <p:sp>
        <p:nvSpPr>
          <p:cNvPr id="112" name="TextBox 112"/>
          <p:cNvSpPr txBox="1"/>
          <p:nvPr/>
        </p:nvSpPr>
        <p:spPr>
          <a:xfrm>
            <a:off x="8946761" y="10007441"/>
            <a:ext cx="39447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08 / 14</a:t>
            </a:r>
          </a:p>
        </p:txBody>
      </p:sp>
    </p:spTree>
  </p:cSld>
  <p:clrMapOvr>
    <a:masterClrMapping/>
  </p:clrMapOvr>
  <p:transition 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A0E1A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571500" y="381000"/>
            <a:ext cx="17145000" cy="419100"/>
          </a:xfrm>
          <a:prstGeom prst="rect">
            <a:avLst/>
          </a:prstGeom>
          <a:solidFill>
            <a:srgbClr val="161D2E"/>
          </a:solidFill>
          <a:ln w="9525">
            <a:solidFill>
              <a:srgbClr val="1E293B"/>
            </a:solidFill>
          </a:ln>
        </p:spPr>
      </p:sp>
      <p:sp>
        <p:nvSpPr>
          <p:cNvPr id="4" name="TextBox 4"/>
          <p:cNvSpPr txBox="1"/>
          <p:nvPr/>
        </p:nvSpPr>
        <p:spPr>
          <a:xfrm>
            <a:off x="748665" y="534352"/>
            <a:ext cx="105719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06B6D4"/>
                </a:solidFill>
                <a:latin typeface="Arial"/>
                <a:ea typeface="Microsoft YaHei"/>
                <a:cs typeface="Arial"/>
              </a:rPr>
              <a:t>LASEN.Digital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6491347" y="558641"/>
            <a:ext cx="104513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系统设计报告 v2.0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0070" y="1141095"/>
            <a:ext cx="86476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06B6D4"/>
                </a:solidFill>
                <a:latin typeface="Arial"/>
                <a:ea typeface="Microsoft YaHei"/>
                <a:cs typeface="Arial"/>
              </a:rPr>
              <a:t>GAP ANALYSIS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41020" y="1341120"/>
            <a:ext cx="3005328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集成度与缺口分析</a:t>
            </a:r>
          </a:p>
        </p:txBody>
      </p:sp>
      <p:sp>
        <p:nvSpPr>
          <p:cNvPr id="8" name="Rectangle 8"/>
          <p:cNvSpPr/>
          <p:nvPr/>
        </p:nvSpPr>
        <p:spPr>
          <a:xfrm>
            <a:off x="571500" y="1809750"/>
            <a:ext cx="17145000" cy="476250"/>
          </a:xfrm>
          <a:prstGeom prst="rect">
            <a:avLst/>
          </a:prstGeom>
          <a:solidFill>
            <a:srgbClr val="F43F5E">
              <a:alpha val="6000"/>
            </a:srgbClr>
          </a:solidFill>
          <a:ln w="9525">
            <a:solidFill>
              <a:srgbClr val="F43F5E">
                <a:alpha val="15000"/>
              </a:srgbClr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6215062" y="1975485"/>
            <a:ext cx="585787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五大子系统间存在三大关键数据断点，LASEN→VOC集成度为0%是最严重缺口</a:t>
            </a:r>
          </a:p>
        </p:txBody>
      </p:sp>
      <p:grpSp>
        <p:nvGrpSpPr>
          <p:cNvPr id="87" name="Group 87"/>
          <p:cNvGrpSpPr/>
          <p:nvPr/>
        </p:nvGrpSpPr>
        <p:grpSpPr>
          <a:xfrm>
            <a:off x="571500" y="2571750"/>
            <a:ext cx="10096500" cy="5143500"/>
            <a:chOff x="571500" y="2571750"/>
            <a:chExt cx="10096500" cy="5143500"/>
          </a:xfrm>
        </p:grpSpPr>
        <p:sp>
          <p:nvSpPr>
            <p:cNvPr id="10" name="Rectangle 10"/>
            <p:cNvSpPr/>
            <p:nvPr/>
          </p:nvSpPr>
          <p:spPr>
            <a:xfrm>
              <a:off x="571500" y="2571750"/>
              <a:ext cx="10096500" cy="5143500"/>
            </a:xfrm>
            <a:prstGeom prst="rect">
              <a:avLst/>
            </a:prstGeom>
            <a:solidFill>
              <a:srgbClr val="161D2E"/>
            </a:solidFill>
            <a:ln w="9525">
              <a:solidFill>
                <a:srgbClr val="1E293B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35355" y="2768918"/>
              <a:ext cx="148347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1F5F9"/>
                  </a:solidFill>
                  <a:latin typeface="Arial"/>
                  <a:ea typeface="Microsoft YaHei"/>
                  <a:cs typeface="Arial"/>
                </a:rPr>
                <a:t>系统集成度矩阵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952500" y="3143250"/>
              <a:ext cx="1524000" cy="381000"/>
            </a:xfrm>
            <a:prstGeom prst="rect">
              <a:avLst/>
            </a:prstGeom>
            <a:solidFill>
              <a:srgbClr val="06B6D4">
                <a:alpha val="10000"/>
              </a:srgbClr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459635" y="3277552"/>
              <a:ext cx="50973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数据源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2476500" y="3143250"/>
              <a:ext cx="1524000" cy="381000"/>
            </a:xfrm>
            <a:prstGeom prst="rect">
              <a:avLst/>
            </a:prstGeom>
            <a:solidFill>
              <a:srgbClr val="06B6D4">
                <a:alpha val="10000"/>
              </a:srgbClr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076221" y="3277552"/>
              <a:ext cx="32455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VOC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4000500" y="3143250"/>
              <a:ext cx="1524000" cy="381000"/>
            </a:xfrm>
            <a:prstGeom prst="rect">
              <a:avLst/>
            </a:prstGeom>
            <a:solidFill>
              <a:srgbClr val="F59E0B">
                <a:alpha val="10000"/>
              </a:srgbClr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555941" y="3277552"/>
              <a:ext cx="41311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AMZN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524500" y="3143250"/>
              <a:ext cx="1524000" cy="381000"/>
            </a:xfrm>
            <a:prstGeom prst="rect">
              <a:avLst/>
            </a:prstGeom>
            <a:solidFill>
              <a:srgbClr val="8B5CF6">
                <a:alpha val="10000"/>
              </a:srgbClr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019558" y="3277552"/>
              <a:ext cx="53388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8B5CF6"/>
                  </a:solidFill>
                  <a:latin typeface="Arial"/>
                  <a:ea typeface="Microsoft YaHei"/>
                  <a:cs typeface="Arial"/>
                </a:rPr>
                <a:t>COLOR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7048500" y="3143250"/>
              <a:ext cx="1524000" cy="381000"/>
            </a:xfrm>
            <a:prstGeom prst="rect">
              <a:avLst/>
            </a:prstGeom>
            <a:solidFill>
              <a:srgbClr val="10B981">
                <a:alpha val="10000"/>
              </a:srgbClr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64323" y="3277552"/>
              <a:ext cx="29235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0B981"/>
                  </a:solidFill>
                  <a:latin typeface="Arial"/>
                  <a:ea typeface="Microsoft YaHei"/>
                  <a:cs typeface="Arial"/>
                </a:rPr>
                <a:t>YFB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8572500" y="3143250"/>
              <a:ext cx="1524000" cy="381000"/>
            </a:xfrm>
            <a:prstGeom prst="rect">
              <a:avLst/>
            </a:prstGeom>
            <a:solidFill>
              <a:srgbClr val="F43F5E">
                <a:alpha val="10000"/>
              </a:srgbClr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099762" y="3277552"/>
              <a:ext cx="4694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43F5E"/>
                  </a:solidFill>
                  <a:latin typeface="Arial"/>
                  <a:ea typeface="Microsoft YaHei"/>
                  <a:cs typeface="Arial"/>
                </a:rPr>
                <a:t>LASEN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952500" y="3524250"/>
              <a:ext cx="1524000" cy="476250"/>
            </a:xfrm>
            <a:prstGeom prst="rect">
              <a:avLst/>
            </a:prstGeom>
            <a:solidFill>
              <a:srgbClr val="161D2E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552221" y="3696652"/>
              <a:ext cx="32455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VOC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2476500" y="3524250"/>
              <a:ext cx="1524000" cy="476250"/>
            </a:xfrm>
            <a:prstGeom prst="rect">
              <a:avLst/>
            </a:prstGeom>
            <a:solidFill>
              <a:srgbClr val="06B6D4">
                <a:alpha val="5000"/>
              </a:srgbClr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3182993" y="3696652"/>
              <a:ext cx="11101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—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4000500" y="3524250"/>
              <a:ext cx="1524000" cy="476250"/>
            </a:xfrm>
            <a:prstGeom prst="rect">
              <a:avLst/>
            </a:prstGeom>
            <a:solidFill>
              <a:srgbClr val="10B981">
                <a:alpha val="8000"/>
              </a:srgbClr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4616323" y="3696652"/>
              <a:ext cx="29235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0B981"/>
                  </a:solidFill>
                  <a:latin typeface="Arial"/>
                  <a:ea typeface="Microsoft YaHei"/>
                  <a:cs typeface="Arial"/>
                </a:rPr>
                <a:t>85%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524500" y="3524250"/>
              <a:ext cx="1524000" cy="476250"/>
            </a:xfrm>
            <a:prstGeom prst="rect">
              <a:avLst/>
            </a:prstGeom>
            <a:solidFill>
              <a:srgbClr val="10B981">
                <a:alpha val="8000"/>
              </a:srgbClr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140323" y="3696652"/>
              <a:ext cx="29235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0B981"/>
                  </a:solidFill>
                  <a:latin typeface="Arial"/>
                  <a:ea typeface="Microsoft YaHei"/>
                  <a:cs typeface="Arial"/>
                </a:rPr>
                <a:t>80%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7048500" y="3524250"/>
              <a:ext cx="1524000" cy="476250"/>
            </a:xfrm>
            <a:prstGeom prst="rect">
              <a:avLst/>
            </a:prstGeom>
            <a:solidFill>
              <a:srgbClr val="10B981">
                <a:alpha val="8000"/>
              </a:srgbClr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64323" y="3696652"/>
              <a:ext cx="29235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0B981"/>
                  </a:solidFill>
                  <a:latin typeface="Arial"/>
                  <a:ea typeface="Microsoft YaHei"/>
                  <a:cs typeface="Arial"/>
                </a:rPr>
                <a:t>90%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8572500" y="3524250"/>
              <a:ext cx="1524000" cy="476250"/>
            </a:xfrm>
            <a:prstGeom prst="rect">
              <a:avLst/>
            </a:prstGeom>
            <a:solidFill>
              <a:srgbClr val="F43F5E">
                <a:alpha val="8000"/>
              </a:srgbClr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9232604" y="3696652"/>
              <a:ext cx="203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43F5E"/>
                  </a:solidFill>
                  <a:latin typeface="Arial"/>
                  <a:ea typeface="Microsoft YaHei"/>
                  <a:cs typeface="Arial"/>
                </a:rPr>
                <a:t>0%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952500" y="4000500"/>
              <a:ext cx="1524000" cy="476250"/>
            </a:xfrm>
            <a:prstGeom prst="rect">
              <a:avLst/>
            </a:prstGeom>
            <a:solidFill>
              <a:srgbClr val="161D2E">
                <a:alpha val="50000"/>
              </a:srgbClr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507941" y="4172902"/>
              <a:ext cx="41311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AMZN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2476500" y="4000500"/>
              <a:ext cx="1524000" cy="476250"/>
            </a:xfrm>
            <a:prstGeom prst="rect">
              <a:avLst/>
            </a:prstGeom>
            <a:solidFill>
              <a:srgbClr val="F43F5E">
                <a:alpha val="8000"/>
              </a:srgbClr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3112451" y="4172902"/>
              <a:ext cx="25209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43F5E"/>
                  </a:solidFill>
                  <a:latin typeface="Arial"/>
                  <a:ea typeface="Microsoft YaHei"/>
                  <a:cs typeface="Arial"/>
                </a:rPr>
                <a:t>15%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4000500" y="4000500"/>
              <a:ext cx="1524000" cy="476250"/>
            </a:xfrm>
            <a:prstGeom prst="rect">
              <a:avLst/>
            </a:prstGeom>
            <a:solidFill>
              <a:srgbClr val="06B6D4">
                <a:alpha val="5000"/>
              </a:srgbClr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4706993" y="4172902"/>
              <a:ext cx="11101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—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5524500" y="4000500"/>
              <a:ext cx="1524000" cy="476250"/>
            </a:xfrm>
            <a:prstGeom prst="rect">
              <a:avLst/>
            </a:prstGeom>
            <a:solidFill>
              <a:srgbClr val="06B6D4">
                <a:alpha val="5000"/>
              </a:srgbClr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188821" y="4172902"/>
              <a:ext cx="1953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0%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7048500" y="4000500"/>
              <a:ext cx="1524000" cy="476250"/>
            </a:xfrm>
            <a:prstGeom prst="rect">
              <a:avLst/>
            </a:prstGeom>
            <a:solidFill>
              <a:srgbClr val="06B6D4">
                <a:alpha val="5000"/>
              </a:srgbClr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712821" y="4172902"/>
              <a:ext cx="1953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0%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8572500" y="4000500"/>
              <a:ext cx="1524000" cy="476250"/>
            </a:xfrm>
            <a:prstGeom prst="rect">
              <a:avLst/>
            </a:prstGeom>
            <a:solidFill>
              <a:srgbClr val="06B6D4">
                <a:alpha val="5000"/>
              </a:srgbClr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9236821" y="4172902"/>
              <a:ext cx="1953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0%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952500" y="4476750"/>
              <a:ext cx="1524000" cy="476250"/>
            </a:xfrm>
            <a:prstGeom prst="rect">
              <a:avLst/>
            </a:prstGeom>
            <a:solidFill>
              <a:srgbClr val="161D2E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1447558" y="4649152"/>
              <a:ext cx="53388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8B5CF6"/>
                  </a:solidFill>
                  <a:latin typeface="Arial"/>
                  <a:ea typeface="Microsoft YaHei"/>
                  <a:cs typeface="Arial"/>
                </a:rPr>
                <a:t>COLOR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2476500" y="4476750"/>
              <a:ext cx="1524000" cy="476250"/>
            </a:xfrm>
            <a:prstGeom prst="rect">
              <a:avLst/>
            </a:prstGeom>
            <a:solidFill>
              <a:srgbClr val="F59E0B">
                <a:alpha val="8000"/>
              </a:srgbClr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3092323" y="4649152"/>
              <a:ext cx="29235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20%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4000500" y="4476750"/>
              <a:ext cx="1524000" cy="476250"/>
            </a:xfrm>
            <a:prstGeom prst="rect">
              <a:avLst/>
            </a:prstGeom>
            <a:solidFill>
              <a:srgbClr val="06B6D4">
                <a:alpha val="5000"/>
              </a:srgbClr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4664821" y="4649152"/>
              <a:ext cx="1953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0%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5524500" y="4476750"/>
              <a:ext cx="1524000" cy="476250"/>
            </a:xfrm>
            <a:prstGeom prst="rect">
              <a:avLst/>
            </a:prstGeom>
            <a:solidFill>
              <a:srgbClr val="06B6D4">
                <a:alpha val="5000"/>
              </a:srgbClr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230993" y="4649152"/>
              <a:ext cx="11101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—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7048500" y="4476750"/>
              <a:ext cx="1524000" cy="476250"/>
            </a:xfrm>
            <a:prstGeom prst="rect">
              <a:avLst/>
            </a:prstGeom>
            <a:solidFill>
              <a:srgbClr val="06B6D4">
                <a:alpha val="5000"/>
              </a:srgbClr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7712821" y="4649152"/>
              <a:ext cx="1953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0%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8572500" y="4476750"/>
              <a:ext cx="1524000" cy="476250"/>
            </a:xfrm>
            <a:prstGeom prst="rect">
              <a:avLst/>
            </a:prstGeom>
            <a:solidFill>
              <a:srgbClr val="06B6D4">
                <a:alpha val="5000"/>
              </a:srgbClr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9236821" y="4649152"/>
              <a:ext cx="1953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0%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952500" y="4953000"/>
              <a:ext cx="1524000" cy="476250"/>
            </a:xfrm>
            <a:prstGeom prst="rect">
              <a:avLst/>
            </a:prstGeom>
            <a:solidFill>
              <a:srgbClr val="161D2E">
                <a:alpha val="50000"/>
              </a:srgbClr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1568323" y="5125402"/>
              <a:ext cx="29235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0B981"/>
                  </a:solidFill>
                  <a:latin typeface="Arial"/>
                  <a:ea typeface="Microsoft YaHei"/>
                  <a:cs typeface="Arial"/>
                </a:rPr>
                <a:t>YFB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2476500" y="4953000"/>
              <a:ext cx="1524000" cy="476250"/>
            </a:xfrm>
            <a:prstGeom prst="rect">
              <a:avLst/>
            </a:prstGeom>
            <a:solidFill>
              <a:srgbClr val="10B981">
                <a:alpha val="8000"/>
              </a:srgbClr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3092323" y="5125402"/>
              <a:ext cx="29235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0B981"/>
                  </a:solidFill>
                  <a:latin typeface="Arial"/>
                  <a:ea typeface="Microsoft YaHei"/>
                  <a:cs typeface="Arial"/>
                </a:rPr>
                <a:t>90%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4000500" y="4953000"/>
              <a:ext cx="1524000" cy="476250"/>
            </a:xfrm>
            <a:prstGeom prst="rect">
              <a:avLst/>
            </a:prstGeom>
            <a:solidFill>
              <a:srgbClr val="06B6D4">
                <a:alpha val="5000"/>
              </a:srgbClr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4664821" y="5125402"/>
              <a:ext cx="1953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0%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5524500" y="4953000"/>
              <a:ext cx="1524000" cy="476250"/>
            </a:xfrm>
            <a:prstGeom prst="rect">
              <a:avLst/>
            </a:prstGeom>
            <a:solidFill>
              <a:srgbClr val="06B6D4">
                <a:alpha val="5000"/>
              </a:srgbClr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6188821" y="5125402"/>
              <a:ext cx="1953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0%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7048500" y="4953000"/>
              <a:ext cx="1524000" cy="476250"/>
            </a:xfrm>
            <a:prstGeom prst="rect">
              <a:avLst/>
            </a:prstGeom>
            <a:solidFill>
              <a:srgbClr val="06B6D4">
                <a:alpha val="5000"/>
              </a:srgbClr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7754993" y="5125402"/>
              <a:ext cx="11101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—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8572500" y="4953000"/>
              <a:ext cx="1524000" cy="476250"/>
            </a:xfrm>
            <a:prstGeom prst="rect">
              <a:avLst/>
            </a:prstGeom>
            <a:solidFill>
              <a:srgbClr val="06B6D4">
                <a:alpha val="5000"/>
              </a:srgbClr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9236821" y="5125402"/>
              <a:ext cx="1953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0%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952500" y="5429250"/>
              <a:ext cx="1524000" cy="476250"/>
            </a:xfrm>
            <a:prstGeom prst="rect">
              <a:avLst/>
            </a:prstGeom>
            <a:solidFill>
              <a:srgbClr val="161D2E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1479762" y="5601652"/>
              <a:ext cx="4694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43F5E"/>
                  </a:solidFill>
                  <a:latin typeface="Arial"/>
                  <a:ea typeface="Microsoft YaHei"/>
                  <a:cs typeface="Arial"/>
                </a:rPr>
                <a:t>LASEN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2476500" y="5429250"/>
              <a:ext cx="1524000" cy="476250"/>
            </a:xfrm>
            <a:prstGeom prst="rect">
              <a:avLst/>
            </a:prstGeom>
            <a:solidFill>
              <a:srgbClr val="F43F5E">
                <a:alpha val="8000"/>
              </a:srgbClr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3136604" y="5601652"/>
              <a:ext cx="203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43F5E"/>
                  </a:solidFill>
                  <a:latin typeface="Arial"/>
                  <a:ea typeface="Microsoft YaHei"/>
                  <a:cs typeface="Arial"/>
                </a:rPr>
                <a:t>0%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4000500" y="5429250"/>
              <a:ext cx="1524000" cy="476250"/>
            </a:xfrm>
            <a:prstGeom prst="rect">
              <a:avLst/>
            </a:prstGeom>
            <a:solidFill>
              <a:srgbClr val="06B6D4">
                <a:alpha val="5000"/>
              </a:srgbClr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4664821" y="5601652"/>
              <a:ext cx="1953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0%</a:t>
              </a:r>
            </a:p>
          </p:txBody>
        </p:sp>
        <p:sp>
          <p:nvSpPr>
            <p:cNvPr id="78" name="Rectangle 78"/>
            <p:cNvSpPr/>
            <p:nvPr/>
          </p:nvSpPr>
          <p:spPr>
            <a:xfrm>
              <a:off x="5524500" y="5429250"/>
              <a:ext cx="1524000" cy="476250"/>
            </a:xfrm>
            <a:prstGeom prst="rect">
              <a:avLst/>
            </a:prstGeom>
            <a:solidFill>
              <a:srgbClr val="06B6D4">
                <a:alpha val="5000"/>
              </a:srgbClr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6188821" y="5601652"/>
              <a:ext cx="1953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0%</a:t>
              </a:r>
            </a:p>
          </p:txBody>
        </p:sp>
        <p:sp>
          <p:nvSpPr>
            <p:cNvPr id="80" name="Rectangle 80"/>
            <p:cNvSpPr/>
            <p:nvPr/>
          </p:nvSpPr>
          <p:spPr>
            <a:xfrm>
              <a:off x="7048500" y="5429250"/>
              <a:ext cx="1524000" cy="476250"/>
            </a:xfrm>
            <a:prstGeom prst="rect">
              <a:avLst/>
            </a:prstGeom>
            <a:solidFill>
              <a:srgbClr val="06B6D4">
                <a:alpha val="5000"/>
              </a:srgbClr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7712821" y="5601652"/>
              <a:ext cx="1953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0%</a:t>
              </a:r>
            </a:p>
          </p:txBody>
        </p:sp>
        <p:sp>
          <p:nvSpPr>
            <p:cNvPr id="82" name="Rectangle 82"/>
            <p:cNvSpPr/>
            <p:nvPr/>
          </p:nvSpPr>
          <p:spPr>
            <a:xfrm>
              <a:off x="8572500" y="5429250"/>
              <a:ext cx="1524000" cy="476250"/>
            </a:xfrm>
            <a:prstGeom prst="rect">
              <a:avLst/>
            </a:prstGeom>
            <a:solidFill>
              <a:srgbClr val="06B6D4">
                <a:alpha val="5000"/>
              </a:srgbClr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9278993" y="5601652"/>
              <a:ext cx="11101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—</a:t>
              </a:r>
            </a:p>
          </p:txBody>
        </p:sp>
        <p:sp>
          <p:nvSpPr>
            <p:cNvPr id="84" name="Line 84"/>
            <p:cNvSpPr/>
            <p:nvPr/>
          </p:nvSpPr>
          <p:spPr>
            <a:xfrm>
              <a:off x="952500" y="6096000"/>
              <a:ext cx="9144000" cy="9525"/>
            </a:xfrm>
            <a:custGeom>
              <a:avLst/>
              <a:gdLst/>
              <a:ahLst/>
              <a:cxnLst/>
              <a:rect l="l" t="t" r="r" b="b"/>
              <a:pathLst>
                <a:path w="9144000" h="9525">
                  <a:moveTo>
                    <a:pt x="0" y="0"/>
                  </a:moveTo>
                  <a:lnTo>
                    <a:pt x="9144000" y="0"/>
                  </a:lnTo>
                </a:path>
              </a:pathLst>
            </a:custGeom>
            <a:noFill/>
            <a:ln w="9525">
              <a:solidFill>
                <a:srgbClr val="1E293B"/>
              </a:solidFill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940118" y="6295549"/>
              <a:ext cx="424688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说明：行=数据源，列=数据消费方；数值=数据从源到目标的集成度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940118" y="6524149"/>
              <a:ext cx="552847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绿色(≥60%)=良好 · 黄色(20-59%)=待加强 · 红色(&lt;20%)=关键断点 · 灰色=无直接集成</a:t>
              </a:r>
            </a:p>
          </p:txBody>
        </p:sp>
      </p:grpSp>
      <p:grpSp>
        <p:nvGrpSpPr>
          <p:cNvPr id="120" name="Group 120"/>
          <p:cNvGrpSpPr/>
          <p:nvPr/>
        </p:nvGrpSpPr>
        <p:grpSpPr>
          <a:xfrm>
            <a:off x="10858500" y="2571750"/>
            <a:ext cx="6858000" cy="5143500"/>
            <a:chOff x="10858500" y="2571750"/>
            <a:chExt cx="6858000" cy="5143500"/>
          </a:xfrm>
        </p:grpSpPr>
        <p:sp>
          <p:nvSpPr>
            <p:cNvPr id="88" name="Rectangle 88"/>
            <p:cNvSpPr/>
            <p:nvPr/>
          </p:nvSpPr>
          <p:spPr>
            <a:xfrm>
              <a:off x="10858500" y="2571750"/>
              <a:ext cx="6858000" cy="5143500"/>
            </a:xfrm>
            <a:prstGeom prst="rect">
              <a:avLst/>
            </a:prstGeom>
            <a:solidFill>
              <a:srgbClr val="161D2E"/>
            </a:solidFill>
            <a:ln w="9525">
              <a:solidFill>
                <a:srgbClr val="1E293B"/>
              </a:solidFill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11222355" y="2768918"/>
              <a:ext cx="127644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1F5F9"/>
                  </a:solidFill>
                  <a:latin typeface="Arial"/>
                  <a:ea typeface="Microsoft YaHei"/>
                  <a:cs typeface="Arial"/>
                </a:rPr>
                <a:t>三大关键断点</a:t>
              </a:r>
            </a:p>
          </p:txBody>
        </p:sp>
        <p:sp>
          <p:nvSpPr>
            <p:cNvPr id="90" name="Rectangle 90"/>
            <p:cNvSpPr/>
            <p:nvPr/>
          </p:nvSpPr>
          <p:spPr>
            <a:xfrm>
              <a:off x="11239500" y="3143250"/>
              <a:ext cx="6096000" cy="1333500"/>
            </a:xfrm>
            <a:prstGeom prst="rect">
              <a:avLst/>
            </a:prstGeom>
            <a:solidFill>
              <a:srgbClr val="F43F5E">
                <a:alpha val="6000"/>
              </a:srgbClr>
            </a:solidFill>
            <a:ln w="9525">
              <a:solidFill>
                <a:srgbClr val="F43F5E">
                  <a:alpha val="25000"/>
                </a:srgbClr>
              </a:solidFill>
            </a:ln>
          </p:spPr>
        </p:sp>
        <p:sp>
          <p:nvSpPr>
            <p:cNvPr id="91" name="Rectangle 91"/>
            <p:cNvSpPr/>
            <p:nvPr/>
          </p:nvSpPr>
          <p:spPr>
            <a:xfrm>
              <a:off x="11239500" y="3143250"/>
              <a:ext cx="6096000" cy="38100"/>
            </a:xfrm>
            <a:prstGeom prst="rect">
              <a:avLst/>
            </a:prstGeom>
            <a:solidFill>
              <a:srgbClr val="F43F5E"/>
            </a:solidFill>
            <a:ln>
              <a:noFill/>
            </a:ln>
          </p:spPr>
        </p:sp>
        <p:sp>
          <p:nvSpPr>
            <p:cNvPr id="92" name="Rectangle 92"/>
            <p:cNvSpPr/>
            <p:nvPr/>
          </p:nvSpPr>
          <p:spPr>
            <a:xfrm>
              <a:off x="11430000" y="3333750"/>
              <a:ext cx="342900" cy="342900"/>
            </a:xfrm>
            <a:prstGeom prst="rect">
              <a:avLst/>
            </a:prstGeom>
            <a:solidFill>
              <a:srgbClr val="F43F5E">
                <a:alpha val="15000"/>
              </a:srgbClr>
            </a:solidFill>
            <a:ln>
              <a:noFill/>
            </a:ln>
          </p:spPr>
        </p:sp>
        <p:sp>
          <p:nvSpPr>
            <p:cNvPr id="93" name="TextBox 93"/>
            <p:cNvSpPr txBox="1"/>
            <p:nvPr/>
          </p:nvSpPr>
          <p:spPr>
            <a:xfrm>
              <a:off x="11558607" y="3432810"/>
              <a:ext cx="8568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43F5E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11871960" y="3432810"/>
              <a:ext cx="108861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1F5F9"/>
                  </a:solidFill>
                  <a:latin typeface="Arial"/>
                  <a:ea typeface="Microsoft YaHei"/>
                  <a:cs typeface="Arial"/>
                </a:rPr>
                <a:t>LASEN → VOC</a:t>
              </a:r>
            </a:p>
          </p:txBody>
        </p:sp>
        <p:sp>
          <p:nvSpPr>
            <p:cNvPr id="95" name="Rectangle 95"/>
            <p:cNvSpPr/>
            <p:nvPr/>
          </p:nvSpPr>
          <p:spPr>
            <a:xfrm>
              <a:off x="13239750" y="3390900"/>
              <a:ext cx="571500" cy="228600"/>
            </a:xfrm>
            <a:prstGeom prst="rect">
              <a:avLst/>
            </a:prstGeom>
            <a:solidFill>
              <a:srgbClr val="F43F5E">
                <a:alpha val="15000"/>
              </a:srgbClr>
            </a:solidFill>
            <a:ln>
              <a:noFill/>
            </a:ln>
          </p:spPr>
        </p:sp>
        <p:sp>
          <p:nvSpPr>
            <p:cNvPr id="96" name="TextBox 96"/>
            <p:cNvSpPr txBox="1"/>
            <p:nvPr/>
          </p:nvSpPr>
          <p:spPr>
            <a:xfrm>
              <a:off x="13430882" y="3447574"/>
              <a:ext cx="18923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43F5E"/>
                  </a:solidFill>
                  <a:latin typeface="Arial"/>
                  <a:ea typeface="Microsoft YaHei"/>
                  <a:cs typeface="Arial"/>
                </a:rPr>
                <a:t>0%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11416665" y="3734752"/>
              <a:ext cx="24803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运营反馈数据完全未回流至企划系统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11416665" y="3963352"/>
              <a:ext cx="340042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产品评分、销量、退货率等运营数据无法驱动迭代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11417618" y="4200049"/>
              <a:ext cx="187594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43F5E"/>
                  </a:solidFill>
                  <a:latin typeface="Arial"/>
                  <a:ea typeface="Microsoft YaHei"/>
                  <a:cs typeface="Arial"/>
                </a:rPr>
                <a:t>⚠ 最严重断点 — 运营闭环断裂</a:t>
              </a:r>
            </a:p>
          </p:txBody>
        </p:sp>
        <p:sp>
          <p:nvSpPr>
            <p:cNvPr id="100" name="Rectangle 100"/>
            <p:cNvSpPr/>
            <p:nvPr/>
          </p:nvSpPr>
          <p:spPr>
            <a:xfrm>
              <a:off x="11239500" y="4667250"/>
              <a:ext cx="6096000" cy="1333500"/>
            </a:xfrm>
            <a:prstGeom prst="rect">
              <a:avLst/>
            </a:prstGeom>
            <a:solidFill>
              <a:srgbClr val="F59E0B">
                <a:alpha val="6000"/>
              </a:srgbClr>
            </a:solidFill>
            <a:ln w="9525">
              <a:solidFill>
                <a:srgbClr val="F59E0B">
                  <a:alpha val="25000"/>
                </a:srgbClr>
              </a:solidFill>
            </a:ln>
          </p:spPr>
        </p:sp>
        <p:sp>
          <p:nvSpPr>
            <p:cNvPr id="101" name="Rectangle 101"/>
            <p:cNvSpPr/>
            <p:nvPr/>
          </p:nvSpPr>
          <p:spPr>
            <a:xfrm>
              <a:off x="11239500" y="4667250"/>
              <a:ext cx="6096000" cy="38100"/>
            </a:xfrm>
            <a:prstGeom prst="rect">
              <a:avLst/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102" name="Rectangle 102"/>
            <p:cNvSpPr/>
            <p:nvPr/>
          </p:nvSpPr>
          <p:spPr>
            <a:xfrm>
              <a:off x="11430000" y="4857750"/>
              <a:ext cx="342900" cy="342900"/>
            </a:xfrm>
            <a:prstGeom prst="rect">
              <a:avLst/>
            </a:prstGeom>
            <a:solidFill>
              <a:srgbClr val="F59E0B">
                <a:alpha val="15000"/>
              </a:srgbClr>
            </a:solidFill>
            <a:ln>
              <a:noFill/>
            </a:ln>
          </p:spPr>
        </p:sp>
        <p:sp>
          <p:nvSpPr>
            <p:cNvPr id="103" name="TextBox 103"/>
            <p:cNvSpPr txBox="1"/>
            <p:nvPr/>
          </p:nvSpPr>
          <p:spPr>
            <a:xfrm>
              <a:off x="11535604" y="4956810"/>
              <a:ext cx="13169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104" name="TextBox 104"/>
            <p:cNvSpPr txBox="1"/>
            <p:nvPr/>
          </p:nvSpPr>
          <p:spPr>
            <a:xfrm>
              <a:off x="11871960" y="4956810"/>
              <a:ext cx="102420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1F5F9"/>
                  </a:solidFill>
                  <a:latin typeface="Arial"/>
                  <a:ea typeface="Microsoft YaHei"/>
                  <a:cs typeface="Arial"/>
                </a:rPr>
                <a:t>AMZN → VOC</a:t>
              </a:r>
            </a:p>
          </p:txBody>
        </p:sp>
        <p:sp>
          <p:nvSpPr>
            <p:cNvPr id="105" name="Rectangle 105"/>
            <p:cNvSpPr/>
            <p:nvPr/>
          </p:nvSpPr>
          <p:spPr>
            <a:xfrm>
              <a:off x="13239750" y="4914900"/>
              <a:ext cx="571500" cy="228600"/>
            </a:xfrm>
            <a:prstGeom prst="rect">
              <a:avLst/>
            </a:prstGeom>
            <a:solidFill>
              <a:srgbClr val="F59E0B">
                <a:alpha val="15000"/>
              </a:srgbClr>
            </a:solidFill>
            <a:ln>
              <a:noFill/>
            </a:ln>
          </p:spPr>
        </p:sp>
        <p:sp>
          <p:nvSpPr>
            <p:cNvPr id="106" name="TextBox 106"/>
            <p:cNvSpPr txBox="1"/>
            <p:nvPr/>
          </p:nvSpPr>
          <p:spPr>
            <a:xfrm>
              <a:off x="13408454" y="4971574"/>
              <a:ext cx="23409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15%</a:t>
              </a:r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11416665" y="5258752"/>
              <a:ext cx="245730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爬虫数据仅部分同步至VOC竞品分析</a:t>
              </a:r>
            </a:p>
          </p:txBody>
        </p:sp>
        <p:sp>
          <p:nvSpPr>
            <p:cNvPr id="108" name="TextBox 108"/>
            <p:cNvSpPr txBox="1"/>
            <p:nvPr/>
          </p:nvSpPr>
          <p:spPr>
            <a:xfrm>
              <a:off x="11416665" y="5487352"/>
              <a:ext cx="304771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Best Sellers/New Releases数据未实时更新</a:t>
              </a:r>
            </a:p>
          </p:txBody>
        </p:sp>
        <p:sp>
          <p:nvSpPr>
            <p:cNvPr id="109" name="TextBox 109"/>
            <p:cNvSpPr txBox="1"/>
            <p:nvPr/>
          </p:nvSpPr>
          <p:spPr>
            <a:xfrm>
              <a:off x="11417618" y="5724049"/>
              <a:ext cx="142739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⚠ 市场情报时效性不足</a:t>
              </a:r>
            </a:p>
          </p:txBody>
        </p:sp>
        <p:sp>
          <p:nvSpPr>
            <p:cNvPr id="110" name="Rectangle 110"/>
            <p:cNvSpPr/>
            <p:nvPr/>
          </p:nvSpPr>
          <p:spPr>
            <a:xfrm>
              <a:off x="11239500" y="6191250"/>
              <a:ext cx="6096000" cy="1333500"/>
            </a:xfrm>
            <a:prstGeom prst="rect">
              <a:avLst/>
            </a:prstGeom>
            <a:solidFill>
              <a:srgbClr val="8B5CF6">
                <a:alpha val="6000"/>
              </a:srgbClr>
            </a:solidFill>
            <a:ln w="9525">
              <a:solidFill>
                <a:srgbClr val="8B5CF6">
                  <a:alpha val="25000"/>
                </a:srgbClr>
              </a:solidFill>
            </a:ln>
          </p:spPr>
        </p:sp>
        <p:sp>
          <p:nvSpPr>
            <p:cNvPr id="111" name="Rectangle 111"/>
            <p:cNvSpPr/>
            <p:nvPr/>
          </p:nvSpPr>
          <p:spPr>
            <a:xfrm>
              <a:off x="11239500" y="6191250"/>
              <a:ext cx="6096000" cy="38100"/>
            </a:xfrm>
            <a:prstGeom prst="rect">
              <a:avLst/>
            </a:prstGeom>
            <a:solidFill>
              <a:srgbClr val="8B5CF6"/>
            </a:solidFill>
            <a:ln>
              <a:noFill/>
            </a:ln>
          </p:spPr>
        </p:sp>
        <p:sp>
          <p:nvSpPr>
            <p:cNvPr id="112" name="Rectangle 112"/>
            <p:cNvSpPr/>
            <p:nvPr/>
          </p:nvSpPr>
          <p:spPr>
            <a:xfrm>
              <a:off x="11430000" y="6381750"/>
              <a:ext cx="342900" cy="342900"/>
            </a:xfrm>
            <a:prstGeom prst="rect">
              <a:avLst/>
            </a:prstGeom>
            <a:solidFill>
              <a:srgbClr val="8B5CF6">
                <a:alpha val="15000"/>
              </a:srgbClr>
            </a:solidFill>
            <a:ln>
              <a:noFill/>
            </a:ln>
          </p:spPr>
        </p:sp>
        <p:sp>
          <p:nvSpPr>
            <p:cNvPr id="113" name="TextBox 113"/>
            <p:cNvSpPr txBox="1"/>
            <p:nvPr/>
          </p:nvSpPr>
          <p:spPr>
            <a:xfrm>
              <a:off x="11535604" y="6480810"/>
              <a:ext cx="13169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8B5CF6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114" name="TextBox 114"/>
            <p:cNvSpPr txBox="1"/>
            <p:nvPr/>
          </p:nvSpPr>
          <p:spPr>
            <a:xfrm>
              <a:off x="11871960" y="6480810"/>
              <a:ext cx="116222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1F5F9"/>
                  </a:solidFill>
                  <a:latin typeface="Arial"/>
                  <a:ea typeface="Microsoft YaHei"/>
                  <a:cs typeface="Arial"/>
                </a:rPr>
                <a:t>COLOR → VOC</a:t>
              </a:r>
            </a:p>
          </p:txBody>
        </p:sp>
        <p:sp>
          <p:nvSpPr>
            <p:cNvPr id="115" name="Rectangle 115"/>
            <p:cNvSpPr/>
            <p:nvPr/>
          </p:nvSpPr>
          <p:spPr>
            <a:xfrm>
              <a:off x="13239750" y="6438900"/>
              <a:ext cx="571500" cy="228600"/>
            </a:xfrm>
            <a:prstGeom prst="rect">
              <a:avLst/>
            </a:prstGeom>
            <a:solidFill>
              <a:srgbClr val="8B5CF6">
                <a:alpha val="15000"/>
              </a:srgbClr>
            </a:solidFill>
            <a:ln>
              <a:noFill/>
            </a:ln>
          </p:spPr>
        </p:sp>
        <p:sp>
          <p:nvSpPr>
            <p:cNvPr id="116" name="TextBox 116"/>
            <p:cNvSpPr txBox="1"/>
            <p:nvPr/>
          </p:nvSpPr>
          <p:spPr>
            <a:xfrm>
              <a:off x="13389765" y="6495574"/>
              <a:ext cx="27147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8B5CF6"/>
                  </a:solidFill>
                  <a:latin typeface="Arial"/>
                  <a:ea typeface="Microsoft YaHei"/>
                  <a:cs typeface="Arial"/>
                </a:rPr>
                <a:t>20%</a:t>
              </a:r>
            </a:p>
          </p:txBody>
        </p:sp>
        <p:sp>
          <p:nvSpPr>
            <p:cNvPr id="117" name="TextBox 117"/>
            <p:cNvSpPr txBox="1"/>
            <p:nvPr/>
          </p:nvSpPr>
          <p:spPr>
            <a:xfrm>
              <a:off x="11416665" y="6782752"/>
              <a:ext cx="245730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色彩库数据仅部分关联VOC色彩调研</a:t>
              </a:r>
            </a:p>
          </p:txBody>
        </p:sp>
        <p:sp>
          <p:nvSpPr>
            <p:cNvPr id="118" name="TextBox 118"/>
            <p:cNvSpPr txBox="1"/>
            <p:nvPr/>
          </p:nvSpPr>
          <p:spPr>
            <a:xfrm>
              <a:off x="11416665" y="7011352"/>
              <a:ext cx="277934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2914色标准色未与产品设计流程深度绑定</a:t>
              </a:r>
            </a:p>
          </p:txBody>
        </p:sp>
        <p:sp>
          <p:nvSpPr>
            <p:cNvPr id="119" name="TextBox 119"/>
            <p:cNvSpPr txBox="1"/>
            <p:nvPr/>
          </p:nvSpPr>
          <p:spPr>
            <a:xfrm>
              <a:off x="11417618" y="7248049"/>
              <a:ext cx="156979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5CF6"/>
                  </a:solidFill>
                  <a:latin typeface="Arial"/>
                  <a:ea typeface="Microsoft YaHei"/>
                  <a:cs typeface="Arial"/>
                </a:rPr>
                <a:t>⚠ 设计标准化潜力未释放</a:t>
              </a:r>
            </a:p>
          </p:txBody>
        </p:sp>
      </p:grpSp>
      <p:sp>
        <p:nvSpPr>
          <p:cNvPr id="121" name="TextBox 121"/>
          <p:cNvSpPr txBox="1"/>
          <p:nvPr/>
        </p:nvSpPr>
        <p:spPr>
          <a:xfrm>
            <a:off x="8946761" y="10007441"/>
            <a:ext cx="39447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09 / 14</a:t>
            </a:r>
          </a:p>
        </p:txBody>
      </p:sp>
    </p:spTree>
  </p:cSld>
  <p:clrMapOvr>
    <a:masterClrMapping/>
  </p:clrMapOvr>
  <p:transition 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A0E1A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571500" y="381000"/>
            <a:ext cx="17145000" cy="419100"/>
          </a:xfrm>
          <a:prstGeom prst="rect">
            <a:avLst/>
          </a:prstGeom>
          <a:solidFill>
            <a:srgbClr val="161D2E"/>
          </a:solidFill>
          <a:ln w="9525">
            <a:solidFill>
              <a:srgbClr val="1E293B"/>
            </a:solidFill>
          </a:ln>
        </p:spPr>
      </p:sp>
      <p:sp>
        <p:nvSpPr>
          <p:cNvPr id="4" name="TextBox 4"/>
          <p:cNvSpPr txBox="1"/>
          <p:nvPr/>
        </p:nvSpPr>
        <p:spPr>
          <a:xfrm>
            <a:off x="748665" y="534352"/>
            <a:ext cx="105719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06B6D4"/>
                </a:solidFill>
                <a:latin typeface="Arial"/>
                <a:ea typeface="Microsoft YaHei"/>
                <a:cs typeface="Arial"/>
              </a:rPr>
              <a:t>LASEN.Digital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6491347" y="558641"/>
            <a:ext cx="104513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系统设计报告 v2.0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0070" y="1141095"/>
            <a:ext cx="172737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06B6D4"/>
                </a:solidFill>
                <a:latin typeface="Arial"/>
                <a:ea typeface="Microsoft YaHei"/>
                <a:cs typeface="Arial"/>
              </a:rPr>
              <a:t>IMPLEMENTATION ROADMAP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41020" y="1341120"/>
            <a:ext cx="5158397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实施路径与优先级 (Phase 1-2)</a:t>
            </a:r>
          </a:p>
        </p:txBody>
      </p:sp>
      <p:sp>
        <p:nvSpPr>
          <p:cNvPr id="8" name="Rectangle 8"/>
          <p:cNvSpPr/>
          <p:nvPr/>
        </p:nvSpPr>
        <p:spPr>
          <a:xfrm>
            <a:off x="571500" y="1809750"/>
            <a:ext cx="17145000" cy="476250"/>
          </a:xfrm>
          <a:prstGeom prst="rect">
            <a:avLst/>
          </a:prstGeom>
          <a:solidFill>
            <a:srgbClr val="06B6D4">
              <a:alpha val="6000"/>
            </a:srgbClr>
          </a:solidFill>
          <a:ln w="9525">
            <a:solidFill>
              <a:srgbClr val="06B6D4">
                <a:alpha val="15000"/>
              </a:srgbClr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6372796" y="1975485"/>
            <a:ext cx="554240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分四阶段推进，Phase 1-2聚焦数据打通与流程串联，解决三大关键断点</a:t>
            </a:r>
          </a:p>
        </p:txBody>
      </p:sp>
      <p:grpSp>
        <p:nvGrpSpPr>
          <p:cNvPr id="55" name="Group 55"/>
          <p:cNvGrpSpPr/>
          <p:nvPr/>
        </p:nvGrpSpPr>
        <p:grpSpPr>
          <a:xfrm>
            <a:off x="571500" y="2571750"/>
            <a:ext cx="8382000" cy="6667500"/>
            <a:chOff x="571500" y="2571750"/>
            <a:chExt cx="8382000" cy="6667500"/>
          </a:xfrm>
        </p:grpSpPr>
        <p:sp>
          <p:nvSpPr>
            <p:cNvPr id="10" name="Rectangle 10"/>
            <p:cNvSpPr/>
            <p:nvPr/>
          </p:nvSpPr>
          <p:spPr>
            <a:xfrm>
              <a:off x="571500" y="2571750"/>
              <a:ext cx="8382000" cy="6667500"/>
            </a:xfrm>
            <a:prstGeom prst="rect">
              <a:avLst/>
            </a:prstGeom>
            <a:solidFill>
              <a:srgbClr val="161D2E"/>
            </a:solidFill>
            <a:ln w="9525">
              <a:solidFill>
                <a:srgbClr val="F43F5E">
                  <a:alpha val="25000"/>
                </a:srgbClr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571500" y="2571750"/>
              <a:ext cx="8382000" cy="47625"/>
            </a:xfrm>
            <a:prstGeom prst="rect">
              <a:avLst/>
            </a:prstGeom>
            <a:solidFill>
              <a:srgbClr val="F43F5E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838200" y="2819400"/>
              <a:ext cx="762000" cy="266700"/>
            </a:xfrm>
            <a:prstGeom prst="rect">
              <a:avLst/>
            </a:prstGeom>
            <a:solidFill>
              <a:srgbClr val="F43F5E">
                <a:alpha val="15000"/>
              </a:srgbClr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71326" y="2895124"/>
              <a:ext cx="49574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43F5E"/>
                  </a:solidFill>
                  <a:latin typeface="Arial"/>
                  <a:ea typeface="Microsoft YaHei"/>
                  <a:cs typeface="Arial"/>
                </a:rPr>
                <a:t>P1 最高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693545" y="2822258"/>
              <a:ext cx="2192679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1F5F9"/>
                  </a:solidFill>
                  <a:latin typeface="Arial"/>
                  <a:ea typeface="Microsoft YaHei"/>
                  <a:cs typeface="Arial"/>
                </a:rPr>
                <a:t>Phase 1 · 数据打通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24865" y="3239452"/>
              <a:ext cx="340042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解决三大关键断点，实现数据在系统间的自动流转</a:t>
              </a:r>
            </a:p>
          </p:txBody>
        </p:sp>
        <p:grpSp>
          <p:nvGrpSpPr>
            <p:cNvPr id="28" name="Group 28"/>
            <p:cNvGrpSpPr/>
            <p:nvPr/>
          </p:nvGrpSpPr>
          <p:grpSpPr>
            <a:xfrm>
              <a:off x="838200" y="3619500"/>
              <a:ext cx="7848600" cy="1619250"/>
              <a:chOff x="838200" y="3619500"/>
              <a:chExt cx="7848600" cy="1619250"/>
            </a:xfrm>
          </p:grpSpPr>
          <p:sp>
            <p:nvSpPr>
              <p:cNvPr id="16" name="Rectangle 16"/>
              <p:cNvSpPr/>
              <p:nvPr/>
            </p:nvSpPr>
            <p:spPr>
              <a:xfrm>
                <a:off x="838200" y="3619500"/>
                <a:ext cx="7848600" cy="1619250"/>
              </a:xfrm>
              <a:prstGeom prst="rect">
                <a:avLst/>
              </a:prstGeom>
              <a:solidFill>
                <a:srgbClr val="F43F5E">
                  <a:alpha val="4000"/>
                </a:srgbClr>
              </a:solidFill>
              <a:ln w="9525">
                <a:solidFill>
                  <a:srgbClr val="F43F5E">
                    <a:alpha val="15000"/>
                  </a:srgbClr>
                </a:solidFill>
              </a:ln>
            </p:spPr>
          </p:sp>
          <p:sp>
            <p:nvSpPr>
              <p:cNvPr id="17" name="Rectangle 17"/>
              <p:cNvSpPr/>
              <p:nvPr/>
            </p:nvSpPr>
            <p:spPr>
              <a:xfrm>
                <a:off x="1028700" y="3810000"/>
                <a:ext cx="266700" cy="266700"/>
              </a:xfrm>
              <a:prstGeom prst="rect">
                <a:avLst/>
              </a:prstGeom>
              <a:solidFill>
                <a:srgbClr val="F43F5E">
                  <a:alpha val="15000"/>
                </a:srgbClr>
              </a:solidFill>
              <a:ln>
                <a:noFill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1056128" y="3887152"/>
                <a:ext cx="21184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43F5E"/>
                    </a:solidFill>
                    <a:latin typeface="Arial"/>
                    <a:ea typeface="Microsoft YaHei"/>
                    <a:cs typeface="Arial"/>
                  </a:rPr>
                  <a:t>1.1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393508" y="3862864"/>
                <a:ext cx="1928972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F1F5F9"/>
                    </a:solidFill>
                    <a:latin typeface="Arial"/>
                    <a:ea typeface="Microsoft YaHei"/>
                    <a:cs typeface="Arial"/>
                  </a:rPr>
                  <a:t>AMZN → VOC 数据同步</a:t>
                </a:r>
              </a:p>
            </p:txBody>
          </p:sp>
          <p:sp>
            <p:nvSpPr>
              <p:cNvPr id="20" name="Rectangle 20"/>
              <p:cNvSpPr/>
              <p:nvPr/>
            </p:nvSpPr>
            <p:spPr>
              <a:xfrm>
                <a:off x="3810000" y="3848100"/>
                <a:ext cx="762000" cy="209550"/>
              </a:xfrm>
              <a:prstGeom prst="rect">
                <a:avLst/>
              </a:prstGeom>
              <a:solidFill>
                <a:srgbClr val="F43F5E">
                  <a:alpha val="10000"/>
                </a:srgbClr>
              </a:solidFill>
              <a:ln>
                <a:noFill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3952794" y="3911441"/>
                <a:ext cx="476412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b="1" dirty="0">
                    <a:solidFill>
                      <a:srgbClr val="F43F5E"/>
                    </a:solidFill>
                    <a:latin typeface="Arial"/>
                    <a:ea typeface="Microsoft YaHei"/>
                    <a:cs typeface="Arial"/>
                  </a:rPr>
                  <a:t>15%→80%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1015365" y="4191952"/>
                <a:ext cx="328541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94A3B8"/>
                    </a:solidFill>
                    <a:latin typeface="Arial"/>
                    <a:ea typeface="Microsoft YaHei"/>
                    <a:cs typeface="Arial"/>
                  </a:rPr>
                  <a:t>实现AMZN爬虫数据自动同步至VOC竞品分析模块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1015365" y="4420552"/>
                <a:ext cx="320106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94A3B8"/>
                    </a:solidFill>
                    <a:latin typeface="Arial"/>
                    <a:ea typeface="Microsoft YaHei"/>
                    <a:cs typeface="Arial"/>
                  </a:rPr>
                  <a:t>Best Sellers/New Releases榜单数据实时更新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1015365" y="4649152"/>
                <a:ext cx="238829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94A3B8"/>
                    </a:solidFill>
                    <a:latin typeface="Arial"/>
                    <a:ea typeface="Microsoft YaHei"/>
                    <a:cs typeface="Arial"/>
                  </a:rPr>
                  <a:t>Supabase共享数据库作为数据桥梁</a:t>
                </a:r>
              </a:p>
            </p:txBody>
          </p:sp>
          <p:sp>
            <p:nvSpPr>
              <p:cNvPr id="25" name="Rectangle 25"/>
              <p:cNvSpPr/>
              <p:nvPr/>
            </p:nvSpPr>
            <p:spPr>
              <a:xfrm>
                <a:off x="1028700" y="4953000"/>
                <a:ext cx="7467600" cy="190500"/>
              </a:xfrm>
              <a:prstGeom prst="rect">
                <a:avLst/>
              </a:prstGeom>
              <a:solidFill>
                <a:srgbClr val="1E293B"/>
              </a:solidFill>
              <a:ln>
                <a:noFill/>
              </a:ln>
            </p:spPr>
          </p:sp>
          <p:sp>
            <p:nvSpPr>
              <p:cNvPr id="26" name="Rectangle 26"/>
              <p:cNvSpPr/>
              <p:nvPr/>
            </p:nvSpPr>
            <p:spPr>
              <a:xfrm>
                <a:off x="1028700" y="4953000"/>
                <a:ext cx="5972175" cy="190500"/>
              </a:xfrm>
              <a:prstGeom prst="rect">
                <a:avLst/>
              </a:prstGeom>
              <a:solidFill>
                <a:srgbClr val="F43F5E">
                  <a:alpha val="30000"/>
                </a:srgbClr>
              </a:solidFill>
              <a:ln>
                <a:noFill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7724608" y="5006816"/>
                <a:ext cx="858369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825" dirty="0">
                    <a:solidFill>
                      <a:srgbClr val="64748B"/>
                    </a:solidFill>
                    <a:latin typeface="Consolas"/>
                    <a:ea typeface="Microsoft YaHei"/>
                    <a:cs typeface="Consolas"/>
                  </a:rPr>
                  <a:t>目标集成度 80%</a:t>
                </a:r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>
              <a:off x="838200" y="5429250"/>
              <a:ext cx="7848600" cy="1619250"/>
              <a:chOff x="838200" y="5429250"/>
              <a:chExt cx="7848600" cy="1619250"/>
            </a:xfrm>
          </p:grpSpPr>
          <p:sp>
            <p:nvSpPr>
              <p:cNvPr id="29" name="Rectangle 29"/>
              <p:cNvSpPr/>
              <p:nvPr/>
            </p:nvSpPr>
            <p:spPr>
              <a:xfrm>
                <a:off x="838200" y="5429250"/>
                <a:ext cx="7848600" cy="1619250"/>
              </a:xfrm>
              <a:prstGeom prst="rect">
                <a:avLst/>
              </a:prstGeom>
              <a:solidFill>
                <a:srgbClr val="F43F5E">
                  <a:alpha val="4000"/>
                </a:srgbClr>
              </a:solidFill>
              <a:ln w="9525">
                <a:solidFill>
                  <a:srgbClr val="F43F5E">
                    <a:alpha val="15000"/>
                  </a:srgbClr>
                </a:solidFill>
              </a:ln>
            </p:spPr>
          </p:sp>
          <p:sp>
            <p:nvSpPr>
              <p:cNvPr id="30" name="Rectangle 30"/>
              <p:cNvSpPr/>
              <p:nvPr/>
            </p:nvSpPr>
            <p:spPr>
              <a:xfrm>
                <a:off x="1028700" y="5619750"/>
                <a:ext cx="266700" cy="266700"/>
              </a:xfrm>
              <a:prstGeom prst="rect">
                <a:avLst/>
              </a:prstGeom>
              <a:solidFill>
                <a:srgbClr val="F43F5E">
                  <a:alpha val="15000"/>
                </a:srgbClr>
              </a:solidFill>
              <a:ln>
                <a:noFill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1036001" y="5696902"/>
                <a:ext cx="25209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43F5E"/>
                    </a:solidFill>
                    <a:latin typeface="Arial"/>
                    <a:ea typeface="Microsoft YaHei"/>
                    <a:cs typeface="Arial"/>
                  </a:rPr>
                  <a:t>1.2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1393508" y="5672614"/>
                <a:ext cx="1997406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F1F5F9"/>
                    </a:solidFill>
                    <a:latin typeface="Arial"/>
                    <a:ea typeface="Microsoft YaHei"/>
                    <a:cs typeface="Arial"/>
                  </a:rPr>
                  <a:t>LASEN → VOC 数据回流</a:t>
                </a:r>
              </a:p>
            </p:txBody>
          </p:sp>
          <p:sp>
            <p:nvSpPr>
              <p:cNvPr id="33" name="Rectangle 33"/>
              <p:cNvSpPr/>
              <p:nvPr/>
            </p:nvSpPr>
            <p:spPr>
              <a:xfrm>
                <a:off x="3810000" y="5657850"/>
                <a:ext cx="666750" cy="209550"/>
              </a:xfrm>
              <a:prstGeom prst="rect">
                <a:avLst/>
              </a:prstGeom>
              <a:solidFill>
                <a:srgbClr val="F43F5E">
                  <a:alpha val="10000"/>
                </a:srgbClr>
              </a:solidFill>
              <a:ln>
                <a:noFill/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3924146" y="5721191"/>
                <a:ext cx="438457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b="1" dirty="0">
                    <a:solidFill>
                      <a:srgbClr val="F43F5E"/>
                    </a:solidFill>
                    <a:latin typeface="Arial"/>
                    <a:ea typeface="Microsoft YaHei"/>
                    <a:cs typeface="Arial"/>
                  </a:rPr>
                  <a:t>0%→70%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1015365" y="6001702"/>
                <a:ext cx="241896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94A3B8"/>
                    </a:solidFill>
                    <a:latin typeface="Arial"/>
                    <a:ea typeface="Microsoft YaHei"/>
                    <a:cs typeface="Arial"/>
                  </a:rPr>
                  <a:t>实现LASEN运营数据自动回流至VOC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1015365" y="6230302"/>
                <a:ext cx="324707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94A3B8"/>
                    </a:solidFill>
                    <a:latin typeface="Arial"/>
                    <a:ea typeface="Microsoft YaHei"/>
                    <a:cs typeface="Arial"/>
                  </a:rPr>
                  <a:t>评分预警、销量趋势、退货率数据驱动产品迭代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1015365" y="6458902"/>
                <a:ext cx="248031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94A3B8"/>
                    </a:solidFill>
                    <a:latin typeface="Arial"/>
                    <a:ea typeface="Microsoft YaHei"/>
                    <a:cs typeface="Arial"/>
                  </a:rPr>
                  <a:t>打通运营反馈闭环，最关键断点修复</a:t>
                </a:r>
              </a:p>
            </p:txBody>
          </p:sp>
          <p:sp>
            <p:nvSpPr>
              <p:cNvPr id="38" name="Rectangle 38"/>
              <p:cNvSpPr/>
              <p:nvPr/>
            </p:nvSpPr>
            <p:spPr>
              <a:xfrm>
                <a:off x="1028700" y="6762750"/>
                <a:ext cx="7467600" cy="190500"/>
              </a:xfrm>
              <a:prstGeom prst="rect">
                <a:avLst/>
              </a:prstGeom>
              <a:solidFill>
                <a:srgbClr val="1E293B"/>
              </a:solidFill>
              <a:ln>
                <a:noFill/>
              </a:ln>
            </p:spPr>
          </p:sp>
          <p:sp>
            <p:nvSpPr>
              <p:cNvPr id="39" name="Rectangle 39"/>
              <p:cNvSpPr/>
              <p:nvPr/>
            </p:nvSpPr>
            <p:spPr>
              <a:xfrm>
                <a:off x="1028700" y="6762750"/>
                <a:ext cx="5229225" cy="190500"/>
              </a:xfrm>
              <a:prstGeom prst="rect">
                <a:avLst/>
              </a:prstGeom>
              <a:solidFill>
                <a:srgbClr val="F43F5E">
                  <a:alpha val="30000"/>
                </a:srgbClr>
              </a:solidFill>
              <a:ln>
                <a:noFill/>
              </a:ln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7724608" y="6816566"/>
                <a:ext cx="858369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825" dirty="0">
                    <a:solidFill>
                      <a:srgbClr val="64748B"/>
                    </a:solidFill>
                    <a:latin typeface="Consolas"/>
                    <a:ea typeface="Microsoft YaHei"/>
                    <a:cs typeface="Consolas"/>
                  </a:rPr>
                  <a:t>目标集成度 70%</a:t>
                </a:r>
              </a:p>
            </p:txBody>
          </p:sp>
        </p:grpSp>
        <p:grpSp>
          <p:nvGrpSpPr>
            <p:cNvPr id="54" name="Group 54"/>
            <p:cNvGrpSpPr/>
            <p:nvPr/>
          </p:nvGrpSpPr>
          <p:grpSpPr>
            <a:xfrm>
              <a:off x="838200" y="7239000"/>
              <a:ext cx="7848600" cy="1619250"/>
              <a:chOff x="838200" y="7239000"/>
              <a:chExt cx="7848600" cy="1619250"/>
            </a:xfrm>
          </p:grpSpPr>
          <p:sp>
            <p:nvSpPr>
              <p:cNvPr id="42" name="Rectangle 42"/>
              <p:cNvSpPr/>
              <p:nvPr/>
            </p:nvSpPr>
            <p:spPr>
              <a:xfrm>
                <a:off x="838200" y="7239000"/>
                <a:ext cx="7848600" cy="1619250"/>
              </a:xfrm>
              <a:prstGeom prst="rect">
                <a:avLst/>
              </a:prstGeom>
              <a:solidFill>
                <a:srgbClr val="F43F5E">
                  <a:alpha val="4000"/>
                </a:srgbClr>
              </a:solidFill>
              <a:ln w="9525">
                <a:solidFill>
                  <a:srgbClr val="F43F5E">
                    <a:alpha val="15000"/>
                  </a:srgbClr>
                </a:solidFill>
              </a:ln>
            </p:spPr>
          </p:sp>
          <p:sp>
            <p:nvSpPr>
              <p:cNvPr id="43" name="Rectangle 43"/>
              <p:cNvSpPr/>
              <p:nvPr/>
            </p:nvSpPr>
            <p:spPr>
              <a:xfrm>
                <a:off x="1028700" y="7429500"/>
                <a:ext cx="266700" cy="266700"/>
              </a:xfrm>
              <a:prstGeom prst="rect">
                <a:avLst/>
              </a:prstGeom>
              <a:solidFill>
                <a:srgbClr val="F43F5E">
                  <a:alpha val="15000"/>
                </a:srgbClr>
              </a:solidFill>
              <a:ln>
                <a:noFill/>
              </a:ln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1036001" y="7506652"/>
                <a:ext cx="25209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43F5E"/>
                    </a:solidFill>
                    <a:latin typeface="Arial"/>
                    <a:ea typeface="Microsoft YaHei"/>
                    <a:cs typeface="Arial"/>
                  </a:rPr>
                  <a:t>1.3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1393508" y="7482364"/>
                <a:ext cx="2466664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F1F5F9"/>
                    </a:solidFill>
                    <a:latin typeface="Arial"/>
                    <a:ea typeface="Microsoft YaHei"/>
                    <a:cs typeface="Arial"/>
                  </a:rPr>
                  <a:t>COLOR → VOC 色彩数据打通</a:t>
                </a:r>
              </a:p>
            </p:txBody>
          </p:sp>
          <p:sp>
            <p:nvSpPr>
              <p:cNvPr id="46" name="Rectangle 46"/>
              <p:cNvSpPr/>
              <p:nvPr/>
            </p:nvSpPr>
            <p:spPr>
              <a:xfrm>
                <a:off x="4000500" y="7467600"/>
                <a:ext cx="762000" cy="209550"/>
              </a:xfrm>
              <a:prstGeom prst="rect">
                <a:avLst/>
              </a:prstGeom>
              <a:solidFill>
                <a:srgbClr val="F43F5E">
                  <a:alpha val="10000"/>
                </a:srgbClr>
              </a:solidFill>
              <a:ln>
                <a:noFill/>
              </a:ln>
            </p:spPr>
          </p:sp>
          <p:sp>
            <p:nvSpPr>
              <p:cNvPr id="47" name="TextBox 47"/>
              <p:cNvSpPr txBox="1"/>
              <p:nvPr/>
            </p:nvSpPr>
            <p:spPr>
              <a:xfrm>
                <a:off x="4127480" y="7530941"/>
                <a:ext cx="508041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b="1" dirty="0">
                    <a:solidFill>
                      <a:srgbClr val="F43F5E"/>
                    </a:solidFill>
                    <a:latin typeface="Arial"/>
                    <a:ea typeface="Microsoft YaHei"/>
                    <a:cs typeface="Arial"/>
                  </a:rPr>
                  <a:t>20%→75%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1015365" y="7811452"/>
                <a:ext cx="275634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94A3B8"/>
                    </a:solidFill>
                    <a:latin typeface="Arial"/>
                    <a:ea typeface="Microsoft YaHei"/>
                    <a:cs typeface="Arial"/>
                  </a:rPr>
                  <a:t>2914色标准色库与VOC色彩调研深度绑定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1015365" y="8040052"/>
                <a:ext cx="261066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94A3B8"/>
                    </a:solidFill>
                    <a:latin typeface="Arial"/>
                    <a:ea typeface="Microsoft YaHei"/>
                    <a:cs typeface="Arial"/>
                  </a:rPr>
                  <a:t>AI图片理解结果自动关联产品色彩方案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1015365" y="8268652"/>
                <a:ext cx="186690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94A3B8"/>
                    </a:solidFill>
                    <a:latin typeface="Arial"/>
                    <a:ea typeface="Microsoft YaHei"/>
                    <a:cs typeface="Arial"/>
                  </a:rPr>
                  <a:t>色彩方案推荐与灵感库联动</a:t>
                </a:r>
              </a:p>
            </p:txBody>
          </p:sp>
          <p:sp>
            <p:nvSpPr>
              <p:cNvPr id="51" name="Rectangle 51"/>
              <p:cNvSpPr/>
              <p:nvPr/>
            </p:nvSpPr>
            <p:spPr>
              <a:xfrm>
                <a:off x="1028700" y="8572500"/>
                <a:ext cx="7467600" cy="190500"/>
              </a:xfrm>
              <a:prstGeom prst="rect">
                <a:avLst/>
              </a:prstGeom>
              <a:solidFill>
                <a:srgbClr val="1E293B"/>
              </a:solidFill>
              <a:ln>
                <a:noFill/>
              </a:ln>
            </p:spPr>
          </p:sp>
          <p:sp>
            <p:nvSpPr>
              <p:cNvPr id="52" name="Rectangle 52"/>
              <p:cNvSpPr/>
              <p:nvPr/>
            </p:nvSpPr>
            <p:spPr>
              <a:xfrm>
                <a:off x="1028700" y="8572500"/>
                <a:ext cx="5600700" cy="190500"/>
              </a:xfrm>
              <a:prstGeom prst="rect">
                <a:avLst/>
              </a:prstGeom>
              <a:solidFill>
                <a:srgbClr val="F43F5E">
                  <a:alpha val="30000"/>
                </a:srgbClr>
              </a:solidFill>
              <a:ln>
                <a:noFill/>
              </a:ln>
            </p:spPr>
          </p:sp>
          <p:sp>
            <p:nvSpPr>
              <p:cNvPr id="53" name="TextBox 53"/>
              <p:cNvSpPr txBox="1"/>
              <p:nvPr/>
            </p:nvSpPr>
            <p:spPr>
              <a:xfrm>
                <a:off x="7724608" y="8626316"/>
                <a:ext cx="858369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825" dirty="0">
                    <a:solidFill>
                      <a:srgbClr val="64748B"/>
                    </a:solidFill>
                    <a:latin typeface="Consolas"/>
                    <a:ea typeface="Microsoft YaHei"/>
                    <a:cs typeface="Consolas"/>
                  </a:rPr>
                  <a:t>目标集成度 75%</a:t>
                </a:r>
              </a:p>
            </p:txBody>
          </p:sp>
        </p:grpSp>
      </p:grpSp>
      <p:grpSp>
        <p:nvGrpSpPr>
          <p:cNvPr id="95" name="Group 95"/>
          <p:cNvGrpSpPr/>
          <p:nvPr/>
        </p:nvGrpSpPr>
        <p:grpSpPr>
          <a:xfrm>
            <a:off x="9144000" y="2571750"/>
            <a:ext cx="8572500" cy="6667500"/>
            <a:chOff x="9144000" y="2571750"/>
            <a:chExt cx="8572500" cy="6667500"/>
          </a:xfrm>
        </p:grpSpPr>
        <p:sp>
          <p:nvSpPr>
            <p:cNvPr id="56" name="Rectangle 56"/>
            <p:cNvSpPr/>
            <p:nvPr/>
          </p:nvSpPr>
          <p:spPr>
            <a:xfrm>
              <a:off x="9144000" y="2571750"/>
              <a:ext cx="8572500" cy="6667500"/>
            </a:xfrm>
            <a:prstGeom prst="rect">
              <a:avLst/>
            </a:prstGeom>
            <a:solidFill>
              <a:srgbClr val="161D2E"/>
            </a:solidFill>
            <a:ln w="9525">
              <a:solidFill>
                <a:srgbClr val="F59E0B">
                  <a:alpha val="25000"/>
                </a:srgbClr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9144000" y="2571750"/>
              <a:ext cx="8572500" cy="47625"/>
            </a:xfrm>
            <a:prstGeom prst="rect">
              <a:avLst/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9410700" y="2819400"/>
              <a:ext cx="666750" cy="266700"/>
            </a:xfrm>
            <a:prstGeom prst="rect">
              <a:avLst/>
            </a:prstGeom>
            <a:solidFill>
              <a:srgbClr val="F59E0B">
                <a:alpha val="15000"/>
              </a:srgbClr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9552270" y="2895124"/>
              <a:ext cx="38361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P2 高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0170795" y="2822258"/>
              <a:ext cx="225593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1F5F9"/>
                  </a:solidFill>
                  <a:latin typeface="Arial"/>
                  <a:ea typeface="Microsoft YaHei"/>
                  <a:cs typeface="Arial"/>
                </a:rPr>
                <a:t>Phase 2 · 流程串联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9397365" y="3239452"/>
              <a:ext cx="324707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基于数据打通基础，实现业务流程的端到端串联</a:t>
              </a:r>
            </a:p>
          </p:txBody>
        </p:sp>
        <p:grpSp>
          <p:nvGrpSpPr>
            <p:cNvPr id="72" name="Group 72"/>
            <p:cNvGrpSpPr/>
            <p:nvPr/>
          </p:nvGrpSpPr>
          <p:grpSpPr>
            <a:xfrm>
              <a:off x="9410700" y="3619500"/>
              <a:ext cx="8039100" cy="1619250"/>
              <a:chOff x="9410700" y="3619500"/>
              <a:chExt cx="8039100" cy="1619250"/>
            </a:xfrm>
          </p:grpSpPr>
          <p:sp>
            <p:nvSpPr>
              <p:cNvPr id="62" name="Rectangle 62"/>
              <p:cNvSpPr/>
              <p:nvPr/>
            </p:nvSpPr>
            <p:spPr>
              <a:xfrm>
                <a:off x="9410700" y="3619500"/>
                <a:ext cx="8039100" cy="1619250"/>
              </a:xfrm>
              <a:prstGeom prst="rect">
                <a:avLst/>
              </a:prstGeom>
              <a:solidFill>
                <a:srgbClr val="F59E0B">
                  <a:alpha val="4000"/>
                </a:srgbClr>
              </a:solidFill>
              <a:ln w="9525">
                <a:solidFill>
                  <a:srgbClr val="F59E0B">
                    <a:alpha val="15000"/>
                  </a:srgbClr>
                </a:solidFill>
              </a:ln>
            </p:spPr>
          </p:sp>
          <p:sp>
            <p:nvSpPr>
              <p:cNvPr id="63" name="Rectangle 63"/>
              <p:cNvSpPr/>
              <p:nvPr/>
            </p:nvSpPr>
            <p:spPr>
              <a:xfrm>
                <a:off x="9601200" y="3810000"/>
                <a:ext cx="266700" cy="266700"/>
              </a:xfrm>
              <a:prstGeom prst="rect">
                <a:avLst/>
              </a:prstGeom>
              <a:solidFill>
                <a:srgbClr val="F59E0B">
                  <a:alpha val="15000"/>
                </a:srgbClr>
              </a:solidFill>
              <a:ln>
                <a:noFill/>
              </a:ln>
            </p:spPr>
          </p:sp>
          <p:sp>
            <p:nvSpPr>
              <p:cNvPr id="64" name="TextBox 64"/>
              <p:cNvSpPr txBox="1"/>
              <p:nvPr/>
            </p:nvSpPr>
            <p:spPr>
              <a:xfrm>
                <a:off x="9608501" y="3887152"/>
                <a:ext cx="25209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59E0B"/>
                    </a:solidFill>
                    <a:latin typeface="Arial"/>
                    <a:ea typeface="Microsoft YaHei"/>
                    <a:cs typeface="Arial"/>
                  </a:rPr>
                  <a:t>2.1</a:t>
                </a:r>
              </a:p>
            </p:txBody>
          </p:sp>
          <p:sp>
            <p:nvSpPr>
              <p:cNvPr id="65" name="TextBox 65"/>
              <p:cNvSpPr txBox="1"/>
              <p:nvPr/>
            </p:nvSpPr>
            <p:spPr>
              <a:xfrm>
                <a:off x="9966008" y="3862864"/>
                <a:ext cx="1723671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F1F5F9"/>
                    </a:solidFill>
                    <a:latin typeface="Arial"/>
                    <a:ea typeface="Microsoft YaHei"/>
                    <a:cs typeface="Arial"/>
                  </a:rPr>
                  <a:t>内嵌YFB利润计算器</a:t>
                </a:r>
              </a:p>
            </p:txBody>
          </p:sp>
          <p:sp>
            <p:nvSpPr>
              <p:cNvPr id="66" name="TextBox 66"/>
              <p:cNvSpPr txBox="1"/>
              <p:nvPr/>
            </p:nvSpPr>
            <p:spPr>
              <a:xfrm>
                <a:off x="9587865" y="4191952"/>
                <a:ext cx="301704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94A3B8"/>
                    </a:solidFill>
                    <a:latin typeface="Arial"/>
                    <a:ea typeface="Microsoft YaHei"/>
                    <a:cs typeface="Arial"/>
                  </a:rPr>
                  <a:t>在VOC产品规划流程中内嵌YFB利润测算功能</a:t>
                </a:r>
              </a:p>
            </p:txBody>
          </p:sp>
          <p:sp>
            <p:nvSpPr>
              <p:cNvPr id="67" name="TextBox 67"/>
              <p:cNvSpPr txBox="1"/>
              <p:nvPr/>
            </p:nvSpPr>
            <p:spPr>
              <a:xfrm>
                <a:off x="9587865" y="4420552"/>
                <a:ext cx="232695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94A3B8"/>
                    </a:solidFill>
                    <a:latin typeface="Arial"/>
                    <a:ea typeface="Microsoft YaHei"/>
                    <a:cs typeface="Arial"/>
                  </a:rPr>
                  <a:t>企划阶段即可实时评估产品利润率</a:t>
                </a:r>
              </a:p>
            </p:txBody>
          </p:sp>
          <p:sp>
            <p:nvSpPr>
              <p:cNvPr id="68" name="TextBox 68"/>
              <p:cNvSpPr txBox="1"/>
              <p:nvPr/>
            </p:nvSpPr>
            <p:spPr>
              <a:xfrm>
                <a:off x="9587865" y="4649152"/>
                <a:ext cx="232695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94A3B8"/>
                    </a:solidFill>
                    <a:latin typeface="Arial"/>
                    <a:ea typeface="Microsoft YaHei"/>
                    <a:cs typeface="Arial"/>
                  </a:rPr>
                  <a:t>成本数据自动填充，无需手动录入</a:t>
                </a:r>
              </a:p>
            </p:txBody>
          </p:sp>
          <p:sp>
            <p:nvSpPr>
              <p:cNvPr id="69" name="Rectangle 69"/>
              <p:cNvSpPr/>
              <p:nvPr/>
            </p:nvSpPr>
            <p:spPr>
              <a:xfrm>
                <a:off x="9601200" y="4953000"/>
                <a:ext cx="7658100" cy="190500"/>
              </a:xfrm>
              <a:prstGeom prst="rect">
                <a:avLst/>
              </a:prstGeom>
              <a:solidFill>
                <a:srgbClr val="1E293B"/>
              </a:solidFill>
              <a:ln>
                <a:noFill/>
              </a:ln>
            </p:spPr>
          </p:sp>
          <p:sp>
            <p:nvSpPr>
              <p:cNvPr id="70" name="Rectangle 70"/>
              <p:cNvSpPr/>
              <p:nvPr/>
            </p:nvSpPr>
            <p:spPr>
              <a:xfrm>
                <a:off x="9601200" y="4953000"/>
                <a:ext cx="6124575" cy="190500"/>
              </a:xfrm>
              <a:prstGeom prst="rect">
                <a:avLst/>
              </a:prstGeom>
              <a:solidFill>
                <a:srgbClr val="F59E0B">
                  <a:alpha val="30000"/>
                </a:srgbClr>
              </a:solidFill>
              <a:ln>
                <a:noFill/>
              </a:ln>
            </p:spPr>
          </p:sp>
          <p:sp>
            <p:nvSpPr>
              <p:cNvPr id="71" name="TextBox 71"/>
              <p:cNvSpPr txBox="1"/>
              <p:nvPr/>
            </p:nvSpPr>
            <p:spPr>
              <a:xfrm>
                <a:off x="15682436" y="5006816"/>
                <a:ext cx="1587341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825" dirty="0">
                    <a:solidFill>
                      <a:srgbClr val="64748B"/>
                    </a:solidFill>
                    <a:latin typeface="Consolas"/>
                    <a:ea typeface="Microsoft YaHei"/>
                    <a:cs typeface="Consolas"/>
                  </a:rPr>
                  <a:t>目标：企划阶段利润实时评估</a:t>
                </a:r>
              </a:p>
            </p:txBody>
          </p:sp>
        </p:grpSp>
        <p:grpSp>
          <p:nvGrpSpPr>
            <p:cNvPr id="83" name="Group 83"/>
            <p:cNvGrpSpPr/>
            <p:nvPr/>
          </p:nvGrpSpPr>
          <p:grpSpPr>
            <a:xfrm>
              <a:off x="9410700" y="5429250"/>
              <a:ext cx="8039100" cy="1619250"/>
              <a:chOff x="9410700" y="5429250"/>
              <a:chExt cx="8039100" cy="1619250"/>
            </a:xfrm>
          </p:grpSpPr>
          <p:sp>
            <p:nvSpPr>
              <p:cNvPr id="73" name="Rectangle 73"/>
              <p:cNvSpPr/>
              <p:nvPr/>
            </p:nvSpPr>
            <p:spPr>
              <a:xfrm>
                <a:off x="9410700" y="5429250"/>
                <a:ext cx="8039100" cy="1619250"/>
              </a:xfrm>
              <a:prstGeom prst="rect">
                <a:avLst/>
              </a:prstGeom>
              <a:solidFill>
                <a:srgbClr val="F59E0B">
                  <a:alpha val="4000"/>
                </a:srgbClr>
              </a:solidFill>
              <a:ln w="9525">
                <a:solidFill>
                  <a:srgbClr val="F59E0B">
                    <a:alpha val="15000"/>
                  </a:srgbClr>
                </a:solidFill>
              </a:ln>
            </p:spPr>
          </p:sp>
          <p:sp>
            <p:nvSpPr>
              <p:cNvPr id="74" name="Rectangle 74"/>
              <p:cNvSpPr/>
              <p:nvPr/>
            </p:nvSpPr>
            <p:spPr>
              <a:xfrm>
                <a:off x="9601200" y="5619750"/>
                <a:ext cx="266700" cy="266700"/>
              </a:xfrm>
              <a:prstGeom prst="rect">
                <a:avLst/>
              </a:prstGeom>
              <a:solidFill>
                <a:srgbClr val="F59E0B">
                  <a:alpha val="15000"/>
                </a:srgbClr>
              </a:solidFill>
              <a:ln>
                <a:noFill/>
              </a:ln>
            </p:spPr>
          </p:sp>
          <p:sp>
            <p:nvSpPr>
              <p:cNvPr id="75" name="TextBox 75"/>
              <p:cNvSpPr txBox="1"/>
              <p:nvPr/>
            </p:nvSpPr>
            <p:spPr>
              <a:xfrm>
                <a:off x="9588373" y="5696902"/>
                <a:ext cx="29235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59E0B"/>
                    </a:solidFill>
                    <a:latin typeface="Arial"/>
                    <a:ea typeface="Microsoft YaHei"/>
                    <a:cs typeface="Arial"/>
                  </a:rPr>
                  <a:t>2.2</a:t>
                </a:r>
              </a:p>
            </p:txBody>
          </p:sp>
          <p:sp>
            <p:nvSpPr>
              <p:cNvPr id="76" name="TextBox 76"/>
              <p:cNvSpPr txBox="1"/>
              <p:nvPr/>
            </p:nvSpPr>
            <p:spPr>
              <a:xfrm>
                <a:off x="9966008" y="5672614"/>
                <a:ext cx="1205532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F1F5F9"/>
                    </a:solidFill>
                    <a:latin typeface="Arial"/>
                    <a:ea typeface="Microsoft YaHei"/>
                    <a:cs typeface="Arial"/>
                  </a:rPr>
                  <a:t>全流程在线化</a:t>
                </a:r>
              </a:p>
            </p:txBody>
          </p:sp>
          <p:sp>
            <p:nvSpPr>
              <p:cNvPr id="77" name="TextBox 77"/>
              <p:cNvSpPr txBox="1"/>
              <p:nvPr/>
            </p:nvSpPr>
            <p:spPr>
              <a:xfrm>
                <a:off x="9587865" y="6001702"/>
                <a:ext cx="248031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94A3B8"/>
                    </a:solidFill>
                    <a:latin typeface="Arial"/>
                    <a:ea typeface="Microsoft YaHei"/>
                    <a:cs typeface="Arial"/>
                  </a:rPr>
                  <a:t>从市场洞察到运营反馈全流程在线化</a:t>
                </a:r>
              </a:p>
            </p:txBody>
          </p:sp>
          <p:sp>
            <p:nvSpPr>
              <p:cNvPr id="78" name="TextBox 78"/>
              <p:cNvSpPr txBox="1"/>
              <p:nvPr/>
            </p:nvSpPr>
            <p:spPr>
              <a:xfrm>
                <a:off x="9587865" y="6230302"/>
                <a:ext cx="218127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94A3B8"/>
                    </a:solidFill>
                    <a:latin typeface="Arial"/>
                    <a:ea typeface="Microsoft YaHei"/>
                    <a:cs typeface="Arial"/>
                  </a:rPr>
                  <a:t>消除Excel/邮件等离线协作方式</a:t>
                </a:r>
              </a:p>
            </p:txBody>
          </p:sp>
          <p:sp>
            <p:nvSpPr>
              <p:cNvPr id="79" name="TextBox 79"/>
              <p:cNvSpPr txBox="1"/>
              <p:nvPr/>
            </p:nvSpPr>
            <p:spPr>
              <a:xfrm>
                <a:off x="9587865" y="6458902"/>
                <a:ext cx="248031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94A3B8"/>
                    </a:solidFill>
                    <a:latin typeface="Arial"/>
                    <a:ea typeface="Microsoft YaHei"/>
                    <a:cs typeface="Arial"/>
                  </a:rPr>
                  <a:t>统一工作台，一个入口完成所有操作</a:t>
                </a:r>
              </a:p>
            </p:txBody>
          </p:sp>
          <p:sp>
            <p:nvSpPr>
              <p:cNvPr id="80" name="Rectangle 80"/>
              <p:cNvSpPr/>
              <p:nvPr/>
            </p:nvSpPr>
            <p:spPr>
              <a:xfrm>
                <a:off x="9601200" y="6762750"/>
                <a:ext cx="7658100" cy="190500"/>
              </a:xfrm>
              <a:prstGeom prst="rect">
                <a:avLst/>
              </a:prstGeom>
              <a:solidFill>
                <a:srgbClr val="1E293B"/>
              </a:solidFill>
              <a:ln>
                <a:noFill/>
              </a:ln>
            </p:spPr>
          </p:sp>
          <p:sp>
            <p:nvSpPr>
              <p:cNvPr id="81" name="Rectangle 81"/>
              <p:cNvSpPr/>
              <p:nvPr/>
            </p:nvSpPr>
            <p:spPr>
              <a:xfrm>
                <a:off x="9601200" y="6762750"/>
                <a:ext cx="5362575" cy="190500"/>
              </a:xfrm>
              <a:prstGeom prst="rect">
                <a:avLst/>
              </a:prstGeom>
              <a:solidFill>
                <a:srgbClr val="F59E0B">
                  <a:alpha val="30000"/>
                </a:srgbClr>
              </a:solidFill>
              <a:ln>
                <a:noFill/>
              </a:ln>
            </p:spPr>
          </p:sp>
          <p:sp>
            <p:nvSpPr>
              <p:cNvPr id="82" name="TextBox 82"/>
              <p:cNvSpPr txBox="1"/>
              <p:nvPr/>
            </p:nvSpPr>
            <p:spPr>
              <a:xfrm>
                <a:off x="15808952" y="6816566"/>
                <a:ext cx="1460825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825" dirty="0">
                    <a:solidFill>
                      <a:srgbClr val="64748B"/>
                    </a:solidFill>
                    <a:latin typeface="Consolas"/>
                    <a:ea typeface="Microsoft YaHei"/>
                    <a:cs typeface="Consolas"/>
                  </a:rPr>
                  <a:t>目标：全流程在线化率 70%</a:t>
                </a:r>
              </a:p>
            </p:txBody>
          </p:sp>
        </p:grpSp>
        <p:grpSp>
          <p:nvGrpSpPr>
            <p:cNvPr id="94" name="Group 94"/>
            <p:cNvGrpSpPr/>
            <p:nvPr/>
          </p:nvGrpSpPr>
          <p:grpSpPr>
            <a:xfrm>
              <a:off x="9410700" y="7239000"/>
              <a:ext cx="8039100" cy="1619250"/>
              <a:chOff x="9410700" y="7239000"/>
              <a:chExt cx="8039100" cy="1619250"/>
            </a:xfrm>
          </p:grpSpPr>
          <p:sp>
            <p:nvSpPr>
              <p:cNvPr id="84" name="Rectangle 84"/>
              <p:cNvSpPr/>
              <p:nvPr/>
            </p:nvSpPr>
            <p:spPr>
              <a:xfrm>
                <a:off x="9410700" y="7239000"/>
                <a:ext cx="8039100" cy="1619250"/>
              </a:xfrm>
              <a:prstGeom prst="rect">
                <a:avLst/>
              </a:prstGeom>
              <a:solidFill>
                <a:srgbClr val="F59E0B">
                  <a:alpha val="4000"/>
                </a:srgbClr>
              </a:solidFill>
              <a:ln w="9525">
                <a:solidFill>
                  <a:srgbClr val="F59E0B">
                    <a:alpha val="15000"/>
                  </a:srgbClr>
                </a:solidFill>
              </a:ln>
            </p:spPr>
          </p:sp>
          <p:sp>
            <p:nvSpPr>
              <p:cNvPr id="85" name="Rectangle 85"/>
              <p:cNvSpPr/>
              <p:nvPr/>
            </p:nvSpPr>
            <p:spPr>
              <a:xfrm>
                <a:off x="9601200" y="7429500"/>
                <a:ext cx="266700" cy="266700"/>
              </a:xfrm>
              <a:prstGeom prst="rect">
                <a:avLst/>
              </a:prstGeom>
              <a:solidFill>
                <a:srgbClr val="F59E0B">
                  <a:alpha val="15000"/>
                </a:srgbClr>
              </a:solidFill>
              <a:ln>
                <a:noFill/>
              </a:ln>
            </p:spPr>
          </p:sp>
          <p:sp>
            <p:nvSpPr>
              <p:cNvPr id="86" name="TextBox 86"/>
              <p:cNvSpPr txBox="1"/>
              <p:nvPr/>
            </p:nvSpPr>
            <p:spPr>
              <a:xfrm>
                <a:off x="9588373" y="7506652"/>
                <a:ext cx="29235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59E0B"/>
                    </a:solidFill>
                    <a:latin typeface="Arial"/>
                    <a:ea typeface="Microsoft YaHei"/>
                    <a:cs typeface="Arial"/>
                  </a:rPr>
                  <a:t>2.3</a:t>
                </a:r>
              </a:p>
            </p:txBody>
          </p:sp>
          <p:sp>
            <p:nvSpPr>
              <p:cNvPr id="87" name="TextBox 87"/>
              <p:cNvSpPr txBox="1"/>
              <p:nvPr/>
            </p:nvSpPr>
            <p:spPr>
              <a:xfrm>
                <a:off x="9966008" y="7482364"/>
                <a:ext cx="1596580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F1F5F9"/>
                    </a:solidFill>
                    <a:latin typeface="Arial"/>
                    <a:ea typeface="Microsoft YaHei"/>
                    <a:cs typeface="Arial"/>
                  </a:rPr>
                  <a:t>评分预警自动通知</a:t>
                </a:r>
              </a:p>
            </p:txBody>
          </p:sp>
          <p:sp>
            <p:nvSpPr>
              <p:cNvPr id="88" name="TextBox 88"/>
              <p:cNvSpPr txBox="1"/>
              <p:nvPr/>
            </p:nvSpPr>
            <p:spPr>
              <a:xfrm>
                <a:off x="9587865" y="7811452"/>
                <a:ext cx="211226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94A3B8"/>
                    </a:solidFill>
                    <a:latin typeface="Arial"/>
                    <a:ea typeface="Microsoft YaHei"/>
                    <a:cs typeface="Arial"/>
                  </a:rPr>
                  <a:t>LASEN评分预警自动推送至VOC</a:t>
                </a:r>
              </a:p>
            </p:txBody>
          </p:sp>
          <p:sp>
            <p:nvSpPr>
              <p:cNvPr id="89" name="TextBox 89"/>
              <p:cNvSpPr txBox="1"/>
              <p:nvPr/>
            </p:nvSpPr>
            <p:spPr>
              <a:xfrm>
                <a:off x="9587865" y="8040052"/>
                <a:ext cx="248031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94A3B8"/>
                    </a:solidFill>
                    <a:latin typeface="Arial"/>
                    <a:ea typeface="Microsoft YaHei"/>
                    <a:cs typeface="Arial"/>
                  </a:rPr>
                  <a:t>产品评分低于阈值自动触发预警通知</a:t>
                </a:r>
              </a:p>
            </p:txBody>
          </p:sp>
          <p:sp>
            <p:nvSpPr>
              <p:cNvPr id="90" name="TextBox 90"/>
              <p:cNvSpPr txBox="1"/>
              <p:nvPr/>
            </p:nvSpPr>
            <p:spPr>
              <a:xfrm>
                <a:off x="9587865" y="8268652"/>
                <a:ext cx="217360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94A3B8"/>
                    </a:solidFill>
                    <a:latin typeface="Arial"/>
                    <a:ea typeface="Microsoft YaHei"/>
                    <a:cs typeface="Arial"/>
                  </a:rPr>
                  <a:t>与企划进度关联，驱动迭代优化</a:t>
                </a:r>
              </a:p>
            </p:txBody>
          </p:sp>
          <p:sp>
            <p:nvSpPr>
              <p:cNvPr id="91" name="Rectangle 91"/>
              <p:cNvSpPr/>
              <p:nvPr/>
            </p:nvSpPr>
            <p:spPr>
              <a:xfrm>
                <a:off x="9601200" y="8572500"/>
                <a:ext cx="7658100" cy="190500"/>
              </a:xfrm>
              <a:prstGeom prst="rect">
                <a:avLst/>
              </a:prstGeom>
              <a:solidFill>
                <a:srgbClr val="1E293B"/>
              </a:solidFill>
              <a:ln>
                <a:noFill/>
              </a:ln>
            </p:spPr>
          </p:sp>
          <p:sp>
            <p:nvSpPr>
              <p:cNvPr id="92" name="Rectangle 92"/>
              <p:cNvSpPr/>
              <p:nvPr/>
            </p:nvSpPr>
            <p:spPr>
              <a:xfrm>
                <a:off x="9601200" y="8572500"/>
                <a:ext cx="4981575" cy="190500"/>
              </a:xfrm>
              <a:prstGeom prst="rect">
                <a:avLst/>
              </a:prstGeom>
              <a:solidFill>
                <a:srgbClr val="F59E0B">
                  <a:alpha val="30000"/>
                </a:srgbClr>
              </a:solidFill>
              <a:ln>
                <a:noFill/>
              </a:ln>
            </p:spPr>
          </p:sp>
          <p:sp>
            <p:nvSpPr>
              <p:cNvPr id="93" name="TextBox 93"/>
              <p:cNvSpPr txBox="1"/>
              <p:nvPr/>
            </p:nvSpPr>
            <p:spPr>
              <a:xfrm>
                <a:off x="15748706" y="8626316"/>
                <a:ext cx="1521071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825" dirty="0">
                    <a:solidFill>
                      <a:srgbClr val="64748B"/>
                    </a:solidFill>
                    <a:latin typeface="Consolas"/>
                    <a:ea typeface="Microsoft YaHei"/>
                    <a:cs typeface="Consolas"/>
                  </a:rPr>
                  <a:t>目标：预警响应时间 &lt; 1小时</a:t>
                </a:r>
              </a:p>
            </p:txBody>
          </p:sp>
        </p:grpSp>
      </p:grpSp>
      <p:sp>
        <p:nvSpPr>
          <p:cNvPr id="96" name="TextBox 96"/>
          <p:cNvSpPr txBox="1"/>
          <p:nvPr/>
        </p:nvSpPr>
        <p:spPr>
          <a:xfrm>
            <a:off x="8961822" y="10007441"/>
            <a:ext cx="36435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10 / 14</a:t>
            </a:r>
          </a:p>
        </p:txBody>
      </p:sp>
    </p:spTree>
  </p:cSld>
  <p:clrMapOvr>
    <a:masterClrMapping/>
  </p:clrMapOvr>
  <p:transition 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A0E1A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571500" y="381000"/>
            <a:ext cx="17145000" cy="419100"/>
          </a:xfrm>
          <a:prstGeom prst="rect">
            <a:avLst/>
          </a:prstGeom>
          <a:solidFill>
            <a:srgbClr val="161D2E"/>
          </a:solidFill>
          <a:ln w="9525">
            <a:solidFill>
              <a:srgbClr val="1E293B"/>
            </a:solidFill>
          </a:ln>
        </p:spPr>
      </p:sp>
      <p:sp>
        <p:nvSpPr>
          <p:cNvPr id="4" name="TextBox 4"/>
          <p:cNvSpPr txBox="1"/>
          <p:nvPr/>
        </p:nvSpPr>
        <p:spPr>
          <a:xfrm>
            <a:off x="748665" y="534352"/>
            <a:ext cx="105719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06B6D4"/>
                </a:solidFill>
                <a:latin typeface="Arial"/>
                <a:ea typeface="Microsoft YaHei"/>
                <a:cs typeface="Arial"/>
              </a:rPr>
              <a:t>LASEN.Digital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6491347" y="558641"/>
            <a:ext cx="104513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系统设计报告 v2.0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0070" y="1141095"/>
            <a:ext cx="232774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06B6D4"/>
                </a:solidFill>
                <a:latin typeface="Arial"/>
                <a:ea typeface="Microsoft YaHei"/>
                <a:cs typeface="Arial"/>
              </a:rPr>
              <a:t>IMPLEMENTATION ROADMAP (CONT.)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41020" y="1341120"/>
            <a:ext cx="5250409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实施路径与优先级 (Phase 3-4)</a:t>
            </a:r>
          </a:p>
        </p:txBody>
      </p:sp>
      <p:sp>
        <p:nvSpPr>
          <p:cNvPr id="8" name="Rectangle 8"/>
          <p:cNvSpPr/>
          <p:nvPr/>
        </p:nvSpPr>
        <p:spPr>
          <a:xfrm>
            <a:off x="571500" y="1809750"/>
            <a:ext cx="17145000" cy="476250"/>
          </a:xfrm>
          <a:prstGeom prst="rect">
            <a:avLst/>
          </a:prstGeom>
          <a:solidFill>
            <a:srgbClr val="06B6D4">
              <a:alpha val="6000"/>
            </a:srgbClr>
          </a:solidFill>
          <a:ln w="9525">
            <a:solidFill>
              <a:srgbClr val="06B6D4">
                <a:alpha val="15000"/>
              </a:srgbClr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6044184" y="1975485"/>
            <a:ext cx="619963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Phase 3聚焦智能升级，Phase 4着眼长期平台统一，构建可持续演进的技术基座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571500" y="2571750"/>
            <a:ext cx="8382000" cy="6667500"/>
            <a:chOff x="571500" y="2571750"/>
            <a:chExt cx="8382000" cy="6667500"/>
          </a:xfrm>
        </p:grpSpPr>
        <p:sp>
          <p:nvSpPr>
            <p:cNvPr id="10" name="Rectangle 10"/>
            <p:cNvSpPr/>
            <p:nvPr/>
          </p:nvSpPr>
          <p:spPr>
            <a:xfrm>
              <a:off x="571500" y="2571750"/>
              <a:ext cx="8382000" cy="6667500"/>
            </a:xfrm>
            <a:prstGeom prst="rect">
              <a:avLst/>
            </a:prstGeom>
            <a:solidFill>
              <a:srgbClr val="161D2E"/>
            </a:solidFill>
            <a:ln w="9525">
              <a:solidFill>
                <a:srgbClr val="3B82F6">
                  <a:alpha val="25000"/>
                </a:srgbClr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571500" y="2571750"/>
              <a:ext cx="8382000" cy="47625"/>
            </a:xfrm>
            <a:prstGeom prst="rect">
              <a:avLst/>
            </a:prstGeom>
            <a:solidFill>
              <a:srgbClr val="3B82F6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838200" y="2819400"/>
              <a:ext cx="666750" cy="266700"/>
            </a:xfrm>
            <a:prstGeom prst="rect">
              <a:avLst/>
            </a:prstGeom>
            <a:solidFill>
              <a:srgbClr val="3B82F6">
                <a:alpha val="15000"/>
              </a:srgbClr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79770" y="2895124"/>
              <a:ext cx="38361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3B82F6"/>
                  </a:solidFill>
                  <a:latin typeface="Arial"/>
                  <a:ea typeface="Microsoft YaHei"/>
                  <a:cs typeface="Arial"/>
                </a:rPr>
                <a:t>P3 中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598295" y="2822258"/>
              <a:ext cx="225593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1F5F9"/>
                  </a:solidFill>
                  <a:latin typeface="Arial"/>
                  <a:ea typeface="Microsoft YaHei"/>
                  <a:cs typeface="Arial"/>
                </a:rPr>
                <a:t>Phase 3 · 智能升级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24865" y="3239452"/>
              <a:ext cx="35307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基于数据打通与流程串联，引入AI能力实现智能决策</a:t>
              </a:r>
            </a:p>
          </p:txBody>
        </p:sp>
        <p:grpSp>
          <p:nvGrpSpPr>
            <p:cNvPr id="22" name="Group 22"/>
            <p:cNvGrpSpPr/>
            <p:nvPr/>
          </p:nvGrpSpPr>
          <p:grpSpPr>
            <a:xfrm>
              <a:off x="838200" y="3619500"/>
              <a:ext cx="7848600" cy="1143000"/>
              <a:chOff x="838200" y="3619500"/>
              <a:chExt cx="7848600" cy="1143000"/>
            </a:xfrm>
          </p:grpSpPr>
          <p:sp>
            <p:nvSpPr>
              <p:cNvPr id="16" name="Rectangle 16"/>
              <p:cNvSpPr/>
              <p:nvPr/>
            </p:nvSpPr>
            <p:spPr>
              <a:xfrm>
                <a:off x="838200" y="3619500"/>
                <a:ext cx="7848600" cy="1143000"/>
              </a:xfrm>
              <a:prstGeom prst="rect">
                <a:avLst/>
              </a:prstGeom>
              <a:solidFill>
                <a:srgbClr val="3B82F6">
                  <a:alpha val="4000"/>
                </a:srgbClr>
              </a:solidFill>
              <a:ln w="9525">
                <a:solidFill>
                  <a:srgbClr val="3B82F6">
                    <a:alpha val="15000"/>
                  </a:srgbClr>
                </a:solidFill>
              </a:ln>
            </p:spPr>
          </p:sp>
          <p:sp>
            <p:nvSpPr>
              <p:cNvPr id="17" name="Rectangle 17"/>
              <p:cNvSpPr/>
              <p:nvPr/>
            </p:nvSpPr>
            <p:spPr>
              <a:xfrm>
                <a:off x="1028700" y="3810000"/>
                <a:ext cx="266700" cy="266700"/>
              </a:xfrm>
              <a:prstGeom prst="rect">
                <a:avLst/>
              </a:prstGeom>
              <a:solidFill>
                <a:srgbClr val="3B82F6">
                  <a:alpha val="15000"/>
                </a:srgbClr>
              </a:solidFill>
              <a:ln>
                <a:noFill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1036001" y="3887152"/>
                <a:ext cx="25209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3B82F6"/>
                    </a:solidFill>
                    <a:latin typeface="Arial"/>
                    <a:ea typeface="Microsoft YaHei"/>
                    <a:cs typeface="Arial"/>
                  </a:rPr>
                  <a:t>3.1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393508" y="3862864"/>
                <a:ext cx="1596580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F1F5F9"/>
                    </a:solidFill>
                    <a:latin typeface="Arial"/>
                    <a:ea typeface="Microsoft YaHei"/>
                    <a:cs typeface="Arial"/>
                  </a:rPr>
                  <a:t>品类机会自动推荐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1015365" y="4191952"/>
                <a:ext cx="411351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94A3B8"/>
                    </a:solidFill>
                    <a:latin typeface="Arial"/>
                    <a:ea typeface="Microsoft YaHei"/>
                    <a:cs typeface="Arial"/>
                  </a:rPr>
                  <a:t>基于AMZN市场数据+VOC消费者洞察，AI自动推荐高潜力品类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1015365" y="4420552"/>
                <a:ext cx="273334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94A3B8"/>
                    </a:solidFill>
                    <a:latin typeface="Arial"/>
                    <a:ea typeface="Microsoft YaHei"/>
                    <a:cs typeface="Arial"/>
                  </a:rPr>
                  <a:t>结合YFB利润测算，评估品类投资回报率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838200" y="4914900"/>
              <a:ext cx="7848600" cy="1143000"/>
              <a:chOff x="838200" y="4914900"/>
              <a:chExt cx="7848600" cy="1143000"/>
            </a:xfrm>
          </p:grpSpPr>
          <p:sp>
            <p:nvSpPr>
              <p:cNvPr id="23" name="Rectangle 23"/>
              <p:cNvSpPr/>
              <p:nvPr/>
            </p:nvSpPr>
            <p:spPr>
              <a:xfrm>
                <a:off x="838200" y="4914900"/>
                <a:ext cx="7848600" cy="1143000"/>
              </a:xfrm>
              <a:prstGeom prst="rect">
                <a:avLst/>
              </a:prstGeom>
              <a:solidFill>
                <a:srgbClr val="3B82F6">
                  <a:alpha val="4000"/>
                </a:srgbClr>
              </a:solidFill>
              <a:ln w="9525">
                <a:solidFill>
                  <a:srgbClr val="3B82F6">
                    <a:alpha val="15000"/>
                  </a:srgbClr>
                </a:solidFill>
              </a:ln>
            </p:spPr>
          </p:sp>
          <p:sp>
            <p:nvSpPr>
              <p:cNvPr id="24" name="Rectangle 24"/>
              <p:cNvSpPr/>
              <p:nvPr/>
            </p:nvSpPr>
            <p:spPr>
              <a:xfrm>
                <a:off x="1028700" y="5105400"/>
                <a:ext cx="266700" cy="266700"/>
              </a:xfrm>
              <a:prstGeom prst="rect">
                <a:avLst/>
              </a:prstGeom>
              <a:solidFill>
                <a:srgbClr val="3B82F6">
                  <a:alpha val="15000"/>
                </a:srgbClr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1015873" y="5182552"/>
                <a:ext cx="29235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3B82F6"/>
                    </a:solidFill>
                    <a:latin typeface="Arial"/>
                    <a:ea typeface="Microsoft YaHei"/>
                    <a:cs typeface="Arial"/>
                  </a:rPr>
                  <a:t>3.2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1393508" y="5158264"/>
                <a:ext cx="1792105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F1F5F9"/>
                    </a:solidFill>
                    <a:latin typeface="Arial"/>
                    <a:ea typeface="Microsoft YaHei"/>
                    <a:cs typeface="Arial"/>
                  </a:rPr>
                  <a:t>爆款预测与补货建议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1015365" y="5487352"/>
                <a:ext cx="333141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94A3B8"/>
                    </a:solidFill>
                    <a:latin typeface="Arial"/>
                    <a:ea typeface="Microsoft YaHei"/>
                    <a:cs typeface="Arial"/>
                  </a:rPr>
                  <a:t>LASEN运营数据+AMZN市场趋势，AI预测爆款产品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1015365" y="5715952"/>
                <a:ext cx="304004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94A3B8"/>
                    </a:solidFill>
                    <a:latin typeface="Arial"/>
                    <a:ea typeface="Microsoft YaHei"/>
                    <a:cs typeface="Arial"/>
                  </a:rPr>
                  <a:t>结合YFB成本数据，智能补货与库存优化建议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838200" y="6210300"/>
              <a:ext cx="7848600" cy="1143000"/>
              <a:chOff x="838200" y="6210300"/>
              <a:chExt cx="7848600" cy="1143000"/>
            </a:xfrm>
          </p:grpSpPr>
          <p:sp>
            <p:nvSpPr>
              <p:cNvPr id="30" name="Rectangle 30"/>
              <p:cNvSpPr/>
              <p:nvPr/>
            </p:nvSpPr>
            <p:spPr>
              <a:xfrm>
                <a:off x="838200" y="6210300"/>
                <a:ext cx="7848600" cy="1143000"/>
              </a:xfrm>
              <a:prstGeom prst="rect">
                <a:avLst/>
              </a:prstGeom>
              <a:solidFill>
                <a:srgbClr val="3B82F6">
                  <a:alpha val="4000"/>
                </a:srgbClr>
              </a:solidFill>
              <a:ln w="9525">
                <a:solidFill>
                  <a:srgbClr val="3B82F6">
                    <a:alpha val="15000"/>
                  </a:srgbClr>
                </a:solidFill>
              </a:ln>
            </p:spPr>
          </p:sp>
          <p:sp>
            <p:nvSpPr>
              <p:cNvPr id="31" name="Rectangle 31"/>
              <p:cNvSpPr/>
              <p:nvPr/>
            </p:nvSpPr>
            <p:spPr>
              <a:xfrm>
                <a:off x="1028700" y="6400800"/>
                <a:ext cx="266700" cy="266700"/>
              </a:xfrm>
              <a:prstGeom prst="rect">
                <a:avLst/>
              </a:prstGeom>
              <a:solidFill>
                <a:srgbClr val="3B82F6">
                  <a:alpha val="15000"/>
                </a:srgbClr>
              </a:solidFill>
              <a:ln>
                <a:noFill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1015873" y="6477952"/>
                <a:ext cx="29235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3B82F6"/>
                    </a:solidFill>
                    <a:latin typeface="Arial"/>
                    <a:ea typeface="Microsoft YaHei"/>
                    <a:cs typeface="Arial"/>
                  </a:rPr>
                  <a:t>3.3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1393508" y="6453664"/>
                <a:ext cx="1919196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F1F5F9"/>
                    </a:solidFill>
                    <a:latin typeface="Arial"/>
                    <a:ea typeface="Microsoft YaHei"/>
                    <a:cs typeface="Arial"/>
                  </a:rPr>
                  <a:t>RAG知识库全业务覆盖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1015365" y="6782752"/>
                <a:ext cx="399083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94A3B8"/>
                    </a:solidFill>
                    <a:latin typeface="Arial"/>
                    <a:ea typeface="Microsoft YaHei"/>
                    <a:cs typeface="Arial"/>
                  </a:rPr>
                  <a:t>扩展RAG知识库至全业务域（市场/企划/设计/成本/运营）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1015365" y="7011352"/>
                <a:ext cx="309372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94A3B8"/>
                    </a:solidFill>
                    <a:latin typeface="Arial"/>
                    <a:ea typeface="Microsoft YaHei"/>
                    <a:cs typeface="Arial"/>
                  </a:rPr>
                  <a:t>智能问答覆盖所有业务场景，新员工快速上手</a:t>
                </a:r>
              </a:p>
            </p:txBody>
          </p:sp>
        </p:grpSp>
        <p:grpSp>
          <p:nvGrpSpPr>
            <p:cNvPr id="43" name="Group 43"/>
            <p:cNvGrpSpPr/>
            <p:nvPr/>
          </p:nvGrpSpPr>
          <p:grpSpPr>
            <a:xfrm>
              <a:off x="838200" y="7505700"/>
              <a:ext cx="7848600" cy="1143000"/>
              <a:chOff x="838200" y="7505700"/>
              <a:chExt cx="7848600" cy="1143000"/>
            </a:xfrm>
          </p:grpSpPr>
          <p:sp>
            <p:nvSpPr>
              <p:cNvPr id="37" name="Rectangle 37"/>
              <p:cNvSpPr/>
              <p:nvPr/>
            </p:nvSpPr>
            <p:spPr>
              <a:xfrm>
                <a:off x="838200" y="7505700"/>
                <a:ext cx="7848600" cy="1143000"/>
              </a:xfrm>
              <a:prstGeom prst="rect">
                <a:avLst/>
              </a:prstGeom>
              <a:solidFill>
                <a:srgbClr val="3B82F6">
                  <a:alpha val="4000"/>
                </a:srgbClr>
              </a:solidFill>
              <a:ln w="9525">
                <a:solidFill>
                  <a:srgbClr val="3B82F6">
                    <a:alpha val="15000"/>
                  </a:srgbClr>
                </a:solidFill>
              </a:ln>
            </p:spPr>
          </p:sp>
          <p:sp>
            <p:nvSpPr>
              <p:cNvPr id="38" name="Rectangle 38"/>
              <p:cNvSpPr/>
              <p:nvPr/>
            </p:nvSpPr>
            <p:spPr>
              <a:xfrm>
                <a:off x="1028700" y="7696200"/>
                <a:ext cx="266700" cy="266700"/>
              </a:xfrm>
              <a:prstGeom prst="rect">
                <a:avLst/>
              </a:prstGeom>
              <a:solidFill>
                <a:srgbClr val="3B82F6">
                  <a:alpha val="15000"/>
                </a:srgbClr>
              </a:solidFill>
              <a:ln>
                <a:noFill/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1015873" y="7773352"/>
                <a:ext cx="29235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3B82F6"/>
                    </a:solidFill>
                    <a:latin typeface="Arial"/>
                    <a:ea typeface="Microsoft YaHei"/>
                    <a:cs typeface="Arial"/>
                  </a:rPr>
                  <a:t>3.4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1393508" y="7749064"/>
                <a:ext cx="1596580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F1F5F9"/>
                    </a:solidFill>
                    <a:latin typeface="Arial"/>
                    <a:ea typeface="Microsoft YaHei"/>
                    <a:cs typeface="Arial"/>
                  </a:rPr>
                  <a:t>色彩方案智能推荐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1015365" y="8078152"/>
                <a:ext cx="346176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94A3B8"/>
                    </a:solidFill>
                    <a:latin typeface="Arial"/>
                    <a:ea typeface="Microsoft YaHei"/>
                    <a:cs typeface="Arial"/>
                  </a:rPr>
                  <a:t>COLOR色彩库+VOC色彩趋势，AI推荐最佳色彩方案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1015365" y="8306752"/>
                <a:ext cx="309372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94A3B8"/>
                    </a:solidFill>
                    <a:latin typeface="Arial"/>
                    <a:ea typeface="Microsoft YaHei"/>
                    <a:cs typeface="Arial"/>
                  </a:rPr>
                  <a:t>结合消费者偏好与市场趋势，个性化色彩搭配</a:t>
                </a:r>
              </a:p>
            </p:txBody>
          </p:sp>
        </p:grpSp>
      </p:grpSp>
      <p:grpSp>
        <p:nvGrpSpPr>
          <p:cNvPr id="77" name="Group 77"/>
          <p:cNvGrpSpPr/>
          <p:nvPr/>
        </p:nvGrpSpPr>
        <p:grpSpPr>
          <a:xfrm>
            <a:off x="9144000" y="2571750"/>
            <a:ext cx="8572500" cy="6667500"/>
            <a:chOff x="9144000" y="2571750"/>
            <a:chExt cx="8572500" cy="6667500"/>
          </a:xfrm>
        </p:grpSpPr>
        <p:sp>
          <p:nvSpPr>
            <p:cNvPr id="45" name="Rectangle 45"/>
            <p:cNvSpPr/>
            <p:nvPr/>
          </p:nvSpPr>
          <p:spPr>
            <a:xfrm>
              <a:off x="9144000" y="2571750"/>
              <a:ext cx="8572500" cy="6667500"/>
            </a:xfrm>
            <a:prstGeom prst="rect">
              <a:avLst/>
            </a:prstGeom>
            <a:solidFill>
              <a:srgbClr val="161D2E"/>
            </a:solidFill>
            <a:ln w="9525">
              <a:solidFill>
                <a:srgbClr val="8B5CF6">
                  <a:alpha val="25000"/>
                </a:srgbClr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9144000" y="2571750"/>
              <a:ext cx="8572500" cy="47625"/>
            </a:xfrm>
            <a:prstGeom prst="rect">
              <a:avLst/>
            </a:prstGeom>
            <a:solidFill>
              <a:srgbClr val="8B5CF6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9410700" y="2819400"/>
              <a:ext cx="857250" cy="266700"/>
            </a:xfrm>
            <a:prstGeom prst="rect">
              <a:avLst/>
            </a:prstGeom>
            <a:solidFill>
              <a:srgbClr val="8B5CF6">
                <a:alpha val="15000"/>
              </a:srgbClr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9572761" y="2895124"/>
              <a:ext cx="53312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8B5CF6"/>
                  </a:solidFill>
                  <a:latin typeface="Arial"/>
                  <a:ea typeface="Microsoft YaHei"/>
                  <a:cs typeface="Arial"/>
                </a:rPr>
                <a:t>P4 长期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0361295" y="2822258"/>
              <a:ext cx="225593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1F5F9"/>
                  </a:solidFill>
                  <a:latin typeface="Arial"/>
                  <a:ea typeface="Microsoft YaHei"/>
                  <a:cs typeface="Arial"/>
                </a:rPr>
                <a:t>Phase 4 · 平台统一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397365" y="3239452"/>
              <a:ext cx="370713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长期目标：技术栈统一，构建可持续演进的一体化平台</a:t>
              </a:r>
            </a:p>
          </p:txBody>
        </p:sp>
        <p:grpSp>
          <p:nvGrpSpPr>
            <p:cNvPr id="58" name="Group 58"/>
            <p:cNvGrpSpPr/>
            <p:nvPr/>
          </p:nvGrpSpPr>
          <p:grpSpPr>
            <a:xfrm>
              <a:off x="9410700" y="3619500"/>
              <a:ext cx="8039100" cy="1428750"/>
              <a:chOff x="9410700" y="3619500"/>
              <a:chExt cx="8039100" cy="1428750"/>
            </a:xfrm>
          </p:grpSpPr>
          <p:sp>
            <p:nvSpPr>
              <p:cNvPr id="51" name="Rectangle 51"/>
              <p:cNvSpPr/>
              <p:nvPr/>
            </p:nvSpPr>
            <p:spPr>
              <a:xfrm>
                <a:off x="9410700" y="3619500"/>
                <a:ext cx="8039100" cy="1428750"/>
              </a:xfrm>
              <a:prstGeom prst="rect">
                <a:avLst/>
              </a:prstGeom>
              <a:solidFill>
                <a:srgbClr val="8B5CF6">
                  <a:alpha val="4000"/>
                </a:srgbClr>
              </a:solidFill>
              <a:ln w="9525">
                <a:solidFill>
                  <a:srgbClr val="8B5CF6">
                    <a:alpha val="15000"/>
                  </a:srgbClr>
                </a:solidFill>
              </a:ln>
            </p:spPr>
          </p:sp>
          <p:sp>
            <p:nvSpPr>
              <p:cNvPr id="52" name="Rectangle 52"/>
              <p:cNvSpPr/>
              <p:nvPr/>
            </p:nvSpPr>
            <p:spPr>
              <a:xfrm>
                <a:off x="9601200" y="3810000"/>
                <a:ext cx="266700" cy="266700"/>
              </a:xfrm>
              <a:prstGeom prst="rect">
                <a:avLst/>
              </a:prstGeom>
              <a:solidFill>
                <a:srgbClr val="8B5CF6">
                  <a:alpha val="15000"/>
                </a:srgbClr>
              </a:solidFill>
              <a:ln>
                <a:noFill/>
              </a:ln>
            </p:spPr>
          </p:sp>
          <p:sp>
            <p:nvSpPr>
              <p:cNvPr id="53" name="TextBox 53"/>
              <p:cNvSpPr txBox="1"/>
              <p:nvPr/>
            </p:nvSpPr>
            <p:spPr>
              <a:xfrm>
                <a:off x="9608501" y="3887152"/>
                <a:ext cx="25209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8B5CF6"/>
                    </a:solidFill>
                    <a:latin typeface="Arial"/>
                    <a:ea typeface="Microsoft YaHei"/>
                    <a:cs typeface="Arial"/>
                  </a:rPr>
                  <a:t>4.1</a:t>
                </a: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9966008" y="3862864"/>
                <a:ext cx="1010007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F1F5F9"/>
                    </a:solidFill>
                    <a:latin typeface="Arial"/>
                    <a:ea typeface="Microsoft YaHei"/>
                    <a:cs typeface="Arial"/>
                  </a:rPr>
                  <a:t>统一数据库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9587865" y="4191952"/>
                <a:ext cx="308605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94A3B8"/>
                    </a:solidFill>
                    <a:latin typeface="Arial"/>
                    <a:ea typeface="Microsoft YaHei"/>
                    <a:cs typeface="Arial"/>
                  </a:rPr>
                  <a:t>5个独立Supabase实例合并为统一数据库集群</a:t>
                </a: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9587865" y="4420552"/>
                <a:ext cx="248031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94A3B8"/>
                    </a:solidFill>
                    <a:latin typeface="Arial"/>
                    <a:ea typeface="Microsoft YaHei"/>
                    <a:cs typeface="Arial"/>
                  </a:rPr>
                  <a:t>统一数据模型，消除数据孤岛与冗余</a:t>
                </a:r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9587865" y="4649152"/>
                <a:ext cx="232695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94A3B8"/>
                    </a:solidFill>
                    <a:latin typeface="Arial"/>
                    <a:ea typeface="Microsoft YaHei"/>
                    <a:cs typeface="Arial"/>
                  </a:rPr>
                  <a:t>跨系统数据一致性保障，实时同步</a:t>
                </a:r>
              </a:p>
            </p:txBody>
          </p:sp>
        </p:grpSp>
        <p:grpSp>
          <p:nvGrpSpPr>
            <p:cNvPr id="66" name="Group 66"/>
            <p:cNvGrpSpPr/>
            <p:nvPr/>
          </p:nvGrpSpPr>
          <p:grpSpPr>
            <a:xfrm>
              <a:off x="9410700" y="5200650"/>
              <a:ext cx="8039100" cy="1428750"/>
              <a:chOff x="9410700" y="5200650"/>
              <a:chExt cx="8039100" cy="1428750"/>
            </a:xfrm>
          </p:grpSpPr>
          <p:sp>
            <p:nvSpPr>
              <p:cNvPr id="59" name="Rectangle 59"/>
              <p:cNvSpPr/>
              <p:nvPr/>
            </p:nvSpPr>
            <p:spPr>
              <a:xfrm>
                <a:off x="9410700" y="5200650"/>
                <a:ext cx="8039100" cy="1428750"/>
              </a:xfrm>
              <a:prstGeom prst="rect">
                <a:avLst/>
              </a:prstGeom>
              <a:solidFill>
                <a:srgbClr val="8B5CF6">
                  <a:alpha val="4000"/>
                </a:srgbClr>
              </a:solidFill>
              <a:ln w="9525">
                <a:solidFill>
                  <a:srgbClr val="8B5CF6">
                    <a:alpha val="15000"/>
                  </a:srgbClr>
                </a:solidFill>
              </a:ln>
            </p:spPr>
          </p:sp>
          <p:sp>
            <p:nvSpPr>
              <p:cNvPr id="60" name="Rectangle 60"/>
              <p:cNvSpPr/>
              <p:nvPr/>
            </p:nvSpPr>
            <p:spPr>
              <a:xfrm>
                <a:off x="9601200" y="5391150"/>
                <a:ext cx="266700" cy="266700"/>
              </a:xfrm>
              <a:prstGeom prst="rect">
                <a:avLst/>
              </a:prstGeom>
              <a:solidFill>
                <a:srgbClr val="8B5CF6">
                  <a:alpha val="15000"/>
                </a:srgbClr>
              </a:solidFill>
              <a:ln>
                <a:noFill/>
              </a:ln>
            </p:spPr>
          </p:sp>
          <p:sp>
            <p:nvSpPr>
              <p:cNvPr id="61" name="TextBox 61"/>
              <p:cNvSpPr txBox="1"/>
              <p:nvPr/>
            </p:nvSpPr>
            <p:spPr>
              <a:xfrm>
                <a:off x="9588373" y="5468302"/>
                <a:ext cx="29235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8B5CF6"/>
                    </a:solidFill>
                    <a:latin typeface="Arial"/>
                    <a:ea typeface="Microsoft YaHei"/>
                    <a:cs typeface="Arial"/>
                  </a:rPr>
                  <a:t>4.2</a:t>
                </a:r>
              </a:p>
            </p:txBody>
          </p:sp>
          <p:sp>
            <p:nvSpPr>
              <p:cNvPr id="62" name="TextBox 62"/>
              <p:cNvSpPr txBox="1"/>
              <p:nvPr/>
            </p:nvSpPr>
            <p:spPr>
              <a:xfrm>
                <a:off x="9966008" y="5444014"/>
                <a:ext cx="814483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F1F5F9"/>
                    </a:solidFill>
                    <a:latin typeface="Arial"/>
                    <a:ea typeface="Microsoft YaHei"/>
                    <a:cs typeface="Arial"/>
                  </a:rPr>
                  <a:t>统一前端</a:t>
                </a:r>
              </a:p>
            </p:txBody>
          </p:sp>
          <p:sp>
            <p:nvSpPr>
              <p:cNvPr id="63" name="TextBox 63"/>
              <p:cNvSpPr txBox="1"/>
              <p:nvPr/>
            </p:nvSpPr>
            <p:spPr>
              <a:xfrm>
                <a:off x="9587865" y="5773102"/>
                <a:ext cx="281001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94A3B8"/>
                    </a:solidFill>
                    <a:latin typeface="Arial"/>
                    <a:ea typeface="Microsoft YaHei"/>
                    <a:cs typeface="Arial"/>
                  </a:rPr>
                  <a:t>5个独立Next.js应用合并为统一前端平台</a:t>
                </a:r>
              </a:p>
            </p:txBody>
          </p:sp>
          <p:sp>
            <p:nvSpPr>
              <p:cNvPr id="64" name="TextBox 64"/>
              <p:cNvSpPr txBox="1"/>
              <p:nvPr/>
            </p:nvSpPr>
            <p:spPr>
              <a:xfrm>
                <a:off x="9587865" y="6001702"/>
                <a:ext cx="278701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94A3B8"/>
                    </a:solidFill>
                    <a:latin typeface="Arial"/>
                    <a:ea typeface="Microsoft YaHei"/>
                    <a:cs typeface="Arial"/>
                  </a:rPr>
                  <a:t>统一设计系统与组件库，一致的用户体验</a:t>
                </a:r>
              </a:p>
            </p:txBody>
          </p:sp>
          <p:sp>
            <p:nvSpPr>
              <p:cNvPr id="65" name="TextBox 65"/>
              <p:cNvSpPr txBox="1"/>
              <p:nvPr/>
            </p:nvSpPr>
            <p:spPr>
              <a:xfrm>
                <a:off x="9587865" y="6230302"/>
                <a:ext cx="230395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94A3B8"/>
                    </a:solidFill>
                    <a:latin typeface="Arial"/>
                    <a:ea typeface="Microsoft YaHei"/>
                    <a:cs typeface="Arial"/>
                  </a:rPr>
                  <a:t>单点登录（SSO），统一身份认证</a:t>
                </a:r>
              </a:p>
            </p:txBody>
          </p:sp>
        </p:grpSp>
        <p:grpSp>
          <p:nvGrpSpPr>
            <p:cNvPr id="74" name="Group 74"/>
            <p:cNvGrpSpPr/>
            <p:nvPr/>
          </p:nvGrpSpPr>
          <p:grpSpPr>
            <a:xfrm>
              <a:off x="9410700" y="6781800"/>
              <a:ext cx="8039100" cy="1428750"/>
              <a:chOff x="9410700" y="6781800"/>
              <a:chExt cx="8039100" cy="1428750"/>
            </a:xfrm>
          </p:grpSpPr>
          <p:sp>
            <p:nvSpPr>
              <p:cNvPr id="67" name="Rectangle 67"/>
              <p:cNvSpPr/>
              <p:nvPr/>
            </p:nvSpPr>
            <p:spPr>
              <a:xfrm>
                <a:off x="9410700" y="6781800"/>
                <a:ext cx="8039100" cy="1428750"/>
              </a:xfrm>
              <a:prstGeom prst="rect">
                <a:avLst/>
              </a:prstGeom>
              <a:solidFill>
                <a:srgbClr val="8B5CF6">
                  <a:alpha val="4000"/>
                </a:srgbClr>
              </a:solidFill>
              <a:ln w="9525">
                <a:solidFill>
                  <a:srgbClr val="8B5CF6">
                    <a:alpha val="15000"/>
                  </a:srgbClr>
                </a:solidFill>
              </a:ln>
            </p:spPr>
          </p:sp>
          <p:sp>
            <p:nvSpPr>
              <p:cNvPr id="68" name="Rectangle 68"/>
              <p:cNvSpPr/>
              <p:nvPr/>
            </p:nvSpPr>
            <p:spPr>
              <a:xfrm>
                <a:off x="9601200" y="6972300"/>
                <a:ext cx="266700" cy="266700"/>
              </a:xfrm>
              <a:prstGeom prst="rect">
                <a:avLst/>
              </a:prstGeom>
              <a:solidFill>
                <a:srgbClr val="8B5CF6">
                  <a:alpha val="15000"/>
                </a:srgbClr>
              </a:solidFill>
              <a:ln>
                <a:noFill/>
              </a:ln>
            </p:spPr>
          </p:sp>
          <p:sp>
            <p:nvSpPr>
              <p:cNvPr id="69" name="TextBox 69"/>
              <p:cNvSpPr txBox="1"/>
              <p:nvPr/>
            </p:nvSpPr>
            <p:spPr>
              <a:xfrm>
                <a:off x="9588373" y="7049452"/>
                <a:ext cx="29235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8B5CF6"/>
                    </a:solidFill>
                    <a:latin typeface="Arial"/>
                    <a:ea typeface="Microsoft YaHei"/>
                    <a:cs typeface="Arial"/>
                  </a:rPr>
                  <a:t>4.3</a:t>
                </a:r>
              </a:p>
            </p:txBody>
          </p:sp>
          <p:sp>
            <p:nvSpPr>
              <p:cNvPr id="70" name="TextBox 70"/>
              <p:cNvSpPr txBox="1"/>
              <p:nvPr/>
            </p:nvSpPr>
            <p:spPr>
              <a:xfrm>
                <a:off x="9966008" y="7025164"/>
                <a:ext cx="1557476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F1F5F9"/>
                    </a:solidFill>
                    <a:latin typeface="Arial"/>
                    <a:ea typeface="Microsoft YaHei"/>
                    <a:cs typeface="Arial"/>
                  </a:rPr>
                  <a:t>统一部署 DevOps</a:t>
                </a:r>
              </a:p>
            </p:txBody>
          </p:sp>
          <p:sp>
            <p:nvSpPr>
              <p:cNvPr id="71" name="TextBox 71"/>
              <p:cNvSpPr txBox="1"/>
              <p:nvPr/>
            </p:nvSpPr>
            <p:spPr>
              <a:xfrm>
                <a:off x="9587865" y="7354252"/>
                <a:ext cx="331608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94A3B8"/>
                    </a:solidFill>
                    <a:latin typeface="Arial"/>
                    <a:ea typeface="Microsoft YaHei"/>
                    <a:cs typeface="Arial"/>
                  </a:rPr>
                  <a:t>5个PythonAnywhere独立部署统一为容器化部署</a:t>
                </a:r>
              </a:p>
            </p:txBody>
          </p:sp>
          <p:sp>
            <p:nvSpPr>
              <p:cNvPr id="72" name="TextBox 72"/>
              <p:cNvSpPr txBox="1"/>
              <p:nvPr/>
            </p:nvSpPr>
            <p:spPr>
              <a:xfrm>
                <a:off x="9587865" y="7582852"/>
                <a:ext cx="225028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94A3B8"/>
                    </a:solidFill>
                    <a:latin typeface="Arial"/>
                    <a:ea typeface="Microsoft YaHei"/>
                    <a:cs typeface="Arial"/>
                  </a:rPr>
                  <a:t>CI/CD流水线，自动化测试与发布</a:t>
                </a:r>
              </a:p>
            </p:txBody>
          </p:sp>
          <p:sp>
            <p:nvSpPr>
              <p:cNvPr id="73" name="TextBox 73"/>
              <p:cNvSpPr txBox="1"/>
              <p:nvPr/>
            </p:nvSpPr>
            <p:spPr>
              <a:xfrm>
                <a:off x="9587865" y="7811452"/>
                <a:ext cx="202025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94A3B8"/>
                    </a:solidFill>
                    <a:latin typeface="Arial"/>
                    <a:ea typeface="Microsoft YaHei"/>
                    <a:cs typeface="Arial"/>
                  </a:rPr>
                  <a:t>监控告警体系，统一运维管理</a:t>
                </a:r>
              </a:p>
            </p:txBody>
          </p:sp>
        </p:grpSp>
        <p:sp>
          <p:nvSpPr>
            <p:cNvPr id="75" name="Rectangle 75"/>
            <p:cNvSpPr/>
            <p:nvPr/>
          </p:nvSpPr>
          <p:spPr>
            <a:xfrm>
              <a:off x="9410700" y="8439150"/>
              <a:ext cx="8039100" cy="571500"/>
            </a:xfrm>
            <a:prstGeom prst="rect">
              <a:avLst/>
            </a:prstGeom>
            <a:solidFill>
              <a:srgbClr val="8B5CF6">
                <a:alpha val="6000"/>
              </a:srgbClr>
            </a:solidFill>
            <a:ln w="9525">
              <a:solidFill>
                <a:srgbClr val="8B5CF6">
                  <a:alpha val="20000"/>
                </a:srgbClr>
              </a:solidFill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11306886" y="8660606"/>
              <a:ext cx="424672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8B5CF6"/>
                  </a:solidFill>
                  <a:latin typeface="Arial"/>
                  <a:ea typeface="Microsoft YaHei"/>
                  <a:cs typeface="Arial"/>
                </a:rPr>
                <a:t>终极目标：一个平台 · 一个入口 · 一套数据 · 一个闭环</a:t>
              </a:r>
            </a:p>
          </p:txBody>
        </p:sp>
      </p:grpSp>
      <p:sp>
        <p:nvSpPr>
          <p:cNvPr id="78" name="TextBox 78"/>
          <p:cNvSpPr txBox="1"/>
          <p:nvPr/>
        </p:nvSpPr>
        <p:spPr>
          <a:xfrm>
            <a:off x="8976884" y="10007441"/>
            <a:ext cx="33423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11 / 14</a:t>
            </a:r>
          </a:p>
        </p:txBody>
      </p:sp>
    </p:spTree>
  </p:cSld>
  <p:clrMapOvr>
    <a:masterClrMapping/>
  </p:clrMapOvr>
  <p:transition 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A0E1A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571500" y="381000"/>
            <a:ext cx="17145000" cy="419100"/>
          </a:xfrm>
          <a:prstGeom prst="rect">
            <a:avLst/>
          </a:prstGeom>
          <a:solidFill>
            <a:srgbClr val="161D2E"/>
          </a:solidFill>
          <a:ln w="9525">
            <a:solidFill>
              <a:srgbClr val="1E293B"/>
            </a:solidFill>
          </a:ln>
        </p:spPr>
      </p:sp>
      <p:sp>
        <p:nvSpPr>
          <p:cNvPr id="4" name="TextBox 4"/>
          <p:cNvSpPr txBox="1"/>
          <p:nvPr/>
        </p:nvSpPr>
        <p:spPr>
          <a:xfrm>
            <a:off x="748665" y="534352"/>
            <a:ext cx="105719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06B6D4"/>
                </a:solidFill>
                <a:latin typeface="Arial"/>
                <a:ea typeface="Microsoft YaHei"/>
                <a:cs typeface="Arial"/>
              </a:rPr>
              <a:t>LASEN.Digital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6491347" y="558641"/>
            <a:ext cx="104513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系统设计报告 v2.0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0070" y="1141095"/>
            <a:ext cx="74745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06B6D4"/>
                </a:solidFill>
                <a:latin typeface="Arial"/>
                <a:ea typeface="Microsoft YaHei"/>
                <a:cs typeface="Arial"/>
              </a:rPr>
              <a:t>TECH STACK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41020" y="1341120"/>
            <a:ext cx="3741420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技术栈现状与统一建议</a:t>
            </a:r>
          </a:p>
        </p:txBody>
      </p:sp>
      <p:sp>
        <p:nvSpPr>
          <p:cNvPr id="8" name="Rectangle 8"/>
          <p:cNvSpPr/>
          <p:nvPr/>
        </p:nvSpPr>
        <p:spPr>
          <a:xfrm>
            <a:off x="571500" y="1809750"/>
            <a:ext cx="17145000" cy="476250"/>
          </a:xfrm>
          <a:prstGeom prst="rect">
            <a:avLst/>
          </a:prstGeom>
          <a:solidFill>
            <a:srgbClr val="06B6D4">
              <a:alpha val="6000"/>
            </a:srgbClr>
          </a:solidFill>
          <a:ln w="9525">
            <a:solidFill>
              <a:srgbClr val="06B6D4">
                <a:alpha val="15000"/>
              </a:srgbClr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5851398" y="1975485"/>
            <a:ext cx="658520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五大系统技术栈高度同构（Next.js+Supabase+Python），统一成本可控，收益显著</a:t>
            </a:r>
          </a:p>
        </p:txBody>
      </p:sp>
      <p:grpSp>
        <p:nvGrpSpPr>
          <p:cNvPr id="87" name="Group 87"/>
          <p:cNvGrpSpPr/>
          <p:nvPr/>
        </p:nvGrpSpPr>
        <p:grpSpPr>
          <a:xfrm>
            <a:off x="571500" y="2571750"/>
            <a:ext cx="17145000" cy="3712369"/>
            <a:chOff x="571500" y="2571750"/>
            <a:chExt cx="17145000" cy="3712369"/>
          </a:xfrm>
        </p:grpSpPr>
        <p:sp>
          <p:nvSpPr>
            <p:cNvPr id="10" name="Rectangle 10"/>
            <p:cNvSpPr/>
            <p:nvPr/>
          </p:nvSpPr>
          <p:spPr>
            <a:xfrm>
              <a:off x="571500" y="2571750"/>
              <a:ext cx="17145000" cy="3619500"/>
            </a:xfrm>
            <a:prstGeom prst="rect">
              <a:avLst/>
            </a:prstGeom>
            <a:solidFill>
              <a:srgbClr val="161D2E"/>
            </a:solidFill>
            <a:ln w="9525">
              <a:solidFill>
                <a:srgbClr val="1E293B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35355" y="2768918"/>
              <a:ext cx="148347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1F5F9"/>
                  </a:solidFill>
                  <a:latin typeface="Arial"/>
                  <a:ea typeface="Microsoft YaHei"/>
                  <a:cs typeface="Arial"/>
                </a:rPr>
                <a:t>当前技术栈对比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952500" y="3143250"/>
              <a:ext cx="1333500" cy="381000"/>
            </a:xfrm>
            <a:prstGeom prst="rect">
              <a:avLst/>
            </a:prstGeom>
            <a:solidFill>
              <a:srgbClr val="06B6D4">
                <a:alpha val="10000"/>
              </a:srgbClr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444895" y="3277552"/>
              <a:ext cx="3487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系统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2286000" y="3143250"/>
              <a:ext cx="3048000" cy="381000"/>
            </a:xfrm>
            <a:prstGeom prst="rect">
              <a:avLst/>
            </a:prstGeom>
            <a:solidFill>
              <a:srgbClr val="06B6D4">
                <a:alpha val="10000"/>
              </a:srgbClr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635645" y="3277552"/>
              <a:ext cx="3487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前端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0" y="3143250"/>
              <a:ext cx="3048000" cy="381000"/>
            </a:xfrm>
            <a:prstGeom prst="rect">
              <a:avLst/>
            </a:prstGeom>
            <a:solidFill>
              <a:srgbClr val="06B6D4">
                <a:alpha val="10000"/>
              </a:srgbClr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683645" y="3277552"/>
              <a:ext cx="3487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后端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8382000" y="3143250"/>
              <a:ext cx="3048000" cy="381000"/>
            </a:xfrm>
            <a:prstGeom prst="rect">
              <a:avLst/>
            </a:prstGeom>
            <a:solidFill>
              <a:srgbClr val="06B6D4">
                <a:alpha val="10000"/>
              </a:srgbClr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651135" y="3277552"/>
              <a:ext cx="50973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数据库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11430000" y="3143250"/>
              <a:ext cx="3048000" cy="381000"/>
            </a:xfrm>
            <a:prstGeom prst="rect">
              <a:avLst/>
            </a:prstGeom>
            <a:solidFill>
              <a:srgbClr val="06B6D4">
                <a:alpha val="10000"/>
              </a:srgbClr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2779645" y="3277552"/>
              <a:ext cx="3487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部署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4478000" y="3143250"/>
              <a:ext cx="2857500" cy="381000"/>
            </a:xfrm>
            <a:prstGeom prst="rect">
              <a:avLst/>
            </a:prstGeom>
            <a:solidFill>
              <a:srgbClr val="06B6D4">
                <a:alpha val="10000"/>
              </a:srgbClr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5571375" y="3277552"/>
              <a:ext cx="6707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特殊依赖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952500" y="3524250"/>
              <a:ext cx="1333500" cy="419100"/>
            </a:xfrm>
            <a:prstGeom prst="rect">
              <a:avLst/>
            </a:prstGeom>
            <a:solidFill>
              <a:srgbClr val="161D2E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456971" y="3677602"/>
              <a:ext cx="32455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VOC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2286000" y="3524250"/>
              <a:ext cx="3048000" cy="419100"/>
            </a:xfrm>
            <a:prstGeom prst="rect">
              <a:avLst/>
            </a:prstGeom>
            <a:solidFill>
              <a:srgbClr val="161D2E">
                <a:alpha val="50000"/>
              </a:srgbClr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3103424" y="3685699"/>
              <a:ext cx="141315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94A3B8"/>
                  </a:solidFill>
                  <a:latin typeface="Consolas"/>
                  <a:ea typeface="Microsoft YaHei"/>
                  <a:cs typeface="Consolas"/>
                </a:rPr>
                <a:t>Next.js 14 + Tailwind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0" y="3524250"/>
              <a:ext cx="3048000" cy="419100"/>
            </a:xfrm>
            <a:prstGeom prst="rect">
              <a:avLst/>
            </a:prstGeom>
            <a:solidFill>
              <a:srgbClr val="161D2E">
                <a:alpha val="50000"/>
              </a:srgbClr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215503" y="3685699"/>
              <a:ext cx="128499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94A3B8"/>
                  </a:solidFill>
                  <a:latin typeface="Consolas"/>
                  <a:ea typeface="Microsoft YaHei"/>
                  <a:cs typeface="Consolas"/>
                </a:rPr>
                <a:t>Python + Supabase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8382000" y="3524250"/>
              <a:ext cx="3048000" cy="419100"/>
            </a:xfrm>
            <a:prstGeom prst="rect">
              <a:avLst/>
            </a:prstGeom>
            <a:solidFill>
              <a:srgbClr val="161D2E">
                <a:alpha val="50000"/>
              </a:srgbClr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9074825" y="3685699"/>
              <a:ext cx="166235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94A3B8"/>
                  </a:solidFill>
                  <a:latin typeface="Consolas"/>
                  <a:ea typeface="Microsoft YaHei"/>
                  <a:cs typeface="Consolas"/>
                </a:rPr>
                <a:t>Supabase (PostgreSQL)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11430000" y="3524250"/>
              <a:ext cx="3048000" cy="419100"/>
            </a:xfrm>
            <a:prstGeom prst="rect">
              <a:avLst/>
            </a:prstGeom>
            <a:solidFill>
              <a:srgbClr val="161D2E">
                <a:alpha val="50000"/>
              </a:srgbClr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2379142" y="3685699"/>
              <a:ext cx="114971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94A3B8"/>
                  </a:solidFill>
                  <a:latin typeface="Consolas"/>
                  <a:ea typeface="Microsoft YaHei"/>
                  <a:cs typeface="Consolas"/>
                </a:rPr>
                <a:t>PythonAnywhere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14478000" y="3524250"/>
              <a:ext cx="2857500" cy="419100"/>
            </a:xfrm>
            <a:prstGeom prst="rect">
              <a:avLst/>
            </a:prstGeom>
            <a:solidFill>
              <a:srgbClr val="161D2E">
                <a:alpha val="50000"/>
              </a:srgbClr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5541931" y="3685699"/>
              <a:ext cx="72963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94A3B8"/>
                  </a:solidFill>
                  <a:latin typeface="Consolas"/>
                  <a:ea typeface="Microsoft YaHei"/>
                  <a:cs typeface="Consolas"/>
                </a:rPr>
                <a:t>OpenAI API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952500" y="3943350"/>
              <a:ext cx="1333500" cy="419100"/>
            </a:xfrm>
            <a:prstGeom prst="rect">
              <a:avLst/>
            </a:prstGeom>
            <a:solidFill>
              <a:srgbClr val="161D2E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412691" y="4096702"/>
              <a:ext cx="41311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AMZN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2286000" y="3943350"/>
              <a:ext cx="3048000" cy="419100"/>
            </a:xfrm>
            <a:prstGeom prst="rect">
              <a:avLst/>
            </a:prstGeom>
            <a:solidFill>
              <a:srgbClr val="161D2E">
                <a:alpha val="30000"/>
              </a:srgbClr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3185303" y="4104799"/>
              <a:ext cx="124939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94A3B8"/>
                  </a:solidFill>
                  <a:latin typeface="Consolas"/>
                  <a:ea typeface="Microsoft YaHei"/>
                  <a:cs typeface="Consolas"/>
                </a:rPr>
                <a:t>Next.js + Tailwind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5334000" y="3943350"/>
              <a:ext cx="3048000" cy="419100"/>
            </a:xfrm>
            <a:prstGeom prst="rect">
              <a:avLst/>
            </a:prstGeom>
            <a:solidFill>
              <a:srgbClr val="161D2E">
                <a:alpha val="30000"/>
              </a:srgbClr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158544" y="4104799"/>
              <a:ext cx="139891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94A3B8"/>
                  </a:solidFill>
                  <a:latin typeface="Consolas"/>
                  <a:ea typeface="Microsoft YaHei"/>
                  <a:cs typeface="Consolas"/>
                </a:rPr>
                <a:t>Python + Playwright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8382000" y="3943350"/>
              <a:ext cx="3048000" cy="419100"/>
            </a:xfrm>
            <a:prstGeom prst="rect">
              <a:avLst/>
            </a:prstGeom>
            <a:solidFill>
              <a:srgbClr val="161D2E">
                <a:alpha val="30000"/>
              </a:srgbClr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9074825" y="4104799"/>
              <a:ext cx="166235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94A3B8"/>
                  </a:solidFill>
                  <a:latin typeface="Consolas"/>
                  <a:ea typeface="Microsoft YaHei"/>
                  <a:cs typeface="Consolas"/>
                </a:rPr>
                <a:t>Supabase (PostgreSQL)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11430000" y="3943350"/>
              <a:ext cx="3048000" cy="419100"/>
            </a:xfrm>
            <a:prstGeom prst="rect">
              <a:avLst/>
            </a:prstGeom>
            <a:solidFill>
              <a:srgbClr val="161D2E">
                <a:alpha val="30000"/>
              </a:srgbClr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12379142" y="4104799"/>
              <a:ext cx="114971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94A3B8"/>
                  </a:solidFill>
                  <a:latin typeface="Consolas"/>
                  <a:ea typeface="Microsoft YaHei"/>
                  <a:cs typeface="Consolas"/>
                </a:rPr>
                <a:t>PythonAnywhere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14478000" y="3943350"/>
              <a:ext cx="2857500" cy="419100"/>
            </a:xfrm>
            <a:prstGeom prst="rect">
              <a:avLst/>
            </a:prstGeom>
            <a:solidFill>
              <a:srgbClr val="161D2E">
                <a:alpha val="30000"/>
              </a:srgbClr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15524131" y="4104799"/>
              <a:ext cx="76523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94A3B8"/>
                  </a:solidFill>
                  <a:latin typeface="Consolas"/>
                  <a:ea typeface="Microsoft YaHei"/>
                  <a:cs typeface="Consolas"/>
                </a:rPr>
                <a:t>Playwright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952500" y="4362450"/>
              <a:ext cx="1333500" cy="419100"/>
            </a:xfrm>
            <a:prstGeom prst="rect">
              <a:avLst/>
            </a:prstGeom>
            <a:solidFill>
              <a:srgbClr val="161D2E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1352308" y="4515802"/>
              <a:ext cx="53388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8B5CF6"/>
                  </a:solidFill>
                  <a:latin typeface="Arial"/>
                  <a:ea typeface="Microsoft YaHei"/>
                  <a:cs typeface="Arial"/>
                </a:rPr>
                <a:t>COLOR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2286000" y="4362450"/>
              <a:ext cx="3048000" cy="419100"/>
            </a:xfrm>
            <a:prstGeom prst="rect">
              <a:avLst/>
            </a:prstGeom>
            <a:solidFill>
              <a:srgbClr val="161D2E">
                <a:alpha val="50000"/>
              </a:srgbClr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3185303" y="4523899"/>
              <a:ext cx="124939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94A3B8"/>
                  </a:solidFill>
                  <a:latin typeface="Consolas"/>
                  <a:ea typeface="Microsoft YaHei"/>
                  <a:cs typeface="Consolas"/>
                </a:rPr>
                <a:t>Next.js + Tailwind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5334000" y="4362450"/>
              <a:ext cx="3048000" cy="419100"/>
            </a:xfrm>
            <a:prstGeom prst="rect">
              <a:avLst/>
            </a:prstGeom>
            <a:solidFill>
              <a:srgbClr val="161D2E">
                <a:alpha val="50000"/>
              </a:srgbClr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215503" y="4523899"/>
              <a:ext cx="128499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94A3B8"/>
                  </a:solidFill>
                  <a:latin typeface="Consolas"/>
                  <a:ea typeface="Microsoft YaHei"/>
                  <a:cs typeface="Consolas"/>
                </a:rPr>
                <a:t>Python + Supabase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8382000" y="4362450"/>
              <a:ext cx="3048000" cy="419100"/>
            </a:xfrm>
            <a:prstGeom prst="rect">
              <a:avLst/>
            </a:prstGeom>
            <a:solidFill>
              <a:srgbClr val="161D2E">
                <a:alpha val="50000"/>
              </a:srgbClr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9074825" y="4523899"/>
              <a:ext cx="166235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94A3B8"/>
                  </a:solidFill>
                  <a:latin typeface="Consolas"/>
                  <a:ea typeface="Microsoft YaHei"/>
                  <a:cs typeface="Consolas"/>
                </a:rPr>
                <a:t>Supabase (PostgreSQL)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11430000" y="4362450"/>
              <a:ext cx="3048000" cy="419100"/>
            </a:xfrm>
            <a:prstGeom prst="rect">
              <a:avLst/>
            </a:prstGeom>
            <a:solidFill>
              <a:srgbClr val="161D2E">
                <a:alpha val="50000"/>
              </a:srgbClr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12379142" y="4523899"/>
              <a:ext cx="114971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94A3B8"/>
                  </a:solidFill>
                  <a:latin typeface="Consolas"/>
                  <a:ea typeface="Microsoft YaHei"/>
                  <a:cs typeface="Consolas"/>
                </a:rPr>
                <a:t>PythonAnywhere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14478000" y="4362450"/>
              <a:ext cx="2857500" cy="419100"/>
            </a:xfrm>
            <a:prstGeom prst="rect">
              <a:avLst/>
            </a:prstGeom>
            <a:solidFill>
              <a:srgbClr val="161D2E">
                <a:alpha val="50000"/>
              </a:srgbClr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15317653" y="4523899"/>
              <a:ext cx="117819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94A3B8"/>
                  </a:solidFill>
                  <a:latin typeface="Consolas"/>
                  <a:ea typeface="Microsoft YaHei"/>
                  <a:cs typeface="Consolas"/>
                </a:rPr>
                <a:t>scikit-learn, PIL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952500" y="4781550"/>
              <a:ext cx="1333500" cy="419100"/>
            </a:xfrm>
            <a:prstGeom prst="rect">
              <a:avLst/>
            </a:prstGeom>
            <a:solidFill>
              <a:srgbClr val="161D2E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1473073" y="4934902"/>
              <a:ext cx="29235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0B981"/>
                  </a:solidFill>
                  <a:latin typeface="Arial"/>
                  <a:ea typeface="Microsoft YaHei"/>
                  <a:cs typeface="Arial"/>
                </a:rPr>
                <a:t>YFB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2286000" y="4781550"/>
              <a:ext cx="3048000" cy="419100"/>
            </a:xfrm>
            <a:prstGeom prst="rect">
              <a:avLst/>
            </a:prstGeom>
            <a:solidFill>
              <a:srgbClr val="161D2E">
                <a:alpha val="30000"/>
              </a:srgbClr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3185303" y="4942999"/>
              <a:ext cx="124939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94A3B8"/>
                  </a:solidFill>
                  <a:latin typeface="Consolas"/>
                  <a:ea typeface="Microsoft YaHei"/>
                  <a:cs typeface="Consolas"/>
                </a:rPr>
                <a:t>Next.js + Tailwind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5334000" y="4781550"/>
              <a:ext cx="3048000" cy="419100"/>
            </a:xfrm>
            <a:prstGeom prst="rect">
              <a:avLst/>
            </a:prstGeom>
            <a:solidFill>
              <a:srgbClr val="161D2E">
                <a:alpha val="30000"/>
              </a:srgbClr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6215503" y="4942999"/>
              <a:ext cx="128499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94A3B8"/>
                  </a:solidFill>
                  <a:latin typeface="Consolas"/>
                  <a:ea typeface="Microsoft YaHei"/>
                  <a:cs typeface="Consolas"/>
                </a:rPr>
                <a:t>Python + Supabase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8382000" y="4781550"/>
              <a:ext cx="3048000" cy="419100"/>
            </a:xfrm>
            <a:prstGeom prst="rect">
              <a:avLst/>
            </a:prstGeom>
            <a:solidFill>
              <a:srgbClr val="161D2E">
                <a:alpha val="30000"/>
              </a:srgbClr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9074825" y="4942999"/>
              <a:ext cx="166235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94A3B8"/>
                  </a:solidFill>
                  <a:latin typeface="Consolas"/>
                  <a:ea typeface="Microsoft YaHei"/>
                  <a:cs typeface="Consolas"/>
                </a:rPr>
                <a:t>Supabase (PostgreSQL)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11430000" y="4781550"/>
              <a:ext cx="3048000" cy="419100"/>
            </a:xfrm>
            <a:prstGeom prst="rect">
              <a:avLst/>
            </a:prstGeom>
            <a:solidFill>
              <a:srgbClr val="161D2E">
                <a:alpha val="30000"/>
              </a:srgbClr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12379142" y="4942999"/>
              <a:ext cx="114971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94A3B8"/>
                  </a:solidFill>
                  <a:latin typeface="Consolas"/>
                  <a:ea typeface="Microsoft YaHei"/>
                  <a:cs typeface="Consolas"/>
                </a:rPr>
                <a:t>PythonAnywhere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14478000" y="4781550"/>
              <a:ext cx="2857500" cy="419100"/>
            </a:xfrm>
            <a:prstGeom prst="rect">
              <a:avLst/>
            </a:prstGeom>
            <a:solidFill>
              <a:srgbClr val="161D2E">
                <a:alpha val="30000"/>
              </a:srgbClr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15855208" y="4942999"/>
              <a:ext cx="1030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94A3B8"/>
                  </a:solidFill>
                  <a:latin typeface="Consolas"/>
                  <a:ea typeface="Microsoft YaHei"/>
                  <a:cs typeface="Consolas"/>
                </a:rPr>
                <a:t>—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952500" y="5200650"/>
              <a:ext cx="1333500" cy="419100"/>
            </a:xfrm>
            <a:prstGeom prst="rect">
              <a:avLst/>
            </a:prstGeom>
            <a:solidFill>
              <a:srgbClr val="161D2E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1384512" y="5354002"/>
              <a:ext cx="4694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43F5E"/>
                  </a:solidFill>
                  <a:latin typeface="Arial"/>
                  <a:ea typeface="Microsoft YaHei"/>
                  <a:cs typeface="Arial"/>
                </a:rPr>
                <a:t>LASEN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2286000" y="5200650"/>
              <a:ext cx="3048000" cy="419100"/>
            </a:xfrm>
            <a:prstGeom prst="rect">
              <a:avLst/>
            </a:prstGeom>
            <a:solidFill>
              <a:srgbClr val="161D2E">
                <a:alpha val="50000"/>
              </a:srgbClr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3185303" y="5362099"/>
              <a:ext cx="124939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94A3B8"/>
                  </a:solidFill>
                  <a:latin typeface="Consolas"/>
                  <a:ea typeface="Microsoft YaHei"/>
                  <a:cs typeface="Consolas"/>
                </a:rPr>
                <a:t>Next.js + Tailwind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5334000" y="5200650"/>
              <a:ext cx="3048000" cy="419100"/>
            </a:xfrm>
            <a:prstGeom prst="rect">
              <a:avLst/>
            </a:prstGeom>
            <a:solidFill>
              <a:srgbClr val="161D2E">
                <a:alpha val="50000"/>
              </a:srgbClr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6158544" y="5362099"/>
              <a:ext cx="139891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94A3B8"/>
                  </a:solidFill>
                  <a:latin typeface="Consolas"/>
                  <a:ea typeface="Microsoft YaHei"/>
                  <a:cs typeface="Consolas"/>
                </a:rPr>
                <a:t>Python + Playwright</a:t>
              </a:r>
            </a:p>
          </p:txBody>
        </p:sp>
        <p:sp>
          <p:nvSpPr>
            <p:cNvPr id="78" name="Rectangle 78"/>
            <p:cNvSpPr/>
            <p:nvPr/>
          </p:nvSpPr>
          <p:spPr>
            <a:xfrm>
              <a:off x="8382000" y="5200650"/>
              <a:ext cx="3048000" cy="419100"/>
            </a:xfrm>
            <a:prstGeom prst="rect">
              <a:avLst/>
            </a:prstGeom>
            <a:solidFill>
              <a:srgbClr val="161D2E">
                <a:alpha val="50000"/>
              </a:srgbClr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9074825" y="5362099"/>
              <a:ext cx="166235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94A3B8"/>
                  </a:solidFill>
                  <a:latin typeface="Consolas"/>
                  <a:ea typeface="Microsoft YaHei"/>
                  <a:cs typeface="Consolas"/>
                </a:rPr>
                <a:t>Supabase (PostgreSQL)</a:t>
              </a:r>
            </a:p>
          </p:txBody>
        </p:sp>
        <p:sp>
          <p:nvSpPr>
            <p:cNvPr id="80" name="Rectangle 80"/>
            <p:cNvSpPr/>
            <p:nvPr/>
          </p:nvSpPr>
          <p:spPr>
            <a:xfrm>
              <a:off x="11430000" y="5200650"/>
              <a:ext cx="3048000" cy="419100"/>
            </a:xfrm>
            <a:prstGeom prst="rect">
              <a:avLst/>
            </a:prstGeom>
            <a:solidFill>
              <a:srgbClr val="161D2E">
                <a:alpha val="50000"/>
              </a:srgbClr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12379142" y="5362099"/>
              <a:ext cx="114971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94A3B8"/>
                  </a:solidFill>
                  <a:latin typeface="Consolas"/>
                  <a:ea typeface="Microsoft YaHei"/>
                  <a:cs typeface="Consolas"/>
                </a:rPr>
                <a:t>PythonAnywhere</a:t>
              </a:r>
            </a:p>
          </p:txBody>
        </p:sp>
        <p:sp>
          <p:nvSpPr>
            <p:cNvPr id="82" name="Rectangle 82"/>
            <p:cNvSpPr/>
            <p:nvPr/>
          </p:nvSpPr>
          <p:spPr>
            <a:xfrm>
              <a:off x="14478000" y="5200650"/>
              <a:ext cx="2857500" cy="419100"/>
            </a:xfrm>
            <a:prstGeom prst="rect">
              <a:avLst/>
            </a:prstGeom>
            <a:solidFill>
              <a:srgbClr val="161D2E">
                <a:alpha val="50000"/>
              </a:srgbClr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15524131" y="5362099"/>
              <a:ext cx="76523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94A3B8"/>
                  </a:solidFill>
                  <a:latin typeface="Consolas"/>
                  <a:ea typeface="Microsoft YaHei"/>
                  <a:cs typeface="Consolas"/>
                </a:rPr>
                <a:t>Playwright</a:t>
              </a:r>
            </a:p>
          </p:txBody>
        </p:sp>
        <p:sp>
          <p:nvSpPr>
            <p:cNvPr id="84" name="Line 84"/>
            <p:cNvSpPr/>
            <p:nvPr/>
          </p:nvSpPr>
          <p:spPr>
            <a:xfrm>
              <a:off x="952500" y="5715000"/>
              <a:ext cx="16383000" cy="9525"/>
            </a:xfrm>
            <a:custGeom>
              <a:avLst/>
              <a:gdLst/>
              <a:ahLst/>
              <a:cxnLst/>
              <a:rect l="l" t="t" r="r" b="b"/>
              <a:pathLst>
                <a:path w="16383000" h="9525">
                  <a:moveTo>
                    <a:pt x="0" y="0"/>
                  </a:moveTo>
                  <a:lnTo>
                    <a:pt x="16383000" y="0"/>
                  </a:lnTo>
                </a:path>
              </a:pathLst>
            </a:custGeom>
            <a:noFill/>
            <a:ln w="9525">
              <a:solidFill>
                <a:srgbClr val="1E293B"/>
              </a:solidFill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940118" y="5876449"/>
              <a:ext cx="535759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0B981"/>
                  </a:solidFill>
                  <a:latin typeface="Arial"/>
                  <a:ea typeface="Microsoft YaHei"/>
                  <a:cs typeface="Arial"/>
                </a:rPr>
                <a:t>✓ 技术栈高度同构：5/5系统使用 Next.js + Supabase + Python + PythonAnywhere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940118" y="6085999"/>
              <a:ext cx="313617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0B981"/>
                  </a:solidFill>
                  <a:latin typeface="Arial"/>
                  <a:ea typeface="Microsoft YaHei"/>
                  <a:cs typeface="Arial"/>
                </a:rPr>
                <a:t>✓ 统一成本极低：无需技术栈迁移，仅需架构整合</a:t>
              </a:r>
            </a:p>
          </p:txBody>
        </p:sp>
      </p:grpSp>
      <p:grpSp>
        <p:nvGrpSpPr>
          <p:cNvPr id="113" name="Group 113"/>
          <p:cNvGrpSpPr/>
          <p:nvPr/>
        </p:nvGrpSpPr>
        <p:grpSpPr>
          <a:xfrm>
            <a:off x="554355" y="6521768"/>
            <a:ext cx="17162145" cy="1669732"/>
            <a:chOff x="554355" y="6521768"/>
            <a:chExt cx="17162145" cy="1669732"/>
          </a:xfrm>
        </p:grpSpPr>
        <p:sp>
          <p:nvSpPr>
            <p:cNvPr id="88" name="TextBox 88"/>
            <p:cNvSpPr txBox="1"/>
            <p:nvPr/>
          </p:nvSpPr>
          <p:spPr>
            <a:xfrm>
              <a:off x="554355" y="6521768"/>
              <a:ext cx="127644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1F5F9"/>
                  </a:solidFill>
                  <a:latin typeface="Arial"/>
                  <a:ea typeface="Microsoft YaHei"/>
                  <a:cs typeface="Arial"/>
                </a:rPr>
                <a:t>四大统一建议</a:t>
              </a:r>
            </a:p>
          </p:txBody>
        </p:sp>
        <p:sp>
          <p:nvSpPr>
            <p:cNvPr id="89" name="Rectangle 89"/>
            <p:cNvSpPr/>
            <p:nvPr/>
          </p:nvSpPr>
          <p:spPr>
            <a:xfrm>
              <a:off x="571500" y="6858000"/>
              <a:ext cx="4000500" cy="1333500"/>
            </a:xfrm>
            <a:prstGeom prst="rect">
              <a:avLst/>
            </a:prstGeom>
            <a:solidFill>
              <a:srgbClr val="161D2E"/>
            </a:solidFill>
            <a:ln w="9525">
              <a:solidFill>
                <a:srgbClr val="06B6D4">
                  <a:alpha val="25000"/>
                </a:srgbClr>
              </a:solidFill>
            </a:ln>
          </p:spPr>
        </p:sp>
        <p:sp>
          <p:nvSpPr>
            <p:cNvPr id="90" name="Rectangle 90"/>
            <p:cNvSpPr/>
            <p:nvPr/>
          </p:nvSpPr>
          <p:spPr>
            <a:xfrm>
              <a:off x="571500" y="6858000"/>
              <a:ext cx="4000500" cy="38100"/>
            </a:xfrm>
            <a:prstGeom prst="rect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91" name="TextBox 91"/>
            <p:cNvSpPr txBox="1"/>
            <p:nvPr/>
          </p:nvSpPr>
          <p:spPr>
            <a:xfrm>
              <a:off x="1127760" y="7166610"/>
              <a:ext cx="7665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1F5F9"/>
                  </a:solidFill>
                  <a:latin typeface="Arial"/>
                  <a:ea typeface="Microsoft YaHei"/>
                  <a:cs typeface="Arial"/>
                </a:rPr>
                <a:t>统一前端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787718" y="7457599"/>
              <a:ext cx="204682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5个Next.js应用 → 1个Monorepo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787718" y="7667149"/>
              <a:ext cx="147011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统一设计系统 + 组件库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787718" y="7876699"/>
              <a:ext cx="85779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SSO单点登录</a:t>
              </a:r>
            </a:p>
          </p:txBody>
        </p:sp>
        <p:sp>
          <p:nvSpPr>
            <p:cNvPr id="95" name="Rectangle 95"/>
            <p:cNvSpPr/>
            <p:nvPr/>
          </p:nvSpPr>
          <p:spPr>
            <a:xfrm>
              <a:off x="4762500" y="6858000"/>
              <a:ext cx="4000500" cy="1333500"/>
            </a:xfrm>
            <a:prstGeom prst="rect">
              <a:avLst/>
            </a:prstGeom>
            <a:solidFill>
              <a:srgbClr val="161D2E"/>
            </a:solidFill>
            <a:ln w="9525">
              <a:solidFill>
                <a:srgbClr val="3B82F6">
                  <a:alpha val="25000"/>
                </a:srgbClr>
              </a:solidFill>
            </a:ln>
          </p:spPr>
        </p:sp>
        <p:sp>
          <p:nvSpPr>
            <p:cNvPr id="96" name="Rectangle 96"/>
            <p:cNvSpPr/>
            <p:nvPr/>
          </p:nvSpPr>
          <p:spPr>
            <a:xfrm>
              <a:off x="4762500" y="6858000"/>
              <a:ext cx="4000500" cy="38100"/>
            </a:xfrm>
            <a:prstGeom prst="rect">
              <a:avLst/>
            </a:prstGeom>
            <a:solidFill>
              <a:srgbClr val="3B82F6"/>
            </a:solidFill>
            <a:ln>
              <a:noFill/>
            </a:ln>
          </p:spPr>
        </p:sp>
        <p:sp>
          <p:nvSpPr>
            <p:cNvPr id="97" name="TextBox 97"/>
            <p:cNvSpPr txBox="1"/>
            <p:nvPr/>
          </p:nvSpPr>
          <p:spPr>
            <a:xfrm>
              <a:off x="5318760" y="7166610"/>
              <a:ext cx="7665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1F5F9"/>
                  </a:solidFill>
                  <a:latin typeface="Arial"/>
                  <a:ea typeface="Microsoft YaHei"/>
                  <a:cs typeface="Arial"/>
                </a:rPr>
                <a:t>统一后端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4978718" y="7457599"/>
              <a:ext cx="206106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5个Python后端 → 1个微服务集群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4978718" y="7667149"/>
              <a:ext cx="152707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统一API网关 + 服务注册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4978718" y="7876699"/>
              <a:ext cx="130635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共享认证与权限中心</a:t>
              </a:r>
            </a:p>
          </p:txBody>
        </p:sp>
        <p:sp>
          <p:nvSpPr>
            <p:cNvPr id="101" name="Rectangle 101"/>
            <p:cNvSpPr/>
            <p:nvPr/>
          </p:nvSpPr>
          <p:spPr>
            <a:xfrm>
              <a:off x="8953500" y="6858000"/>
              <a:ext cx="4000500" cy="1333500"/>
            </a:xfrm>
            <a:prstGeom prst="rect">
              <a:avLst/>
            </a:prstGeom>
            <a:solidFill>
              <a:srgbClr val="161D2E"/>
            </a:solidFill>
            <a:ln w="9525">
              <a:solidFill>
                <a:srgbClr val="8B5CF6">
                  <a:alpha val="25000"/>
                </a:srgbClr>
              </a:solidFill>
            </a:ln>
          </p:spPr>
        </p:sp>
        <p:sp>
          <p:nvSpPr>
            <p:cNvPr id="102" name="Rectangle 102"/>
            <p:cNvSpPr/>
            <p:nvPr/>
          </p:nvSpPr>
          <p:spPr>
            <a:xfrm>
              <a:off x="8953500" y="6858000"/>
              <a:ext cx="4000500" cy="38100"/>
            </a:xfrm>
            <a:prstGeom prst="rect">
              <a:avLst/>
            </a:prstGeom>
            <a:solidFill>
              <a:srgbClr val="8B5CF6"/>
            </a:solidFill>
            <a:ln>
              <a:noFill/>
            </a:ln>
          </p:spPr>
        </p:sp>
        <p:sp>
          <p:nvSpPr>
            <p:cNvPr id="103" name="TextBox 103"/>
            <p:cNvSpPr txBox="1"/>
            <p:nvPr/>
          </p:nvSpPr>
          <p:spPr>
            <a:xfrm>
              <a:off x="9509760" y="7166610"/>
              <a:ext cx="95059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1F5F9"/>
                  </a:solidFill>
                  <a:latin typeface="Arial"/>
                  <a:ea typeface="Microsoft YaHei"/>
                  <a:cs typeface="Arial"/>
                </a:rPr>
                <a:t>统一数据层</a:t>
              </a:r>
            </a:p>
          </p:txBody>
        </p:sp>
        <p:sp>
          <p:nvSpPr>
            <p:cNvPr id="104" name="TextBox 104"/>
            <p:cNvSpPr txBox="1"/>
            <p:nvPr/>
          </p:nvSpPr>
          <p:spPr>
            <a:xfrm>
              <a:off x="9169718" y="7457599"/>
              <a:ext cx="193290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5个Supabase → 1个数据库集群</a:t>
              </a:r>
            </a:p>
          </p:txBody>
        </p:sp>
        <p:sp>
          <p:nvSpPr>
            <p:cNvPr id="105" name="TextBox 105"/>
            <p:cNvSpPr txBox="1"/>
            <p:nvPr/>
          </p:nvSpPr>
          <p:spPr>
            <a:xfrm>
              <a:off x="9169718" y="7667149"/>
              <a:ext cx="161251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统一数据模型 + 跨库查询</a:t>
              </a:r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9169718" y="7876699"/>
              <a:ext cx="144875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实时数据同步与一致性</a:t>
              </a:r>
            </a:p>
          </p:txBody>
        </p:sp>
        <p:sp>
          <p:nvSpPr>
            <p:cNvPr id="107" name="Rectangle 107"/>
            <p:cNvSpPr/>
            <p:nvPr/>
          </p:nvSpPr>
          <p:spPr>
            <a:xfrm>
              <a:off x="13144500" y="6858000"/>
              <a:ext cx="4572000" cy="1333500"/>
            </a:xfrm>
            <a:prstGeom prst="rect">
              <a:avLst/>
            </a:prstGeom>
            <a:solidFill>
              <a:srgbClr val="161D2E"/>
            </a:solidFill>
            <a:ln w="9525">
              <a:solidFill>
                <a:srgbClr val="10B981">
                  <a:alpha val="25000"/>
                </a:srgbClr>
              </a:solidFill>
            </a:ln>
          </p:spPr>
        </p:sp>
        <p:sp>
          <p:nvSpPr>
            <p:cNvPr id="108" name="Rectangle 108"/>
            <p:cNvSpPr/>
            <p:nvPr/>
          </p:nvSpPr>
          <p:spPr>
            <a:xfrm>
              <a:off x="13144500" y="6858000"/>
              <a:ext cx="4572000" cy="38100"/>
            </a:xfrm>
            <a:prstGeom prst="rect">
              <a:avLst/>
            </a:prstGeom>
            <a:solidFill>
              <a:srgbClr val="10B981"/>
            </a:solidFill>
            <a:ln>
              <a:noFill/>
            </a:ln>
          </p:spPr>
        </p:sp>
        <p:sp>
          <p:nvSpPr>
            <p:cNvPr id="109" name="TextBox 109"/>
            <p:cNvSpPr txBox="1"/>
            <p:nvPr/>
          </p:nvSpPr>
          <p:spPr>
            <a:xfrm>
              <a:off x="13700760" y="7166610"/>
              <a:ext cx="7665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1F5F9"/>
                  </a:solidFill>
                  <a:latin typeface="Arial"/>
                  <a:ea typeface="Microsoft YaHei"/>
                  <a:cs typeface="Arial"/>
                </a:rPr>
                <a:t>统一部署</a:t>
              </a:r>
            </a:p>
          </p:txBody>
        </p:sp>
        <p:sp>
          <p:nvSpPr>
            <p:cNvPr id="110" name="TextBox 110"/>
            <p:cNvSpPr txBox="1"/>
            <p:nvPr/>
          </p:nvSpPr>
          <p:spPr>
            <a:xfrm>
              <a:off x="13360718" y="7457599"/>
              <a:ext cx="218210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PythonAnywhere → Docker + K8s</a:t>
              </a:r>
            </a:p>
          </p:txBody>
        </p:sp>
        <p:sp>
          <p:nvSpPr>
            <p:cNvPr id="111" name="TextBox 111"/>
            <p:cNvSpPr txBox="1"/>
            <p:nvPr/>
          </p:nvSpPr>
          <p:spPr>
            <a:xfrm>
              <a:off x="13360718" y="7667149"/>
              <a:ext cx="123515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CI/CD自动化流水线</a:t>
              </a:r>
            </a:p>
          </p:txBody>
        </p:sp>
        <p:sp>
          <p:nvSpPr>
            <p:cNvPr id="112" name="TextBox 112"/>
            <p:cNvSpPr txBox="1"/>
            <p:nvPr/>
          </p:nvSpPr>
          <p:spPr>
            <a:xfrm>
              <a:off x="13360718" y="7876699"/>
              <a:ext cx="161251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统一监控告警 + 日志聚合</a:t>
              </a:r>
            </a:p>
          </p:txBody>
        </p:sp>
      </p:grpSp>
      <p:sp>
        <p:nvSpPr>
          <p:cNvPr id="114" name="TextBox 114"/>
          <p:cNvSpPr txBox="1"/>
          <p:nvPr/>
        </p:nvSpPr>
        <p:spPr>
          <a:xfrm>
            <a:off x="8961822" y="10007441"/>
            <a:ext cx="36435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12 / 14</a:t>
            </a:r>
          </a:p>
        </p:txBody>
      </p:sp>
    </p:spTree>
  </p:cSld>
  <p:clrMapOvr>
    <a:masterClrMapping/>
  </p:clrMapOvr>
  <p:transition 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A0E1A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06B6D4">
                  <a:alpha val="6000"/>
                </a:srgbClr>
              </a:gs>
              <a:gs pos="100000">
                <a:srgbClr val="06B6D4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8B5CF6">
                  <a:alpha val="6000"/>
                </a:srgbClr>
              </a:gs>
              <a:gs pos="100000">
                <a:srgbClr val="8B5CF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571500" y="381000"/>
            <a:ext cx="17145000" cy="419100"/>
          </a:xfrm>
          <a:prstGeom prst="rect">
            <a:avLst/>
          </a:prstGeom>
          <a:solidFill>
            <a:srgbClr val="161D2E"/>
          </a:solidFill>
          <a:ln w="9525">
            <a:solidFill>
              <a:srgbClr val="1E293B"/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748665" y="534352"/>
            <a:ext cx="105719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06B6D4"/>
                </a:solidFill>
                <a:latin typeface="Arial"/>
                <a:ea typeface="Microsoft YaHei"/>
                <a:cs typeface="Arial"/>
              </a:rPr>
              <a:t>LASEN.Digital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6491347" y="558641"/>
            <a:ext cx="104513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系统设计报告 v2.0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60070" y="1141095"/>
            <a:ext cx="114770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06B6D4"/>
                </a:solidFill>
                <a:latin typeface="Arial"/>
                <a:ea typeface="Microsoft YaHei"/>
                <a:cs typeface="Arial"/>
              </a:rPr>
              <a:t>KEY CONCLUSIONS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41020" y="1341120"/>
            <a:ext cx="1533144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核心结论</a:t>
            </a:r>
          </a:p>
        </p:txBody>
      </p:sp>
      <p:sp>
        <p:nvSpPr>
          <p:cNvPr id="10" name="Rectangle 10"/>
          <p:cNvSpPr/>
          <p:nvPr/>
        </p:nvSpPr>
        <p:spPr>
          <a:xfrm>
            <a:off x="571500" y="1809750"/>
            <a:ext cx="17145000" cy="476250"/>
          </a:xfrm>
          <a:prstGeom prst="rect">
            <a:avLst/>
          </a:prstGeom>
          <a:solidFill>
            <a:srgbClr val="06B6D4">
              <a:alpha val="6000"/>
            </a:srgbClr>
          </a:solidFill>
          <a:ln w="9525">
            <a:solidFill>
              <a:srgbClr val="06B6D4">
                <a:alpha val="15000"/>
              </a:srgbClr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6854762" y="1975485"/>
            <a:ext cx="457847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以VOC为统一平台基座，实现一个入口·一套数据·一个闭环</a:t>
            </a:r>
          </a:p>
        </p:txBody>
      </p:sp>
      <p:grpSp>
        <p:nvGrpSpPr>
          <p:cNvPr id="45" name="Group 45"/>
          <p:cNvGrpSpPr/>
          <p:nvPr/>
        </p:nvGrpSpPr>
        <p:grpSpPr>
          <a:xfrm>
            <a:off x="571500" y="2571750"/>
            <a:ext cx="8382000" cy="5143500"/>
            <a:chOff x="571500" y="2571750"/>
            <a:chExt cx="8382000" cy="5143500"/>
          </a:xfrm>
        </p:grpSpPr>
        <p:sp>
          <p:nvSpPr>
            <p:cNvPr id="12" name="Rectangle 12"/>
            <p:cNvSpPr/>
            <p:nvPr/>
          </p:nvSpPr>
          <p:spPr>
            <a:xfrm>
              <a:off x="571500" y="2571750"/>
              <a:ext cx="8382000" cy="5143500"/>
            </a:xfrm>
            <a:prstGeom prst="rect">
              <a:avLst/>
            </a:prstGeom>
            <a:solidFill>
              <a:srgbClr val="161D2E"/>
            </a:solidFill>
            <a:ln w="9525">
              <a:solidFill>
                <a:srgbClr val="10B981">
                  <a:alpha val="25000"/>
                </a:srgbClr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571500" y="2571750"/>
              <a:ext cx="8382000" cy="47625"/>
            </a:xfrm>
            <a:prstGeom prst="rect">
              <a:avLst/>
            </a:prstGeom>
            <a:solidFill>
              <a:srgbClr val="10B981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219200" y="2886075"/>
              <a:ext cx="95821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0B981"/>
                  </a:solidFill>
                  <a:latin typeface="Arial"/>
                  <a:ea typeface="Microsoft YaHei"/>
                  <a:cs typeface="Arial"/>
                </a:rPr>
                <a:t>核心优势</a:t>
              </a:r>
            </a:p>
          </p:txBody>
        </p:sp>
        <p:grpSp>
          <p:nvGrpSpPr>
            <p:cNvPr id="20" name="Group 20"/>
            <p:cNvGrpSpPr/>
            <p:nvPr/>
          </p:nvGrpSpPr>
          <p:grpSpPr>
            <a:xfrm>
              <a:off x="838200" y="3314700"/>
              <a:ext cx="7848600" cy="685800"/>
              <a:chOff x="838200" y="3314700"/>
              <a:chExt cx="7848600" cy="685800"/>
            </a:xfrm>
          </p:grpSpPr>
          <p:sp>
            <p:nvSpPr>
              <p:cNvPr id="15" name="Rectangle 15"/>
              <p:cNvSpPr/>
              <p:nvPr/>
            </p:nvSpPr>
            <p:spPr>
              <a:xfrm>
                <a:off x="838200" y="3314700"/>
                <a:ext cx="7848600" cy="685800"/>
              </a:xfrm>
              <a:prstGeom prst="rect">
                <a:avLst/>
              </a:prstGeom>
              <a:solidFill>
                <a:srgbClr val="10B981">
                  <a:alpha val="4000"/>
                </a:srgbClr>
              </a:solidFill>
              <a:ln w="9525">
                <a:solidFill>
                  <a:srgbClr val="10B981">
                    <a:alpha val="12000"/>
                  </a:srgbClr>
                </a:solidFill>
              </a:ln>
            </p:spPr>
          </p:sp>
          <p:sp>
            <p:nvSpPr>
              <p:cNvPr id="16" name="Rectangle 16"/>
              <p:cNvSpPr/>
              <p:nvPr/>
            </p:nvSpPr>
            <p:spPr>
              <a:xfrm>
                <a:off x="1028700" y="3448050"/>
                <a:ext cx="266700" cy="266700"/>
              </a:xfrm>
              <a:prstGeom prst="rect">
                <a:avLst/>
              </a:prstGeom>
              <a:solidFill>
                <a:srgbClr val="10B981">
                  <a:alpha val="15000"/>
                </a:srgbClr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1124562" y="3525202"/>
                <a:ext cx="7497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10B981"/>
                    </a:solidFill>
                    <a:latin typeface="Arial"/>
                    <a:ea typeface="Microsoft YaHei"/>
                    <a:cs typeface="Arial"/>
                  </a:rPr>
                  <a:t>1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394460" y="3509010"/>
                <a:ext cx="1134618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F1F5F9"/>
                    </a:solidFill>
                    <a:latin typeface="Arial"/>
                    <a:ea typeface="Microsoft YaHei"/>
                    <a:cs typeface="Arial"/>
                  </a:rPr>
                  <a:t>业务闭环完整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397318" y="3761899"/>
                <a:ext cx="352065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94A3B8"/>
                    </a:solidFill>
                    <a:latin typeface="Arial"/>
                    <a:ea typeface="Microsoft YaHei"/>
                    <a:cs typeface="Arial"/>
                  </a:rPr>
                  <a:t>从市场洞察到运营反馈，覆盖企划研发全链路6大业务域</a:t>
                </a: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838200" y="4114800"/>
              <a:ext cx="7848600" cy="685800"/>
              <a:chOff x="838200" y="4114800"/>
              <a:chExt cx="7848600" cy="685800"/>
            </a:xfrm>
          </p:grpSpPr>
          <p:sp>
            <p:nvSpPr>
              <p:cNvPr id="21" name="Rectangle 21"/>
              <p:cNvSpPr/>
              <p:nvPr/>
            </p:nvSpPr>
            <p:spPr>
              <a:xfrm>
                <a:off x="838200" y="4114800"/>
                <a:ext cx="7848600" cy="685800"/>
              </a:xfrm>
              <a:prstGeom prst="rect">
                <a:avLst/>
              </a:prstGeom>
              <a:solidFill>
                <a:srgbClr val="10B981">
                  <a:alpha val="4000"/>
                </a:srgbClr>
              </a:solidFill>
              <a:ln w="9525">
                <a:solidFill>
                  <a:srgbClr val="10B981">
                    <a:alpha val="12000"/>
                  </a:srgbClr>
                </a:solidFill>
              </a:ln>
            </p:spPr>
          </p:sp>
          <p:sp>
            <p:nvSpPr>
              <p:cNvPr id="22" name="Rectangle 22"/>
              <p:cNvSpPr/>
              <p:nvPr/>
            </p:nvSpPr>
            <p:spPr>
              <a:xfrm>
                <a:off x="1028700" y="4248150"/>
                <a:ext cx="266700" cy="266700"/>
              </a:xfrm>
              <a:prstGeom prst="rect">
                <a:avLst/>
              </a:prstGeom>
              <a:solidFill>
                <a:srgbClr val="10B981">
                  <a:alpha val="15000"/>
                </a:srgbClr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1104434" y="4325302"/>
                <a:ext cx="11523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10B981"/>
                    </a:solidFill>
                    <a:latin typeface="Arial"/>
                    <a:ea typeface="Microsoft YaHei"/>
                    <a:cs typeface="Arial"/>
                  </a:rPr>
                  <a:t>2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1394460" y="4309110"/>
                <a:ext cx="1475061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F1F5F9"/>
                    </a:solidFill>
                    <a:latin typeface="Arial"/>
                    <a:ea typeface="Microsoft YaHei"/>
                    <a:cs typeface="Arial"/>
                  </a:rPr>
                  <a:t>VOC中枢定位清晰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1397318" y="4561999"/>
                <a:ext cx="3228737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94A3B8"/>
                    </a:solidFill>
                    <a:latin typeface="Arial"/>
                    <a:ea typeface="Microsoft YaHei"/>
                    <a:cs typeface="Arial"/>
                  </a:rPr>
                  <a:t>24个API模块构成核心中枢，一核四翼架构分工明确</a:t>
                </a:r>
              </a:p>
            </p:txBody>
          </p:sp>
        </p:grpSp>
        <p:grpSp>
          <p:nvGrpSpPr>
            <p:cNvPr id="32" name="Group 32"/>
            <p:cNvGrpSpPr/>
            <p:nvPr/>
          </p:nvGrpSpPr>
          <p:grpSpPr>
            <a:xfrm>
              <a:off x="838200" y="4914900"/>
              <a:ext cx="7848600" cy="685800"/>
              <a:chOff x="838200" y="4914900"/>
              <a:chExt cx="7848600" cy="685800"/>
            </a:xfrm>
          </p:grpSpPr>
          <p:sp>
            <p:nvSpPr>
              <p:cNvPr id="27" name="Rectangle 27"/>
              <p:cNvSpPr/>
              <p:nvPr/>
            </p:nvSpPr>
            <p:spPr>
              <a:xfrm>
                <a:off x="838200" y="4914900"/>
                <a:ext cx="7848600" cy="685800"/>
              </a:xfrm>
              <a:prstGeom prst="rect">
                <a:avLst/>
              </a:prstGeom>
              <a:solidFill>
                <a:srgbClr val="10B981">
                  <a:alpha val="4000"/>
                </a:srgbClr>
              </a:solidFill>
              <a:ln w="9525">
                <a:solidFill>
                  <a:srgbClr val="10B981">
                    <a:alpha val="12000"/>
                  </a:srgbClr>
                </a:solidFill>
              </a:ln>
            </p:spPr>
          </p:sp>
          <p:sp>
            <p:nvSpPr>
              <p:cNvPr id="28" name="Rectangle 28"/>
              <p:cNvSpPr/>
              <p:nvPr/>
            </p:nvSpPr>
            <p:spPr>
              <a:xfrm>
                <a:off x="1028700" y="5048250"/>
                <a:ext cx="266700" cy="266700"/>
              </a:xfrm>
              <a:prstGeom prst="rect">
                <a:avLst/>
              </a:prstGeom>
              <a:solidFill>
                <a:srgbClr val="10B981">
                  <a:alpha val="15000"/>
                </a:srgbClr>
              </a:solidFill>
              <a:ln>
                <a:noFill/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1104434" y="5125402"/>
                <a:ext cx="11523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10B981"/>
                    </a:solidFill>
                    <a:latin typeface="Arial"/>
                    <a:ea typeface="Microsoft YaHei"/>
                    <a:cs typeface="Arial"/>
                  </a:rPr>
                  <a:t>3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1394460" y="5109210"/>
                <a:ext cx="1318641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F1F5F9"/>
                    </a:solidFill>
                    <a:latin typeface="Arial"/>
                    <a:ea typeface="Microsoft YaHei"/>
                    <a:cs typeface="Arial"/>
                  </a:rPr>
                  <a:t>色彩体系差异化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1397318" y="5362099"/>
                <a:ext cx="3257217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94A3B8"/>
                    </a:solidFill>
                    <a:latin typeface="Arial"/>
                    <a:ea typeface="Microsoft YaHei"/>
                    <a:cs typeface="Arial"/>
                  </a:rPr>
                  <a:t>2914色LASEN标准色库，行业独有的设计标准化能力</a:t>
                </a:r>
              </a:p>
            </p:txBody>
          </p:sp>
        </p:grpSp>
        <p:grpSp>
          <p:nvGrpSpPr>
            <p:cNvPr id="38" name="Group 38"/>
            <p:cNvGrpSpPr/>
            <p:nvPr/>
          </p:nvGrpSpPr>
          <p:grpSpPr>
            <a:xfrm>
              <a:off x="838200" y="5715000"/>
              <a:ext cx="7848600" cy="685800"/>
              <a:chOff x="838200" y="5715000"/>
              <a:chExt cx="7848600" cy="685800"/>
            </a:xfrm>
          </p:grpSpPr>
          <p:sp>
            <p:nvSpPr>
              <p:cNvPr id="33" name="Rectangle 33"/>
              <p:cNvSpPr/>
              <p:nvPr/>
            </p:nvSpPr>
            <p:spPr>
              <a:xfrm>
                <a:off x="838200" y="5715000"/>
                <a:ext cx="7848600" cy="685800"/>
              </a:xfrm>
              <a:prstGeom prst="rect">
                <a:avLst/>
              </a:prstGeom>
              <a:solidFill>
                <a:srgbClr val="10B981">
                  <a:alpha val="4000"/>
                </a:srgbClr>
              </a:solidFill>
              <a:ln w="9525">
                <a:solidFill>
                  <a:srgbClr val="10B981">
                    <a:alpha val="12000"/>
                  </a:srgbClr>
                </a:solidFill>
              </a:ln>
            </p:spPr>
          </p:sp>
          <p:sp>
            <p:nvSpPr>
              <p:cNvPr id="34" name="Rectangle 34"/>
              <p:cNvSpPr/>
              <p:nvPr/>
            </p:nvSpPr>
            <p:spPr>
              <a:xfrm>
                <a:off x="1028700" y="5848350"/>
                <a:ext cx="266700" cy="266700"/>
              </a:xfrm>
              <a:prstGeom prst="rect">
                <a:avLst/>
              </a:prstGeom>
              <a:solidFill>
                <a:srgbClr val="10B981">
                  <a:alpha val="15000"/>
                </a:srgbClr>
              </a:solidFill>
              <a:ln>
                <a:noFill/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1104434" y="5925502"/>
                <a:ext cx="11523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10B981"/>
                    </a:solidFill>
                    <a:latin typeface="Arial"/>
                    <a:ea typeface="Microsoft YaHei"/>
                    <a:cs typeface="Arial"/>
                  </a:rPr>
                  <a:t>4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1394460" y="5909310"/>
                <a:ext cx="1318641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F1F5F9"/>
                    </a:solidFill>
                    <a:latin typeface="Arial"/>
                    <a:ea typeface="Microsoft YaHei"/>
                    <a:cs typeface="Arial"/>
                  </a:rPr>
                  <a:t>自动化能力扎实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1397318" y="6162199"/>
                <a:ext cx="341385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94A3B8"/>
                    </a:solidFill>
                    <a:latin typeface="Arial"/>
                    <a:ea typeface="Microsoft YaHei"/>
                    <a:cs typeface="Arial"/>
                  </a:rPr>
                  <a:t>Playwright爬虫+AI分析+RAG知识库，自动化基础完善</a:t>
                </a:r>
              </a:p>
            </p:txBody>
          </p:sp>
        </p:grpSp>
        <p:grpSp>
          <p:nvGrpSpPr>
            <p:cNvPr id="44" name="Group 44"/>
            <p:cNvGrpSpPr/>
            <p:nvPr/>
          </p:nvGrpSpPr>
          <p:grpSpPr>
            <a:xfrm>
              <a:off x="838200" y="6515100"/>
              <a:ext cx="7848600" cy="685800"/>
              <a:chOff x="838200" y="6515100"/>
              <a:chExt cx="7848600" cy="685800"/>
            </a:xfrm>
          </p:grpSpPr>
          <p:sp>
            <p:nvSpPr>
              <p:cNvPr id="39" name="Rectangle 39"/>
              <p:cNvSpPr/>
              <p:nvPr/>
            </p:nvSpPr>
            <p:spPr>
              <a:xfrm>
                <a:off x="838200" y="6515100"/>
                <a:ext cx="7848600" cy="685800"/>
              </a:xfrm>
              <a:prstGeom prst="rect">
                <a:avLst/>
              </a:prstGeom>
              <a:solidFill>
                <a:srgbClr val="10B981">
                  <a:alpha val="4000"/>
                </a:srgbClr>
              </a:solidFill>
              <a:ln w="9525">
                <a:solidFill>
                  <a:srgbClr val="10B981">
                    <a:alpha val="12000"/>
                  </a:srgbClr>
                </a:solidFill>
              </a:ln>
            </p:spPr>
          </p:sp>
          <p:sp>
            <p:nvSpPr>
              <p:cNvPr id="40" name="Rectangle 40"/>
              <p:cNvSpPr/>
              <p:nvPr/>
            </p:nvSpPr>
            <p:spPr>
              <a:xfrm>
                <a:off x="1028700" y="6648450"/>
                <a:ext cx="266700" cy="266700"/>
              </a:xfrm>
              <a:prstGeom prst="rect">
                <a:avLst/>
              </a:prstGeom>
              <a:solidFill>
                <a:srgbClr val="10B981">
                  <a:alpha val="15000"/>
                </a:srgbClr>
              </a:solidFill>
              <a:ln>
                <a:noFill/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1104434" y="6725602"/>
                <a:ext cx="11523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10B981"/>
                    </a:solidFill>
                    <a:latin typeface="Arial"/>
                    <a:ea typeface="Microsoft YaHei"/>
                    <a:cs typeface="Arial"/>
                  </a:rPr>
                  <a:t>5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1394460" y="6709410"/>
                <a:ext cx="1134618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F1F5F9"/>
                    </a:solidFill>
                    <a:latin typeface="Arial"/>
                    <a:ea typeface="Microsoft YaHei"/>
                    <a:cs typeface="Arial"/>
                  </a:rPr>
                  <a:t>已有集成意识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1397318" y="6962299"/>
                <a:ext cx="342809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94A3B8"/>
                    </a:solidFill>
                    <a:latin typeface="Arial"/>
                    <a:ea typeface="Microsoft YaHei"/>
                    <a:cs typeface="Arial"/>
                  </a:rPr>
                  <a:t>YFB已嵌入VOC，Supabase共享数据库，集成方向正确</a:t>
                </a:r>
              </a:p>
            </p:txBody>
          </p:sp>
        </p:grpSp>
      </p:grpSp>
      <p:grpSp>
        <p:nvGrpSpPr>
          <p:cNvPr id="79" name="Group 79"/>
          <p:cNvGrpSpPr/>
          <p:nvPr/>
        </p:nvGrpSpPr>
        <p:grpSpPr>
          <a:xfrm>
            <a:off x="9144000" y="2571750"/>
            <a:ext cx="8572500" cy="5143500"/>
            <a:chOff x="9144000" y="2571750"/>
            <a:chExt cx="8572500" cy="5143500"/>
          </a:xfrm>
        </p:grpSpPr>
        <p:sp>
          <p:nvSpPr>
            <p:cNvPr id="46" name="Rectangle 46"/>
            <p:cNvSpPr/>
            <p:nvPr/>
          </p:nvSpPr>
          <p:spPr>
            <a:xfrm>
              <a:off x="9144000" y="2571750"/>
              <a:ext cx="8572500" cy="5143500"/>
            </a:xfrm>
            <a:prstGeom prst="rect">
              <a:avLst/>
            </a:prstGeom>
            <a:solidFill>
              <a:srgbClr val="161D2E"/>
            </a:solidFill>
            <a:ln w="9525">
              <a:solidFill>
                <a:srgbClr val="F43F5E">
                  <a:alpha val="25000"/>
                </a:srgbClr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9144000" y="2571750"/>
              <a:ext cx="8572500" cy="47625"/>
            </a:xfrm>
            <a:prstGeom prst="rect">
              <a:avLst/>
            </a:prstGeom>
            <a:solidFill>
              <a:srgbClr val="F43F5E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9791700" y="2886075"/>
              <a:ext cx="95821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43F5E"/>
                  </a:solidFill>
                  <a:latin typeface="Arial"/>
                  <a:ea typeface="Microsoft YaHei"/>
                  <a:cs typeface="Arial"/>
                </a:rPr>
                <a:t>核心挑战</a:t>
              </a:r>
            </a:p>
          </p:txBody>
        </p:sp>
        <p:grpSp>
          <p:nvGrpSpPr>
            <p:cNvPr id="54" name="Group 54"/>
            <p:cNvGrpSpPr/>
            <p:nvPr/>
          </p:nvGrpSpPr>
          <p:grpSpPr>
            <a:xfrm>
              <a:off x="9410700" y="3314700"/>
              <a:ext cx="8039100" cy="685800"/>
              <a:chOff x="9410700" y="3314700"/>
              <a:chExt cx="8039100" cy="685800"/>
            </a:xfrm>
          </p:grpSpPr>
          <p:sp>
            <p:nvSpPr>
              <p:cNvPr id="49" name="Rectangle 49"/>
              <p:cNvSpPr/>
              <p:nvPr/>
            </p:nvSpPr>
            <p:spPr>
              <a:xfrm>
                <a:off x="9410700" y="3314700"/>
                <a:ext cx="8039100" cy="685800"/>
              </a:xfrm>
              <a:prstGeom prst="rect">
                <a:avLst/>
              </a:prstGeom>
              <a:solidFill>
                <a:srgbClr val="F43F5E">
                  <a:alpha val="4000"/>
                </a:srgbClr>
              </a:solidFill>
              <a:ln w="9525">
                <a:solidFill>
                  <a:srgbClr val="F43F5E">
                    <a:alpha val="12000"/>
                  </a:srgbClr>
                </a:solidFill>
              </a:ln>
            </p:spPr>
          </p:sp>
          <p:sp>
            <p:nvSpPr>
              <p:cNvPr id="50" name="Rectangle 50"/>
              <p:cNvSpPr/>
              <p:nvPr/>
            </p:nvSpPr>
            <p:spPr>
              <a:xfrm>
                <a:off x="9601200" y="3448050"/>
                <a:ext cx="266700" cy="266700"/>
              </a:xfrm>
              <a:prstGeom prst="rect">
                <a:avLst/>
              </a:prstGeom>
              <a:solidFill>
                <a:srgbClr val="F43F5E">
                  <a:alpha val="15000"/>
                </a:srgbClr>
              </a:solidFill>
              <a:ln>
                <a:noFill/>
              </a:ln>
            </p:spPr>
          </p:sp>
          <p:sp>
            <p:nvSpPr>
              <p:cNvPr id="51" name="TextBox 51"/>
              <p:cNvSpPr txBox="1"/>
              <p:nvPr/>
            </p:nvSpPr>
            <p:spPr>
              <a:xfrm>
                <a:off x="9697062" y="3525202"/>
                <a:ext cx="7497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43F5E"/>
                    </a:solidFill>
                    <a:latin typeface="Arial"/>
                    <a:ea typeface="Microsoft YaHei"/>
                    <a:cs typeface="Arial"/>
                  </a:rPr>
                  <a:t>1</a:t>
                </a: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9966960" y="3509010"/>
                <a:ext cx="1134618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F1F5F9"/>
                    </a:solidFill>
                    <a:latin typeface="Arial"/>
                    <a:ea typeface="Microsoft YaHei"/>
                    <a:cs typeface="Arial"/>
                  </a:rPr>
                  <a:t>数据孤岛严重</a:t>
                </a: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9969818" y="3761899"/>
                <a:ext cx="3235857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94A3B8"/>
                    </a:solidFill>
                    <a:latin typeface="Arial"/>
                    <a:ea typeface="Microsoft YaHei"/>
                    <a:cs typeface="Arial"/>
                  </a:rPr>
                  <a:t>LASEN→VOC 0%，AMZN→VOC 15%，COLOR→VOC 20%</a:t>
                </a:r>
              </a:p>
            </p:txBody>
          </p:sp>
        </p:grpSp>
        <p:grpSp>
          <p:nvGrpSpPr>
            <p:cNvPr id="60" name="Group 60"/>
            <p:cNvGrpSpPr/>
            <p:nvPr/>
          </p:nvGrpSpPr>
          <p:grpSpPr>
            <a:xfrm>
              <a:off x="9410700" y="4114800"/>
              <a:ext cx="8039100" cy="685800"/>
              <a:chOff x="9410700" y="4114800"/>
              <a:chExt cx="8039100" cy="685800"/>
            </a:xfrm>
          </p:grpSpPr>
          <p:sp>
            <p:nvSpPr>
              <p:cNvPr id="55" name="Rectangle 55"/>
              <p:cNvSpPr/>
              <p:nvPr/>
            </p:nvSpPr>
            <p:spPr>
              <a:xfrm>
                <a:off x="9410700" y="4114800"/>
                <a:ext cx="8039100" cy="685800"/>
              </a:xfrm>
              <a:prstGeom prst="rect">
                <a:avLst/>
              </a:prstGeom>
              <a:solidFill>
                <a:srgbClr val="F43F5E">
                  <a:alpha val="4000"/>
                </a:srgbClr>
              </a:solidFill>
              <a:ln w="9525">
                <a:solidFill>
                  <a:srgbClr val="F43F5E">
                    <a:alpha val="12000"/>
                  </a:srgbClr>
                </a:solidFill>
              </a:ln>
            </p:spPr>
          </p:sp>
          <p:sp>
            <p:nvSpPr>
              <p:cNvPr id="56" name="Rectangle 56"/>
              <p:cNvSpPr/>
              <p:nvPr/>
            </p:nvSpPr>
            <p:spPr>
              <a:xfrm>
                <a:off x="9601200" y="4248150"/>
                <a:ext cx="266700" cy="266700"/>
              </a:xfrm>
              <a:prstGeom prst="rect">
                <a:avLst/>
              </a:prstGeom>
              <a:solidFill>
                <a:srgbClr val="F43F5E">
                  <a:alpha val="15000"/>
                </a:srgbClr>
              </a:solidFill>
              <a:ln>
                <a:noFill/>
              </a:ln>
            </p:spPr>
          </p:sp>
          <p:sp>
            <p:nvSpPr>
              <p:cNvPr id="57" name="TextBox 57"/>
              <p:cNvSpPr txBox="1"/>
              <p:nvPr/>
            </p:nvSpPr>
            <p:spPr>
              <a:xfrm>
                <a:off x="9676934" y="4325302"/>
                <a:ext cx="11523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43F5E"/>
                    </a:solidFill>
                    <a:latin typeface="Arial"/>
                    <a:ea typeface="Microsoft YaHei"/>
                    <a:cs typeface="Arial"/>
                  </a:rPr>
                  <a:t>2</a:t>
                </a:r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9966960" y="4309110"/>
                <a:ext cx="1134618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F1F5F9"/>
                    </a:solidFill>
                    <a:latin typeface="Arial"/>
                    <a:ea typeface="Microsoft YaHei"/>
                    <a:cs typeface="Arial"/>
                  </a:rPr>
                  <a:t>技术栈碎片化</a:t>
                </a: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9969818" y="4561999"/>
                <a:ext cx="3107698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94A3B8"/>
                    </a:solidFill>
                    <a:latin typeface="Arial"/>
                    <a:ea typeface="Microsoft YaHei"/>
                    <a:cs typeface="Arial"/>
                  </a:rPr>
                  <a:t>5个独立部署实例，5个独立数据库，5个独立前端</a:t>
                </a:r>
              </a:p>
            </p:txBody>
          </p:sp>
        </p:grpSp>
        <p:grpSp>
          <p:nvGrpSpPr>
            <p:cNvPr id="66" name="Group 66"/>
            <p:cNvGrpSpPr/>
            <p:nvPr/>
          </p:nvGrpSpPr>
          <p:grpSpPr>
            <a:xfrm>
              <a:off x="9410700" y="4914900"/>
              <a:ext cx="8039100" cy="685800"/>
              <a:chOff x="9410700" y="4914900"/>
              <a:chExt cx="8039100" cy="685800"/>
            </a:xfrm>
          </p:grpSpPr>
          <p:sp>
            <p:nvSpPr>
              <p:cNvPr id="61" name="Rectangle 61"/>
              <p:cNvSpPr/>
              <p:nvPr/>
            </p:nvSpPr>
            <p:spPr>
              <a:xfrm>
                <a:off x="9410700" y="4914900"/>
                <a:ext cx="8039100" cy="685800"/>
              </a:xfrm>
              <a:prstGeom prst="rect">
                <a:avLst/>
              </a:prstGeom>
              <a:solidFill>
                <a:srgbClr val="F43F5E">
                  <a:alpha val="4000"/>
                </a:srgbClr>
              </a:solidFill>
              <a:ln w="9525">
                <a:solidFill>
                  <a:srgbClr val="F43F5E">
                    <a:alpha val="12000"/>
                  </a:srgbClr>
                </a:solidFill>
              </a:ln>
            </p:spPr>
          </p:sp>
          <p:sp>
            <p:nvSpPr>
              <p:cNvPr id="62" name="Rectangle 62"/>
              <p:cNvSpPr/>
              <p:nvPr/>
            </p:nvSpPr>
            <p:spPr>
              <a:xfrm>
                <a:off x="9601200" y="5048250"/>
                <a:ext cx="266700" cy="266700"/>
              </a:xfrm>
              <a:prstGeom prst="rect">
                <a:avLst/>
              </a:prstGeom>
              <a:solidFill>
                <a:srgbClr val="F43F5E">
                  <a:alpha val="15000"/>
                </a:srgbClr>
              </a:solidFill>
              <a:ln>
                <a:noFill/>
              </a:ln>
            </p:spPr>
          </p:sp>
          <p:sp>
            <p:nvSpPr>
              <p:cNvPr id="63" name="TextBox 63"/>
              <p:cNvSpPr txBox="1"/>
              <p:nvPr/>
            </p:nvSpPr>
            <p:spPr>
              <a:xfrm>
                <a:off x="9676934" y="5125402"/>
                <a:ext cx="11523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43F5E"/>
                    </a:solidFill>
                    <a:latin typeface="Arial"/>
                    <a:ea typeface="Microsoft YaHei"/>
                    <a:cs typeface="Arial"/>
                  </a:rPr>
                  <a:t>3</a:t>
                </a:r>
              </a:p>
            </p:txBody>
          </p:sp>
          <p:sp>
            <p:nvSpPr>
              <p:cNvPr id="64" name="TextBox 64"/>
              <p:cNvSpPr txBox="1"/>
              <p:nvPr/>
            </p:nvSpPr>
            <p:spPr>
              <a:xfrm>
                <a:off x="9966960" y="5109210"/>
                <a:ext cx="150266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F1F5F9"/>
                    </a:solidFill>
                    <a:latin typeface="Arial"/>
                    <a:ea typeface="Microsoft YaHei"/>
                    <a:cs typeface="Arial"/>
                  </a:rPr>
                  <a:t>缺少统一身份认证</a:t>
                </a:r>
              </a:p>
            </p:txBody>
          </p:sp>
          <p:sp>
            <p:nvSpPr>
              <p:cNvPr id="65" name="TextBox 65"/>
              <p:cNvSpPr txBox="1"/>
              <p:nvPr/>
            </p:nvSpPr>
            <p:spPr>
              <a:xfrm>
                <a:off x="9969818" y="5362099"/>
                <a:ext cx="3093458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94A3B8"/>
                    </a:solidFill>
                    <a:latin typeface="Arial"/>
                    <a:ea typeface="Microsoft YaHei"/>
                    <a:cs typeface="Arial"/>
                  </a:rPr>
                  <a:t>5套独立用户体系，无法单点登录，用户体验割裂</a:t>
                </a:r>
              </a:p>
            </p:txBody>
          </p:sp>
        </p:grpSp>
        <p:grpSp>
          <p:nvGrpSpPr>
            <p:cNvPr id="72" name="Group 72"/>
            <p:cNvGrpSpPr/>
            <p:nvPr/>
          </p:nvGrpSpPr>
          <p:grpSpPr>
            <a:xfrm>
              <a:off x="9410700" y="5715000"/>
              <a:ext cx="8039100" cy="685800"/>
              <a:chOff x="9410700" y="5715000"/>
              <a:chExt cx="8039100" cy="685800"/>
            </a:xfrm>
          </p:grpSpPr>
          <p:sp>
            <p:nvSpPr>
              <p:cNvPr id="67" name="Rectangle 67"/>
              <p:cNvSpPr/>
              <p:nvPr/>
            </p:nvSpPr>
            <p:spPr>
              <a:xfrm>
                <a:off x="9410700" y="5715000"/>
                <a:ext cx="8039100" cy="685800"/>
              </a:xfrm>
              <a:prstGeom prst="rect">
                <a:avLst/>
              </a:prstGeom>
              <a:solidFill>
                <a:srgbClr val="F43F5E">
                  <a:alpha val="4000"/>
                </a:srgbClr>
              </a:solidFill>
              <a:ln w="9525">
                <a:solidFill>
                  <a:srgbClr val="F43F5E">
                    <a:alpha val="12000"/>
                  </a:srgbClr>
                </a:solidFill>
              </a:ln>
            </p:spPr>
          </p:sp>
          <p:sp>
            <p:nvSpPr>
              <p:cNvPr id="68" name="Rectangle 68"/>
              <p:cNvSpPr/>
              <p:nvPr/>
            </p:nvSpPr>
            <p:spPr>
              <a:xfrm>
                <a:off x="9601200" y="5848350"/>
                <a:ext cx="266700" cy="266700"/>
              </a:xfrm>
              <a:prstGeom prst="rect">
                <a:avLst/>
              </a:prstGeom>
              <a:solidFill>
                <a:srgbClr val="F43F5E">
                  <a:alpha val="15000"/>
                </a:srgbClr>
              </a:solidFill>
              <a:ln>
                <a:noFill/>
              </a:ln>
            </p:spPr>
          </p:sp>
          <p:sp>
            <p:nvSpPr>
              <p:cNvPr id="69" name="TextBox 69"/>
              <p:cNvSpPr txBox="1"/>
              <p:nvPr/>
            </p:nvSpPr>
            <p:spPr>
              <a:xfrm>
                <a:off x="9676934" y="5925502"/>
                <a:ext cx="11523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43F5E"/>
                    </a:solidFill>
                    <a:latin typeface="Arial"/>
                    <a:ea typeface="Microsoft YaHei"/>
                    <a:cs typeface="Arial"/>
                  </a:rPr>
                  <a:t>4</a:t>
                </a:r>
              </a:p>
            </p:txBody>
          </p:sp>
          <p:sp>
            <p:nvSpPr>
              <p:cNvPr id="70" name="TextBox 70"/>
              <p:cNvSpPr txBox="1"/>
              <p:nvPr/>
            </p:nvSpPr>
            <p:spPr>
              <a:xfrm>
                <a:off x="9966960" y="5909310"/>
                <a:ext cx="1134618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F1F5F9"/>
                    </a:solidFill>
                    <a:latin typeface="Arial"/>
                    <a:ea typeface="Microsoft YaHei"/>
                    <a:cs typeface="Arial"/>
                  </a:rPr>
                  <a:t>供应链未覆盖</a:t>
                </a:r>
              </a:p>
            </p:txBody>
          </p:sp>
          <p:sp>
            <p:nvSpPr>
              <p:cNvPr id="71" name="TextBox 71"/>
              <p:cNvSpPr txBox="1"/>
              <p:nvPr/>
            </p:nvSpPr>
            <p:spPr>
              <a:xfrm>
                <a:off x="9969818" y="6162199"/>
                <a:ext cx="301513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94A3B8"/>
                    </a:solidFill>
                    <a:latin typeface="Arial"/>
                    <a:ea typeface="Microsoft YaHei"/>
                    <a:cs typeface="Arial"/>
                  </a:rPr>
                  <a:t>企划研发到供应链执行断链，生产端数据未接入</a:t>
                </a:r>
              </a:p>
            </p:txBody>
          </p:sp>
        </p:grpSp>
        <p:grpSp>
          <p:nvGrpSpPr>
            <p:cNvPr id="78" name="Group 78"/>
            <p:cNvGrpSpPr/>
            <p:nvPr/>
          </p:nvGrpSpPr>
          <p:grpSpPr>
            <a:xfrm>
              <a:off x="9410700" y="6515100"/>
              <a:ext cx="8039100" cy="685800"/>
              <a:chOff x="9410700" y="6515100"/>
              <a:chExt cx="8039100" cy="685800"/>
            </a:xfrm>
          </p:grpSpPr>
          <p:sp>
            <p:nvSpPr>
              <p:cNvPr id="73" name="Rectangle 73"/>
              <p:cNvSpPr/>
              <p:nvPr/>
            </p:nvSpPr>
            <p:spPr>
              <a:xfrm>
                <a:off x="9410700" y="6515100"/>
                <a:ext cx="8039100" cy="685800"/>
              </a:xfrm>
              <a:prstGeom prst="rect">
                <a:avLst/>
              </a:prstGeom>
              <a:solidFill>
                <a:srgbClr val="F43F5E">
                  <a:alpha val="4000"/>
                </a:srgbClr>
              </a:solidFill>
              <a:ln w="9525">
                <a:solidFill>
                  <a:srgbClr val="F43F5E">
                    <a:alpha val="12000"/>
                  </a:srgbClr>
                </a:solidFill>
              </a:ln>
            </p:spPr>
          </p:sp>
          <p:sp>
            <p:nvSpPr>
              <p:cNvPr id="74" name="Rectangle 74"/>
              <p:cNvSpPr/>
              <p:nvPr/>
            </p:nvSpPr>
            <p:spPr>
              <a:xfrm>
                <a:off x="9601200" y="6648450"/>
                <a:ext cx="266700" cy="266700"/>
              </a:xfrm>
              <a:prstGeom prst="rect">
                <a:avLst/>
              </a:prstGeom>
              <a:solidFill>
                <a:srgbClr val="F43F5E">
                  <a:alpha val="15000"/>
                </a:srgbClr>
              </a:solidFill>
              <a:ln>
                <a:noFill/>
              </a:ln>
            </p:spPr>
          </p:sp>
          <p:sp>
            <p:nvSpPr>
              <p:cNvPr id="75" name="TextBox 75"/>
              <p:cNvSpPr txBox="1"/>
              <p:nvPr/>
            </p:nvSpPr>
            <p:spPr>
              <a:xfrm>
                <a:off x="9676934" y="6725602"/>
                <a:ext cx="11523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43F5E"/>
                    </a:solidFill>
                    <a:latin typeface="Arial"/>
                    <a:ea typeface="Microsoft YaHei"/>
                    <a:cs typeface="Arial"/>
                  </a:rPr>
                  <a:t>5</a:t>
                </a:r>
              </a:p>
            </p:txBody>
          </p:sp>
          <p:sp>
            <p:nvSpPr>
              <p:cNvPr id="76" name="TextBox 76"/>
              <p:cNvSpPr txBox="1"/>
              <p:nvPr/>
            </p:nvSpPr>
            <p:spPr>
              <a:xfrm>
                <a:off x="9966960" y="6709410"/>
                <a:ext cx="1134618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F1F5F9"/>
                    </a:solidFill>
                    <a:latin typeface="Arial"/>
                    <a:ea typeface="Microsoft YaHei"/>
                    <a:cs typeface="Arial"/>
                  </a:rPr>
                  <a:t>多平台未扩展</a:t>
                </a:r>
              </a:p>
            </p:txBody>
          </p:sp>
          <p:sp>
            <p:nvSpPr>
              <p:cNvPr id="77" name="TextBox 77"/>
              <p:cNvSpPr txBox="1"/>
              <p:nvPr/>
            </p:nvSpPr>
            <p:spPr>
              <a:xfrm>
                <a:off x="9969818" y="6962299"/>
                <a:ext cx="293681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94A3B8"/>
                    </a:solidFill>
                    <a:latin typeface="Arial"/>
                    <a:ea typeface="Microsoft YaHei"/>
                    <a:cs typeface="Arial"/>
                  </a:rPr>
                  <a:t>当前仅覆盖亚马逊，Temu/SHEIN等平台未接入</a:t>
                </a:r>
              </a:p>
            </p:txBody>
          </p:sp>
        </p:grpSp>
      </p:grpSp>
      <p:grpSp>
        <p:nvGrpSpPr>
          <p:cNvPr id="85" name="Group 85"/>
          <p:cNvGrpSpPr/>
          <p:nvPr/>
        </p:nvGrpSpPr>
        <p:grpSpPr>
          <a:xfrm>
            <a:off x="571500" y="8001000"/>
            <a:ext cx="17145000" cy="1333500"/>
            <a:chOff x="571500" y="8001000"/>
            <a:chExt cx="17145000" cy="1333500"/>
          </a:xfrm>
        </p:grpSpPr>
        <p:sp>
          <p:nvSpPr>
            <p:cNvPr id="80" name="Rectangle 80"/>
            <p:cNvSpPr/>
            <p:nvPr/>
          </p:nvSpPr>
          <p:spPr>
            <a:xfrm>
              <a:off x="571500" y="8001000"/>
              <a:ext cx="17145000" cy="1333500"/>
            </a:xfrm>
            <a:prstGeom prst="rect">
              <a:avLst/>
            </a:prstGeom>
            <a:solidFill>
              <a:srgbClr val="161D2E"/>
            </a:solidFill>
            <a:ln w="19050">
              <a:gradFill>
                <a:gsLst>
                  <a:gs pos="0">
                    <a:srgbClr val="06B6D4">
                      <a:alpha val="40000"/>
                    </a:srgbClr>
                  </a:gs>
                  <a:gs pos="50000">
                    <a:srgbClr val="3B82F6">
                      <a:alpha val="40000"/>
                    </a:srgbClr>
                  </a:gs>
                  <a:gs pos="100000">
                    <a:srgbClr val="8B5CF6">
                      <a:alpha val="40000"/>
                    </a:srgbClr>
                  </a:gs>
                </a:gsLst>
                <a:lin ang="2700000" scaled="1"/>
              </a:gradFill>
            </a:ln>
          </p:spPr>
        </p:sp>
        <p:sp>
          <p:nvSpPr>
            <p:cNvPr id="81" name="Rectangle 81"/>
            <p:cNvSpPr/>
            <p:nvPr/>
          </p:nvSpPr>
          <p:spPr>
            <a:xfrm>
              <a:off x="571500" y="8001000"/>
              <a:ext cx="17145000" cy="47625"/>
            </a:xfrm>
            <a:prstGeom prst="rect">
              <a:avLst/>
            </a:prstGeom>
            <a:gradFill>
              <a:gsLst>
                <a:gs pos="0">
                  <a:srgbClr val="06B6D4"/>
                </a:gs>
                <a:gs pos="50000">
                  <a:srgbClr val="3B82F6"/>
                </a:gs>
                <a:gs pos="100000">
                  <a:srgbClr val="8B5CF6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7761670" y="8301990"/>
              <a:ext cx="276466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gradFill>
                    <a:gsLst>
                      <a:gs pos="0">
                        <a:srgbClr val="06B6D4"/>
                      </a:gs>
                      <a:gs pos="50000">
                        <a:srgbClr val="3B82F6"/>
                      </a:gs>
                      <a:gs pos="100000">
                        <a:srgbClr val="8B5CF6"/>
                      </a:gs>
                    </a:gsLst>
                    <a:lin ang="2700000" scaled="1"/>
                  </a:gradFill>
                  <a:latin typeface="Arial"/>
                  <a:ea typeface="Microsoft YaHei"/>
                  <a:cs typeface="Arial"/>
                </a:rPr>
                <a:t>以VOC为统一平台基座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7717107" y="8712518"/>
              <a:ext cx="285378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一个入口 · 一套数据 · 一个闭环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6462332" y="9030652"/>
              <a:ext cx="536333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Phase 1 数据打通 → Phase 2 流程串联 → Phase 3 智能升级 → Phase 4 平台统一</a:t>
              </a:r>
            </a:p>
          </p:txBody>
        </p:sp>
      </p:grpSp>
      <p:sp>
        <p:nvSpPr>
          <p:cNvPr id="86" name="TextBox 86"/>
          <p:cNvSpPr txBox="1"/>
          <p:nvPr/>
        </p:nvSpPr>
        <p:spPr>
          <a:xfrm>
            <a:off x="8961822" y="10007441"/>
            <a:ext cx="36435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13 / 14</a:t>
            </a:r>
          </a:p>
        </p:txBody>
      </p:sp>
    </p:spTree>
  </p:cSld>
  <p:clrMapOvr>
    <a:masterClrMapping/>
  </p:clrMapOvr>
  <p:transition 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A0E1A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06B6D4">
                  <a:alpha val="10000"/>
                </a:srgbClr>
              </a:gs>
              <a:gs pos="100000">
                <a:srgbClr val="06B6D4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grpSp>
        <p:nvGrpSpPr>
          <p:cNvPr id="31" name="Group 31"/>
          <p:cNvGrpSpPr/>
          <p:nvPr/>
        </p:nvGrpSpPr>
        <p:grpSpPr>
          <a:xfrm>
            <a:off x="0" y="0"/>
            <a:ext cx="18297525" cy="10296525"/>
            <a:chOff x="0" y="0"/>
            <a:chExt cx="18297525" cy="10296525"/>
          </a:xfrm>
        </p:grpSpPr>
        <p:sp>
          <p:nvSpPr>
            <p:cNvPr id="4" name="Line 4"/>
            <p:cNvSpPr/>
            <p:nvPr/>
          </p:nvSpPr>
          <p:spPr>
            <a:xfrm>
              <a:off x="0" y="0"/>
              <a:ext cx="9525" cy="10287000"/>
            </a:xfrm>
            <a:custGeom>
              <a:avLst/>
              <a:gdLst/>
              <a:ahLst/>
              <a:cxnLst/>
              <a:rect l="l" t="t" r="r" b="b"/>
              <a:pathLst>
                <a:path w="9525" h="10287000">
                  <a:moveTo>
                    <a:pt x="0" y="0"/>
                  </a:moveTo>
                  <a:lnTo>
                    <a:pt x="0" y="10287000"/>
                  </a:lnTo>
                </a:path>
              </a:pathLst>
            </a:custGeom>
            <a:noFill/>
            <a:ln w="9525">
              <a:solidFill>
                <a:srgbClr val="1E293B">
                  <a:alpha val="8000"/>
                </a:srgbClr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1143000" y="0"/>
              <a:ext cx="9525" cy="10287000"/>
            </a:xfrm>
            <a:custGeom>
              <a:avLst/>
              <a:gdLst/>
              <a:ahLst/>
              <a:cxnLst/>
              <a:rect l="l" t="t" r="r" b="b"/>
              <a:pathLst>
                <a:path w="9525" h="10287000">
                  <a:moveTo>
                    <a:pt x="0" y="0"/>
                  </a:moveTo>
                  <a:lnTo>
                    <a:pt x="0" y="10287000"/>
                  </a:lnTo>
                </a:path>
              </a:pathLst>
            </a:custGeom>
            <a:noFill/>
            <a:ln w="9525">
              <a:solidFill>
                <a:srgbClr val="1E293B">
                  <a:alpha val="8000"/>
                </a:srgbClr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2286000" y="0"/>
              <a:ext cx="9525" cy="10287000"/>
            </a:xfrm>
            <a:custGeom>
              <a:avLst/>
              <a:gdLst/>
              <a:ahLst/>
              <a:cxnLst/>
              <a:rect l="l" t="t" r="r" b="b"/>
              <a:pathLst>
                <a:path w="9525" h="10287000">
                  <a:moveTo>
                    <a:pt x="0" y="0"/>
                  </a:moveTo>
                  <a:lnTo>
                    <a:pt x="0" y="10287000"/>
                  </a:lnTo>
                </a:path>
              </a:pathLst>
            </a:custGeom>
            <a:noFill/>
            <a:ln w="9525">
              <a:solidFill>
                <a:srgbClr val="1E293B">
                  <a:alpha val="8000"/>
                </a:srgbClr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3429000" y="0"/>
              <a:ext cx="9525" cy="10287000"/>
            </a:xfrm>
            <a:custGeom>
              <a:avLst/>
              <a:gdLst/>
              <a:ahLst/>
              <a:cxnLst/>
              <a:rect l="l" t="t" r="r" b="b"/>
              <a:pathLst>
                <a:path w="9525" h="10287000">
                  <a:moveTo>
                    <a:pt x="0" y="0"/>
                  </a:moveTo>
                  <a:lnTo>
                    <a:pt x="0" y="10287000"/>
                  </a:lnTo>
                </a:path>
              </a:pathLst>
            </a:custGeom>
            <a:noFill/>
            <a:ln w="9525">
              <a:solidFill>
                <a:srgbClr val="1E293B">
                  <a:alpha val="8000"/>
                </a:srgbClr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4572000" y="0"/>
              <a:ext cx="9525" cy="10287000"/>
            </a:xfrm>
            <a:custGeom>
              <a:avLst/>
              <a:gdLst/>
              <a:ahLst/>
              <a:cxnLst/>
              <a:rect l="l" t="t" r="r" b="b"/>
              <a:pathLst>
                <a:path w="9525" h="10287000">
                  <a:moveTo>
                    <a:pt x="0" y="0"/>
                  </a:moveTo>
                  <a:lnTo>
                    <a:pt x="0" y="10287000"/>
                  </a:lnTo>
                </a:path>
              </a:pathLst>
            </a:custGeom>
            <a:noFill/>
            <a:ln w="9525">
              <a:solidFill>
                <a:srgbClr val="1E293B">
                  <a:alpha val="8000"/>
                </a:srgbClr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5715000" y="0"/>
              <a:ext cx="9525" cy="10287000"/>
            </a:xfrm>
            <a:custGeom>
              <a:avLst/>
              <a:gdLst/>
              <a:ahLst/>
              <a:cxnLst/>
              <a:rect l="l" t="t" r="r" b="b"/>
              <a:pathLst>
                <a:path w="9525" h="10287000">
                  <a:moveTo>
                    <a:pt x="0" y="0"/>
                  </a:moveTo>
                  <a:lnTo>
                    <a:pt x="0" y="10287000"/>
                  </a:lnTo>
                </a:path>
              </a:pathLst>
            </a:custGeom>
            <a:noFill/>
            <a:ln w="9525">
              <a:solidFill>
                <a:srgbClr val="1E293B">
                  <a:alpha val="8000"/>
                </a:srgbClr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6858000" y="0"/>
              <a:ext cx="9525" cy="10287000"/>
            </a:xfrm>
            <a:custGeom>
              <a:avLst/>
              <a:gdLst/>
              <a:ahLst/>
              <a:cxnLst/>
              <a:rect l="l" t="t" r="r" b="b"/>
              <a:pathLst>
                <a:path w="9525" h="10287000">
                  <a:moveTo>
                    <a:pt x="0" y="0"/>
                  </a:moveTo>
                  <a:lnTo>
                    <a:pt x="0" y="10287000"/>
                  </a:lnTo>
                </a:path>
              </a:pathLst>
            </a:custGeom>
            <a:noFill/>
            <a:ln w="9525">
              <a:solidFill>
                <a:srgbClr val="1E293B">
                  <a:alpha val="8000"/>
                </a:srgbClr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8001000" y="0"/>
              <a:ext cx="9525" cy="10287000"/>
            </a:xfrm>
            <a:custGeom>
              <a:avLst/>
              <a:gdLst/>
              <a:ahLst/>
              <a:cxnLst/>
              <a:rect l="l" t="t" r="r" b="b"/>
              <a:pathLst>
                <a:path w="9525" h="10287000">
                  <a:moveTo>
                    <a:pt x="0" y="0"/>
                  </a:moveTo>
                  <a:lnTo>
                    <a:pt x="0" y="10287000"/>
                  </a:lnTo>
                </a:path>
              </a:pathLst>
            </a:custGeom>
            <a:noFill/>
            <a:ln w="9525">
              <a:solidFill>
                <a:srgbClr val="1E293B">
                  <a:alpha val="8000"/>
                </a:srgbClr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9144000" y="0"/>
              <a:ext cx="9525" cy="10287000"/>
            </a:xfrm>
            <a:custGeom>
              <a:avLst/>
              <a:gdLst/>
              <a:ahLst/>
              <a:cxnLst/>
              <a:rect l="l" t="t" r="r" b="b"/>
              <a:pathLst>
                <a:path w="9525" h="10287000">
                  <a:moveTo>
                    <a:pt x="0" y="0"/>
                  </a:moveTo>
                  <a:lnTo>
                    <a:pt x="0" y="10287000"/>
                  </a:lnTo>
                </a:path>
              </a:pathLst>
            </a:custGeom>
            <a:noFill/>
            <a:ln w="9525">
              <a:solidFill>
                <a:srgbClr val="1E293B">
                  <a:alpha val="8000"/>
                </a:srgbClr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10287000" y="0"/>
              <a:ext cx="9525" cy="10287000"/>
            </a:xfrm>
            <a:custGeom>
              <a:avLst/>
              <a:gdLst/>
              <a:ahLst/>
              <a:cxnLst/>
              <a:rect l="l" t="t" r="r" b="b"/>
              <a:pathLst>
                <a:path w="9525" h="10287000">
                  <a:moveTo>
                    <a:pt x="0" y="0"/>
                  </a:moveTo>
                  <a:lnTo>
                    <a:pt x="0" y="10287000"/>
                  </a:lnTo>
                </a:path>
              </a:pathLst>
            </a:custGeom>
            <a:noFill/>
            <a:ln w="9525">
              <a:solidFill>
                <a:srgbClr val="1E293B">
                  <a:alpha val="8000"/>
                </a:srgbClr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11430000" y="0"/>
              <a:ext cx="9525" cy="10287000"/>
            </a:xfrm>
            <a:custGeom>
              <a:avLst/>
              <a:gdLst/>
              <a:ahLst/>
              <a:cxnLst/>
              <a:rect l="l" t="t" r="r" b="b"/>
              <a:pathLst>
                <a:path w="9525" h="10287000">
                  <a:moveTo>
                    <a:pt x="0" y="0"/>
                  </a:moveTo>
                  <a:lnTo>
                    <a:pt x="0" y="10287000"/>
                  </a:lnTo>
                </a:path>
              </a:pathLst>
            </a:custGeom>
            <a:noFill/>
            <a:ln w="9525">
              <a:solidFill>
                <a:srgbClr val="1E293B">
                  <a:alpha val="8000"/>
                </a:srgbClr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12573000" y="0"/>
              <a:ext cx="9525" cy="10287000"/>
            </a:xfrm>
            <a:custGeom>
              <a:avLst/>
              <a:gdLst/>
              <a:ahLst/>
              <a:cxnLst/>
              <a:rect l="l" t="t" r="r" b="b"/>
              <a:pathLst>
                <a:path w="9525" h="10287000">
                  <a:moveTo>
                    <a:pt x="0" y="0"/>
                  </a:moveTo>
                  <a:lnTo>
                    <a:pt x="0" y="10287000"/>
                  </a:lnTo>
                </a:path>
              </a:pathLst>
            </a:custGeom>
            <a:noFill/>
            <a:ln w="9525">
              <a:solidFill>
                <a:srgbClr val="1E293B">
                  <a:alpha val="8000"/>
                </a:srgbClr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13716000" y="0"/>
              <a:ext cx="9525" cy="10287000"/>
            </a:xfrm>
            <a:custGeom>
              <a:avLst/>
              <a:gdLst/>
              <a:ahLst/>
              <a:cxnLst/>
              <a:rect l="l" t="t" r="r" b="b"/>
              <a:pathLst>
                <a:path w="9525" h="10287000">
                  <a:moveTo>
                    <a:pt x="0" y="0"/>
                  </a:moveTo>
                  <a:lnTo>
                    <a:pt x="0" y="10287000"/>
                  </a:lnTo>
                </a:path>
              </a:pathLst>
            </a:custGeom>
            <a:noFill/>
            <a:ln w="9525">
              <a:solidFill>
                <a:srgbClr val="1E293B">
                  <a:alpha val="8000"/>
                </a:srgbClr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14859000" y="0"/>
              <a:ext cx="9525" cy="10287000"/>
            </a:xfrm>
            <a:custGeom>
              <a:avLst/>
              <a:gdLst/>
              <a:ahLst/>
              <a:cxnLst/>
              <a:rect l="l" t="t" r="r" b="b"/>
              <a:pathLst>
                <a:path w="9525" h="10287000">
                  <a:moveTo>
                    <a:pt x="0" y="0"/>
                  </a:moveTo>
                  <a:lnTo>
                    <a:pt x="0" y="10287000"/>
                  </a:lnTo>
                </a:path>
              </a:pathLst>
            </a:custGeom>
            <a:noFill/>
            <a:ln w="9525">
              <a:solidFill>
                <a:srgbClr val="1E293B">
                  <a:alpha val="8000"/>
                </a:srgbClr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16002000" y="0"/>
              <a:ext cx="9525" cy="10287000"/>
            </a:xfrm>
            <a:custGeom>
              <a:avLst/>
              <a:gdLst/>
              <a:ahLst/>
              <a:cxnLst/>
              <a:rect l="l" t="t" r="r" b="b"/>
              <a:pathLst>
                <a:path w="9525" h="10287000">
                  <a:moveTo>
                    <a:pt x="0" y="0"/>
                  </a:moveTo>
                  <a:lnTo>
                    <a:pt x="0" y="10287000"/>
                  </a:lnTo>
                </a:path>
              </a:pathLst>
            </a:custGeom>
            <a:noFill/>
            <a:ln w="9525">
              <a:solidFill>
                <a:srgbClr val="1E293B">
                  <a:alpha val="8000"/>
                </a:srgbClr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17145000" y="0"/>
              <a:ext cx="9525" cy="10287000"/>
            </a:xfrm>
            <a:custGeom>
              <a:avLst/>
              <a:gdLst/>
              <a:ahLst/>
              <a:cxnLst/>
              <a:rect l="l" t="t" r="r" b="b"/>
              <a:pathLst>
                <a:path w="9525" h="10287000">
                  <a:moveTo>
                    <a:pt x="0" y="0"/>
                  </a:moveTo>
                  <a:lnTo>
                    <a:pt x="0" y="10287000"/>
                  </a:lnTo>
                </a:path>
              </a:pathLst>
            </a:custGeom>
            <a:noFill/>
            <a:ln w="9525">
              <a:solidFill>
                <a:srgbClr val="1E293B">
                  <a:alpha val="8000"/>
                </a:srgbClr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18288000" y="0"/>
              <a:ext cx="9525" cy="10287000"/>
            </a:xfrm>
            <a:custGeom>
              <a:avLst/>
              <a:gdLst/>
              <a:ahLst/>
              <a:cxnLst/>
              <a:rect l="l" t="t" r="r" b="b"/>
              <a:pathLst>
                <a:path w="9525" h="10287000">
                  <a:moveTo>
                    <a:pt x="0" y="0"/>
                  </a:moveTo>
                  <a:lnTo>
                    <a:pt x="0" y="10287000"/>
                  </a:lnTo>
                </a:path>
              </a:pathLst>
            </a:custGeom>
            <a:noFill/>
            <a:ln w="9525">
              <a:solidFill>
                <a:srgbClr val="1E293B">
                  <a:alpha val="8000"/>
                </a:srgbClr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0" y="0"/>
              <a:ext cx="18288000" cy="9525"/>
            </a:xfrm>
            <a:custGeom>
              <a:avLst/>
              <a:gdLst/>
              <a:ahLst/>
              <a:cxnLst/>
              <a:rect l="l" t="t" r="r" b="b"/>
              <a:pathLst>
                <a:path w="18288000" h="9525">
                  <a:moveTo>
                    <a:pt x="0" y="0"/>
                  </a:moveTo>
                  <a:lnTo>
                    <a:pt x="18288000" y="0"/>
                  </a:lnTo>
                </a:path>
              </a:pathLst>
            </a:custGeom>
            <a:noFill/>
            <a:ln w="9525">
              <a:solidFill>
                <a:srgbClr val="1E293B">
                  <a:alpha val="8000"/>
                </a:srgbClr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0" y="1143000"/>
              <a:ext cx="18288000" cy="9525"/>
            </a:xfrm>
            <a:custGeom>
              <a:avLst/>
              <a:gdLst/>
              <a:ahLst/>
              <a:cxnLst/>
              <a:rect l="l" t="t" r="r" b="b"/>
              <a:pathLst>
                <a:path w="18288000" h="9525">
                  <a:moveTo>
                    <a:pt x="0" y="0"/>
                  </a:moveTo>
                  <a:lnTo>
                    <a:pt x="18288000" y="0"/>
                  </a:lnTo>
                </a:path>
              </a:pathLst>
            </a:custGeom>
            <a:noFill/>
            <a:ln w="9525">
              <a:solidFill>
                <a:srgbClr val="1E293B">
                  <a:alpha val="8000"/>
                </a:srgbClr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0" y="2286000"/>
              <a:ext cx="18288000" cy="9525"/>
            </a:xfrm>
            <a:custGeom>
              <a:avLst/>
              <a:gdLst/>
              <a:ahLst/>
              <a:cxnLst/>
              <a:rect l="l" t="t" r="r" b="b"/>
              <a:pathLst>
                <a:path w="18288000" h="9525">
                  <a:moveTo>
                    <a:pt x="0" y="0"/>
                  </a:moveTo>
                  <a:lnTo>
                    <a:pt x="18288000" y="0"/>
                  </a:lnTo>
                </a:path>
              </a:pathLst>
            </a:custGeom>
            <a:noFill/>
            <a:ln w="9525">
              <a:solidFill>
                <a:srgbClr val="1E293B">
                  <a:alpha val="8000"/>
                </a:srgbClr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0" y="3429000"/>
              <a:ext cx="18288000" cy="9525"/>
            </a:xfrm>
            <a:custGeom>
              <a:avLst/>
              <a:gdLst/>
              <a:ahLst/>
              <a:cxnLst/>
              <a:rect l="l" t="t" r="r" b="b"/>
              <a:pathLst>
                <a:path w="18288000" h="9525">
                  <a:moveTo>
                    <a:pt x="0" y="0"/>
                  </a:moveTo>
                  <a:lnTo>
                    <a:pt x="18288000" y="0"/>
                  </a:lnTo>
                </a:path>
              </a:pathLst>
            </a:custGeom>
            <a:noFill/>
            <a:ln w="9525">
              <a:solidFill>
                <a:srgbClr val="1E293B">
                  <a:alpha val="8000"/>
                </a:srgbClr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0" y="4572000"/>
              <a:ext cx="18288000" cy="9525"/>
            </a:xfrm>
            <a:custGeom>
              <a:avLst/>
              <a:gdLst/>
              <a:ahLst/>
              <a:cxnLst/>
              <a:rect l="l" t="t" r="r" b="b"/>
              <a:pathLst>
                <a:path w="18288000" h="9525">
                  <a:moveTo>
                    <a:pt x="0" y="0"/>
                  </a:moveTo>
                  <a:lnTo>
                    <a:pt x="18288000" y="0"/>
                  </a:lnTo>
                </a:path>
              </a:pathLst>
            </a:custGeom>
            <a:noFill/>
            <a:ln w="9525">
              <a:solidFill>
                <a:srgbClr val="1E293B">
                  <a:alpha val="8000"/>
                </a:srgbClr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0" y="5715000"/>
              <a:ext cx="18288000" cy="9525"/>
            </a:xfrm>
            <a:custGeom>
              <a:avLst/>
              <a:gdLst/>
              <a:ahLst/>
              <a:cxnLst/>
              <a:rect l="l" t="t" r="r" b="b"/>
              <a:pathLst>
                <a:path w="18288000" h="9525">
                  <a:moveTo>
                    <a:pt x="0" y="0"/>
                  </a:moveTo>
                  <a:lnTo>
                    <a:pt x="18288000" y="0"/>
                  </a:lnTo>
                </a:path>
              </a:pathLst>
            </a:custGeom>
            <a:noFill/>
            <a:ln w="9525">
              <a:solidFill>
                <a:srgbClr val="1E293B">
                  <a:alpha val="8000"/>
                </a:srgbClr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0" y="6858000"/>
              <a:ext cx="18288000" cy="9525"/>
            </a:xfrm>
            <a:custGeom>
              <a:avLst/>
              <a:gdLst/>
              <a:ahLst/>
              <a:cxnLst/>
              <a:rect l="l" t="t" r="r" b="b"/>
              <a:pathLst>
                <a:path w="18288000" h="9525">
                  <a:moveTo>
                    <a:pt x="0" y="0"/>
                  </a:moveTo>
                  <a:lnTo>
                    <a:pt x="18288000" y="0"/>
                  </a:lnTo>
                </a:path>
              </a:pathLst>
            </a:custGeom>
            <a:noFill/>
            <a:ln w="9525">
              <a:solidFill>
                <a:srgbClr val="1E293B">
                  <a:alpha val="8000"/>
                </a:srgbClr>
              </a:solidFill>
            </a:ln>
          </p:spPr>
        </p:sp>
        <p:sp>
          <p:nvSpPr>
            <p:cNvPr id="28" name="Line 28"/>
            <p:cNvSpPr/>
            <p:nvPr/>
          </p:nvSpPr>
          <p:spPr>
            <a:xfrm>
              <a:off x="0" y="8001000"/>
              <a:ext cx="18288000" cy="9525"/>
            </a:xfrm>
            <a:custGeom>
              <a:avLst/>
              <a:gdLst/>
              <a:ahLst/>
              <a:cxnLst/>
              <a:rect l="l" t="t" r="r" b="b"/>
              <a:pathLst>
                <a:path w="18288000" h="9525">
                  <a:moveTo>
                    <a:pt x="0" y="0"/>
                  </a:moveTo>
                  <a:lnTo>
                    <a:pt x="18288000" y="0"/>
                  </a:lnTo>
                </a:path>
              </a:pathLst>
            </a:custGeom>
            <a:noFill/>
            <a:ln w="9525">
              <a:solidFill>
                <a:srgbClr val="1E293B">
                  <a:alpha val="8000"/>
                </a:srgbClr>
              </a:solidFill>
            </a:ln>
          </p:spPr>
        </p:sp>
        <p:sp>
          <p:nvSpPr>
            <p:cNvPr id="29" name="Line 29"/>
            <p:cNvSpPr/>
            <p:nvPr/>
          </p:nvSpPr>
          <p:spPr>
            <a:xfrm>
              <a:off x="0" y="9144000"/>
              <a:ext cx="18288000" cy="9525"/>
            </a:xfrm>
            <a:custGeom>
              <a:avLst/>
              <a:gdLst/>
              <a:ahLst/>
              <a:cxnLst/>
              <a:rect l="l" t="t" r="r" b="b"/>
              <a:pathLst>
                <a:path w="18288000" h="9525">
                  <a:moveTo>
                    <a:pt x="0" y="0"/>
                  </a:moveTo>
                  <a:lnTo>
                    <a:pt x="18288000" y="0"/>
                  </a:lnTo>
                </a:path>
              </a:pathLst>
            </a:custGeom>
            <a:noFill/>
            <a:ln w="9525">
              <a:solidFill>
                <a:srgbClr val="1E293B">
                  <a:alpha val="8000"/>
                </a:srgbClr>
              </a:solidFill>
            </a:ln>
          </p:spPr>
        </p:sp>
        <p:sp>
          <p:nvSpPr>
            <p:cNvPr id="30" name="Line 30"/>
            <p:cNvSpPr/>
            <p:nvPr/>
          </p:nvSpPr>
          <p:spPr>
            <a:xfrm>
              <a:off x="0" y="10287000"/>
              <a:ext cx="18288000" cy="9525"/>
            </a:xfrm>
            <a:custGeom>
              <a:avLst/>
              <a:gdLst/>
              <a:ahLst/>
              <a:cxnLst/>
              <a:rect l="l" t="t" r="r" b="b"/>
              <a:pathLst>
                <a:path w="18288000" h="9525">
                  <a:moveTo>
                    <a:pt x="0" y="0"/>
                  </a:moveTo>
                  <a:lnTo>
                    <a:pt x="18288000" y="0"/>
                  </a:lnTo>
                </a:path>
              </a:pathLst>
            </a:custGeom>
            <a:noFill/>
            <a:ln w="9525">
              <a:solidFill>
                <a:srgbClr val="1E293B">
                  <a:alpha val="8000"/>
                </a:srgbClr>
              </a:solidFill>
            </a:ln>
          </p:spPr>
        </p:sp>
      </p:grpSp>
      <p:sp>
        <p:nvSpPr>
          <p:cNvPr id="32" name="TextBox 32"/>
          <p:cNvSpPr txBox="1"/>
          <p:nvPr/>
        </p:nvSpPr>
        <p:spPr>
          <a:xfrm>
            <a:off x="7577071" y="3356610"/>
            <a:ext cx="3133858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200" b="1" dirty="0">
                <a:gradFill>
                  <a:gsLst>
                    <a:gs pos="0">
                      <a:srgbClr val="06B6D4"/>
                    </a:gs>
                    <a:gs pos="50000">
                      <a:srgbClr val="3B82F6"/>
                    </a:gs>
                    <a:gs pos="100000">
                      <a:srgbClr val="8B5CF6"/>
                    </a:gs>
                  </a:gsLst>
                  <a:lin ang="2700000" scaled="1"/>
                </a:gradFill>
                <a:latin typeface="Arial"/>
                <a:ea typeface="Microsoft YaHei"/>
                <a:cs typeface="Arial"/>
              </a:rPr>
              <a:t>Thank You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543800" y="428244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全数智化企划研发业务系统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193881" y="4657725"/>
            <a:ext cx="1900237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系统设计报告 v2.0</a:t>
            </a:r>
          </a:p>
        </p:txBody>
      </p:sp>
      <p:sp>
        <p:nvSpPr>
          <p:cNvPr id="35" name="Line 35"/>
          <p:cNvSpPr/>
          <p:nvPr/>
        </p:nvSpPr>
        <p:spPr>
          <a:xfrm>
            <a:off x="8191500" y="5143500"/>
            <a:ext cx="1905000" cy="9525"/>
          </a:xfrm>
          <a:custGeom>
            <a:avLst/>
            <a:gdLst/>
            <a:ahLst/>
            <a:cxnLst/>
            <a:rect l="l" t="t" r="r" b="b"/>
            <a:pathLst>
              <a:path w="1905000" h="9525">
                <a:moveTo>
                  <a:pt x="0" y="0"/>
                </a:moveTo>
                <a:lnTo>
                  <a:pt x="1905000" y="0"/>
                </a:lnTo>
              </a:path>
            </a:pathLst>
          </a:custGeom>
          <a:noFill/>
          <a:ln w="9525">
            <a:solidFill>
              <a:srgbClr val="1E293B"/>
            </a:solidFill>
          </a:ln>
        </p:spPr>
      </p:sp>
      <p:sp>
        <p:nvSpPr>
          <p:cNvPr id="36" name="TextBox 36"/>
          <p:cNvSpPr txBox="1"/>
          <p:nvPr/>
        </p:nvSpPr>
        <p:spPr>
          <a:xfrm>
            <a:off x="8539886" y="5452110"/>
            <a:ext cx="120822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LASEN</a:t>
            </a:r>
            <a:r>
              <a:rPr lang="zh-CN" sz="1200" b="1" dirty="0">
                <a:solidFill>
                  <a:srgbClr val="06B6D4"/>
                </a:solidFill>
                <a:latin typeface="Arial"/>
                <a:ea typeface="Microsoft YaHei"/>
                <a:cs typeface="Arial"/>
              </a:rPr>
              <a:t>.</a:t>
            </a:r>
            <a:r>
              <a:rPr lang="zh-CN" sz="1200" b="1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Digital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8363902" y="5773102"/>
            <a:ext cx="156019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企划研发部 · 2026.05</a:t>
            </a:r>
          </a:p>
        </p:txBody>
      </p:sp>
      <p:grpSp>
        <p:nvGrpSpPr>
          <p:cNvPr id="48" name="Group 48"/>
          <p:cNvGrpSpPr/>
          <p:nvPr/>
        </p:nvGrpSpPr>
        <p:grpSpPr>
          <a:xfrm>
            <a:off x="6286500" y="6477000"/>
            <a:ext cx="7429500" cy="419100"/>
            <a:chOff x="6286500" y="6477000"/>
            <a:chExt cx="7429500" cy="419100"/>
          </a:xfrm>
        </p:grpSpPr>
        <p:sp>
          <p:nvSpPr>
            <p:cNvPr id="38" name="Rectangle 38"/>
            <p:cNvSpPr/>
            <p:nvPr/>
          </p:nvSpPr>
          <p:spPr>
            <a:xfrm>
              <a:off x="6286500" y="6477000"/>
              <a:ext cx="1333500" cy="419100"/>
            </a:xfrm>
            <a:prstGeom prst="rect">
              <a:avLst/>
            </a:prstGeom>
            <a:solidFill>
              <a:srgbClr val="06B6D4">
                <a:alpha val="8000"/>
              </a:srgbClr>
            </a:solidFill>
            <a:ln w="9525">
              <a:solidFill>
                <a:srgbClr val="06B6D4">
                  <a:alpha val="20000"/>
                </a:srgbClr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802563" y="6638449"/>
              <a:ext cx="30137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VOC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7810500" y="6477000"/>
              <a:ext cx="1333500" cy="419100"/>
            </a:xfrm>
            <a:prstGeom prst="rect">
              <a:avLst/>
            </a:prstGeom>
            <a:solidFill>
              <a:srgbClr val="F59E0B">
                <a:alpha val="8000"/>
              </a:srgbClr>
            </a:solidFill>
            <a:ln w="9525">
              <a:solidFill>
                <a:srgbClr val="F59E0B">
                  <a:alpha val="20000"/>
                </a:srgbClr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285445" y="6638449"/>
              <a:ext cx="38361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AMZN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9334500" y="6477000"/>
              <a:ext cx="1333500" cy="419100"/>
            </a:xfrm>
            <a:prstGeom prst="rect">
              <a:avLst/>
            </a:prstGeom>
            <a:solidFill>
              <a:srgbClr val="8B5CF6">
                <a:alpha val="8000"/>
              </a:srgbClr>
            </a:solidFill>
            <a:ln w="9525">
              <a:solidFill>
                <a:srgbClr val="8B5CF6">
                  <a:alpha val="20000"/>
                </a:srgbClr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9753376" y="6638449"/>
              <a:ext cx="49574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8B5CF6"/>
                  </a:solidFill>
                  <a:latin typeface="Arial"/>
                  <a:ea typeface="Microsoft YaHei"/>
                  <a:cs typeface="Arial"/>
                </a:rPr>
                <a:t>COLOR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10858500" y="6477000"/>
              <a:ext cx="1333500" cy="419100"/>
            </a:xfrm>
            <a:prstGeom prst="rect">
              <a:avLst/>
            </a:prstGeom>
            <a:solidFill>
              <a:srgbClr val="10B981">
                <a:alpha val="8000"/>
              </a:srgbClr>
            </a:solidFill>
            <a:ln w="9525">
              <a:solidFill>
                <a:srgbClr val="10B981">
                  <a:alpha val="20000"/>
                </a:srgbClr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11389515" y="6638449"/>
              <a:ext cx="27147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10B981"/>
                  </a:solidFill>
                  <a:latin typeface="Arial"/>
                  <a:ea typeface="Microsoft YaHei"/>
                  <a:cs typeface="Arial"/>
                </a:rPr>
                <a:t>YFB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12382500" y="6477000"/>
              <a:ext cx="1333500" cy="419100"/>
            </a:xfrm>
            <a:prstGeom prst="rect">
              <a:avLst/>
            </a:prstGeom>
            <a:solidFill>
              <a:srgbClr val="F43F5E">
                <a:alpha val="8000"/>
              </a:srgbClr>
            </a:solidFill>
            <a:ln w="9525">
              <a:solidFill>
                <a:srgbClr val="F43F5E">
                  <a:alpha val="20000"/>
                </a:srgbClr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12831279" y="6638449"/>
              <a:ext cx="43594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43F5E"/>
                  </a:solidFill>
                  <a:latin typeface="Arial"/>
                  <a:ea typeface="Microsoft YaHei"/>
                  <a:cs typeface="Arial"/>
                </a:rPr>
                <a:t>LASEN</a:t>
              </a:r>
            </a:p>
          </p:txBody>
        </p:sp>
      </p:grpSp>
      <p:sp>
        <p:nvSpPr>
          <p:cNvPr id="49" name="TextBox 49"/>
          <p:cNvSpPr txBox="1"/>
          <p:nvPr/>
        </p:nvSpPr>
        <p:spPr>
          <a:xfrm>
            <a:off x="8961822" y="10007441"/>
            <a:ext cx="36435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14 / 14</a:t>
            </a:r>
          </a:p>
        </p:txBody>
      </p:sp>
    </p:spTree>
  </p:cSld>
  <p:clrMapOvr>
    <a:masterClrMapping/>
  </p:clrMapOvr>
  <p:transition 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