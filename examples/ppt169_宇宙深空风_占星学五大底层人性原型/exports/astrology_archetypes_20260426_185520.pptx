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9A84C">
                  <a:alpha val="12000"/>
                </a:srgbClr>
              </a:gs>
              <a:gs pos="100000">
                <a:srgbClr val="C9A84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4A7CF7">
                  <a:alpha val="8000"/>
                </a:srgbClr>
              </a:gs>
              <a:gs pos="100000">
                <a:srgbClr val="4A7C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9A84C">
                  <a:alpha val="6000"/>
                </a:srgbClr>
              </a:gs>
              <a:gs pos="100000">
                <a:srgbClr val="C9A84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128712" y="747712"/>
            <a:ext cx="28575" cy="28575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3324225" y="1133475"/>
            <a:ext cx="19050" cy="19050"/>
          </a:xfrm>
          <a:prstGeom prst="ellipse">
            <a:avLst/>
          </a:prstGeom>
          <a:solidFill>
            <a:srgbClr val="FFFFFF">
              <a:alpha val="25000"/>
            </a:srgbClr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5513070" y="560070"/>
            <a:ext cx="22860" cy="2286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7800975" y="942975"/>
            <a:ext cx="19050" cy="19050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9986962" y="652462"/>
            <a:ext cx="28575" cy="28575"/>
          </a:xfrm>
          <a:prstGeom prst="ellipse">
            <a:avLst/>
          </a:prstGeom>
          <a:solidFill>
            <a:srgbClr val="FFFFFF">
              <a:alpha val="25000"/>
            </a:srgbClr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895475" y="2371725"/>
            <a:ext cx="19050" cy="1905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9037320" y="1893570"/>
            <a:ext cx="22860" cy="22860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1419225" y="4752975"/>
            <a:ext cx="19050" cy="19050"/>
          </a:xfrm>
          <a:prstGeom prst="ellipse">
            <a:avLst/>
          </a:prstGeom>
          <a:solidFill>
            <a:srgbClr val="FFFFFF">
              <a:alpha val="25000"/>
            </a:srgbClr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10463212" y="4557712"/>
            <a:ext cx="28575" cy="28575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3800475" y="5705475"/>
            <a:ext cx="19050" cy="19050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7132320" y="6179820"/>
            <a:ext cx="22860" cy="22860"/>
          </a:xfrm>
          <a:prstGeom prst="ellipse">
            <a:avLst/>
          </a:prstGeom>
          <a:solidFill>
            <a:srgbClr val="FFFFFF">
              <a:alpha val="25000"/>
            </a:srgbClr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9515475" y="5514975"/>
            <a:ext cx="19050" cy="1905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2652712" y="3319462"/>
            <a:ext cx="28575" cy="28575"/>
          </a:xfrm>
          <a:prstGeom prst="ellipse">
            <a:avLst/>
          </a:prstGeom>
          <a:solidFill>
            <a:srgbClr val="C9A84C">
              <a:alpha val="25000"/>
            </a:srgbClr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8558212" y="3795712"/>
            <a:ext cx="28575" cy="28575"/>
          </a:xfrm>
          <a:prstGeom prst="ellipse">
            <a:avLst/>
          </a:prstGeom>
          <a:solidFill>
            <a:srgbClr val="C9A84C">
              <a:alpha val="18000"/>
            </a:srgbClr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5703570" y="4751070"/>
            <a:ext cx="22860" cy="22860"/>
          </a:xfrm>
          <a:prstGeom prst="ellipse">
            <a:avLst/>
          </a:prstGeom>
          <a:solidFill>
            <a:srgbClr val="4A7CF7">
              <a:alpha val="15000"/>
            </a:srgbClr>
          </a:solidFill>
          <a:ln>
            <a:noFill/>
          </a:ln>
        </p:spPr>
      </p:sp>
      <p:sp>
        <p:nvSpPr>
          <p:cNvPr id="21" name="Ellipse 21"/>
          <p:cNvSpPr/>
          <p:nvPr/>
        </p:nvSpPr>
        <p:spPr>
          <a:xfrm>
            <a:off x="4381500" y="952500"/>
            <a:ext cx="3429000" cy="3429000"/>
          </a:xfrm>
          <a:prstGeom prst="ellipse">
            <a:avLst/>
          </a:prstGeom>
          <a:noFill/>
          <a:ln w="4762">
            <a:solidFill>
              <a:srgbClr val="C9A84C">
                <a:alpha val="15000"/>
              </a:srgbClr>
            </a:solidFill>
          </a:ln>
        </p:spPr>
      </p:sp>
      <p:sp>
        <p:nvSpPr>
          <p:cNvPr id="22" name="Ellipse 22"/>
          <p:cNvSpPr/>
          <p:nvPr/>
        </p:nvSpPr>
        <p:spPr>
          <a:xfrm>
            <a:off x="4191000" y="762000"/>
            <a:ext cx="3810000" cy="3810000"/>
          </a:xfrm>
          <a:prstGeom prst="ellipse">
            <a:avLst/>
          </a:prstGeom>
          <a:noFill/>
          <a:ln w="2858">
            <a:solidFill>
              <a:srgbClr val="C9A84C">
                <a:alpha val="10000"/>
              </a:srgbClr>
            </a:solidFill>
          </a:ln>
        </p:spPr>
      </p:sp>
      <p:sp>
        <p:nvSpPr>
          <p:cNvPr id="23" name="Ellipse 23"/>
          <p:cNvSpPr/>
          <p:nvPr/>
        </p:nvSpPr>
        <p:spPr>
          <a:xfrm>
            <a:off x="4000500" y="571500"/>
            <a:ext cx="4191000" cy="4191000"/>
          </a:xfrm>
          <a:prstGeom prst="ellipse">
            <a:avLst/>
          </a:prstGeom>
          <a:noFill/>
          <a:ln w="2858">
            <a:solidFill>
              <a:srgbClr val="4A7CF7">
                <a:alpha val="8000"/>
              </a:srgbClr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4432459" y="2023110"/>
            <a:ext cx="332708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gradFill>
                  <a:gsLst>
                    <a:gs pos="0">
                      <a:srgbClr val="C9A84C"/>
                    </a:gs>
                    <a:gs pos="50000">
                      <a:srgbClr val="E8D48B"/>
                    </a:gs>
                    <a:gs pos="100000">
                      <a:srgbClr val="C9A84C"/>
                    </a:gs>
                  </a:gsLst>
                  <a:lin ang="2700000" scaled="1"/>
                </a:gradFill>
                <a:latin typeface="Georgia"/>
                <a:ea typeface="Microsoft YaHei"/>
                <a:cs typeface="Georgia"/>
              </a:rPr>
              <a:t>西方占星学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178177" y="2689860"/>
            <a:ext cx="7835646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gradFill>
                  <a:gsLst>
                    <a:gs pos="0">
                      <a:srgbClr val="C9A84C"/>
                    </a:gs>
                    <a:gs pos="50000">
                      <a:srgbClr val="E8D48B"/>
                    </a:gs>
                    <a:gs pos="100000">
                      <a:srgbClr val="C9A84C"/>
                    </a:gs>
                  </a:gsLst>
                  <a:lin ang="2700000" scaled="1"/>
                </a:gradFill>
                <a:latin typeface="Georgia"/>
                <a:ea typeface="Microsoft YaHei"/>
                <a:cs typeface="Georgia"/>
              </a:rPr>
              <a:t>五大底层人性原型体系报告</a:t>
            </a:r>
          </a:p>
        </p:txBody>
      </p:sp>
      <p:sp>
        <p:nvSpPr>
          <p:cNvPr id="26" name="Line 26"/>
          <p:cNvSpPr/>
          <p:nvPr/>
        </p:nvSpPr>
        <p:spPr>
          <a:xfrm>
            <a:off x="5143500" y="342900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14288">
            <a:solidFill>
              <a:srgbClr val="C9A84C">
                <a:alpha val="60000"/>
              </a:srgbClr>
            </a:solidFill>
          </a:ln>
        </p:spPr>
      </p:sp>
      <p:sp>
        <p:nvSpPr>
          <p:cNvPr id="27" name="Ellipse 27"/>
          <p:cNvSpPr/>
          <p:nvPr/>
        </p:nvSpPr>
        <p:spPr>
          <a:xfrm>
            <a:off x="6067425" y="3400425"/>
            <a:ext cx="57150" cy="57150"/>
          </a:xfrm>
          <a:prstGeom prst="ellipse">
            <a:avLst/>
          </a:prstGeom>
          <a:solidFill>
            <a:srgbClr val="C9A84C">
              <a:alpha val="80000"/>
            </a:srgbClr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2867501" y="3648075"/>
            <a:ext cx="645699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基于占星学 · 进化心理学 · 社会学与游戏设计学的跨学科原型框架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775406" y="4170998"/>
            <a:ext cx="264118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i="1" dirty="0">
                <a:solidFill>
                  <a:srgbClr val="6B9BFF">
                    <a:alpha val="80000"/>
                  </a:srgbClr>
                </a:solidFill>
                <a:latin typeface="Georgia"/>
                <a:ea typeface="SimSun"/>
                <a:cs typeface="Georgia"/>
              </a:rPr>
              <a:t>As Above, So Below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392579" y="455390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在上如是，在下亦然</a:t>
            </a:r>
          </a:p>
        </p:txBody>
      </p:sp>
      <p:sp>
        <p:nvSpPr>
          <p:cNvPr id="31" name="Rectangle 31"/>
          <p:cNvSpPr/>
          <p:nvPr/>
        </p:nvSpPr>
        <p:spPr>
          <a:xfrm>
            <a:off x="2762250" y="5048250"/>
            <a:ext cx="1143000" cy="342900"/>
          </a:xfrm>
          <a:prstGeom prst="rect">
            <a:avLst/>
          </a:prstGeom>
          <a:noFill/>
          <a:ln w="9525">
            <a:solidFill>
              <a:srgbClr val="8A7234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3013710" y="5153978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9A84C"/>
                </a:solidFill>
                <a:latin typeface="Arial"/>
                <a:ea typeface="Microsoft YaHei"/>
                <a:cs typeface="Arial"/>
              </a:rPr>
              <a:t>领域意识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095750" y="5048250"/>
            <a:ext cx="1143000" cy="342900"/>
          </a:xfrm>
          <a:prstGeom prst="rect">
            <a:avLst/>
          </a:prstGeom>
          <a:noFill/>
          <a:ln w="9525">
            <a:solidFill>
              <a:srgbClr val="8A7234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347210" y="5153978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9A84C"/>
                </a:solidFill>
                <a:latin typeface="Arial"/>
                <a:ea typeface="Microsoft YaHei"/>
                <a:cs typeface="Arial"/>
              </a:rPr>
              <a:t>损失厌恶</a:t>
            </a:r>
          </a:p>
        </p:txBody>
      </p:sp>
      <p:sp>
        <p:nvSpPr>
          <p:cNvPr id="35" name="Rectangle 35"/>
          <p:cNvSpPr/>
          <p:nvPr/>
        </p:nvSpPr>
        <p:spPr>
          <a:xfrm>
            <a:off x="5429250" y="5048250"/>
            <a:ext cx="1143000" cy="342900"/>
          </a:xfrm>
          <a:prstGeom prst="rect">
            <a:avLst/>
          </a:prstGeom>
          <a:noFill/>
          <a:ln w="9525">
            <a:solidFill>
              <a:srgbClr val="8A7234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5680710" y="5153978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9A84C"/>
                </a:solidFill>
                <a:latin typeface="Arial"/>
                <a:ea typeface="Microsoft YaHei"/>
                <a:cs typeface="Arial"/>
              </a:rPr>
              <a:t>等级服从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762750" y="5048250"/>
            <a:ext cx="1143000" cy="342900"/>
          </a:xfrm>
          <a:prstGeom prst="rect">
            <a:avLst/>
          </a:prstGeom>
          <a:noFill/>
          <a:ln w="9525">
            <a:solidFill>
              <a:srgbClr val="8A7234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7014210" y="5153978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9A84C"/>
                </a:solidFill>
                <a:latin typeface="Arial"/>
                <a:ea typeface="Microsoft YaHei"/>
                <a:cs typeface="Arial"/>
              </a:rPr>
              <a:t>部落归属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096250" y="5048250"/>
            <a:ext cx="1143000" cy="342900"/>
          </a:xfrm>
          <a:prstGeom prst="rect">
            <a:avLst/>
          </a:prstGeom>
          <a:noFill/>
          <a:ln w="9525">
            <a:solidFill>
              <a:srgbClr val="8A7234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8347710" y="5153978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9A84C"/>
                </a:solidFill>
                <a:latin typeface="Arial"/>
                <a:ea typeface="Microsoft YaHei"/>
                <a:cs typeface="Arial"/>
              </a:rPr>
              <a:t>互惠交换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184172" y="6189345"/>
            <a:ext cx="18236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← → 键盘或点击导航切换幻灯片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476250"/>
            <a:ext cx="762000" cy="38100"/>
          </a:xfrm>
          <a:prstGeom prst="rect">
            <a:avLst/>
          </a:prstGeom>
          <a:gradFill>
            <a:gsLst>
              <a:gs pos="0">
                <a:srgbClr val="C9A84C"/>
              </a:gs>
              <a:gs pos="100000">
                <a:srgbClr val="E8D48B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070" y="664845"/>
            <a:ext cx="6275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7234"/>
                </a:solidFill>
                <a:latin typeface="Arial"/>
                <a:ea typeface="Microsoft YaHei"/>
                <a:cs typeface="Arial"/>
              </a:rPr>
              <a:t>CONTENTS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803910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8D48B"/>
                </a:solidFill>
                <a:latin typeface="Georgia"/>
                <a:ea typeface="Microsoft YaHei"/>
                <a:cs typeface="Georgia"/>
              </a:rPr>
              <a:t>报告目录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524000"/>
            <a:ext cx="5334000" cy="1143000"/>
          </a:xfrm>
          <a:prstGeom prst="rect">
            <a:avLst/>
          </a:prstGeom>
          <a:solidFill>
            <a:srgbClr val="151D35"/>
          </a:solidFill>
          <a:ln w="9525">
            <a:solidFill>
              <a:srgbClr val="2A305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1524000"/>
            <a:ext cx="38100" cy="1143000"/>
          </a:xfrm>
          <a:prstGeom prst="rect">
            <a:avLst/>
          </a:prstGeom>
          <a:solidFill>
            <a:srgbClr val="C9A84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270635" y="1775460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9A84C"/>
                </a:solidFill>
                <a:latin typeface="Arial"/>
                <a:ea typeface="Microsoft YaHei"/>
                <a:cs typeface="Arial"/>
              </a:rPr>
              <a:t>第一章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68730" y="1997392"/>
            <a:ext cx="272562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核心底层人性的静态结构映射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72540" y="2267902"/>
            <a:ext cx="34694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星体 · 星座 · 宫位 — 五大底层人性的先天结构图谱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286500" y="1524000"/>
            <a:ext cx="5334000" cy="1143000"/>
          </a:xfrm>
          <a:prstGeom prst="rect">
            <a:avLst/>
          </a:prstGeom>
          <a:solidFill>
            <a:srgbClr val="151D35"/>
          </a:solidFill>
          <a:ln w="9525">
            <a:solidFill>
              <a:srgbClr val="2A3050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6286500" y="1524000"/>
            <a:ext cx="38100" cy="1143000"/>
          </a:xfrm>
          <a:prstGeom prst="rect">
            <a:avLst/>
          </a:prstGeom>
          <a:solidFill>
            <a:srgbClr val="4A7CF7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985635" y="1775460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B9BFF"/>
                </a:solidFill>
                <a:latin typeface="Arial"/>
                <a:ea typeface="Microsoft YaHei"/>
                <a:cs typeface="Arial"/>
              </a:rPr>
              <a:t>第二章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83730" y="1997392"/>
            <a:ext cx="29326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飞宫理论：动态投射与资源流动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87540" y="2267902"/>
            <a:ext cx="37301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领地领主的跨疆域行为 — 本能如何流动、资源如何转移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2952750"/>
            <a:ext cx="5334000" cy="1143000"/>
          </a:xfrm>
          <a:prstGeom prst="rect">
            <a:avLst/>
          </a:prstGeom>
          <a:solidFill>
            <a:srgbClr val="151D35"/>
          </a:solidFill>
          <a:ln w="9525">
            <a:solidFill>
              <a:srgbClr val="2A3050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571500" y="2952750"/>
            <a:ext cx="38100" cy="1143000"/>
          </a:xfrm>
          <a:prstGeom prst="rect">
            <a:avLst/>
          </a:prstGeom>
          <a:solidFill>
            <a:srgbClr val="7C5CBF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270635" y="3204210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78BFA"/>
                </a:solidFill>
                <a:latin typeface="Arial"/>
                <a:ea typeface="Microsoft YaHei"/>
                <a:cs typeface="Arial"/>
              </a:rPr>
              <a:t>第三章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68730" y="3426142"/>
            <a:ext cx="29326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相位理论：驱力互动与博弈原型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72540" y="3696652"/>
            <a:ext cx="311672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星体之间的对手戏 — 协同、冲突、支配与臣服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286500" y="2952750"/>
            <a:ext cx="5334000" cy="1143000"/>
          </a:xfrm>
          <a:prstGeom prst="rect">
            <a:avLst/>
          </a:prstGeom>
          <a:solidFill>
            <a:srgbClr val="151D35"/>
          </a:solidFill>
          <a:ln w="9525">
            <a:solidFill>
              <a:srgbClr val="2A3050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6286500" y="2952750"/>
            <a:ext cx="38100" cy="1143000"/>
          </a:xfrm>
          <a:prstGeom prst="rect">
            <a:avLst/>
          </a:prstGeom>
          <a:solidFill>
            <a:srgbClr val="4AC9C9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985635" y="3204210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AC9C9"/>
                </a:solidFill>
                <a:latin typeface="Arial"/>
                <a:ea typeface="Microsoft YaHei"/>
                <a:cs typeface="Arial"/>
              </a:rPr>
              <a:t>第四章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983730" y="3426142"/>
            <a:ext cx="25186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四象限体系框架与综合应用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987540" y="3696652"/>
            <a:ext cx="26336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从个体生存到集体组织的完整人性层级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4381500"/>
            <a:ext cx="5334000" cy="1143000"/>
          </a:xfrm>
          <a:prstGeom prst="rect">
            <a:avLst/>
          </a:prstGeom>
          <a:solidFill>
            <a:srgbClr val="151D35"/>
          </a:solidFill>
          <a:ln w="9525">
            <a:solidFill>
              <a:srgbClr val="2A3050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571500" y="4381500"/>
            <a:ext cx="38100" cy="1143000"/>
          </a:xfrm>
          <a:prstGeom prst="rect">
            <a:avLst/>
          </a:prstGeom>
          <a:solidFill>
            <a:srgbClr val="4CAF7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270635" y="4632960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CAF7D"/>
                </a:solidFill>
                <a:latin typeface="Arial"/>
                <a:ea typeface="Microsoft YaHei"/>
                <a:cs typeface="Arial"/>
              </a:rPr>
              <a:t>第五章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68730" y="4854892"/>
            <a:ext cx="210454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跨学科对照与终极总结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72540" y="5125402"/>
            <a:ext cx="33160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占星学 × 进化心理学 × 社会心理学 × 游戏设计学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236500" y="6483191"/>
            <a:ext cx="394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02 / 18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9A84C">
                  <a:alpha val="8000"/>
                </a:srgbClr>
              </a:gs>
              <a:gs pos="100000">
                <a:srgbClr val="C9A84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762000" cy="38100"/>
          </a:xfrm>
          <a:prstGeom prst="rect">
            <a:avLst/>
          </a:prstGeom>
          <a:gradFill>
            <a:gsLst>
              <a:gs pos="0">
                <a:srgbClr val="C9A84C"/>
              </a:gs>
              <a:gs pos="100000">
                <a:srgbClr val="E8D48B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60070" y="664845"/>
            <a:ext cx="8772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7234"/>
                </a:solidFill>
                <a:latin typeface="Arial"/>
                <a:ea typeface="Microsoft YaHei"/>
                <a:cs typeface="Arial"/>
              </a:rPr>
              <a:t>INTRODUCTION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1020" y="836295"/>
            <a:ext cx="742188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8D48B"/>
                </a:solidFill>
                <a:latin typeface="Georgia"/>
                <a:ea typeface="Microsoft YaHei"/>
                <a:cs typeface="Georgia"/>
              </a:rPr>
              <a:t>引言：占星学作为人性演化心理学的象征语言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81125"/>
            <a:ext cx="11049000" cy="571500"/>
          </a:xfrm>
          <a:prstGeom prst="rect">
            <a:avLst/>
          </a:prstGeom>
          <a:solidFill>
            <a:srgbClr val="151D35"/>
          </a:solidFill>
          <a:ln w="9525">
            <a:solidFill>
              <a:srgbClr val="C9A84C">
                <a:alpha val="30000"/>
              </a:srgbClr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3092327" y="1476375"/>
            <a:ext cx="600734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E8D48B"/>
                </a:solidFill>
                <a:latin typeface="Georgia"/>
                <a:ea typeface="SimSun"/>
                <a:cs typeface="Georgia"/>
              </a:rPr>
              <a:t>核心公理：「As above, so below」— 在上如是，在下亦然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00260" y="1735931"/>
            <a:ext cx="89914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西方占星学本质是一套用</a:t>
            </a:r>
            <a:r>
              <a:rPr lang="zh-CN" sz="1125" b="1" dirty="0">
                <a:solidFill>
                  <a:srgbClr val="C9A84C"/>
                </a:solidFill>
                <a:latin typeface="Arial"/>
                <a:ea typeface="Microsoft YaHei"/>
                <a:cs typeface="Arial"/>
              </a:rPr>
              <a:t>神话—象征语言</a:t>
            </a:r>
            <a:r>
              <a:rPr lang="zh-CN" sz="112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编码的</a:t>
            </a:r>
            <a:r>
              <a:rPr lang="zh-CN" sz="1125" b="1" dirty="0">
                <a:solidFill>
                  <a:srgbClr val="C9A84C"/>
                </a:solidFill>
                <a:latin typeface="Arial"/>
                <a:ea typeface="Microsoft YaHei"/>
                <a:cs typeface="Arial"/>
              </a:rPr>
              <a:t>先天人性结构图谱</a:t>
            </a:r>
            <a:r>
              <a:rPr lang="zh-CN" sz="112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，将人类数百万年演化形成的底层本能，拆解为四大模块。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2190750"/>
            <a:ext cx="2619375" cy="1714500"/>
          </a:xfrm>
          <a:prstGeom prst="rect">
            <a:avLst/>
          </a:prstGeom>
          <a:solidFill>
            <a:srgbClr val="151D35"/>
          </a:solidFill>
          <a:ln w="9525">
            <a:solidFill>
              <a:srgbClr val="2A3050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397318" y="2933700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十大星体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56385" y="32204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核心驱力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79709" y="341090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心理适应器</a:t>
            </a:r>
          </a:p>
        </p:txBody>
      </p:sp>
      <p:sp>
        <p:nvSpPr>
          <p:cNvPr id="14" name="Rectangle 14"/>
          <p:cNvSpPr/>
          <p:nvPr/>
        </p:nvSpPr>
        <p:spPr>
          <a:xfrm>
            <a:off x="3429000" y="2190750"/>
            <a:ext cx="2619375" cy="1714500"/>
          </a:xfrm>
          <a:prstGeom prst="rect">
            <a:avLst/>
          </a:prstGeom>
          <a:solidFill>
            <a:srgbClr val="151D35"/>
          </a:solidFill>
          <a:ln w="9525">
            <a:solidFill>
              <a:srgbClr val="2A305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254818" y="2933700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6B9BFF"/>
                </a:solidFill>
                <a:latin typeface="Arial"/>
                <a:ea typeface="Microsoft YaHei"/>
                <a:cs typeface="Arial"/>
              </a:rPr>
              <a:t>十二星座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490561" y="322040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驱力的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413885" y="34109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表达模式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286500" y="2190750"/>
            <a:ext cx="2619375" cy="1714500"/>
          </a:xfrm>
          <a:prstGeom prst="rect">
            <a:avLst/>
          </a:prstGeom>
          <a:solidFill>
            <a:srgbClr val="151D35"/>
          </a:solidFill>
          <a:ln w="9525">
            <a:solidFill>
              <a:srgbClr val="2A305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112318" y="2933700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A78BFA"/>
                </a:solidFill>
                <a:latin typeface="Arial"/>
                <a:ea typeface="Microsoft YaHei"/>
                <a:cs typeface="Arial"/>
              </a:rPr>
              <a:t>十二宫位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348061" y="322040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驱力的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71385" y="34109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落地场景</a:t>
            </a:r>
          </a:p>
        </p:txBody>
      </p:sp>
      <p:sp>
        <p:nvSpPr>
          <p:cNvPr id="22" name="Rectangle 22"/>
          <p:cNvSpPr/>
          <p:nvPr/>
        </p:nvSpPr>
        <p:spPr>
          <a:xfrm>
            <a:off x="9144000" y="2190750"/>
            <a:ext cx="2476500" cy="1714500"/>
          </a:xfrm>
          <a:prstGeom prst="rect">
            <a:avLst/>
          </a:prstGeom>
          <a:solidFill>
            <a:srgbClr val="151D35"/>
          </a:solidFill>
          <a:ln w="9525">
            <a:solidFill>
              <a:srgbClr val="2A305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0133171" y="2933700"/>
            <a:ext cx="4981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4AC9C9"/>
                </a:solidFill>
                <a:latin typeface="Arial"/>
                <a:ea typeface="Microsoft YaHei"/>
                <a:cs typeface="Arial"/>
              </a:rPr>
              <a:t>相位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38886" y="322040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驱力的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985534" y="341090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协同与冲突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4191000"/>
            <a:ext cx="11049000" cy="1333500"/>
          </a:xfrm>
          <a:prstGeom prst="rect">
            <a:avLst/>
          </a:prstGeom>
          <a:solidFill>
            <a:srgbClr val="151D35"/>
          </a:solidFill>
          <a:ln w="9525">
            <a:solidFill>
              <a:srgbClr val="4A7CF7">
                <a:alpha val="30000"/>
              </a:srgbClr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571500" y="4191000"/>
            <a:ext cx="38100" cy="1333500"/>
          </a:xfrm>
          <a:prstGeom prst="rect">
            <a:avLst/>
          </a:prstGeom>
          <a:solidFill>
            <a:srgbClr val="4A7CF7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40105" y="4378642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6B9BFF"/>
                </a:solidFill>
                <a:latin typeface="Arial"/>
                <a:ea typeface="Microsoft YaHei"/>
                <a:cs typeface="Arial"/>
              </a:rPr>
              <a:t>核心论点：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2010" y="4680585"/>
            <a:ext cx="62609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西方占星学的完整体系，就是一套用神话—象征语言编码的人性演化心理学模型。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42010" y="4966335"/>
            <a:ext cx="58140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现代心理学是</a:t>
            </a:r>
            <a:r>
              <a:rPr lang="zh-CN" sz="1200" b="1" dirty="0">
                <a:solidFill>
                  <a:srgbClr val="C9A84C"/>
                </a:solidFill>
                <a:latin typeface="Arial"/>
                <a:ea typeface="Microsoft YaHei"/>
                <a:cs typeface="Arial"/>
              </a:rPr>
              <a:t>「归纳式」</a:t>
            </a:r>
            <a:r>
              <a:rPr lang="zh-CN" sz="120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的（从行为反推人性），而占星学是</a:t>
            </a:r>
            <a:r>
              <a:rPr lang="zh-CN" sz="1200" b="1" dirty="0">
                <a:solidFill>
                  <a:srgbClr val="C9A84C"/>
                </a:solidFill>
                <a:latin typeface="Arial"/>
                <a:ea typeface="Microsoft YaHei"/>
                <a:cs typeface="Arial"/>
              </a:rPr>
              <a:t>「演绎式」</a:t>
            </a:r>
            <a:r>
              <a:rPr lang="zh-CN" sz="120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的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2010" y="5204460"/>
            <a:ext cx="73914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（从宇宙秩序直接映射先天人性结构），二者最终指向同一套刻在人类基因里的底层生存本能。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236500" y="6483191"/>
            <a:ext cx="394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03 / 18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0070" y="664845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7234"/>
                </a:solidFill>
                <a:latin typeface="Arial"/>
                <a:ea typeface="Microsoft YaHei"/>
                <a:cs typeface="Arial"/>
              </a:rPr>
              <a:t>CHAPTER 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1020" y="836295"/>
            <a:ext cx="484555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8D48B"/>
                </a:solidFill>
                <a:latin typeface="Georgia"/>
                <a:ea typeface="Microsoft YaHei"/>
                <a:cs typeface="Georgia"/>
              </a:rPr>
              <a:t>核心底层人性的静态结构映射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23825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9050">
            <a:solidFill>
              <a:srgbClr val="C9A84C">
                <a:alpha val="60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56260" y="1442085"/>
            <a:ext cx="89687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占星学的静态结构由三大要素构成：</a:t>
            </a:r>
            <a:r>
              <a:rPr lang="zh-CN" sz="1200" b="1" dirty="0">
                <a:solidFill>
                  <a:srgbClr val="C9A84C"/>
                </a:solidFill>
                <a:latin typeface="Arial"/>
                <a:ea typeface="Microsoft YaHei"/>
                <a:cs typeface="Arial"/>
              </a:rPr>
              <a:t>星体</a:t>
            </a:r>
            <a:r>
              <a:rPr lang="zh-CN" sz="120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定义核心心理驱力，</a:t>
            </a:r>
            <a:r>
              <a:rPr lang="zh-CN" sz="1200" b="1" dirty="0">
                <a:solidFill>
                  <a:srgbClr val="6B9BFF"/>
                </a:solidFill>
                <a:latin typeface="Arial"/>
                <a:ea typeface="Microsoft YaHei"/>
                <a:cs typeface="Arial"/>
              </a:rPr>
              <a:t>星座</a:t>
            </a:r>
            <a:r>
              <a:rPr lang="zh-CN" sz="120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定义驱力的表达模式，</a:t>
            </a:r>
            <a:r>
              <a:rPr lang="zh-CN" sz="1200" b="1" dirty="0">
                <a:solidFill>
                  <a:srgbClr val="A78BFA"/>
                </a:solidFill>
                <a:latin typeface="Arial"/>
                <a:ea typeface="Microsoft YaHei"/>
                <a:cs typeface="Arial"/>
              </a:rPr>
              <a:t>宫位</a:t>
            </a:r>
            <a:r>
              <a:rPr lang="zh-CN" sz="120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定义驱力的落地场景。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857375"/>
            <a:ext cx="2095500" cy="1905000"/>
          </a:xfrm>
          <a:prstGeom prst="rect">
            <a:avLst/>
          </a:prstGeom>
          <a:solidFill>
            <a:srgbClr val="151D35"/>
          </a:solidFill>
          <a:ln w="9525">
            <a:solidFill>
              <a:srgbClr val="C9A84C">
                <a:alpha val="40000"/>
              </a:srgbClr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857375"/>
            <a:ext cx="38100" cy="1905000"/>
          </a:xfrm>
          <a:prstGeom prst="rect">
            <a:avLst/>
          </a:prstGeom>
          <a:solidFill>
            <a:srgbClr val="C9A84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476518" y="1994535"/>
            <a:ext cx="2854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8053" y="26165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C9A84C"/>
                </a:solidFill>
                <a:latin typeface="Arial"/>
                <a:ea typeface="Microsoft YaHei"/>
                <a:cs typeface="Arial"/>
              </a:rPr>
              <a:t>领域意识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5858" y="29346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所有权与边界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68991" y="3228499"/>
            <a:ext cx="9005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土星 · 摩羯座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72551" y="3418999"/>
            <a:ext cx="89339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第二/四/十宫</a:t>
            </a:r>
          </a:p>
        </p:txBody>
      </p:sp>
      <p:sp>
        <p:nvSpPr>
          <p:cNvPr id="14" name="Rectangle 14"/>
          <p:cNvSpPr/>
          <p:nvPr/>
        </p:nvSpPr>
        <p:spPr>
          <a:xfrm>
            <a:off x="2857500" y="1857375"/>
            <a:ext cx="2095500" cy="1905000"/>
          </a:xfrm>
          <a:prstGeom prst="rect">
            <a:avLst/>
          </a:prstGeom>
          <a:solidFill>
            <a:srgbClr val="151D35"/>
          </a:solidFill>
          <a:ln w="9525">
            <a:solidFill>
              <a:srgbClr val="E05555">
                <a:alpha val="40000"/>
              </a:srgbClr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2857500" y="1857375"/>
            <a:ext cx="38100" cy="1905000"/>
          </a:xfrm>
          <a:prstGeom prst="rect">
            <a:avLst/>
          </a:prstGeom>
          <a:solidFill>
            <a:srgbClr val="E05555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3654076" y="1994535"/>
            <a:ext cx="50234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⚠️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474053" y="26165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E05555"/>
                </a:solidFill>
                <a:latin typeface="Arial"/>
                <a:ea typeface="Microsoft YaHei"/>
                <a:cs typeface="Arial"/>
              </a:rPr>
              <a:t>损失厌恶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355181" y="293465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恐惧与风险规避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454991" y="3228499"/>
            <a:ext cx="9005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火星 · 白羊座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568910" y="3418999"/>
            <a:ext cx="6726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第一/八宫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143500" y="1857375"/>
            <a:ext cx="2095500" cy="1905000"/>
          </a:xfrm>
          <a:prstGeom prst="rect">
            <a:avLst/>
          </a:prstGeom>
          <a:solidFill>
            <a:srgbClr val="151D35"/>
          </a:solidFill>
          <a:ln w="9525">
            <a:solidFill>
              <a:srgbClr val="4A7CF7">
                <a:alpha val="40000"/>
              </a:srgbClr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5143500" y="1857375"/>
            <a:ext cx="38100" cy="1905000"/>
          </a:xfrm>
          <a:prstGeom prst="rect">
            <a:avLst/>
          </a:prstGeom>
          <a:solidFill>
            <a:srgbClr val="4A7CF7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048518" y="1994535"/>
            <a:ext cx="2854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👑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760053" y="26165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6B9BFF"/>
                </a:solidFill>
                <a:latin typeface="Arial"/>
                <a:ea typeface="Microsoft YaHei"/>
                <a:cs typeface="Arial"/>
              </a:rPr>
              <a:t>等级服从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794534" y="293465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秩序与权威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740991" y="3228499"/>
            <a:ext cx="9005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月亮 · 巨蟹座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854910" y="3418999"/>
            <a:ext cx="6726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第四/十宫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429500" y="1857375"/>
            <a:ext cx="2095500" cy="1905000"/>
          </a:xfrm>
          <a:prstGeom prst="rect">
            <a:avLst/>
          </a:prstGeom>
          <a:solidFill>
            <a:srgbClr val="151D35"/>
          </a:solidFill>
          <a:ln w="9525">
            <a:solidFill>
              <a:srgbClr val="7C5CBF">
                <a:alpha val="40000"/>
              </a:srgbClr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7429500" y="1857375"/>
            <a:ext cx="38100" cy="1905000"/>
          </a:xfrm>
          <a:prstGeom prst="rect">
            <a:avLst/>
          </a:prstGeom>
          <a:solidFill>
            <a:srgbClr val="7C5CBF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8334518" y="1994535"/>
            <a:ext cx="2854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👥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046053" y="26165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A78BFA"/>
                </a:solidFill>
                <a:latin typeface="Arial"/>
                <a:ea typeface="Microsoft YaHei"/>
                <a:cs typeface="Arial"/>
              </a:rPr>
              <a:t>部落归属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927181" y="293465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群体认同与庇护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55792" y="3228499"/>
            <a:ext cx="10429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冥王星 · 天蝎座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069711" y="3418999"/>
            <a:ext cx="81507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第八/十一宫</a:t>
            </a:r>
          </a:p>
        </p:txBody>
      </p:sp>
      <p:sp>
        <p:nvSpPr>
          <p:cNvPr id="35" name="Rectangle 35"/>
          <p:cNvSpPr/>
          <p:nvPr/>
        </p:nvSpPr>
        <p:spPr>
          <a:xfrm>
            <a:off x="9715500" y="1857375"/>
            <a:ext cx="1905000" cy="1905000"/>
          </a:xfrm>
          <a:prstGeom prst="rect">
            <a:avLst/>
          </a:prstGeom>
          <a:solidFill>
            <a:srgbClr val="151D35"/>
          </a:solidFill>
          <a:ln w="9525">
            <a:solidFill>
              <a:srgbClr val="4CAF7D">
                <a:alpha val="40000"/>
              </a:srgbClr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9715500" y="1857375"/>
            <a:ext cx="38100" cy="1905000"/>
          </a:xfrm>
          <a:prstGeom prst="rect">
            <a:avLst/>
          </a:prstGeom>
          <a:solidFill>
            <a:srgbClr val="4CAF7D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0525268" y="1994535"/>
            <a:ext cx="2854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🤝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236803" y="26165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4CAF7D"/>
                </a:solidFill>
                <a:latin typeface="Arial"/>
                <a:ea typeface="Microsoft YaHei"/>
                <a:cs typeface="Arial"/>
              </a:rPr>
              <a:t>互惠交换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117931" y="293465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价值互换与契约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217741" y="3228499"/>
            <a:ext cx="9005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太阳 · 狮子座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150102" y="3418999"/>
            <a:ext cx="10357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第五/七/十一宫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71500" y="4095750"/>
            <a:ext cx="11049000" cy="476250"/>
          </a:xfrm>
          <a:prstGeom prst="rect">
            <a:avLst/>
          </a:prstGeom>
          <a:solidFill>
            <a:srgbClr val="151D35"/>
          </a:solidFill>
          <a:ln w="9525">
            <a:solidFill>
              <a:srgbClr val="C9A84C">
                <a:alpha val="20000"/>
              </a:srgbClr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3882057" y="4287202"/>
            <a:ext cx="44278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📌 占星学核心隐喻：</a:t>
            </a:r>
            <a:r>
              <a:rPr lang="zh-CN" sz="1050" b="1" dirty="0">
                <a:solidFill>
                  <a:srgbClr val="C9A84C"/>
                </a:solidFill>
                <a:latin typeface="Arial"/>
                <a:ea typeface="Microsoft YaHei"/>
                <a:cs typeface="Arial"/>
              </a:rPr>
              <a:t>「星体 = 领地领主，星座/宫位 = 专属疆域」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54355" y="480726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静态映射关系</a:t>
            </a:r>
          </a:p>
        </p:txBody>
      </p:sp>
      <p:sp>
        <p:nvSpPr>
          <p:cNvPr id="45" name="Rectangle 45"/>
          <p:cNvSpPr/>
          <p:nvPr/>
        </p:nvSpPr>
        <p:spPr>
          <a:xfrm>
            <a:off x="571500" y="5095875"/>
            <a:ext cx="2667000" cy="381000"/>
          </a:xfrm>
          <a:prstGeom prst="rect">
            <a:avLst/>
          </a:prstGeom>
          <a:solidFill>
            <a:srgbClr val="1A244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1569625" y="52206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占星要素</a:t>
            </a:r>
          </a:p>
        </p:txBody>
      </p:sp>
      <p:sp>
        <p:nvSpPr>
          <p:cNvPr id="47" name="Rectangle 47"/>
          <p:cNvSpPr/>
          <p:nvPr/>
        </p:nvSpPr>
        <p:spPr>
          <a:xfrm>
            <a:off x="3238500" y="5095875"/>
            <a:ext cx="2667000" cy="381000"/>
          </a:xfrm>
          <a:prstGeom prst="rect">
            <a:avLst/>
          </a:prstGeom>
          <a:solidFill>
            <a:srgbClr val="1A2440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4236625" y="52206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对应人性</a:t>
            </a:r>
          </a:p>
        </p:txBody>
      </p:sp>
      <p:sp>
        <p:nvSpPr>
          <p:cNvPr id="49" name="Rectangle 49"/>
          <p:cNvSpPr/>
          <p:nvPr/>
        </p:nvSpPr>
        <p:spPr>
          <a:xfrm>
            <a:off x="5905500" y="5095875"/>
            <a:ext cx="2667000" cy="381000"/>
          </a:xfrm>
          <a:prstGeom prst="rect">
            <a:avLst/>
          </a:prstGeom>
          <a:solidFill>
            <a:srgbClr val="1A2440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6662095" y="5220652"/>
            <a:ext cx="11538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进化心理学机制</a:t>
            </a:r>
          </a:p>
        </p:txBody>
      </p:sp>
      <p:sp>
        <p:nvSpPr>
          <p:cNvPr id="51" name="Rectangle 51"/>
          <p:cNvSpPr/>
          <p:nvPr/>
        </p:nvSpPr>
        <p:spPr>
          <a:xfrm>
            <a:off x="8572500" y="5095875"/>
            <a:ext cx="3048000" cy="381000"/>
          </a:xfrm>
          <a:prstGeom prst="rect">
            <a:avLst/>
          </a:prstGeom>
          <a:solidFill>
            <a:srgbClr val="1A2440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9761125" y="52206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核心宫位</a:t>
            </a:r>
          </a:p>
        </p:txBody>
      </p:sp>
      <p:sp>
        <p:nvSpPr>
          <p:cNvPr id="53" name="Rectangle 53"/>
          <p:cNvSpPr/>
          <p:nvPr/>
        </p:nvSpPr>
        <p:spPr>
          <a:xfrm>
            <a:off x="571500" y="5476875"/>
            <a:ext cx="2667000" cy="333375"/>
          </a:xfrm>
          <a:prstGeom prst="rect">
            <a:avLst/>
          </a:prstGeom>
          <a:solidFill>
            <a:srgbClr val="151D35">
              <a:alpha val="50000"/>
            </a:srgbClr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1750219" y="5581174"/>
            <a:ext cx="309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土星</a:t>
            </a:r>
          </a:p>
        </p:txBody>
      </p:sp>
      <p:sp>
        <p:nvSpPr>
          <p:cNvPr id="55" name="Rectangle 55"/>
          <p:cNvSpPr/>
          <p:nvPr/>
        </p:nvSpPr>
        <p:spPr>
          <a:xfrm>
            <a:off x="3238500" y="5476875"/>
            <a:ext cx="2667000" cy="333375"/>
          </a:xfrm>
          <a:prstGeom prst="rect">
            <a:avLst/>
          </a:prstGeom>
          <a:solidFill>
            <a:srgbClr val="151D35">
              <a:alpha val="50000"/>
            </a:srgbClr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4274820" y="5581174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领域意识</a:t>
            </a:r>
          </a:p>
        </p:txBody>
      </p:sp>
      <p:sp>
        <p:nvSpPr>
          <p:cNvPr id="57" name="Rectangle 57"/>
          <p:cNvSpPr/>
          <p:nvPr/>
        </p:nvSpPr>
        <p:spPr>
          <a:xfrm>
            <a:off x="5905500" y="5476875"/>
            <a:ext cx="2667000" cy="333375"/>
          </a:xfrm>
          <a:prstGeom prst="rect">
            <a:avLst/>
          </a:prstGeom>
          <a:solidFill>
            <a:srgbClr val="151D35">
              <a:alpha val="50000"/>
            </a:srgbClr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6617863" y="5581174"/>
            <a:ext cx="12422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领地行为/资源保护</a:t>
            </a:r>
          </a:p>
        </p:txBody>
      </p:sp>
      <p:sp>
        <p:nvSpPr>
          <p:cNvPr id="59" name="Rectangle 59"/>
          <p:cNvSpPr/>
          <p:nvPr/>
        </p:nvSpPr>
        <p:spPr>
          <a:xfrm>
            <a:off x="8572500" y="5476875"/>
            <a:ext cx="3048000" cy="333375"/>
          </a:xfrm>
          <a:prstGeom prst="rect">
            <a:avLst/>
          </a:prstGeom>
          <a:solidFill>
            <a:srgbClr val="151D35">
              <a:alpha val="50000"/>
            </a:srgbClr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9176325" y="5581174"/>
            <a:ext cx="18403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第二宫(物质)/第四宫(家庭)</a:t>
            </a:r>
          </a:p>
        </p:txBody>
      </p:sp>
      <p:sp>
        <p:nvSpPr>
          <p:cNvPr id="61" name="Rectangle 61"/>
          <p:cNvSpPr/>
          <p:nvPr/>
        </p:nvSpPr>
        <p:spPr>
          <a:xfrm>
            <a:off x="571500" y="5810250"/>
            <a:ext cx="2667000" cy="333375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1750219" y="5914549"/>
            <a:ext cx="309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火星</a:t>
            </a:r>
          </a:p>
        </p:txBody>
      </p:sp>
      <p:sp>
        <p:nvSpPr>
          <p:cNvPr id="63" name="Rectangle 63"/>
          <p:cNvSpPr/>
          <p:nvPr/>
        </p:nvSpPr>
        <p:spPr>
          <a:xfrm>
            <a:off x="3238500" y="5810250"/>
            <a:ext cx="2667000" cy="333375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4274820" y="59145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损失厌恶</a:t>
            </a:r>
          </a:p>
        </p:txBody>
      </p:sp>
      <p:sp>
        <p:nvSpPr>
          <p:cNvPr id="65" name="Rectangle 65"/>
          <p:cNvSpPr/>
          <p:nvPr/>
        </p:nvSpPr>
        <p:spPr>
          <a:xfrm>
            <a:off x="5905500" y="5810250"/>
            <a:ext cx="2667000" cy="333375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6728222" y="591454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战斗或逃跑反应</a:t>
            </a:r>
          </a:p>
        </p:txBody>
      </p:sp>
      <p:sp>
        <p:nvSpPr>
          <p:cNvPr id="67" name="Rectangle 67"/>
          <p:cNvSpPr/>
          <p:nvPr/>
        </p:nvSpPr>
        <p:spPr>
          <a:xfrm>
            <a:off x="8572500" y="5810250"/>
            <a:ext cx="3048000" cy="333375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9176325" y="5914549"/>
            <a:ext cx="18403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第一宫(自我)/第八宫(危机)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6143625"/>
            <a:ext cx="2667000" cy="333375"/>
          </a:xfrm>
          <a:prstGeom prst="rect">
            <a:avLst/>
          </a:prstGeom>
          <a:solidFill>
            <a:srgbClr val="151D35">
              <a:alpha val="50000"/>
            </a:srgbClr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1750219" y="6247924"/>
            <a:ext cx="309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月亮</a:t>
            </a:r>
          </a:p>
        </p:txBody>
      </p:sp>
      <p:sp>
        <p:nvSpPr>
          <p:cNvPr id="71" name="Rectangle 71"/>
          <p:cNvSpPr/>
          <p:nvPr/>
        </p:nvSpPr>
        <p:spPr>
          <a:xfrm>
            <a:off x="3238500" y="6143625"/>
            <a:ext cx="2667000" cy="333375"/>
          </a:xfrm>
          <a:prstGeom prst="rect">
            <a:avLst/>
          </a:prstGeom>
          <a:solidFill>
            <a:srgbClr val="151D35">
              <a:alpha val="50000"/>
            </a:srgbClr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4274820" y="6247924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等级服从</a:t>
            </a:r>
          </a:p>
        </p:txBody>
      </p:sp>
      <p:sp>
        <p:nvSpPr>
          <p:cNvPr id="73" name="Rectangle 73"/>
          <p:cNvSpPr/>
          <p:nvPr/>
        </p:nvSpPr>
        <p:spPr>
          <a:xfrm>
            <a:off x="5905500" y="6143625"/>
            <a:ext cx="2667000" cy="333375"/>
          </a:xfrm>
          <a:prstGeom prst="rect">
            <a:avLst/>
          </a:prstGeom>
          <a:solidFill>
            <a:srgbClr val="151D35">
              <a:alpha val="50000"/>
            </a:srgbClr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6799421" y="6247924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社会等级识别</a:t>
            </a:r>
          </a:p>
        </p:txBody>
      </p:sp>
      <p:sp>
        <p:nvSpPr>
          <p:cNvPr id="75" name="Rectangle 75"/>
          <p:cNvSpPr/>
          <p:nvPr/>
        </p:nvSpPr>
        <p:spPr>
          <a:xfrm>
            <a:off x="8572500" y="6143625"/>
            <a:ext cx="3048000" cy="333375"/>
          </a:xfrm>
          <a:prstGeom prst="rect">
            <a:avLst/>
          </a:prstGeom>
          <a:solidFill>
            <a:srgbClr val="151D35">
              <a:alpha val="50000"/>
            </a:srgbClr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9176325" y="6247924"/>
            <a:ext cx="18403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第四宫(家庭)/第十宫(社会)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1236500" y="6483191"/>
            <a:ext cx="394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04 / 18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0070" y="664845"/>
            <a:ext cx="7392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7234"/>
                </a:solidFill>
                <a:latin typeface="Arial"/>
                <a:ea typeface="Microsoft YaHei"/>
                <a:cs typeface="Arial"/>
              </a:rPr>
              <a:t>1.1 静态映射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1020" y="836295"/>
            <a:ext cx="594969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8D48B"/>
                </a:solidFill>
                <a:latin typeface="Georgia"/>
                <a:ea typeface="Microsoft YaHei"/>
                <a:cs typeface="Georgia"/>
              </a:rPr>
              <a:t>领域意识：所有权与边界的底层原型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23825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9050">
            <a:solidFill>
              <a:srgbClr val="C9A84C">
                <a:alpha val="60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120140" y="1663065"/>
            <a:ext cx="359276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9A84C"/>
                </a:solidFill>
                <a:latin typeface="Georgia"/>
                <a:ea typeface="Microsoft YaHei"/>
                <a:cs typeface="Georgia"/>
              </a:rPr>
              <a:t>对应星体：土星（Saturn）♄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7760" y="2013585"/>
            <a:ext cx="95120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土星代表结构、边界、规则与时间。它是人性中「领域意识」的化身——知道什么是我的、什么不是我的，知道边界在哪里。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4355" y="2521268"/>
            <a:ext cx="189752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占星要素与人性对照</a:t>
            </a:r>
          </a:p>
        </p:txBody>
      </p:sp>
      <p:sp>
        <p:nvSpPr>
          <p:cNvPr id="9" name="Rectangle 9"/>
          <p:cNvSpPr/>
          <p:nvPr/>
        </p:nvSpPr>
        <p:spPr>
          <a:xfrm>
            <a:off x="571500" y="2809875"/>
            <a:ext cx="3619500" cy="381000"/>
          </a:xfrm>
          <a:prstGeom prst="rect">
            <a:avLst/>
          </a:prstGeom>
          <a:solidFill>
            <a:srgbClr val="1A244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045875" y="29346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占星要素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191000" y="2809875"/>
            <a:ext cx="7429500" cy="381000"/>
          </a:xfrm>
          <a:prstGeom prst="rect">
            <a:avLst/>
          </a:prstGeom>
          <a:solidFill>
            <a:srgbClr val="1A244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570375" y="29346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对应人性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71500" y="3190875"/>
            <a:ext cx="3619500" cy="381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2214562" y="3315652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土星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191000" y="3190875"/>
            <a:ext cx="7429500" cy="381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202329" y="331565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领域意识的核心驱力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71500" y="3571875"/>
            <a:ext cx="3619500" cy="381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2137886" y="369665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摩羯座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191000" y="3571875"/>
            <a:ext cx="7429500" cy="381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512242" y="3696652"/>
            <a:ext cx="27870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领域意识的表达模式（结构化、层级化）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71500" y="3952875"/>
            <a:ext cx="3619500" cy="381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2137886" y="407765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第二宫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191000" y="3952875"/>
            <a:ext cx="7429500" cy="381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665595" y="4077652"/>
            <a:ext cx="24803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领域意识的落地场景（物质所有权）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4333875"/>
            <a:ext cx="3619500" cy="381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2137886" y="445865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第四宫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191000" y="4333875"/>
            <a:ext cx="7429500" cy="381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00099" y="4458652"/>
            <a:ext cx="24113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领域意识的落地场景（家庭/领土）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71500" y="4714875"/>
            <a:ext cx="3619500" cy="381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2137886" y="483965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第十宫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191000" y="4714875"/>
            <a:ext cx="7429500" cy="381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393394" y="4839652"/>
            <a:ext cx="30247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领域意识的落地场景（社会地位/公共领域）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71500" y="5334000"/>
            <a:ext cx="11049000" cy="952500"/>
          </a:xfrm>
          <a:prstGeom prst="rect">
            <a:avLst/>
          </a:prstGeom>
          <a:solidFill>
            <a:srgbClr val="151D35"/>
          </a:solidFill>
          <a:ln w="9525">
            <a:solidFill>
              <a:srgbClr val="4A7CF7">
                <a:alpha val="30000"/>
              </a:srgbClr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571500" y="5334000"/>
            <a:ext cx="38100" cy="952500"/>
          </a:xfrm>
          <a:prstGeom prst="rect">
            <a:avLst/>
          </a:prstGeom>
          <a:solidFill>
            <a:srgbClr val="4A7CF7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842010" y="5490210"/>
            <a:ext cx="15026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B9BFF"/>
                </a:solidFill>
                <a:latin typeface="Arial"/>
                <a:ea typeface="Microsoft YaHei"/>
                <a:cs typeface="Arial"/>
              </a:rPr>
              <a:t>进化心理学对照：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42962" y="5736431"/>
            <a:ext cx="79317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领域意识是灵长类动物的核心本能之一。划定领地、保护资源、建立边界——这是所有社会性动物生存的基础。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42962" y="5974556"/>
            <a:ext cx="531923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土星在占星学中的"限制"与"考验"，本质上是对领域边界的测试与强化。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236500" y="6483191"/>
            <a:ext cx="394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05 / 18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0070" y="664845"/>
            <a:ext cx="77209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7234"/>
                </a:solidFill>
                <a:latin typeface="Arial"/>
                <a:ea typeface="Microsoft YaHei"/>
                <a:cs typeface="Arial"/>
              </a:rPr>
              <a:t>1.2 静态映射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1020" y="836295"/>
            <a:ext cx="631774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8D48B"/>
                </a:solidFill>
                <a:latin typeface="Georgia"/>
                <a:ea typeface="Microsoft YaHei"/>
                <a:cs typeface="Georgia"/>
              </a:rPr>
              <a:t>损失厌恶：恐惧与风险规避的底层原型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23825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9050">
            <a:solidFill>
              <a:srgbClr val="C9A84C">
                <a:alpha val="60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120140" y="1663065"/>
            <a:ext cx="334433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05555"/>
                </a:solidFill>
                <a:latin typeface="Georgia"/>
                <a:ea typeface="Microsoft YaHei"/>
                <a:cs typeface="Georgia"/>
              </a:rPr>
              <a:t>对应星体：火星（Mars）♂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7760" y="2013585"/>
            <a:ext cx="82852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火星代表行动力、攻击性、勇气与恐惧。它是人性中「损失厌恶」的化身——面对威胁时的战斗或逃跑反应。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4355" y="2521268"/>
            <a:ext cx="189752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占星要素与人性对照</a:t>
            </a:r>
          </a:p>
        </p:txBody>
      </p:sp>
      <p:sp>
        <p:nvSpPr>
          <p:cNvPr id="9" name="Rectangle 9"/>
          <p:cNvSpPr/>
          <p:nvPr/>
        </p:nvSpPr>
        <p:spPr>
          <a:xfrm>
            <a:off x="571500" y="2809875"/>
            <a:ext cx="3619500" cy="381000"/>
          </a:xfrm>
          <a:prstGeom prst="rect">
            <a:avLst/>
          </a:prstGeom>
          <a:solidFill>
            <a:srgbClr val="1A244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045875" y="29346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占星要素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191000" y="2809875"/>
            <a:ext cx="7429500" cy="381000"/>
          </a:xfrm>
          <a:prstGeom prst="rect">
            <a:avLst/>
          </a:prstGeom>
          <a:solidFill>
            <a:srgbClr val="1A244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570375" y="29346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对应人性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71500" y="3190875"/>
            <a:ext cx="3619500" cy="381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2214562" y="3315652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火星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191000" y="3190875"/>
            <a:ext cx="7429500" cy="381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700099" y="3315652"/>
            <a:ext cx="24113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损失厌恶的核心驱力（战斗/逃跑）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71500" y="3571875"/>
            <a:ext cx="3619500" cy="381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2137886" y="369665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白羊座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191000" y="3571875"/>
            <a:ext cx="7429500" cy="381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742271" y="3696652"/>
            <a:ext cx="23269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损失厌恶的表达模式（直接对抗）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71500" y="3952875"/>
            <a:ext cx="3619500" cy="381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2137886" y="407765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天蝎座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191000" y="3952875"/>
            <a:ext cx="7429500" cy="381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742271" y="4077652"/>
            <a:ext cx="23269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损失厌恶的表达模式（深度防御）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4333875"/>
            <a:ext cx="3619500" cy="381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2137886" y="445865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第一宫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191000" y="4333875"/>
            <a:ext cx="7429500" cy="381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42271" y="4458652"/>
            <a:ext cx="23269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损失厌恶的落地场景（自我保卫）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71500" y="4714875"/>
            <a:ext cx="3619500" cy="381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2137886" y="483965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第八宫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191000" y="4714875"/>
            <a:ext cx="7429500" cy="381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546747" y="4839652"/>
            <a:ext cx="27180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损失厌恶的落地场景（危机/共享资源）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71500" y="5334000"/>
            <a:ext cx="11049000" cy="952500"/>
          </a:xfrm>
          <a:prstGeom prst="rect">
            <a:avLst/>
          </a:prstGeom>
          <a:solidFill>
            <a:srgbClr val="151D35"/>
          </a:solidFill>
          <a:ln w="9525">
            <a:solidFill>
              <a:srgbClr val="4A7CF7">
                <a:alpha val="30000"/>
              </a:srgbClr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571500" y="5334000"/>
            <a:ext cx="38100" cy="952500"/>
          </a:xfrm>
          <a:prstGeom prst="rect">
            <a:avLst/>
          </a:prstGeom>
          <a:solidFill>
            <a:srgbClr val="4A7CF7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842010" y="5490210"/>
            <a:ext cx="15026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B9BFF"/>
                </a:solidFill>
                <a:latin typeface="Arial"/>
                <a:ea typeface="Microsoft YaHei"/>
                <a:cs typeface="Arial"/>
              </a:rPr>
              <a:t>进化心理学对照：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42962" y="5736431"/>
            <a:ext cx="738128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损失厌恶（Loss Aversion）是行为经济学的核心发现——人们对损失的敏感度远高于对收益的敏感度。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42962" y="5974556"/>
            <a:ext cx="67651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火星在占星学中既代表勇气也代表恐惧，正是这种双面性的体现：敢于战斗是因为害怕失去。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236500" y="6483191"/>
            <a:ext cx="394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06 / 18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0070" y="664845"/>
            <a:ext cx="77209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7234"/>
                </a:solidFill>
                <a:latin typeface="Arial"/>
                <a:ea typeface="Microsoft YaHei"/>
                <a:cs typeface="Arial"/>
              </a:rPr>
              <a:t>1.3 静态映射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1020" y="836295"/>
            <a:ext cx="558165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8D48B"/>
                </a:solidFill>
                <a:latin typeface="Georgia"/>
                <a:ea typeface="Microsoft YaHei"/>
                <a:cs typeface="Georgia"/>
              </a:rPr>
              <a:t>等级服从：秩序与权威的底层原型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23825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9050">
            <a:solidFill>
              <a:srgbClr val="C9A84C">
                <a:alpha val="60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120140" y="1663065"/>
            <a:ext cx="334433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6B9BFF"/>
                </a:solidFill>
                <a:latin typeface="Georgia"/>
                <a:ea typeface="Microsoft YaHei"/>
                <a:cs typeface="Georgia"/>
              </a:rPr>
              <a:t>对应星体：月亮（Moon）☽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7760" y="2013585"/>
            <a:ext cx="10563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月亮代表安全感、情感需求、母性本能与等级意识。它是人性中「等级服从」的化身——在群体中寻找自己的位置，服从权威以获得庇护。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4355" y="2521268"/>
            <a:ext cx="189752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占星要素与人性对照</a:t>
            </a:r>
          </a:p>
        </p:txBody>
      </p:sp>
      <p:sp>
        <p:nvSpPr>
          <p:cNvPr id="9" name="Rectangle 9"/>
          <p:cNvSpPr/>
          <p:nvPr/>
        </p:nvSpPr>
        <p:spPr>
          <a:xfrm>
            <a:off x="571500" y="2809875"/>
            <a:ext cx="3619500" cy="381000"/>
          </a:xfrm>
          <a:prstGeom prst="rect">
            <a:avLst/>
          </a:prstGeom>
          <a:solidFill>
            <a:srgbClr val="1A244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045875" y="29346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占星要素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191000" y="2809875"/>
            <a:ext cx="7429500" cy="381000"/>
          </a:xfrm>
          <a:prstGeom prst="rect">
            <a:avLst/>
          </a:prstGeom>
          <a:solidFill>
            <a:srgbClr val="1A244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570375" y="29346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对应人性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71500" y="3190875"/>
            <a:ext cx="3619500" cy="381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2214562" y="3315652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月亮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191000" y="3190875"/>
            <a:ext cx="7429500" cy="381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742271" y="3315652"/>
            <a:ext cx="23269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等级服从的核心驱力（安全需求）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71500" y="3571875"/>
            <a:ext cx="3619500" cy="381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2137886" y="369665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巨蟹座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191000" y="3571875"/>
            <a:ext cx="7429500" cy="381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742271" y="3696652"/>
            <a:ext cx="23269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等级服从的表达模式（家庭层级）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71500" y="3952875"/>
            <a:ext cx="3619500" cy="381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2137886" y="407765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第四宫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191000" y="3952875"/>
            <a:ext cx="7429500" cy="381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742271" y="4077652"/>
            <a:ext cx="23269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等级服从的落地场景（家庭结构）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4333875"/>
            <a:ext cx="3619500" cy="381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2137886" y="445865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第十宫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191000" y="4333875"/>
            <a:ext cx="7429500" cy="381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42271" y="4458652"/>
            <a:ext cx="23269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等级服从的落地场景（社会等级）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71500" y="4953000"/>
            <a:ext cx="11049000" cy="952500"/>
          </a:xfrm>
          <a:prstGeom prst="rect">
            <a:avLst/>
          </a:prstGeom>
          <a:solidFill>
            <a:srgbClr val="151D35"/>
          </a:solidFill>
          <a:ln w="9525">
            <a:solidFill>
              <a:srgbClr val="4A7CF7">
                <a:alpha val="30000"/>
              </a:srgbClr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571500" y="4953000"/>
            <a:ext cx="38100" cy="952500"/>
          </a:xfrm>
          <a:prstGeom prst="rect">
            <a:avLst/>
          </a:prstGeom>
          <a:solidFill>
            <a:srgbClr val="4A7CF7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42010" y="5109210"/>
            <a:ext cx="15026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B9BFF"/>
                </a:solidFill>
                <a:latin typeface="Arial"/>
                <a:ea typeface="Microsoft YaHei"/>
                <a:cs typeface="Arial"/>
              </a:rPr>
              <a:t>进化心理学对照：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2962" y="5355431"/>
            <a:ext cx="93940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等级服从是人类作为群居动物的核心适应器。在原始部落中，识别并服从等级秩序是获得资源、避免冲突、确保生存的关键策略。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42962" y="5593556"/>
            <a:ext cx="46455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月亮在占星学中代表的"安全感"，本质上是对等级位置的确认。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236500" y="6483191"/>
            <a:ext cx="394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07 / 18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0070" y="664845"/>
            <a:ext cx="77209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7234"/>
                </a:solidFill>
                <a:latin typeface="Arial"/>
                <a:ea typeface="Microsoft YaHei"/>
                <a:cs typeface="Arial"/>
              </a:rPr>
              <a:t>1.4 静态映射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1020" y="836295"/>
            <a:ext cx="631774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8D48B"/>
                </a:solidFill>
                <a:latin typeface="Georgia"/>
                <a:ea typeface="Microsoft YaHei"/>
                <a:cs typeface="Georgia"/>
              </a:rPr>
              <a:t>部落归属：群体认同与庇护的底层原型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23825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9050">
            <a:solidFill>
              <a:srgbClr val="C9A84C">
                <a:alpha val="60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120140" y="1663065"/>
            <a:ext cx="36479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A78BFA"/>
                </a:solidFill>
                <a:latin typeface="Georgia"/>
                <a:ea typeface="Microsoft YaHei"/>
                <a:cs typeface="Georgia"/>
              </a:rPr>
              <a:t>对应星体：冥王星（Pluto）♇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7760" y="2013585"/>
            <a:ext cx="102130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冥王星代表转化、深层恐惧、集体潜意识与部落认同。它是人性中「部落归属」的化身——融入群体、获得认同、在集体中找到归属。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4355" y="2521268"/>
            <a:ext cx="189752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占星要素与人性对照</a:t>
            </a:r>
          </a:p>
        </p:txBody>
      </p:sp>
      <p:sp>
        <p:nvSpPr>
          <p:cNvPr id="9" name="Rectangle 9"/>
          <p:cNvSpPr/>
          <p:nvPr/>
        </p:nvSpPr>
        <p:spPr>
          <a:xfrm>
            <a:off x="571500" y="2809875"/>
            <a:ext cx="3619500" cy="381000"/>
          </a:xfrm>
          <a:prstGeom prst="rect">
            <a:avLst/>
          </a:prstGeom>
          <a:solidFill>
            <a:srgbClr val="1A244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045875" y="29346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占星要素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191000" y="2809875"/>
            <a:ext cx="7429500" cy="381000"/>
          </a:xfrm>
          <a:prstGeom prst="rect">
            <a:avLst/>
          </a:prstGeom>
          <a:solidFill>
            <a:srgbClr val="1A244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570375" y="29346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对应人性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71500" y="3190875"/>
            <a:ext cx="3619500" cy="381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2137886" y="331565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冥王星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191000" y="3190875"/>
            <a:ext cx="7429500" cy="381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742271" y="3315652"/>
            <a:ext cx="23269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部落归属的核心驱力（深层认同）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71500" y="3571875"/>
            <a:ext cx="3619500" cy="381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2137886" y="369665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天蝎座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191000" y="3571875"/>
            <a:ext cx="7429500" cy="381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665595" y="3696652"/>
            <a:ext cx="24803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部落归属的表达模式（忠诚与背叛）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71500" y="3952875"/>
            <a:ext cx="3619500" cy="381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2137886" y="407765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第八宫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191000" y="3952875"/>
            <a:ext cx="7429500" cy="381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393394" y="4077652"/>
            <a:ext cx="30247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部落归属的落地场景（共享资源/深层联结）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4333875"/>
            <a:ext cx="3619500" cy="381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2061210" y="44586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第十一宫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191000" y="4333875"/>
            <a:ext cx="7429500" cy="381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546747" y="4458652"/>
            <a:ext cx="27180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部落归属的落地场景（社群/理想群体）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71500" y="4953000"/>
            <a:ext cx="11049000" cy="952500"/>
          </a:xfrm>
          <a:prstGeom prst="rect">
            <a:avLst/>
          </a:prstGeom>
          <a:solidFill>
            <a:srgbClr val="151D35"/>
          </a:solidFill>
          <a:ln w="9525">
            <a:solidFill>
              <a:srgbClr val="4A7CF7">
                <a:alpha val="30000"/>
              </a:srgbClr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571500" y="4953000"/>
            <a:ext cx="38100" cy="952500"/>
          </a:xfrm>
          <a:prstGeom prst="rect">
            <a:avLst/>
          </a:prstGeom>
          <a:solidFill>
            <a:srgbClr val="4A7CF7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42010" y="5109210"/>
            <a:ext cx="15026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B9BFF"/>
                </a:solidFill>
                <a:latin typeface="Arial"/>
                <a:ea typeface="Microsoft YaHei"/>
                <a:cs typeface="Arial"/>
              </a:rPr>
              <a:t>进化心理学对照：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2962" y="5355431"/>
            <a:ext cx="57792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部落归属是人类最深层的社会需求之一。被群体排斥在原始环境中意味着死亡。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42962" y="5593556"/>
            <a:ext cx="76195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冥王星代表的"死亡与重生"，本质上是对部落归属的极端渴望——失去归属如同死亡，获得归属如同重生。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236500" y="6483191"/>
            <a:ext cx="394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08 / 18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0070" y="664845"/>
            <a:ext cx="77209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7234"/>
                </a:solidFill>
                <a:latin typeface="Arial"/>
                <a:ea typeface="Microsoft YaHei"/>
                <a:cs typeface="Arial"/>
              </a:rPr>
              <a:t>1.5 静态映射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1020" y="836295"/>
            <a:ext cx="631774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8D48B"/>
                </a:solidFill>
                <a:latin typeface="Georgia"/>
                <a:ea typeface="Microsoft YaHei"/>
                <a:cs typeface="Georgia"/>
              </a:rPr>
              <a:t>互惠交换：价值互换与契约的底层原型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23825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9050">
            <a:solidFill>
              <a:srgbClr val="C9A84C">
                <a:alpha val="60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120140" y="1663065"/>
            <a:ext cx="313730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4CAF7D"/>
                </a:solidFill>
                <a:latin typeface="Georgia"/>
                <a:ea typeface="Microsoft YaHei"/>
                <a:cs typeface="Georgia"/>
              </a:rPr>
              <a:t>对应星体：太阳（Sun）☉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7760" y="2013585"/>
            <a:ext cx="10563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太阳代表自我意识、核心身份、生命力与互惠原则。它是人性中「互惠交换」的化身——通过价值交换建立关系，通过契约维持社会秩序。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4355" y="2521268"/>
            <a:ext cx="189752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占星要素与人性对照</a:t>
            </a:r>
          </a:p>
        </p:txBody>
      </p:sp>
      <p:sp>
        <p:nvSpPr>
          <p:cNvPr id="9" name="Rectangle 9"/>
          <p:cNvSpPr/>
          <p:nvPr/>
        </p:nvSpPr>
        <p:spPr>
          <a:xfrm>
            <a:off x="571500" y="2809875"/>
            <a:ext cx="3619500" cy="381000"/>
          </a:xfrm>
          <a:prstGeom prst="rect">
            <a:avLst/>
          </a:prstGeom>
          <a:solidFill>
            <a:srgbClr val="1A244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045875" y="29346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占星要素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191000" y="2809875"/>
            <a:ext cx="7429500" cy="381000"/>
          </a:xfrm>
          <a:prstGeom prst="rect">
            <a:avLst/>
          </a:prstGeom>
          <a:solidFill>
            <a:srgbClr val="1A244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570375" y="29346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对应人性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71500" y="3190875"/>
            <a:ext cx="3619500" cy="381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2214562" y="3315652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太阳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191000" y="3190875"/>
            <a:ext cx="7429500" cy="381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742271" y="3315652"/>
            <a:ext cx="23269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互惠交换的核心驱力（自我价值）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71500" y="3571875"/>
            <a:ext cx="3619500" cy="381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2137886" y="369665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狮子座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191000" y="3571875"/>
            <a:ext cx="7429500" cy="381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665595" y="3696652"/>
            <a:ext cx="24803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互惠交换的表达模式（慷慨与回报）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71500" y="3952875"/>
            <a:ext cx="3619500" cy="381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2137886" y="407765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第五宫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191000" y="3952875"/>
            <a:ext cx="7429500" cy="381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504575" y="4077652"/>
            <a:ext cx="28023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互惠交换的落地场景（创造/表达/交易）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4333875"/>
            <a:ext cx="3619500" cy="381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2137886" y="445865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第七宫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191000" y="4333875"/>
            <a:ext cx="7429500" cy="381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470071" y="4458652"/>
            <a:ext cx="287135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互惠交换的落地场景（一对一关系/契约）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71500" y="4714875"/>
            <a:ext cx="3619500" cy="381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2061210" y="48396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第十一宫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191000" y="4714875"/>
            <a:ext cx="7429500" cy="381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393394" y="4839652"/>
            <a:ext cx="30247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互惠交换的落地场景（群体互惠/社会契约）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71500" y="5334000"/>
            <a:ext cx="11049000" cy="952500"/>
          </a:xfrm>
          <a:prstGeom prst="rect">
            <a:avLst/>
          </a:prstGeom>
          <a:solidFill>
            <a:srgbClr val="151D35"/>
          </a:solidFill>
          <a:ln w="9525">
            <a:solidFill>
              <a:srgbClr val="4A7CF7">
                <a:alpha val="30000"/>
              </a:srgbClr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571500" y="5334000"/>
            <a:ext cx="38100" cy="952500"/>
          </a:xfrm>
          <a:prstGeom prst="rect">
            <a:avLst/>
          </a:prstGeom>
          <a:solidFill>
            <a:srgbClr val="4A7CF7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842010" y="5490210"/>
            <a:ext cx="15026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B9BFF"/>
                </a:solidFill>
                <a:latin typeface="Arial"/>
                <a:ea typeface="Microsoft YaHei"/>
                <a:cs typeface="Arial"/>
              </a:rPr>
              <a:t>进化心理学对照：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42962" y="5736431"/>
            <a:ext cx="706909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互惠交换是人类合作的基础。罗伯特·特里弗斯（Robert Trivers）提出的"互惠利他主义"指出，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42962" y="5974556"/>
            <a:ext cx="694586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人类之所以能够建立大规模合作网络，核心机制就是互惠原则——我帮助你，期待你未来回报我。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236500" y="6483191"/>
            <a:ext cx="394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09 / 18</a:t>
            </a:r>
          </a:p>
        </p:txBody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0070" y="66484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7234"/>
                </a:solidFill>
                <a:latin typeface="Arial"/>
                <a:ea typeface="Microsoft YaHei"/>
                <a:cs typeface="Arial"/>
              </a:rPr>
              <a:t>CHAPTER 02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1020" y="836295"/>
            <a:ext cx="521360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8D48B"/>
                </a:solidFill>
                <a:latin typeface="Georgia"/>
                <a:ea typeface="Microsoft YaHei"/>
                <a:cs typeface="Georgia"/>
              </a:rPr>
              <a:t>飞宫理论：动态投射与资源流动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23825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9050">
            <a:solidFill>
              <a:srgbClr val="C9A84C">
                <a:alpha val="60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56260" y="1489710"/>
            <a:ext cx="1221105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B9BFF"/>
                </a:solidFill>
                <a:latin typeface="Arial"/>
                <a:ea typeface="Microsoft YaHei"/>
                <a:cs typeface="Arial"/>
              </a:rPr>
              <a:t>飞宫（Flying Houses）</a:t>
            </a:r>
            <a:r>
              <a:rPr lang="zh-CN" sz="120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是占星学中描述星体能量跨宫位流动的核心理论。一颗星体不仅影响它所在的宫位，还会"飞"到其他宫位，将其能量投射到新的领域。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4355" y="1949768"/>
            <a:ext cx="14834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飞宫的核心逻辑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2286000"/>
            <a:ext cx="3429000" cy="1333500"/>
          </a:xfrm>
          <a:prstGeom prst="rect">
            <a:avLst/>
          </a:prstGeom>
          <a:solidFill>
            <a:srgbClr val="151D35"/>
          </a:solidFill>
          <a:ln w="9525">
            <a:solidFill>
              <a:srgbClr val="C9A84C">
                <a:alpha val="30000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223010" y="2585085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9A84C"/>
                </a:solidFill>
                <a:latin typeface="Arial"/>
                <a:ea typeface="Microsoft YaHei"/>
                <a:cs typeface="Arial"/>
              </a:rPr>
              <a:t>领地领主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8665" y="2887028"/>
            <a:ext cx="20355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每颗行星是特定星座的"领主"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8665" y="3077528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（如土星是摩羯座的领主）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9618" y="3323749"/>
            <a:ext cx="17549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领主 = 该星座能量的管理者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381500" y="2286000"/>
            <a:ext cx="3429000" cy="1333500"/>
          </a:xfrm>
          <a:prstGeom prst="rect">
            <a:avLst/>
          </a:prstGeom>
          <a:solidFill>
            <a:srgbClr val="151D35"/>
          </a:solidFill>
          <a:ln w="9525">
            <a:solidFill>
              <a:srgbClr val="4A7CF7">
                <a:alpha val="30000"/>
              </a:srgbClr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5033010" y="2585085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B9BFF"/>
                </a:solidFill>
                <a:latin typeface="Arial"/>
                <a:ea typeface="Microsoft YaHei"/>
                <a:cs typeface="Arial"/>
              </a:rPr>
              <a:t>跨疆域行为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58665" y="2887028"/>
            <a:ext cx="21736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当行星落入非其领座的宫位时，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58665" y="3077528"/>
            <a:ext cx="20355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它会将自身能量"飞"入该宫位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59618" y="3323749"/>
            <a:ext cx="20397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能量投射 = 本能驱力的空间转移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191500" y="2286000"/>
            <a:ext cx="3429000" cy="1333500"/>
          </a:xfrm>
          <a:prstGeom prst="rect">
            <a:avLst/>
          </a:prstGeom>
          <a:solidFill>
            <a:srgbClr val="151D35"/>
          </a:solidFill>
          <a:ln w="9525">
            <a:solidFill>
              <a:srgbClr val="7C5CBF">
                <a:alpha val="30000"/>
              </a:srgbClr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843010" y="2585085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78BFA"/>
                </a:solidFill>
                <a:latin typeface="Arial"/>
                <a:ea typeface="Microsoft YaHei"/>
                <a:cs typeface="Arial"/>
              </a:rPr>
              <a:t>资源流动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68665" y="2887028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飞宫描述了本能驱力如何在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368665" y="3077528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不同生活领域之间转移和投射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369618" y="3323749"/>
            <a:ext cx="17549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流动 = 人性本能的动态分配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54355" y="3854768"/>
            <a:ext cx="14834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飞宫与五大人性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4143375"/>
            <a:ext cx="2667000" cy="381000"/>
          </a:xfrm>
          <a:prstGeom prst="rect">
            <a:avLst/>
          </a:prstGeom>
          <a:solidFill>
            <a:srgbClr val="1A2440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569625" y="42681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人性原型</a:t>
            </a:r>
          </a:p>
        </p:txBody>
      </p:sp>
      <p:sp>
        <p:nvSpPr>
          <p:cNvPr id="26" name="Rectangle 26"/>
          <p:cNvSpPr/>
          <p:nvPr/>
        </p:nvSpPr>
        <p:spPr>
          <a:xfrm>
            <a:off x="3238500" y="4143375"/>
            <a:ext cx="8382000" cy="381000"/>
          </a:xfrm>
          <a:prstGeom prst="rect">
            <a:avLst/>
          </a:prstGeom>
          <a:solidFill>
            <a:srgbClr val="1A2440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094125" y="42681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飞宫表现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4524375"/>
            <a:ext cx="2667000" cy="381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584960" y="46491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9A84C"/>
                </a:solidFill>
                <a:latin typeface="Arial"/>
                <a:ea typeface="Microsoft YaHei"/>
                <a:cs typeface="Arial"/>
              </a:rPr>
              <a:t>领域意识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238500" y="4524375"/>
            <a:ext cx="8382000" cy="381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644944" y="4649152"/>
            <a:ext cx="35691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土星飞入不同宫位，将"边界感"投射到不同生活领域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4905375"/>
            <a:ext cx="2667000" cy="381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584960" y="50301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05555"/>
                </a:solidFill>
                <a:latin typeface="Arial"/>
                <a:ea typeface="Microsoft YaHei"/>
                <a:cs typeface="Arial"/>
              </a:rPr>
              <a:t>损失厌恶</a:t>
            </a:r>
          </a:p>
        </p:txBody>
      </p:sp>
      <p:sp>
        <p:nvSpPr>
          <p:cNvPr id="34" name="Rectangle 34"/>
          <p:cNvSpPr/>
          <p:nvPr/>
        </p:nvSpPr>
        <p:spPr>
          <a:xfrm>
            <a:off x="3238500" y="4905375"/>
            <a:ext cx="8382000" cy="381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5526095" y="5030152"/>
            <a:ext cx="38068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火星飞入不同宫位，将"战斗/防御"能量投射到不同场景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5286375"/>
            <a:ext cx="2667000" cy="381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584960" y="54111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9BFF"/>
                </a:solidFill>
                <a:latin typeface="Arial"/>
                <a:ea typeface="Microsoft YaHei"/>
                <a:cs typeface="Arial"/>
              </a:rPr>
              <a:t>等级服从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238500" y="5286375"/>
            <a:ext cx="8382000" cy="381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568267" y="5411152"/>
            <a:ext cx="37224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月亮飞入不同宫位，将"安全需求"投射到不同关系层级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5667375"/>
            <a:ext cx="2667000" cy="381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584960" y="57921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78BFA"/>
                </a:solidFill>
                <a:latin typeface="Arial"/>
                <a:ea typeface="Microsoft YaHei"/>
                <a:cs typeface="Arial"/>
              </a:rPr>
              <a:t>部落归属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238500" y="5667375"/>
            <a:ext cx="8382000" cy="381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5644944" y="5792152"/>
            <a:ext cx="35691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冥王星飞入不同宫位，将"深层认同"投射到不同群体</a:t>
            </a:r>
          </a:p>
        </p:txBody>
      </p:sp>
      <p:sp>
        <p:nvSpPr>
          <p:cNvPr id="44" name="Rectangle 44"/>
          <p:cNvSpPr/>
          <p:nvPr/>
        </p:nvSpPr>
        <p:spPr>
          <a:xfrm>
            <a:off x="571500" y="6048375"/>
            <a:ext cx="2667000" cy="381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1584960" y="61731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CAF7D"/>
                </a:solidFill>
                <a:latin typeface="Arial"/>
                <a:ea typeface="Microsoft YaHei"/>
                <a:cs typeface="Arial"/>
              </a:rPr>
              <a:t>互惠交换</a:t>
            </a:r>
          </a:p>
        </p:txBody>
      </p:sp>
      <p:sp>
        <p:nvSpPr>
          <p:cNvPr id="46" name="Rectangle 46"/>
          <p:cNvSpPr/>
          <p:nvPr/>
        </p:nvSpPr>
        <p:spPr>
          <a:xfrm>
            <a:off x="3238500" y="6048375"/>
            <a:ext cx="8382000" cy="381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5568267" y="6173152"/>
            <a:ext cx="37224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太阳飞入不同宫位，将"自我价值"投射到不同交换场景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266622" y="6483191"/>
            <a:ext cx="364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10 / 18</a:t>
            </a:r>
          </a:p>
        </p:txBody>
      </p: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0070" y="664845"/>
            <a:ext cx="103498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7234"/>
                </a:solidFill>
                <a:latin typeface="Arial"/>
                <a:ea typeface="Microsoft YaHei"/>
                <a:cs typeface="Arial"/>
              </a:rPr>
              <a:t>2.1 飞宫详细对照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1020" y="836295"/>
            <a:ext cx="521360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8D48B"/>
                </a:solidFill>
                <a:latin typeface="Georgia"/>
                <a:ea typeface="Microsoft YaHei"/>
                <a:cs typeface="Georgia"/>
              </a:rPr>
              <a:t>飞宫表现与五大人性的详细对照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23825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9050">
            <a:solidFill>
              <a:srgbClr val="C9A84C">
                <a:alpha val="60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56260" y="1442085"/>
            <a:ext cx="82677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飞宫理论揭示了本能驱力如何在不同生活领域之间转移和投射，以下是五大人性原型的飞宫表现详细对照：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762125"/>
            <a:ext cx="2190750" cy="381000"/>
          </a:xfrm>
          <a:prstGeom prst="rect">
            <a:avLst/>
          </a:prstGeom>
          <a:solidFill>
            <a:srgbClr val="1A244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331500" y="18869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人性原型</a:t>
            </a:r>
          </a:p>
        </p:txBody>
      </p:sp>
      <p:sp>
        <p:nvSpPr>
          <p:cNvPr id="9" name="Rectangle 9"/>
          <p:cNvSpPr/>
          <p:nvPr/>
        </p:nvSpPr>
        <p:spPr>
          <a:xfrm>
            <a:off x="2762250" y="1762125"/>
            <a:ext cx="2190750" cy="381000"/>
          </a:xfrm>
          <a:prstGeom prst="rect">
            <a:avLst/>
          </a:prstGeom>
          <a:solidFill>
            <a:srgbClr val="1A244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522250" y="18869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核心星体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953000" y="1762125"/>
            <a:ext cx="2190750" cy="381000"/>
          </a:xfrm>
          <a:prstGeom prst="rect">
            <a:avLst/>
          </a:prstGeom>
          <a:solidFill>
            <a:srgbClr val="1A244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713000" y="18869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飞宫表现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143750" y="1762125"/>
            <a:ext cx="2190750" cy="381000"/>
          </a:xfrm>
          <a:prstGeom prst="rect">
            <a:avLst/>
          </a:prstGeom>
          <a:solidFill>
            <a:srgbClr val="1A244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903750" y="18869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典型宫位</a:t>
            </a:r>
          </a:p>
        </p:txBody>
      </p:sp>
      <p:sp>
        <p:nvSpPr>
          <p:cNvPr id="15" name="Rectangle 15"/>
          <p:cNvSpPr/>
          <p:nvPr/>
        </p:nvSpPr>
        <p:spPr>
          <a:xfrm>
            <a:off x="9334500" y="1762125"/>
            <a:ext cx="2286000" cy="381000"/>
          </a:xfrm>
          <a:prstGeom prst="rect">
            <a:avLst/>
          </a:prstGeom>
          <a:solidFill>
            <a:srgbClr val="1A244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0142125" y="18869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行为表现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71500" y="2143125"/>
            <a:ext cx="2190750" cy="762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331500" y="23631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C9A84C"/>
                </a:solidFill>
                <a:latin typeface="Arial"/>
                <a:ea typeface="Microsoft YaHei"/>
                <a:cs typeface="Arial"/>
              </a:rPr>
              <a:t>领域意识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24000" y="2617470"/>
            <a:ext cx="2857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土星</a:t>
            </a:r>
          </a:p>
        </p:txBody>
      </p:sp>
      <p:sp>
        <p:nvSpPr>
          <p:cNvPr id="20" name="Rectangle 20"/>
          <p:cNvSpPr/>
          <p:nvPr/>
        </p:nvSpPr>
        <p:spPr>
          <a:xfrm>
            <a:off x="2762250" y="2143125"/>
            <a:ext cx="2190750" cy="762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3384232" y="23631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土星飞入各宫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517582" y="2617470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边界感投射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953000" y="2143125"/>
            <a:ext cx="2190750" cy="762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5643991" y="2363152"/>
            <a:ext cx="8087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二/四/十宫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570315" y="2617470"/>
            <a:ext cx="9561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物质/家庭/社会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143750" y="2143125"/>
            <a:ext cx="2190750" cy="762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919085" y="23631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划定领地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64805" y="261747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保护资源</a:t>
            </a:r>
          </a:p>
        </p:txBody>
      </p:sp>
      <p:sp>
        <p:nvSpPr>
          <p:cNvPr id="29" name="Rectangle 29"/>
          <p:cNvSpPr/>
          <p:nvPr/>
        </p:nvSpPr>
        <p:spPr>
          <a:xfrm>
            <a:off x="9334500" y="2143125"/>
            <a:ext cx="2286000" cy="762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0157460" y="23631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建立边界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137458" y="2617470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维护所有权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2905125"/>
            <a:ext cx="2190750" cy="76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331500" y="31251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05555"/>
                </a:solidFill>
                <a:latin typeface="Arial"/>
                <a:ea typeface="Microsoft YaHei"/>
                <a:cs typeface="Arial"/>
              </a:rPr>
              <a:t>损失厌恶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524000" y="3379470"/>
            <a:ext cx="2857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火星</a:t>
            </a:r>
          </a:p>
        </p:txBody>
      </p:sp>
      <p:sp>
        <p:nvSpPr>
          <p:cNvPr id="35" name="Rectangle 35"/>
          <p:cNvSpPr/>
          <p:nvPr/>
        </p:nvSpPr>
        <p:spPr>
          <a:xfrm>
            <a:off x="2762250" y="2905125"/>
            <a:ext cx="2190750" cy="76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3384232" y="31251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火星飞入各宫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451860" y="3379470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战斗能量投射</a:t>
            </a:r>
          </a:p>
        </p:txBody>
      </p:sp>
      <p:sp>
        <p:nvSpPr>
          <p:cNvPr id="38" name="Rectangle 38"/>
          <p:cNvSpPr/>
          <p:nvPr/>
        </p:nvSpPr>
        <p:spPr>
          <a:xfrm>
            <a:off x="4953000" y="2905125"/>
            <a:ext cx="2190750" cy="76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762839" y="3125152"/>
            <a:ext cx="5710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一/八宫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737908" y="3379470"/>
            <a:ext cx="6209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自我/危机</a:t>
            </a:r>
          </a:p>
        </p:txBody>
      </p:sp>
      <p:sp>
        <p:nvSpPr>
          <p:cNvPr id="41" name="Rectangle 41"/>
          <p:cNvSpPr/>
          <p:nvPr/>
        </p:nvSpPr>
        <p:spPr>
          <a:xfrm>
            <a:off x="7143750" y="2905125"/>
            <a:ext cx="2190750" cy="76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7919085" y="31251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防御反应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964805" y="337947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风险规避</a:t>
            </a:r>
          </a:p>
        </p:txBody>
      </p:sp>
      <p:sp>
        <p:nvSpPr>
          <p:cNvPr id="44" name="Rectangle 44"/>
          <p:cNvSpPr/>
          <p:nvPr/>
        </p:nvSpPr>
        <p:spPr>
          <a:xfrm>
            <a:off x="9334500" y="2905125"/>
            <a:ext cx="2286000" cy="76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10080784" y="312515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战斗或逃跑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071735" y="3379470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保护已有资源</a:t>
            </a:r>
          </a:p>
        </p:txBody>
      </p:sp>
      <p:sp>
        <p:nvSpPr>
          <p:cNvPr id="47" name="Rectangle 47"/>
          <p:cNvSpPr/>
          <p:nvPr/>
        </p:nvSpPr>
        <p:spPr>
          <a:xfrm>
            <a:off x="571500" y="3667125"/>
            <a:ext cx="2190750" cy="762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1331500" y="38871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6B9BFF"/>
                </a:solidFill>
                <a:latin typeface="Arial"/>
                <a:ea typeface="Microsoft YaHei"/>
                <a:cs typeface="Arial"/>
              </a:rPr>
              <a:t>等级服从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524000" y="4141470"/>
            <a:ext cx="2857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月亮</a:t>
            </a:r>
          </a:p>
        </p:txBody>
      </p:sp>
      <p:sp>
        <p:nvSpPr>
          <p:cNvPr id="50" name="Rectangle 50"/>
          <p:cNvSpPr/>
          <p:nvPr/>
        </p:nvSpPr>
        <p:spPr>
          <a:xfrm>
            <a:off x="2762250" y="3667125"/>
            <a:ext cx="2190750" cy="762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3384232" y="38871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月亮飞入各宫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451860" y="4141470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安全需求投射</a:t>
            </a:r>
          </a:p>
        </p:txBody>
      </p:sp>
      <p:sp>
        <p:nvSpPr>
          <p:cNvPr id="53" name="Rectangle 53"/>
          <p:cNvSpPr/>
          <p:nvPr/>
        </p:nvSpPr>
        <p:spPr>
          <a:xfrm>
            <a:off x="4953000" y="3667125"/>
            <a:ext cx="2190750" cy="762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5762839" y="3887152"/>
            <a:ext cx="5710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四/十宫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606463" y="4141470"/>
            <a:ext cx="8838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家庭/社会等级</a:t>
            </a:r>
          </a:p>
        </p:txBody>
      </p:sp>
      <p:sp>
        <p:nvSpPr>
          <p:cNvPr id="56" name="Rectangle 56"/>
          <p:cNvSpPr/>
          <p:nvPr/>
        </p:nvSpPr>
        <p:spPr>
          <a:xfrm>
            <a:off x="7143750" y="3667125"/>
            <a:ext cx="2190750" cy="762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7919085" y="38871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寻求庇护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964805" y="414147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服从权威</a:t>
            </a:r>
          </a:p>
        </p:txBody>
      </p:sp>
      <p:sp>
        <p:nvSpPr>
          <p:cNvPr id="59" name="Rectangle 59"/>
          <p:cNvSpPr/>
          <p:nvPr/>
        </p:nvSpPr>
        <p:spPr>
          <a:xfrm>
            <a:off x="9334500" y="3667125"/>
            <a:ext cx="2286000" cy="762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10157460" y="38871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识别层级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203180" y="414147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适应秩序</a:t>
            </a:r>
          </a:p>
        </p:txBody>
      </p:sp>
      <p:sp>
        <p:nvSpPr>
          <p:cNvPr id="62" name="Rectangle 62"/>
          <p:cNvSpPr/>
          <p:nvPr/>
        </p:nvSpPr>
        <p:spPr>
          <a:xfrm>
            <a:off x="571500" y="4429125"/>
            <a:ext cx="2190750" cy="76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1331500" y="46491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A78BFA"/>
                </a:solidFill>
                <a:latin typeface="Arial"/>
                <a:ea typeface="Microsoft YaHei"/>
                <a:cs typeface="Arial"/>
              </a:rPr>
              <a:t>部落归属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458278" y="4903470"/>
            <a:ext cx="4171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冥王星</a:t>
            </a:r>
          </a:p>
        </p:txBody>
      </p:sp>
      <p:sp>
        <p:nvSpPr>
          <p:cNvPr id="65" name="Rectangle 65"/>
          <p:cNvSpPr/>
          <p:nvPr/>
        </p:nvSpPr>
        <p:spPr>
          <a:xfrm>
            <a:off x="2762250" y="4429125"/>
            <a:ext cx="2190750" cy="76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3307556" y="464915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冥王星飞入各宫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3451860" y="4903470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深层认同投射</a:t>
            </a:r>
          </a:p>
        </p:txBody>
      </p:sp>
      <p:sp>
        <p:nvSpPr>
          <p:cNvPr id="68" name="Rectangle 68"/>
          <p:cNvSpPr/>
          <p:nvPr/>
        </p:nvSpPr>
        <p:spPr>
          <a:xfrm>
            <a:off x="4953000" y="4429125"/>
            <a:ext cx="2190750" cy="76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5686163" y="4649152"/>
            <a:ext cx="7244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八/十一宫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5737908" y="4903470"/>
            <a:ext cx="6209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共享/社群</a:t>
            </a:r>
          </a:p>
        </p:txBody>
      </p:sp>
      <p:sp>
        <p:nvSpPr>
          <p:cNvPr id="71" name="Rectangle 71"/>
          <p:cNvSpPr/>
          <p:nvPr/>
        </p:nvSpPr>
        <p:spPr>
          <a:xfrm>
            <a:off x="7143750" y="4429125"/>
            <a:ext cx="2190750" cy="76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7919085" y="46491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融入群体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7899082" y="4903470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忠诚与背叛</a:t>
            </a:r>
          </a:p>
        </p:txBody>
      </p:sp>
      <p:sp>
        <p:nvSpPr>
          <p:cNvPr id="74" name="Rectangle 74"/>
          <p:cNvSpPr/>
          <p:nvPr/>
        </p:nvSpPr>
        <p:spPr>
          <a:xfrm>
            <a:off x="9334500" y="4429125"/>
            <a:ext cx="2286000" cy="76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75" name="TextBox 75"/>
          <p:cNvSpPr txBox="1"/>
          <p:nvPr/>
        </p:nvSpPr>
        <p:spPr>
          <a:xfrm>
            <a:off x="10157460" y="46491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寻求认同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0203180" y="490347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集体归属</a:t>
            </a:r>
          </a:p>
        </p:txBody>
      </p:sp>
      <p:sp>
        <p:nvSpPr>
          <p:cNvPr id="77" name="Rectangle 77"/>
          <p:cNvSpPr/>
          <p:nvPr/>
        </p:nvSpPr>
        <p:spPr>
          <a:xfrm>
            <a:off x="571500" y="5191125"/>
            <a:ext cx="2190750" cy="762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1331500" y="54111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4CAF7D"/>
                </a:solidFill>
                <a:latin typeface="Arial"/>
                <a:ea typeface="Microsoft YaHei"/>
                <a:cs typeface="Arial"/>
              </a:rPr>
              <a:t>互惠交换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524000" y="5665470"/>
            <a:ext cx="2857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太阳</a:t>
            </a:r>
          </a:p>
        </p:txBody>
      </p:sp>
      <p:sp>
        <p:nvSpPr>
          <p:cNvPr id="80" name="Rectangle 80"/>
          <p:cNvSpPr/>
          <p:nvPr/>
        </p:nvSpPr>
        <p:spPr>
          <a:xfrm>
            <a:off x="2762250" y="5191125"/>
            <a:ext cx="2190750" cy="762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81" name="TextBox 81"/>
          <p:cNvSpPr txBox="1"/>
          <p:nvPr/>
        </p:nvSpPr>
        <p:spPr>
          <a:xfrm>
            <a:off x="3384232" y="54111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太阳飞入各宫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3451860" y="5665470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自我价值投射</a:t>
            </a:r>
          </a:p>
        </p:txBody>
      </p:sp>
      <p:sp>
        <p:nvSpPr>
          <p:cNvPr id="83" name="Rectangle 83"/>
          <p:cNvSpPr/>
          <p:nvPr/>
        </p:nvSpPr>
        <p:spPr>
          <a:xfrm>
            <a:off x="4953000" y="5191125"/>
            <a:ext cx="2190750" cy="762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84" name="TextBox 84"/>
          <p:cNvSpPr txBox="1"/>
          <p:nvPr/>
        </p:nvSpPr>
        <p:spPr>
          <a:xfrm>
            <a:off x="5567315" y="5411152"/>
            <a:ext cx="9621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五/七/十一宫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5570315" y="5665470"/>
            <a:ext cx="9561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创造/关系/群体</a:t>
            </a:r>
          </a:p>
        </p:txBody>
      </p:sp>
      <p:sp>
        <p:nvSpPr>
          <p:cNvPr id="86" name="Rectangle 86"/>
          <p:cNvSpPr/>
          <p:nvPr/>
        </p:nvSpPr>
        <p:spPr>
          <a:xfrm>
            <a:off x="7143750" y="5191125"/>
            <a:ext cx="2190750" cy="762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87" name="TextBox 87"/>
          <p:cNvSpPr txBox="1"/>
          <p:nvPr/>
        </p:nvSpPr>
        <p:spPr>
          <a:xfrm>
            <a:off x="7919085" y="54111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价值交换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7964805" y="566547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契约精神</a:t>
            </a:r>
          </a:p>
        </p:txBody>
      </p:sp>
      <p:sp>
        <p:nvSpPr>
          <p:cNvPr id="89" name="Rectangle 89"/>
          <p:cNvSpPr/>
          <p:nvPr/>
        </p:nvSpPr>
        <p:spPr>
          <a:xfrm>
            <a:off x="9334500" y="5191125"/>
            <a:ext cx="2286000" cy="762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90" name="TextBox 90"/>
          <p:cNvSpPr txBox="1"/>
          <p:nvPr/>
        </p:nvSpPr>
        <p:spPr>
          <a:xfrm>
            <a:off x="10157460" y="54111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建立互惠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0203180" y="566547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维持合作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1296745" y="6483191"/>
            <a:ext cx="3342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11 / 18</a:t>
            </a:r>
          </a:p>
        </p:txBody>
      </p:sp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0070" y="66484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7234"/>
                </a:solidFill>
                <a:latin typeface="Arial"/>
                <a:ea typeface="Microsoft YaHei"/>
                <a:cs typeface="Arial"/>
              </a:rPr>
              <a:t>CHAPTER 03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1020" y="836295"/>
            <a:ext cx="484555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8D48B"/>
                </a:solidFill>
                <a:latin typeface="Georgia"/>
                <a:ea typeface="Microsoft YaHei"/>
                <a:cs typeface="Georgia"/>
              </a:rPr>
              <a:t>相位理论：星体间的互动模式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23825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9050">
            <a:solidFill>
              <a:srgbClr val="C9A84C">
                <a:alpha val="60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56260" y="1489710"/>
            <a:ext cx="103445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相位（Aspects）描述了两颗或多颗星体之间的角度关系，反映了不同本能驱力之间的互动模式。每种相位对应不同的人性互动方式。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4355" y="185451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五种核心相位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2190750"/>
            <a:ext cx="2095500" cy="1905000"/>
          </a:xfrm>
          <a:prstGeom prst="rect">
            <a:avLst/>
          </a:prstGeom>
          <a:solidFill>
            <a:srgbClr val="151D35"/>
          </a:solidFill>
          <a:ln w="9525">
            <a:solidFill>
              <a:srgbClr val="4CAF7D">
                <a:alpha val="40000"/>
              </a:srgbClr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71500" y="2190750"/>
            <a:ext cx="38100" cy="1905000"/>
          </a:xfrm>
          <a:prstGeom prst="rect">
            <a:avLst/>
          </a:prstGeom>
          <a:solidFill>
            <a:srgbClr val="4CAF7D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415458" y="2392680"/>
            <a:ext cx="4075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4CAF7D"/>
                </a:solidFill>
                <a:latin typeface="Arial"/>
                <a:ea typeface="Microsoft YaHei"/>
                <a:cs typeface="Arial"/>
              </a:rPr>
              <a:t>0°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5079" y="2807018"/>
            <a:ext cx="4483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合相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9210" y="31251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能量融合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4874" y="3371374"/>
            <a:ext cx="14487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两颗星体在同一位置，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79671" y="3561874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能量完全融合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08472" y="379999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CAF7D"/>
                </a:solidFill>
                <a:latin typeface="Arial"/>
                <a:ea typeface="Microsoft YaHei"/>
                <a:cs typeface="Arial"/>
              </a:rPr>
              <a:t>人性：驱力合一</a:t>
            </a:r>
          </a:p>
        </p:txBody>
      </p:sp>
      <p:sp>
        <p:nvSpPr>
          <p:cNvPr id="16" name="Rectangle 16"/>
          <p:cNvSpPr/>
          <p:nvPr/>
        </p:nvSpPr>
        <p:spPr>
          <a:xfrm>
            <a:off x="2857500" y="2190750"/>
            <a:ext cx="2095500" cy="1905000"/>
          </a:xfrm>
          <a:prstGeom prst="rect">
            <a:avLst/>
          </a:prstGeom>
          <a:solidFill>
            <a:srgbClr val="151D35"/>
          </a:solidFill>
          <a:ln w="9525">
            <a:solidFill>
              <a:srgbClr val="4AC9C9">
                <a:alpha val="40000"/>
              </a:srgbClr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2857500" y="2190750"/>
            <a:ext cx="38100" cy="1905000"/>
          </a:xfrm>
          <a:prstGeom prst="rect">
            <a:avLst/>
          </a:prstGeom>
          <a:solidFill>
            <a:srgbClr val="4AC9C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3612897" y="2392680"/>
            <a:ext cx="58470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4AC9C9"/>
                </a:solidFill>
                <a:latin typeface="Arial"/>
                <a:ea typeface="Microsoft YaHei"/>
                <a:cs typeface="Arial"/>
              </a:rPr>
              <a:t>60°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577566" y="280701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六分相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585210" y="31251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和谐互动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173754" y="3371374"/>
            <a:ext cx="1462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两颗星体形成60度角，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465671" y="3561874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能量和谐流动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394472" y="379999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AC9C9"/>
                </a:solidFill>
                <a:latin typeface="Arial"/>
                <a:ea typeface="Microsoft YaHei"/>
                <a:cs typeface="Arial"/>
              </a:rPr>
              <a:t>人性：协作共赢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143500" y="2190750"/>
            <a:ext cx="2095500" cy="1905000"/>
          </a:xfrm>
          <a:prstGeom prst="rect">
            <a:avLst/>
          </a:prstGeom>
          <a:solidFill>
            <a:srgbClr val="151D35"/>
          </a:solidFill>
          <a:ln w="9525">
            <a:solidFill>
              <a:srgbClr val="E05555">
                <a:alpha val="40000"/>
              </a:srgbClr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5143500" y="2190750"/>
            <a:ext cx="38100" cy="1905000"/>
          </a:xfrm>
          <a:prstGeom prst="rect">
            <a:avLst/>
          </a:prstGeom>
          <a:solidFill>
            <a:srgbClr val="E0555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5898897" y="2392680"/>
            <a:ext cx="58470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E05555"/>
                </a:solidFill>
                <a:latin typeface="Arial"/>
                <a:ea typeface="Microsoft YaHei"/>
                <a:cs typeface="Arial"/>
              </a:rPr>
              <a:t>90°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863566" y="280701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四分相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871210" y="31251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紧张冲突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459754" y="3371374"/>
            <a:ext cx="1462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两颗星体形成90度角，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751671" y="3561874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能量产生摩擦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680472" y="379999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05555"/>
                </a:solidFill>
                <a:latin typeface="Arial"/>
                <a:ea typeface="Microsoft YaHei"/>
                <a:cs typeface="Arial"/>
              </a:rPr>
              <a:t>人性：内在冲突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429500" y="2190750"/>
            <a:ext cx="2095500" cy="1905000"/>
          </a:xfrm>
          <a:prstGeom prst="rect">
            <a:avLst/>
          </a:prstGeom>
          <a:solidFill>
            <a:srgbClr val="151D35"/>
          </a:solidFill>
          <a:ln w="9525">
            <a:solidFill>
              <a:srgbClr val="4A7CF7">
                <a:alpha val="40000"/>
              </a:srgbClr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7429500" y="2190750"/>
            <a:ext cx="38100" cy="1905000"/>
          </a:xfrm>
          <a:prstGeom prst="rect">
            <a:avLst/>
          </a:prstGeom>
          <a:solidFill>
            <a:srgbClr val="4A7CF7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8136591" y="2392680"/>
            <a:ext cx="68131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6B9BFF"/>
                </a:solidFill>
                <a:latin typeface="Arial"/>
                <a:ea typeface="Microsoft YaHei"/>
                <a:cs typeface="Arial"/>
              </a:rPr>
              <a:t>120°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149566" y="280701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三分相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157210" y="31251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天赋流畅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724394" y="3371374"/>
            <a:ext cx="15057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两颗星体形成120度角，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037671" y="3561874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能量自然流畅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966472" y="379999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9BFF"/>
                </a:solidFill>
                <a:latin typeface="Arial"/>
                <a:ea typeface="Microsoft YaHei"/>
                <a:cs typeface="Arial"/>
              </a:rPr>
              <a:t>人性：天赋才能</a:t>
            </a:r>
          </a:p>
        </p:txBody>
      </p:sp>
      <p:sp>
        <p:nvSpPr>
          <p:cNvPr id="40" name="Rectangle 40"/>
          <p:cNvSpPr/>
          <p:nvPr/>
        </p:nvSpPr>
        <p:spPr>
          <a:xfrm>
            <a:off x="9715500" y="2190750"/>
            <a:ext cx="1905000" cy="1905000"/>
          </a:xfrm>
          <a:prstGeom prst="rect">
            <a:avLst/>
          </a:prstGeom>
          <a:solidFill>
            <a:srgbClr val="151D35"/>
          </a:solidFill>
          <a:ln w="9525">
            <a:solidFill>
              <a:srgbClr val="7C5CBF">
                <a:alpha val="40000"/>
              </a:srgbClr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9715500" y="2190750"/>
            <a:ext cx="38100" cy="1905000"/>
          </a:xfrm>
          <a:prstGeom prst="rect">
            <a:avLst/>
          </a:prstGeom>
          <a:solidFill>
            <a:srgbClr val="7C5CBF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0327341" y="2392680"/>
            <a:ext cx="68131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A78BFA"/>
                </a:solidFill>
                <a:latin typeface="Arial"/>
                <a:ea typeface="Microsoft YaHei"/>
                <a:cs typeface="Arial"/>
              </a:rPr>
              <a:t>180°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340316" y="280701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对分相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347960" y="31251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对立平衡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915144" y="3371374"/>
            <a:ext cx="15057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两颗星体形成180度角，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157222" y="3561874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能量对立但互补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157222" y="379999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A78BFA"/>
                </a:solidFill>
                <a:latin typeface="Arial"/>
                <a:ea typeface="Microsoft YaHei"/>
                <a:cs typeface="Arial"/>
              </a:rPr>
              <a:t>人性：两极拉扯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71500" y="4381500"/>
            <a:ext cx="11049000" cy="571500"/>
          </a:xfrm>
          <a:prstGeom prst="rect">
            <a:avLst/>
          </a:prstGeom>
          <a:solidFill>
            <a:srgbClr val="151D35"/>
          </a:solidFill>
          <a:ln w="9525">
            <a:solidFill>
              <a:srgbClr val="C9A84C">
                <a:alpha val="20000"/>
              </a:srgbClr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2421791" y="4545806"/>
            <a:ext cx="73484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📌</a:t>
            </a:r>
            <a:r>
              <a:rPr lang="zh-CN" sz="1125" b="1" dirty="0">
                <a:solidFill>
                  <a:srgbClr val="C9A84C"/>
                </a:solidFill>
                <a:latin typeface="Arial"/>
                <a:ea typeface="Microsoft YaHei"/>
                <a:cs typeface="Arial"/>
              </a:rPr>
              <a:t>相位本质：</a:t>
            </a:r>
            <a:r>
              <a:rPr lang="zh-CN" sz="112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不同本能驱力之间的角度关系，反映了人性中各种驱力的协作、冲突、融合或对立模式。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54355" y="5093018"/>
            <a:ext cx="189752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相位与人性互动模式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71500" y="5429250"/>
            <a:ext cx="3524250" cy="381000"/>
          </a:xfrm>
          <a:prstGeom prst="rect">
            <a:avLst/>
          </a:prstGeom>
          <a:solidFill>
            <a:srgbClr val="1A2440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1998250" y="5554028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相位类型</a:t>
            </a:r>
          </a:p>
        </p:txBody>
      </p:sp>
      <p:sp>
        <p:nvSpPr>
          <p:cNvPr id="53" name="Rectangle 53"/>
          <p:cNvSpPr/>
          <p:nvPr/>
        </p:nvSpPr>
        <p:spPr>
          <a:xfrm>
            <a:off x="4095750" y="5429250"/>
            <a:ext cx="3524250" cy="381000"/>
          </a:xfrm>
          <a:prstGeom prst="rect">
            <a:avLst/>
          </a:prstGeom>
          <a:solidFill>
            <a:srgbClr val="1A2440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5522500" y="5554028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能量特征</a:t>
            </a:r>
          </a:p>
        </p:txBody>
      </p:sp>
      <p:sp>
        <p:nvSpPr>
          <p:cNvPr id="55" name="Rectangle 55"/>
          <p:cNvSpPr/>
          <p:nvPr/>
        </p:nvSpPr>
        <p:spPr>
          <a:xfrm>
            <a:off x="7620000" y="5429250"/>
            <a:ext cx="4000500" cy="381000"/>
          </a:xfrm>
          <a:prstGeom prst="rect">
            <a:avLst/>
          </a:prstGeom>
          <a:solidFill>
            <a:srgbClr val="1A2440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9284875" y="5554028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人性表现</a:t>
            </a:r>
          </a:p>
        </p:txBody>
      </p:sp>
      <p:sp>
        <p:nvSpPr>
          <p:cNvPr id="57" name="Rectangle 57"/>
          <p:cNvSpPr/>
          <p:nvPr/>
        </p:nvSpPr>
        <p:spPr>
          <a:xfrm>
            <a:off x="571500" y="5810250"/>
            <a:ext cx="3524250" cy="333375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2000845" y="5914549"/>
            <a:ext cx="6655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CAF7D"/>
                </a:solidFill>
                <a:latin typeface="Arial"/>
                <a:ea typeface="Microsoft YaHei"/>
                <a:cs typeface="Arial"/>
              </a:rPr>
              <a:t>合相 (0°)</a:t>
            </a:r>
          </a:p>
        </p:txBody>
      </p:sp>
      <p:sp>
        <p:nvSpPr>
          <p:cNvPr id="59" name="Rectangle 59"/>
          <p:cNvSpPr/>
          <p:nvPr/>
        </p:nvSpPr>
        <p:spPr>
          <a:xfrm>
            <a:off x="4095750" y="5810250"/>
            <a:ext cx="3524250" cy="333375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5347097" y="591454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能量融合、集中</a:t>
            </a:r>
          </a:p>
        </p:txBody>
      </p:sp>
      <p:sp>
        <p:nvSpPr>
          <p:cNvPr id="61" name="Rectangle 61"/>
          <p:cNvSpPr/>
          <p:nvPr/>
        </p:nvSpPr>
        <p:spPr>
          <a:xfrm>
            <a:off x="7620000" y="5810250"/>
            <a:ext cx="4000500" cy="333375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8468678" y="5914549"/>
            <a:ext cx="23031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两种驱力合一，形成强大的复合动机</a:t>
            </a:r>
          </a:p>
        </p:txBody>
      </p:sp>
      <p:sp>
        <p:nvSpPr>
          <p:cNvPr id="63" name="Rectangle 63"/>
          <p:cNvSpPr/>
          <p:nvPr/>
        </p:nvSpPr>
        <p:spPr>
          <a:xfrm>
            <a:off x="571500" y="6143625"/>
            <a:ext cx="3524250" cy="333375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1890486" y="6247924"/>
            <a:ext cx="8862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AC9C9"/>
                </a:solidFill>
                <a:latin typeface="Arial"/>
                <a:ea typeface="Microsoft YaHei"/>
                <a:cs typeface="Arial"/>
              </a:rPr>
              <a:t>六分相 (60°)</a:t>
            </a:r>
          </a:p>
        </p:txBody>
      </p:sp>
      <p:sp>
        <p:nvSpPr>
          <p:cNvPr id="65" name="Rectangle 65"/>
          <p:cNvSpPr/>
          <p:nvPr/>
        </p:nvSpPr>
        <p:spPr>
          <a:xfrm>
            <a:off x="4095750" y="6143625"/>
            <a:ext cx="3524250" cy="333375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5489496" y="6247924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和谐、机会</a:t>
            </a:r>
          </a:p>
        </p:txBody>
      </p:sp>
      <p:sp>
        <p:nvSpPr>
          <p:cNvPr id="67" name="Rectangle 67"/>
          <p:cNvSpPr/>
          <p:nvPr/>
        </p:nvSpPr>
        <p:spPr>
          <a:xfrm>
            <a:off x="7620000" y="6143625"/>
            <a:ext cx="4000500" cy="333375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8682276" y="6247924"/>
            <a:ext cx="18759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两种驱力协作，产生协同效应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1266622" y="6483191"/>
            <a:ext cx="364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12 / 18</a:t>
            </a:r>
          </a:p>
        </p:txBody>
      </p:sp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0070" y="664845"/>
            <a:ext cx="9364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7234"/>
                </a:solidFill>
                <a:latin typeface="Arial"/>
                <a:ea typeface="Microsoft YaHei"/>
                <a:cs typeface="Arial"/>
              </a:rPr>
              <a:t>3.2 相位与人性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1020" y="836295"/>
            <a:ext cx="484555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8D48B"/>
                </a:solidFill>
                <a:latin typeface="Georgia"/>
                <a:ea typeface="Microsoft YaHei"/>
                <a:cs typeface="Georgia"/>
              </a:rPr>
              <a:t>相位类型与人性互动模式对照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23825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9050">
            <a:solidFill>
              <a:srgbClr val="C9A84C">
                <a:alpha val="60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56260" y="1442085"/>
            <a:ext cx="65151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相位揭示了不同本能驱力之间的互动方式，以下是五种相位与五大人性的对照关系：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762125"/>
            <a:ext cx="1905000" cy="381000"/>
          </a:xfrm>
          <a:prstGeom prst="rect">
            <a:avLst/>
          </a:prstGeom>
          <a:solidFill>
            <a:srgbClr val="1A244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188625" y="18869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相位类型</a:t>
            </a:r>
          </a:p>
        </p:txBody>
      </p:sp>
      <p:sp>
        <p:nvSpPr>
          <p:cNvPr id="9" name="Rectangle 9"/>
          <p:cNvSpPr/>
          <p:nvPr/>
        </p:nvSpPr>
        <p:spPr>
          <a:xfrm>
            <a:off x="2476500" y="1762125"/>
            <a:ext cx="1905000" cy="381000"/>
          </a:xfrm>
          <a:prstGeom prst="rect">
            <a:avLst/>
          </a:prstGeom>
          <a:solidFill>
            <a:srgbClr val="1A244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093625" y="18869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领域意识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381500" y="1762125"/>
            <a:ext cx="1905000" cy="381000"/>
          </a:xfrm>
          <a:prstGeom prst="rect">
            <a:avLst/>
          </a:prstGeom>
          <a:solidFill>
            <a:srgbClr val="1A244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998625" y="18869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损失厌恶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286500" y="1762125"/>
            <a:ext cx="1905000" cy="381000"/>
          </a:xfrm>
          <a:prstGeom prst="rect">
            <a:avLst/>
          </a:prstGeom>
          <a:solidFill>
            <a:srgbClr val="1A244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903625" y="18869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等级服从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191500" y="1762125"/>
            <a:ext cx="1905000" cy="381000"/>
          </a:xfrm>
          <a:prstGeom prst="rect">
            <a:avLst/>
          </a:prstGeom>
          <a:solidFill>
            <a:srgbClr val="1A244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808625" y="18869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部落归属</a:t>
            </a:r>
          </a:p>
        </p:txBody>
      </p:sp>
      <p:sp>
        <p:nvSpPr>
          <p:cNvPr id="17" name="Rectangle 17"/>
          <p:cNvSpPr/>
          <p:nvPr/>
        </p:nvSpPr>
        <p:spPr>
          <a:xfrm>
            <a:off x="10096500" y="1762125"/>
            <a:ext cx="1524000" cy="381000"/>
          </a:xfrm>
          <a:prstGeom prst="rect">
            <a:avLst/>
          </a:prstGeom>
          <a:solidFill>
            <a:srgbClr val="1A244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0523125" y="18869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互惠交换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2143125"/>
            <a:ext cx="1905000" cy="762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148370" y="2363152"/>
            <a:ext cx="75126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4CAF7D"/>
                </a:solidFill>
                <a:latin typeface="Arial"/>
                <a:ea typeface="Microsoft YaHei"/>
                <a:cs typeface="Arial"/>
              </a:rPr>
              <a:t>合相 (0°)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49680" y="261747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能量融合</a:t>
            </a:r>
          </a:p>
        </p:txBody>
      </p:sp>
      <p:sp>
        <p:nvSpPr>
          <p:cNvPr id="22" name="Rectangle 22"/>
          <p:cNvSpPr/>
          <p:nvPr/>
        </p:nvSpPr>
        <p:spPr>
          <a:xfrm>
            <a:off x="2476500" y="2143125"/>
            <a:ext cx="1905000" cy="762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2918222" y="237124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边界与规则合一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957512" y="2617470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强烈的领域意识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381500" y="2143125"/>
            <a:ext cx="1905000" cy="762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4823222" y="237124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恐惧与行动合一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862512" y="2617470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强烈的防御反应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286500" y="2143125"/>
            <a:ext cx="1905000" cy="762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728222" y="237124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安全与权威合一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767512" y="2617470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强烈的等级认同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191500" y="2143125"/>
            <a:ext cx="1905000" cy="762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633222" y="237124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转化与归属合一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672512" y="2617470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强烈的部落忠诚</a:t>
            </a:r>
          </a:p>
        </p:txBody>
      </p:sp>
      <p:sp>
        <p:nvSpPr>
          <p:cNvPr id="34" name="Rectangle 34"/>
          <p:cNvSpPr/>
          <p:nvPr/>
        </p:nvSpPr>
        <p:spPr>
          <a:xfrm>
            <a:off x="10096500" y="2143125"/>
            <a:ext cx="1524000" cy="762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0347722" y="237124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自我与价值合一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387012" y="2617470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强烈的交换意识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2905125"/>
            <a:ext cx="1905000" cy="76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1023579" y="3125152"/>
            <a:ext cx="1000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4AC9C9"/>
                </a:solidFill>
                <a:latin typeface="Arial"/>
                <a:ea typeface="Microsoft YaHei"/>
                <a:cs typeface="Arial"/>
              </a:rPr>
              <a:t>六分相 (60°)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49680" y="337947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和谐协作</a:t>
            </a:r>
          </a:p>
        </p:txBody>
      </p:sp>
      <p:sp>
        <p:nvSpPr>
          <p:cNvPr id="40" name="Rectangle 40"/>
          <p:cNvSpPr/>
          <p:nvPr/>
        </p:nvSpPr>
        <p:spPr>
          <a:xfrm>
            <a:off x="2476500" y="2905125"/>
            <a:ext cx="1905000" cy="76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2918222" y="313324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边界与资源协作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023235" y="3379470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有效管理领地</a:t>
            </a:r>
          </a:p>
        </p:txBody>
      </p:sp>
      <p:sp>
        <p:nvSpPr>
          <p:cNvPr id="43" name="Rectangle 43"/>
          <p:cNvSpPr/>
          <p:nvPr/>
        </p:nvSpPr>
        <p:spPr>
          <a:xfrm>
            <a:off x="4381500" y="2905125"/>
            <a:ext cx="1905000" cy="76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4823222" y="313324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恐惧与勇气协作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862512" y="3379470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理性的风险判断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286500" y="2905125"/>
            <a:ext cx="1905000" cy="76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6728222" y="313324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安全与成长协作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767512" y="3379470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灵活的等级适应</a:t>
            </a:r>
          </a:p>
        </p:txBody>
      </p:sp>
      <p:sp>
        <p:nvSpPr>
          <p:cNvPr id="49" name="Rectangle 49"/>
          <p:cNvSpPr/>
          <p:nvPr/>
        </p:nvSpPr>
        <p:spPr>
          <a:xfrm>
            <a:off x="8191500" y="2905125"/>
            <a:ext cx="1905000" cy="76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8633222" y="313324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归属与独立协作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672512" y="3379470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健康的群体关系</a:t>
            </a:r>
          </a:p>
        </p:txBody>
      </p:sp>
      <p:sp>
        <p:nvSpPr>
          <p:cNvPr id="52" name="Rectangle 52"/>
          <p:cNvSpPr/>
          <p:nvPr/>
        </p:nvSpPr>
        <p:spPr>
          <a:xfrm>
            <a:off x="10096500" y="2905125"/>
            <a:ext cx="1524000" cy="76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10347722" y="313324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给予与接收协作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387012" y="3379470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顺畅的价值交换</a:t>
            </a:r>
          </a:p>
        </p:txBody>
      </p:sp>
      <p:sp>
        <p:nvSpPr>
          <p:cNvPr id="55" name="Rectangle 55"/>
          <p:cNvSpPr/>
          <p:nvPr/>
        </p:nvSpPr>
        <p:spPr>
          <a:xfrm>
            <a:off x="571500" y="3667125"/>
            <a:ext cx="1905000" cy="762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1023579" y="3887152"/>
            <a:ext cx="1000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05555"/>
                </a:solidFill>
                <a:latin typeface="Arial"/>
                <a:ea typeface="Microsoft YaHei"/>
                <a:cs typeface="Arial"/>
              </a:rPr>
              <a:t>四分相 (90°)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249680" y="414147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紧张冲突</a:t>
            </a:r>
          </a:p>
        </p:txBody>
      </p:sp>
      <p:sp>
        <p:nvSpPr>
          <p:cNvPr id="58" name="Rectangle 58"/>
          <p:cNvSpPr/>
          <p:nvPr/>
        </p:nvSpPr>
        <p:spPr>
          <a:xfrm>
            <a:off x="2476500" y="3667125"/>
            <a:ext cx="1905000" cy="762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2918222" y="389524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边界与扩张冲突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154680" y="414147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领地纠纷</a:t>
            </a:r>
          </a:p>
        </p:txBody>
      </p:sp>
      <p:sp>
        <p:nvSpPr>
          <p:cNvPr id="61" name="Rectangle 61"/>
          <p:cNvSpPr/>
          <p:nvPr/>
        </p:nvSpPr>
        <p:spPr>
          <a:xfrm>
            <a:off x="4381500" y="3667125"/>
            <a:ext cx="1905000" cy="762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4823222" y="389524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恐惧与欲望冲突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862512" y="4141470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冲动与克制拉扯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286500" y="3667125"/>
            <a:ext cx="1905000" cy="762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6728222" y="389524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安全与自由冲突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964680" y="414147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权威反抗</a:t>
            </a:r>
          </a:p>
        </p:txBody>
      </p:sp>
      <p:sp>
        <p:nvSpPr>
          <p:cNvPr id="67" name="Rectangle 67"/>
          <p:cNvSpPr/>
          <p:nvPr/>
        </p:nvSpPr>
        <p:spPr>
          <a:xfrm>
            <a:off x="8191500" y="3667125"/>
            <a:ext cx="1905000" cy="762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8633222" y="389524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归属与自我冲突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8869680" y="414147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群体压力</a:t>
            </a:r>
          </a:p>
        </p:txBody>
      </p:sp>
      <p:sp>
        <p:nvSpPr>
          <p:cNvPr id="70" name="Rectangle 70"/>
          <p:cNvSpPr/>
          <p:nvPr/>
        </p:nvSpPr>
        <p:spPr>
          <a:xfrm>
            <a:off x="10096500" y="3667125"/>
            <a:ext cx="1524000" cy="762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10347722" y="389524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自我与他人冲突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0584180" y="414147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关系紧张</a:t>
            </a:r>
          </a:p>
        </p:txBody>
      </p:sp>
      <p:sp>
        <p:nvSpPr>
          <p:cNvPr id="73" name="Rectangle 73"/>
          <p:cNvSpPr/>
          <p:nvPr/>
        </p:nvSpPr>
        <p:spPr>
          <a:xfrm>
            <a:off x="571500" y="4429125"/>
            <a:ext cx="1905000" cy="76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999426" y="4649152"/>
            <a:ext cx="10491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6B9BFF"/>
                </a:solidFill>
                <a:latin typeface="Arial"/>
                <a:ea typeface="Microsoft YaHei"/>
                <a:cs typeface="Arial"/>
              </a:rPr>
              <a:t>三分相 (120°)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249680" y="490347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天赋流畅</a:t>
            </a:r>
          </a:p>
        </p:txBody>
      </p:sp>
      <p:sp>
        <p:nvSpPr>
          <p:cNvPr id="76" name="Rectangle 76"/>
          <p:cNvSpPr/>
          <p:nvPr/>
        </p:nvSpPr>
        <p:spPr>
          <a:xfrm>
            <a:off x="2476500" y="4429125"/>
            <a:ext cx="1905000" cy="76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2989421" y="465724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天生的边界感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2957512" y="4903470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自然的领域管理</a:t>
            </a:r>
          </a:p>
        </p:txBody>
      </p:sp>
      <p:sp>
        <p:nvSpPr>
          <p:cNvPr id="79" name="Rectangle 79"/>
          <p:cNvSpPr/>
          <p:nvPr/>
        </p:nvSpPr>
        <p:spPr>
          <a:xfrm>
            <a:off x="4381500" y="4429125"/>
            <a:ext cx="1905000" cy="76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80" name="TextBox 80"/>
          <p:cNvSpPr txBox="1"/>
          <p:nvPr/>
        </p:nvSpPr>
        <p:spPr>
          <a:xfrm>
            <a:off x="4894421" y="465724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天生的危机感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4862512" y="4903470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直觉性风险规避</a:t>
            </a:r>
          </a:p>
        </p:txBody>
      </p:sp>
      <p:sp>
        <p:nvSpPr>
          <p:cNvPr id="82" name="Rectangle 82"/>
          <p:cNvSpPr/>
          <p:nvPr/>
        </p:nvSpPr>
        <p:spPr>
          <a:xfrm>
            <a:off x="6286500" y="4429125"/>
            <a:ext cx="1905000" cy="76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83" name="TextBox 83"/>
          <p:cNvSpPr txBox="1"/>
          <p:nvPr/>
        </p:nvSpPr>
        <p:spPr>
          <a:xfrm>
            <a:off x="6799421" y="465724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天生的权威感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6833235" y="4903470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自然的领导力</a:t>
            </a:r>
          </a:p>
        </p:txBody>
      </p:sp>
      <p:sp>
        <p:nvSpPr>
          <p:cNvPr id="85" name="Rectangle 85"/>
          <p:cNvSpPr/>
          <p:nvPr/>
        </p:nvSpPr>
        <p:spPr>
          <a:xfrm>
            <a:off x="8191500" y="4429125"/>
            <a:ext cx="1905000" cy="76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86" name="TextBox 86"/>
          <p:cNvSpPr txBox="1"/>
          <p:nvPr/>
        </p:nvSpPr>
        <p:spPr>
          <a:xfrm>
            <a:off x="8704421" y="465724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天生的归属感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8672512" y="4903470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自然的群体融入</a:t>
            </a:r>
          </a:p>
        </p:txBody>
      </p:sp>
      <p:sp>
        <p:nvSpPr>
          <p:cNvPr id="88" name="Rectangle 88"/>
          <p:cNvSpPr/>
          <p:nvPr/>
        </p:nvSpPr>
        <p:spPr>
          <a:xfrm>
            <a:off x="10096500" y="4429125"/>
            <a:ext cx="1524000" cy="76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89" name="TextBox 89"/>
          <p:cNvSpPr txBox="1"/>
          <p:nvPr/>
        </p:nvSpPr>
        <p:spPr>
          <a:xfrm>
            <a:off x="10418921" y="465724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天生的交换感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0387012" y="4903470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自然的互惠能力</a:t>
            </a:r>
          </a:p>
        </p:txBody>
      </p:sp>
      <p:sp>
        <p:nvSpPr>
          <p:cNvPr id="91" name="Rectangle 91"/>
          <p:cNvSpPr/>
          <p:nvPr/>
        </p:nvSpPr>
        <p:spPr>
          <a:xfrm>
            <a:off x="571500" y="5191125"/>
            <a:ext cx="1905000" cy="762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92" name="TextBox 92"/>
          <p:cNvSpPr txBox="1"/>
          <p:nvPr/>
        </p:nvSpPr>
        <p:spPr>
          <a:xfrm>
            <a:off x="999426" y="5411152"/>
            <a:ext cx="10491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A78BFA"/>
                </a:solidFill>
                <a:latin typeface="Arial"/>
                <a:ea typeface="Microsoft YaHei"/>
                <a:cs typeface="Arial"/>
              </a:rPr>
              <a:t>对分相 (180°)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249680" y="566547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对立平衡</a:t>
            </a:r>
          </a:p>
        </p:txBody>
      </p:sp>
      <p:sp>
        <p:nvSpPr>
          <p:cNvPr id="94" name="Rectangle 94"/>
          <p:cNvSpPr/>
          <p:nvPr/>
        </p:nvSpPr>
        <p:spPr>
          <a:xfrm>
            <a:off x="2476500" y="5191125"/>
            <a:ext cx="1905000" cy="762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95" name="TextBox 95"/>
          <p:cNvSpPr txBox="1"/>
          <p:nvPr/>
        </p:nvSpPr>
        <p:spPr>
          <a:xfrm>
            <a:off x="2775823" y="541924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自我与他人边界拉扯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2891790" y="5665470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关系中的边界问题</a:t>
            </a:r>
          </a:p>
        </p:txBody>
      </p:sp>
      <p:sp>
        <p:nvSpPr>
          <p:cNvPr id="97" name="Rectangle 97"/>
          <p:cNvSpPr/>
          <p:nvPr/>
        </p:nvSpPr>
        <p:spPr>
          <a:xfrm>
            <a:off x="4381500" y="5191125"/>
            <a:ext cx="1905000" cy="762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98" name="TextBox 98"/>
          <p:cNvSpPr txBox="1"/>
          <p:nvPr/>
        </p:nvSpPr>
        <p:spPr>
          <a:xfrm>
            <a:off x="4823222" y="541924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攻击与防御拉扯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4796790" y="5665470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关系中的冲突模式</a:t>
            </a:r>
          </a:p>
        </p:txBody>
      </p:sp>
      <p:sp>
        <p:nvSpPr>
          <p:cNvPr id="100" name="Rectangle 100"/>
          <p:cNvSpPr/>
          <p:nvPr/>
        </p:nvSpPr>
        <p:spPr>
          <a:xfrm>
            <a:off x="6286500" y="5191125"/>
            <a:ext cx="1905000" cy="762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101" name="TextBox 101"/>
          <p:cNvSpPr txBox="1"/>
          <p:nvPr/>
        </p:nvSpPr>
        <p:spPr>
          <a:xfrm>
            <a:off x="6585823" y="541924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家庭与社会等级拉扯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6964680" y="566547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角色冲突</a:t>
            </a:r>
          </a:p>
        </p:txBody>
      </p:sp>
      <p:sp>
        <p:nvSpPr>
          <p:cNvPr id="103" name="Rectangle 103"/>
          <p:cNvSpPr/>
          <p:nvPr/>
        </p:nvSpPr>
        <p:spPr>
          <a:xfrm>
            <a:off x="8191500" y="5191125"/>
            <a:ext cx="1905000" cy="762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104" name="TextBox 104"/>
          <p:cNvSpPr txBox="1"/>
          <p:nvPr/>
        </p:nvSpPr>
        <p:spPr>
          <a:xfrm>
            <a:off x="8633222" y="541924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亲密与独立拉扯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8738235" y="5665470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关系中的投射</a:t>
            </a:r>
          </a:p>
        </p:txBody>
      </p:sp>
      <p:sp>
        <p:nvSpPr>
          <p:cNvPr id="106" name="Rectangle 106"/>
          <p:cNvSpPr/>
          <p:nvPr/>
        </p:nvSpPr>
        <p:spPr>
          <a:xfrm>
            <a:off x="10096500" y="5191125"/>
            <a:ext cx="1524000" cy="76200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107" name="TextBox 107"/>
          <p:cNvSpPr txBox="1"/>
          <p:nvPr/>
        </p:nvSpPr>
        <p:spPr>
          <a:xfrm>
            <a:off x="10347722" y="541924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给予与索取拉扯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10452735" y="5665470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关系中的平衡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11266622" y="6483191"/>
            <a:ext cx="364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13 / 18</a:t>
            </a:r>
          </a:p>
        </p:txBody>
      </p:sp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0070" y="66484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7234"/>
                </a:solidFill>
                <a:latin typeface="Arial"/>
                <a:ea typeface="Microsoft YaHei"/>
                <a:cs typeface="Arial"/>
              </a:rPr>
              <a:t>CHAPTER 04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1020" y="836295"/>
            <a:ext cx="594969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8D48B"/>
                </a:solidFill>
                <a:latin typeface="Georgia"/>
                <a:ea typeface="Microsoft YaHei"/>
                <a:cs typeface="Georgia"/>
              </a:rPr>
              <a:t>四象限体系：人性驱动力的空间分布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23825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9050">
            <a:solidFill>
              <a:srgbClr val="C9A84C">
                <a:alpha val="60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56260" y="1489710"/>
            <a:ext cx="84429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四象限将十二宫位分为四个区域，分别对应人类生活的四个核心维度。每个象限代表一组相关的人性驱动力。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905000"/>
            <a:ext cx="5334000" cy="2095500"/>
          </a:xfrm>
          <a:prstGeom prst="rect">
            <a:avLst/>
          </a:prstGeom>
          <a:solidFill>
            <a:srgbClr val="151D35"/>
          </a:solidFill>
          <a:ln w="9525">
            <a:solidFill>
              <a:srgbClr val="C9A84C">
                <a:alpha val="40000"/>
              </a:srgbClr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905000"/>
            <a:ext cx="38100" cy="2095500"/>
          </a:xfrm>
          <a:prstGeom prst="rect">
            <a:avLst/>
          </a:prstGeom>
          <a:solidFill>
            <a:srgbClr val="C9A84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44855" y="2092642"/>
            <a:ext cx="24771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9A84C"/>
                </a:solidFill>
                <a:latin typeface="Arial"/>
                <a:ea typeface="Microsoft YaHei"/>
                <a:cs typeface="Arial"/>
              </a:rPr>
              <a:t>第一象限：个体化 (1-3宫)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7712" y="2402681"/>
            <a:ext cx="31503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核心人性：</a:t>
            </a:r>
            <a:r>
              <a:rPr lang="zh-CN" sz="1125" b="1" dirty="0">
                <a:solidFill>
                  <a:srgbClr val="C9A84C"/>
                </a:solidFill>
                <a:latin typeface="Arial"/>
                <a:ea typeface="Microsoft YaHei"/>
                <a:cs typeface="Arial"/>
              </a:rPr>
              <a:t>自我认同、生存本能、资源获取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8665" y="2696528"/>
            <a:ext cx="26106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• 第一宫：自我形象、身体、外在表现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8665" y="2934652"/>
            <a:ext cx="26106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• 第二宫：物质资源、价值感、所有权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8665" y="3172778"/>
            <a:ext cx="23039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• 第三宫：沟通、学习、近亲关系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8665" y="3506152"/>
            <a:ext cx="21966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对应人性：领域意识 + 损失厌恶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286500" y="1905000"/>
            <a:ext cx="5334000" cy="2095500"/>
          </a:xfrm>
          <a:prstGeom prst="rect">
            <a:avLst/>
          </a:prstGeom>
          <a:solidFill>
            <a:srgbClr val="151D35"/>
          </a:solidFill>
          <a:ln w="9525">
            <a:solidFill>
              <a:srgbClr val="4A7CF7">
                <a:alpha val="40000"/>
              </a:srgbClr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6286500" y="1905000"/>
            <a:ext cx="38100" cy="2095500"/>
          </a:xfrm>
          <a:prstGeom prst="rect">
            <a:avLst/>
          </a:prstGeom>
          <a:solidFill>
            <a:srgbClr val="4A7CF7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459855" y="2092642"/>
            <a:ext cx="294300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6B9BFF"/>
                </a:solidFill>
                <a:latin typeface="Arial"/>
                <a:ea typeface="Microsoft YaHei"/>
                <a:cs typeface="Arial"/>
              </a:rPr>
              <a:t>第二象限：家庭与根基 (4-6宫)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62712" y="2402681"/>
            <a:ext cx="29860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核心人性：</a:t>
            </a:r>
            <a:r>
              <a:rPr lang="zh-CN" sz="1125" b="1" dirty="0">
                <a:solidFill>
                  <a:srgbClr val="6B9BFF"/>
                </a:solidFill>
                <a:latin typeface="Arial"/>
                <a:ea typeface="Microsoft YaHei"/>
                <a:cs typeface="Arial"/>
              </a:rPr>
              <a:t>安全感、归属感、服务与责任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3665" y="2696528"/>
            <a:ext cx="23039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• 第四宫：家庭、根源、情感基础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63665" y="2934652"/>
            <a:ext cx="24573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• 第五宫：创造、表达、恋爱、子女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63665" y="3172778"/>
            <a:ext cx="23039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• 第六宫：工作、健康、日常服务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63665" y="3506152"/>
            <a:ext cx="21966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对应人性：等级服从 + 互惠交换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71500" y="4286250"/>
            <a:ext cx="5334000" cy="2095500"/>
          </a:xfrm>
          <a:prstGeom prst="rect">
            <a:avLst/>
          </a:prstGeom>
          <a:solidFill>
            <a:srgbClr val="151D35"/>
          </a:solidFill>
          <a:ln w="9525">
            <a:solidFill>
              <a:srgbClr val="7C5CBF">
                <a:alpha val="40000"/>
              </a:srgbClr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571500" y="4286250"/>
            <a:ext cx="38100" cy="2095500"/>
          </a:xfrm>
          <a:prstGeom prst="rect">
            <a:avLst/>
          </a:prstGeom>
          <a:solidFill>
            <a:srgbClr val="7C5CBF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44855" y="4473892"/>
            <a:ext cx="273597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A78BFA"/>
                </a:solidFill>
                <a:latin typeface="Arial"/>
                <a:ea typeface="Microsoft YaHei"/>
                <a:cs typeface="Arial"/>
              </a:rPr>
              <a:t>第三象限：社会关系 (7-9宫)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47712" y="4783931"/>
            <a:ext cx="31503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核心人性：</a:t>
            </a:r>
            <a:r>
              <a:rPr lang="zh-CN" sz="1125" b="1" dirty="0">
                <a:solidFill>
                  <a:srgbClr val="A78BFA"/>
                </a:solidFill>
                <a:latin typeface="Arial"/>
                <a:ea typeface="Microsoft YaHei"/>
                <a:cs typeface="Arial"/>
              </a:rPr>
              <a:t>伙伴关系、深层联结、意义追寻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8665" y="5077778"/>
            <a:ext cx="24573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• 第七宫：一对一关系、契约、婚姻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8665" y="5315902"/>
            <a:ext cx="26106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• 第八宫：共享资源、转化、深层心理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8665" y="5554028"/>
            <a:ext cx="27640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• 第九宫：哲学、信仰、远行、高等教育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48665" y="5887402"/>
            <a:ext cx="21966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对应人性：部落归属 + 互惠交换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286500" y="4286250"/>
            <a:ext cx="5334000" cy="2095500"/>
          </a:xfrm>
          <a:prstGeom prst="rect">
            <a:avLst/>
          </a:prstGeom>
          <a:solidFill>
            <a:srgbClr val="151D35"/>
          </a:solidFill>
          <a:ln w="9525">
            <a:solidFill>
              <a:srgbClr val="4CAF7D">
                <a:alpha val="40000"/>
              </a:srgbClr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6286500" y="4286250"/>
            <a:ext cx="38100" cy="2095500"/>
          </a:xfrm>
          <a:prstGeom prst="rect">
            <a:avLst/>
          </a:prstGeom>
          <a:solidFill>
            <a:srgbClr val="4CAF7D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459855" y="4473892"/>
            <a:ext cx="30672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4CAF7D"/>
                </a:solidFill>
                <a:latin typeface="Arial"/>
                <a:ea typeface="Microsoft YaHei"/>
                <a:cs typeface="Arial"/>
              </a:rPr>
              <a:t>第四象限：集体与社会 (10-12宫)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462712" y="4783931"/>
            <a:ext cx="33147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核心人性：</a:t>
            </a:r>
            <a:r>
              <a:rPr lang="zh-CN" sz="1125" b="1" dirty="0">
                <a:solidFill>
                  <a:srgbClr val="4CAF7D"/>
                </a:solidFill>
                <a:latin typeface="Arial"/>
                <a:ea typeface="Microsoft YaHei"/>
                <a:cs typeface="Arial"/>
              </a:rPr>
              <a:t>社会地位、集体认同、潜意识整合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463665" y="5077778"/>
            <a:ext cx="26106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• 第十宫：社会地位、事业、公共形象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463665" y="5315902"/>
            <a:ext cx="24573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• 第十一宫：社群、理想、群体归属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463665" y="5554028"/>
            <a:ext cx="27640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• 第十二宫：潜意识、隐秘、灵性、终结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463665" y="5887402"/>
            <a:ext cx="21966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对应人性：等级服从 + 部落归属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266622" y="6483191"/>
            <a:ext cx="364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14 / 18</a:t>
            </a:r>
          </a:p>
        </p:txBody>
      </p:sp>
    </p:spTree>
  </p:cSld>
  <p:clrMapOvr>
    <a:masterClrMapping/>
  </p:clrMapOvr>
  <p:transition 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0070" y="66484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7234"/>
                </a:solidFill>
                <a:latin typeface="Arial"/>
                <a:ea typeface="Microsoft YaHei"/>
                <a:cs typeface="Arial"/>
              </a:rPr>
              <a:t>CHAPTER 05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1020" y="836295"/>
            <a:ext cx="594969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8D48B"/>
                </a:solidFill>
                <a:latin typeface="Georgia"/>
                <a:ea typeface="Microsoft YaHei"/>
                <a:cs typeface="Georgia"/>
              </a:rPr>
              <a:t>应用场景：五大人性原型的实践价值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23825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9050">
            <a:solidFill>
              <a:srgbClr val="C9A84C">
                <a:alpha val="60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56260" y="1489710"/>
            <a:ext cx="79171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五大底层人性原型体系不仅是一套理论框架，更具有广泛的实践应用价值。以下是四个核心应用场景：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905000"/>
            <a:ext cx="5334000" cy="2095500"/>
          </a:xfrm>
          <a:prstGeom prst="rect">
            <a:avLst/>
          </a:prstGeom>
          <a:solidFill>
            <a:srgbClr val="151D35"/>
          </a:solidFill>
          <a:ln w="9525">
            <a:solidFill>
              <a:srgbClr val="C9A84C">
                <a:alpha val="30000"/>
              </a:srgbClr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266825" y="22193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9A84C"/>
                </a:solidFill>
                <a:latin typeface="Arial"/>
                <a:ea typeface="Microsoft YaHei"/>
                <a:cs typeface="Arial"/>
              </a:rPr>
              <a:t>个人发展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7712" y="2593181"/>
            <a:ext cx="34790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通过星盘分析，识别个人的核心人性驱力模式：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8665" y="2887028"/>
            <a:ext cx="18438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• 了解自己的领域意识强弱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8665" y="3125152"/>
            <a:ext cx="16905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• 识别损失厌恶的触发点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8665" y="3363278"/>
            <a:ext cx="18438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• 理解等级服从的心理根源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8665" y="3601402"/>
            <a:ext cx="18438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• 发现部落归属的深层需求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286500" y="1905000"/>
            <a:ext cx="5334000" cy="2095500"/>
          </a:xfrm>
          <a:prstGeom prst="rect">
            <a:avLst/>
          </a:prstGeom>
          <a:solidFill>
            <a:srgbClr val="151D35"/>
          </a:solidFill>
          <a:ln w="9525">
            <a:solidFill>
              <a:srgbClr val="4A7CF7">
                <a:alpha val="30000"/>
              </a:srgbClr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981825" y="22193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6B9BFF"/>
                </a:solidFill>
                <a:latin typeface="Arial"/>
                <a:ea typeface="Microsoft YaHei"/>
                <a:cs typeface="Arial"/>
              </a:rPr>
              <a:t>关系咨询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62712" y="2593181"/>
            <a:ext cx="29860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通过比较星盘，理解关系中的互动模式：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63665" y="2887028"/>
            <a:ext cx="18438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• 识别双方的互惠交换模式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63665" y="3125152"/>
            <a:ext cx="16905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• 理解部落归属的兼容性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3665" y="3363278"/>
            <a:ext cx="18438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• 分析相位带来的关系张力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63665" y="3601402"/>
            <a:ext cx="18438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• 预测飞宫带来的能量流动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71500" y="4286250"/>
            <a:ext cx="5334000" cy="2095500"/>
          </a:xfrm>
          <a:prstGeom prst="rect">
            <a:avLst/>
          </a:prstGeom>
          <a:solidFill>
            <a:srgbClr val="151D35"/>
          </a:solidFill>
          <a:ln w="9525">
            <a:solidFill>
              <a:srgbClr val="4CAF7D">
                <a:alpha val="30000"/>
              </a:srgbClr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266825" y="460057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CAF7D"/>
                </a:solidFill>
                <a:latin typeface="Arial"/>
                <a:ea typeface="Microsoft YaHei"/>
                <a:cs typeface="Arial"/>
              </a:rPr>
              <a:t>职业规划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7712" y="4974431"/>
            <a:ext cx="36433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通过第十宫和第二宫分析，找到适合的职业方向：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8665" y="5268278"/>
            <a:ext cx="16905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• 识别社会地位需求模式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48665" y="5506402"/>
            <a:ext cx="13838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• 理解物质价值观念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48665" y="5744528"/>
            <a:ext cx="18438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• 发现天赋才能（三分相）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286500" y="4286250"/>
            <a:ext cx="5334000" cy="2095500"/>
          </a:xfrm>
          <a:prstGeom prst="rect">
            <a:avLst/>
          </a:prstGeom>
          <a:solidFill>
            <a:srgbClr val="151D35"/>
          </a:solidFill>
          <a:ln w="9525">
            <a:solidFill>
              <a:srgbClr val="7C5CBF">
                <a:alpha val="30000"/>
              </a:srgbClr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981825" y="460057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A78BFA"/>
                </a:solidFill>
                <a:latin typeface="Arial"/>
                <a:ea typeface="Microsoft YaHei"/>
                <a:cs typeface="Arial"/>
              </a:rPr>
              <a:t>团队建设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62712" y="4974431"/>
            <a:ext cx="26574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通过团队星盘合成，优化团队协作：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463665" y="5268278"/>
            <a:ext cx="18438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• 识别团队的集体人性模式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463665" y="5506402"/>
            <a:ext cx="16905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• 理解团队内的等级结构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463665" y="5744528"/>
            <a:ext cx="13838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• 优化互惠交换机制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266622" y="6483191"/>
            <a:ext cx="364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15 / 18</a:t>
            </a:r>
          </a:p>
        </p:txBody>
      </p:sp>
    </p:spTree>
  </p:cSld>
  <p:clrMapOvr>
    <a:masterClrMapping/>
  </p:clrMapOvr>
  <p:transition 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0070" y="66484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7234"/>
                </a:solidFill>
                <a:latin typeface="Arial"/>
                <a:ea typeface="Microsoft YaHei"/>
                <a:cs typeface="Arial"/>
              </a:rPr>
              <a:t>CHAPTER 06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1020" y="836295"/>
            <a:ext cx="631774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8D48B"/>
                </a:solidFill>
                <a:latin typeface="Georgia"/>
                <a:ea typeface="Microsoft YaHei"/>
                <a:cs typeface="Georgia"/>
              </a:rPr>
              <a:t>跨学科对照：占星学与现代科学的对话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23825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9050">
            <a:solidFill>
              <a:srgbClr val="C9A84C">
                <a:alpha val="60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56260" y="1442085"/>
            <a:ext cx="65151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五大底层人性原型体系与多个现代学科存在深刻的对应关系，以下是三组核心对照：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762125"/>
            <a:ext cx="3524250" cy="381000"/>
          </a:xfrm>
          <a:prstGeom prst="rect">
            <a:avLst/>
          </a:prstGeom>
          <a:solidFill>
            <a:srgbClr val="1A244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917740" y="1886902"/>
            <a:ext cx="8317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占星学概念</a:t>
            </a:r>
          </a:p>
        </p:txBody>
      </p:sp>
      <p:sp>
        <p:nvSpPr>
          <p:cNvPr id="9" name="Rectangle 9"/>
          <p:cNvSpPr/>
          <p:nvPr/>
        </p:nvSpPr>
        <p:spPr>
          <a:xfrm>
            <a:off x="4095750" y="1762125"/>
            <a:ext cx="3524250" cy="381000"/>
          </a:xfrm>
          <a:prstGeom prst="rect">
            <a:avLst/>
          </a:prstGeom>
          <a:solidFill>
            <a:srgbClr val="1A244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5441990" y="1886902"/>
            <a:ext cx="8317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进化心理学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620000" y="1762125"/>
            <a:ext cx="4000500" cy="381000"/>
          </a:xfrm>
          <a:prstGeom prst="rect">
            <a:avLst/>
          </a:prstGeom>
          <a:solidFill>
            <a:srgbClr val="1A244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284875" y="18869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对应关系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71500" y="2143125"/>
            <a:ext cx="3524250" cy="66675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724516" y="2315528"/>
            <a:ext cx="12182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C9A84C"/>
                </a:solidFill>
                <a:latin typeface="Arial"/>
                <a:ea typeface="Microsoft YaHei"/>
                <a:cs typeface="Arial"/>
              </a:rPr>
              <a:t>领域意识 (土星)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59305" y="256984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领地行为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095750" y="2143125"/>
            <a:ext cx="3524250" cy="66675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993434" y="2315528"/>
            <a:ext cx="17288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领地性 (Territoriality)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452110" y="256984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资源保护本能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620000" y="2143125"/>
            <a:ext cx="4000500" cy="66675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686800" y="2315528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灵长类动物的领地标记行为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688705" y="2569845"/>
            <a:ext cx="18630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与土星的边界设定功能完全对应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2809875"/>
            <a:ext cx="3524250" cy="66675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724516" y="2982278"/>
            <a:ext cx="12182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05555"/>
                </a:solidFill>
                <a:latin typeface="Arial"/>
                <a:ea typeface="Microsoft YaHei"/>
                <a:cs typeface="Arial"/>
              </a:rPr>
              <a:t>损失厌恶 (火星)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93582" y="3236595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战斗或逃跑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095750" y="2809875"/>
            <a:ext cx="3524250" cy="66675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4920591" y="2982278"/>
            <a:ext cx="18745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损失厌恶 (Loss Aversion)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386388" y="3236595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卡尼曼前景理论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0" y="2809875"/>
            <a:ext cx="4000500" cy="66675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491276" y="2982278"/>
            <a:ext cx="22579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人类对损失的敏感度是收益的2倍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820150" y="3236595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与火星的防御驱力完全对应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1500" y="3476625"/>
            <a:ext cx="3524250" cy="66675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724516" y="3649028"/>
            <a:ext cx="12182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6B9BFF"/>
                </a:solidFill>
                <a:latin typeface="Arial"/>
                <a:ea typeface="Microsoft YaHei"/>
                <a:cs typeface="Arial"/>
              </a:rPr>
              <a:t>等级服从 (月亮)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059305" y="390334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安全需求</a:t>
            </a:r>
          </a:p>
        </p:txBody>
      </p:sp>
      <p:sp>
        <p:nvSpPr>
          <p:cNvPr id="34" name="Rectangle 34"/>
          <p:cNvSpPr/>
          <p:nvPr/>
        </p:nvSpPr>
        <p:spPr>
          <a:xfrm>
            <a:off x="4095750" y="3476625"/>
            <a:ext cx="3524250" cy="66675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5384483" y="3649028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社会等级识别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350240" y="3903345"/>
            <a:ext cx="10152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支配-服从连续体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620000" y="3476625"/>
            <a:ext cx="4000500" cy="66675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456771" y="3649028"/>
            <a:ext cx="23269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人类天生具有识别社会等级的能力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820150" y="3903345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与月亮的安全需求完全对应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4143375"/>
            <a:ext cx="3524250" cy="66675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644005" y="4315778"/>
            <a:ext cx="137923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A78BFA"/>
                </a:solidFill>
                <a:latin typeface="Arial"/>
                <a:ea typeface="Microsoft YaHei"/>
                <a:cs typeface="Arial"/>
              </a:rPr>
              <a:t>部落归属 (冥王星)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59305" y="457009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深层认同</a:t>
            </a:r>
          </a:p>
        </p:txBody>
      </p:sp>
      <p:sp>
        <p:nvSpPr>
          <p:cNvPr id="43" name="Rectangle 43"/>
          <p:cNvSpPr/>
          <p:nvPr/>
        </p:nvSpPr>
        <p:spPr>
          <a:xfrm>
            <a:off x="4095750" y="4143375"/>
            <a:ext cx="3524250" cy="66675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5384483" y="4315778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社会认同理论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517832" y="4570095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内群体偏好</a:t>
            </a:r>
          </a:p>
        </p:txBody>
      </p:sp>
      <p:sp>
        <p:nvSpPr>
          <p:cNvPr id="46" name="Rectangle 46"/>
          <p:cNvSpPr/>
          <p:nvPr/>
        </p:nvSpPr>
        <p:spPr>
          <a:xfrm>
            <a:off x="7620000" y="4143375"/>
            <a:ext cx="4000500" cy="66675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8456771" y="4315778"/>
            <a:ext cx="23269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人类强烈倾向于认同特定社会群体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754428" y="4570095"/>
            <a:ext cx="17316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与冥王星的部落忠诚完全对应</a:t>
            </a:r>
          </a:p>
        </p:txBody>
      </p:sp>
      <p:sp>
        <p:nvSpPr>
          <p:cNvPr id="49" name="Rectangle 49"/>
          <p:cNvSpPr/>
          <p:nvPr/>
        </p:nvSpPr>
        <p:spPr>
          <a:xfrm>
            <a:off x="571500" y="4810125"/>
            <a:ext cx="3524250" cy="66675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1724516" y="4982528"/>
            <a:ext cx="12182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4CAF7D"/>
                </a:solidFill>
                <a:latin typeface="Arial"/>
                <a:ea typeface="Microsoft YaHei"/>
                <a:cs typeface="Arial"/>
              </a:rPr>
              <a:t>互惠交换 (太阳)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059305" y="523684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价值互换</a:t>
            </a:r>
          </a:p>
        </p:txBody>
      </p:sp>
      <p:sp>
        <p:nvSpPr>
          <p:cNvPr id="52" name="Rectangle 52"/>
          <p:cNvSpPr/>
          <p:nvPr/>
        </p:nvSpPr>
        <p:spPr>
          <a:xfrm>
            <a:off x="4095750" y="4810125"/>
            <a:ext cx="3524250" cy="66675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5384483" y="4982528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互惠利他主义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452110" y="523684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特里弗斯理论</a:t>
            </a:r>
          </a:p>
        </p:txBody>
      </p:sp>
      <p:sp>
        <p:nvSpPr>
          <p:cNvPr id="55" name="Rectangle 55"/>
          <p:cNvSpPr/>
          <p:nvPr/>
        </p:nvSpPr>
        <p:spPr>
          <a:xfrm>
            <a:off x="7620000" y="4810125"/>
            <a:ext cx="4000500" cy="666750"/>
          </a:xfrm>
          <a:prstGeom prst="rect">
            <a:avLst/>
          </a:prstGeom>
          <a:solidFill>
            <a:srgbClr val="151D35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8686800" y="4982528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人类合作的基础是互惠原则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688705" y="5236845"/>
            <a:ext cx="18630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与太阳的自我价值交换完全对应</a:t>
            </a:r>
          </a:p>
        </p:txBody>
      </p:sp>
      <p:sp>
        <p:nvSpPr>
          <p:cNvPr id="58" name="Rectangle 58"/>
          <p:cNvSpPr/>
          <p:nvPr/>
        </p:nvSpPr>
        <p:spPr>
          <a:xfrm>
            <a:off x="571500" y="5715000"/>
            <a:ext cx="11049000" cy="571500"/>
          </a:xfrm>
          <a:prstGeom prst="rect">
            <a:avLst/>
          </a:prstGeom>
          <a:solidFill>
            <a:srgbClr val="151D35"/>
          </a:solidFill>
          <a:ln w="9525">
            <a:solidFill>
              <a:srgbClr val="4A7CF7">
                <a:alpha val="30000"/>
              </a:srgbClr>
            </a:solidFill>
          </a:ln>
        </p:spPr>
      </p:sp>
      <p:sp>
        <p:nvSpPr>
          <p:cNvPr id="59" name="Rectangle 59"/>
          <p:cNvSpPr/>
          <p:nvPr/>
        </p:nvSpPr>
        <p:spPr>
          <a:xfrm>
            <a:off x="571500" y="5715000"/>
            <a:ext cx="38100" cy="571500"/>
          </a:xfrm>
          <a:prstGeom prst="rect">
            <a:avLst/>
          </a:prstGeom>
          <a:solidFill>
            <a:srgbClr val="4A7CF7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842962" y="5831681"/>
            <a:ext cx="866286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💡</a:t>
            </a:r>
            <a:r>
              <a:rPr lang="zh-CN" sz="1125" b="1" dirty="0">
                <a:solidFill>
                  <a:srgbClr val="6B9BFF"/>
                </a:solidFill>
                <a:latin typeface="Arial"/>
                <a:ea typeface="Microsoft YaHei"/>
                <a:cs typeface="Arial"/>
              </a:rPr>
              <a:t>核心洞察：</a:t>
            </a:r>
            <a:r>
              <a:rPr lang="zh-CN" sz="112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占星学的符号体系与进化心理学的研究发现高度吻合，这表明占星学可能是一套古老的人类行为观察系统，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42962" y="6069806"/>
            <a:ext cx="44648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用象征性语言记录了人类在进化过程中形成的核心心理机制。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266622" y="6483191"/>
            <a:ext cx="364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16 / 18</a:t>
            </a:r>
          </a:p>
        </p:txBody>
      </p:sp>
    </p:spTree>
  </p:cSld>
  <p:clrMapOvr>
    <a:masterClrMapping/>
  </p:clrMapOvr>
  <p:transition 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9A84C">
                  <a:alpha val="12000"/>
                </a:srgbClr>
              </a:gs>
              <a:gs pos="100000">
                <a:srgbClr val="C9A84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4A7CF7">
                  <a:alpha val="8000"/>
                </a:srgbClr>
              </a:gs>
              <a:gs pos="100000">
                <a:srgbClr val="4A7C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9715500" y="381000"/>
            <a:ext cx="1524000" cy="1524000"/>
          </a:xfrm>
          <a:prstGeom prst="ellipse">
            <a:avLst/>
          </a:prstGeom>
          <a:noFill/>
          <a:ln w="4762">
            <a:solidFill>
              <a:srgbClr val="C9A84C">
                <a:alpha val="20000"/>
              </a:srgbClr>
            </a:solidFill>
          </a:ln>
        </p:spPr>
      </p:sp>
      <p:sp>
        <p:nvSpPr>
          <p:cNvPr id="6" name="Ellipse 6"/>
          <p:cNvSpPr/>
          <p:nvPr/>
        </p:nvSpPr>
        <p:spPr>
          <a:xfrm>
            <a:off x="9906000" y="571500"/>
            <a:ext cx="1143000" cy="1143000"/>
          </a:xfrm>
          <a:prstGeom prst="ellipse">
            <a:avLst/>
          </a:prstGeom>
          <a:noFill/>
          <a:ln w="4762">
            <a:solidFill>
              <a:srgbClr val="C9A84C">
                <a:alpha val="15000"/>
              </a:srgbClr>
            </a:solidFill>
          </a:ln>
        </p:spPr>
      </p:sp>
      <p:sp>
        <p:nvSpPr>
          <p:cNvPr id="7" name="Ellipse 7"/>
          <p:cNvSpPr/>
          <p:nvPr/>
        </p:nvSpPr>
        <p:spPr>
          <a:xfrm>
            <a:off x="10096500" y="762000"/>
            <a:ext cx="762000" cy="762000"/>
          </a:xfrm>
          <a:prstGeom prst="ellipse">
            <a:avLst/>
          </a:prstGeom>
          <a:noFill/>
          <a:ln w="4762">
            <a:solidFill>
              <a:srgbClr val="C9A84C">
                <a:alpha val="10000"/>
              </a:srgbClr>
            </a:solidFill>
          </a:ln>
        </p:spPr>
      </p:sp>
      <p:sp>
        <p:nvSpPr>
          <p:cNvPr id="8" name="Ellipse 8"/>
          <p:cNvSpPr/>
          <p:nvPr/>
        </p:nvSpPr>
        <p:spPr>
          <a:xfrm>
            <a:off x="1238250" y="5238750"/>
            <a:ext cx="952500" cy="952500"/>
          </a:xfrm>
          <a:prstGeom prst="ellipse">
            <a:avLst/>
          </a:prstGeom>
          <a:noFill/>
          <a:ln w="4762">
            <a:solidFill>
              <a:srgbClr val="4A7CF7">
                <a:alpha val="15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938212" y="747712"/>
            <a:ext cx="28575" cy="28575"/>
          </a:xfrm>
          <a:prstGeom prst="ellipse">
            <a:avLst/>
          </a:prstGeom>
          <a:solidFill>
            <a:srgbClr val="C9A84C">
              <a:alpha val="40000"/>
            </a:srgbClr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1420475" y="1895475"/>
            <a:ext cx="19050" cy="19050"/>
          </a:xfrm>
          <a:prstGeom prst="ellipse">
            <a:avLst/>
          </a:prstGeom>
          <a:solidFill>
            <a:srgbClr val="C9A84C">
              <a:alpha val="30000"/>
            </a:srgbClr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0939462" y="4748212"/>
            <a:ext cx="28575" cy="28575"/>
          </a:xfrm>
          <a:prstGeom prst="ellipse">
            <a:avLst/>
          </a:prstGeom>
          <a:solidFill>
            <a:srgbClr val="4A7CF7">
              <a:alpha val="30000"/>
            </a:srgb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1895475" y="6181725"/>
            <a:ext cx="19050" cy="19050"/>
          </a:xfrm>
          <a:prstGeom prst="ellipse">
            <a:avLst/>
          </a:prstGeom>
          <a:solidFill>
            <a:srgbClr val="C9A84C">
              <a:alpha val="40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5713238" y="855345"/>
            <a:ext cx="76552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A7234"/>
                </a:solidFill>
                <a:latin typeface="Arial"/>
                <a:ea typeface="Microsoft YaHei"/>
                <a:cs typeface="Arial"/>
              </a:rPr>
              <a:t>CONCLUSION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77728" y="1104900"/>
            <a:ext cx="283654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gradFill>
                  <a:gsLst>
                    <a:gs pos="0">
                      <a:srgbClr val="C9A84C"/>
                    </a:gs>
                    <a:gs pos="50000">
                      <a:srgbClr val="E8D48B"/>
                    </a:gs>
                    <a:gs pos="100000">
                      <a:srgbClr val="C9A84C"/>
                    </a:gs>
                  </a:gsLst>
                  <a:lin ang="2700000" scaled="1"/>
                </a:gradFill>
                <a:latin typeface="Georgia"/>
                <a:ea typeface="Microsoft YaHei"/>
                <a:cs typeface="Georgia"/>
              </a:rPr>
              <a:t>五大核心结论</a:t>
            </a:r>
          </a:p>
        </p:txBody>
      </p:sp>
      <p:sp>
        <p:nvSpPr>
          <p:cNvPr id="15" name="Line 15"/>
          <p:cNvSpPr/>
          <p:nvPr/>
        </p:nvSpPr>
        <p:spPr>
          <a:xfrm>
            <a:off x="5143500" y="1571625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19050">
            <a:solidFill>
              <a:srgbClr val="C9A84C">
                <a:alpha val="60000"/>
              </a:srgbClr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571500" y="1857375"/>
            <a:ext cx="11049000" cy="809625"/>
          </a:xfrm>
          <a:prstGeom prst="rect">
            <a:avLst/>
          </a:prstGeom>
          <a:solidFill>
            <a:srgbClr val="151D35"/>
          </a:solidFill>
          <a:ln w="9525">
            <a:solidFill>
              <a:srgbClr val="C9A84C">
                <a:alpha val="30000"/>
              </a:srgbClr>
            </a:solidFill>
          </a:ln>
        </p:spPr>
      </p:sp>
      <p:sp>
        <p:nvSpPr>
          <p:cNvPr id="17" name="Ellipse 17"/>
          <p:cNvSpPr/>
          <p:nvPr/>
        </p:nvSpPr>
        <p:spPr>
          <a:xfrm>
            <a:off x="762000" y="2066925"/>
            <a:ext cx="381000" cy="381000"/>
          </a:xfrm>
          <a:prstGeom prst="ellipse">
            <a:avLst/>
          </a:prstGeom>
          <a:solidFill>
            <a:srgbClr val="C9A84C">
              <a:alpha val="20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8946" y="2152650"/>
            <a:ext cx="10710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C9A84C"/>
                </a:solidFill>
                <a:latin typeface="Georgia"/>
                <a:ea typeface="SimSun"/>
                <a:cs typeface="Georgia"/>
              </a:rPr>
              <a:t>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68730" y="1997392"/>
            <a:ext cx="313967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占星学是一套人性演化心理学模型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71588" y="2307431"/>
            <a:ext cx="87368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星体、星座、宫位、相位共同构成了一个完整的人类行为观察系统，用象征语言记录了进化过程中形成的核心心理机制。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71500" y="2809875"/>
            <a:ext cx="11049000" cy="809625"/>
          </a:xfrm>
          <a:prstGeom prst="rect">
            <a:avLst/>
          </a:prstGeom>
          <a:solidFill>
            <a:srgbClr val="151D35"/>
          </a:solidFill>
          <a:ln w="9525">
            <a:solidFill>
              <a:srgbClr val="4A7CF7">
                <a:alpha val="30000"/>
              </a:srgbClr>
            </a:solidFill>
          </a:ln>
        </p:spPr>
      </p:sp>
      <p:sp>
        <p:nvSpPr>
          <p:cNvPr id="22" name="Ellipse 22"/>
          <p:cNvSpPr/>
          <p:nvPr/>
        </p:nvSpPr>
        <p:spPr>
          <a:xfrm>
            <a:off x="762000" y="3019425"/>
            <a:ext cx="381000" cy="381000"/>
          </a:xfrm>
          <a:prstGeom prst="ellipse">
            <a:avLst/>
          </a:prstGeom>
          <a:solidFill>
            <a:srgbClr val="4A7CF7">
              <a:alpha val="20000"/>
            </a:srgbClr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70192" y="3105150"/>
            <a:ext cx="1646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6B9BFF"/>
                </a:solidFill>
                <a:latin typeface="Georgia"/>
                <a:ea typeface="SimSun"/>
                <a:cs typeface="Georgia"/>
              </a:rPr>
              <a:t>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68730" y="2949892"/>
            <a:ext cx="313967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五大底层人性是占星学的核心映射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71588" y="3259931"/>
            <a:ext cx="776739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领域意识、损失厌恶、等级服从、部落归属、互惠交换——这五大人性能在占星学符号体系中找到精确对应。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3762375"/>
            <a:ext cx="11049000" cy="809625"/>
          </a:xfrm>
          <a:prstGeom prst="rect">
            <a:avLst/>
          </a:prstGeom>
          <a:solidFill>
            <a:srgbClr val="151D35"/>
          </a:solidFill>
          <a:ln w="9525">
            <a:solidFill>
              <a:srgbClr val="7C5CBF">
                <a:alpha val="30000"/>
              </a:srgbClr>
            </a:solidFill>
          </a:ln>
        </p:spPr>
      </p:sp>
      <p:sp>
        <p:nvSpPr>
          <p:cNvPr id="27" name="Ellipse 27"/>
          <p:cNvSpPr/>
          <p:nvPr/>
        </p:nvSpPr>
        <p:spPr>
          <a:xfrm>
            <a:off x="762000" y="3971925"/>
            <a:ext cx="381000" cy="381000"/>
          </a:xfrm>
          <a:prstGeom prst="ellipse">
            <a:avLst/>
          </a:prstGeom>
          <a:solidFill>
            <a:srgbClr val="7C5CBF">
              <a:alpha val="20000"/>
            </a:srgbClr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70192" y="4057650"/>
            <a:ext cx="1646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A78BFA"/>
                </a:solidFill>
                <a:latin typeface="Georgia"/>
                <a:ea typeface="SimSun"/>
                <a:cs typeface="Georgia"/>
              </a:rPr>
              <a:t>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68730" y="3902392"/>
            <a:ext cx="334670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飞宫理论揭示了本能驱力的动态流动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71588" y="4212431"/>
            <a:ext cx="61079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星体能量跨宫位的投射，本质上是人性本能驱力在不同生活领域之间的转移和分配。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1500" y="4714875"/>
            <a:ext cx="11049000" cy="809625"/>
          </a:xfrm>
          <a:prstGeom prst="rect">
            <a:avLst/>
          </a:prstGeom>
          <a:solidFill>
            <a:srgbClr val="151D35"/>
          </a:solidFill>
          <a:ln w="9525">
            <a:solidFill>
              <a:srgbClr val="4CAF7D">
                <a:alpha val="30000"/>
              </a:srgbClr>
            </a:solidFill>
          </a:ln>
        </p:spPr>
      </p:sp>
      <p:sp>
        <p:nvSpPr>
          <p:cNvPr id="32" name="Ellipse 32"/>
          <p:cNvSpPr/>
          <p:nvPr/>
        </p:nvSpPr>
        <p:spPr>
          <a:xfrm>
            <a:off x="762000" y="4924425"/>
            <a:ext cx="381000" cy="381000"/>
          </a:xfrm>
          <a:prstGeom prst="ellipse">
            <a:avLst/>
          </a:prstGeom>
          <a:solidFill>
            <a:srgbClr val="4CAF7D">
              <a:alpha val="20000"/>
            </a:srgbClr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70192" y="5010150"/>
            <a:ext cx="1646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4CAF7D"/>
                </a:solidFill>
                <a:latin typeface="Georgia"/>
                <a:ea typeface="SimSun"/>
                <a:cs typeface="Georgia"/>
              </a:rPr>
              <a:t>4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68730" y="4854892"/>
            <a:ext cx="29326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相位反映了人性驱力的互动模式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71588" y="5164931"/>
            <a:ext cx="75866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合相、六分相、四分相、三分相、对分相分别对应驱力的融合、协作、冲突、天赋、对立五种互动方式。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5667375"/>
            <a:ext cx="11049000" cy="809625"/>
          </a:xfrm>
          <a:prstGeom prst="rect">
            <a:avLst/>
          </a:prstGeom>
          <a:solidFill>
            <a:srgbClr val="151D35"/>
          </a:solidFill>
          <a:ln w="9525">
            <a:solidFill>
              <a:srgbClr val="E05555">
                <a:alpha val="30000"/>
              </a:srgbClr>
            </a:solidFill>
          </a:ln>
        </p:spPr>
      </p:sp>
      <p:sp>
        <p:nvSpPr>
          <p:cNvPr id="37" name="Ellipse 37"/>
          <p:cNvSpPr/>
          <p:nvPr/>
        </p:nvSpPr>
        <p:spPr>
          <a:xfrm>
            <a:off x="762000" y="5876925"/>
            <a:ext cx="381000" cy="381000"/>
          </a:xfrm>
          <a:prstGeom prst="ellipse">
            <a:avLst/>
          </a:prstGeom>
          <a:solidFill>
            <a:srgbClr val="E05555">
              <a:alpha val="20000"/>
            </a:srgbClr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70192" y="5962650"/>
            <a:ext cx="1646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E05555"/>
                </a:solidFill>
                <a:latin typeface="Georgia"/>
                <a:ea typeface="SimSun"/>
                <a:cs typeface="Georgia"/>
              </a:rPr>
              <a:t>5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68730" y="5807392"/>
            <a:ext cx="272562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D48B"/>
                </a:solidFill>
                <a:latin typeface="Arial"/>
                <a:ea typeface="Microsoft YaHei"/>
                <a:cs typeface="Arial"/>
              </a:rPr>
              <a:t>占星学具有跨学科的实践价值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71588" y="6117431"/>
            <a:ext cx="67651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8E6E1"/>
                </a:solidFill>
                <a:latin typeface="Arial"/>
                <a:ea typeface="Microsoft YaHei"/>
                <a:cs typeface="Arial"/>
              </a:rPr>
              <a:t>从个人发展到团队建设，从关系咨询到职业规划，五大人性原型体系提供了独特的分析视角。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266622" y="6483191"/>
            <a:ext cx="364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17 / 18</a:t>
            </a:r>
          </a:p>
        </p:txBody>
      </p:sp>
    </p:spTree>
  </p:cSld>
  <p:clrMapOvr>
    <a:masterClrMapping/>
  </p:clrMapOvr>
  <p:transition 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9A84C">
                  <a:alpha val="8000"/>
                </a:srgbClr>
              </a:gs>
              <a:gs pos="100000">
                <a:srgbClr val="C9A84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4381500" y="1333500"/>
            <a:ext cx="3429000" cy="3429000"/>
          </a:xfrm>
          <a:prstGeom prst="ellipse">
            <a:avLst/>
          </a:prstGeom>
          <a:noFill/>
          <a:ln w="4762">
            <a:solidFill>
              <a:srgbClr val="C9A84C">
                <a:alpha val="15000"/>
              </a:srgbClr>
            </a:solidFill>
          </a:ln>
        </p:spPr>
      </p:sp>
      <p:sp>
        <p:nvSpPr>
          <p:cNvPr id="5" name="Ellipse 5"/>
          <p:cNvSpPr/>
          <p:nvPr/>
        </p:nvSpPr>
        <p:spPr>
          <a:xfrm>
            <a:off x="4667250" y="1619250"/>
            <a:ext cx="2857500" cy="2857500"/>
          </a:xfrm>
          <a:prstGeom prst="ellipse">
            <a:avLst/>
          </a:prstGeom>
          <a:noFill/>
          <a:ln w="4762">
            <a:solidFill>
              <a:srgbClr val="C9A84C">
                <a:alpha val="12000"/>
              </a:srgbClr>
            </a:solidFill>
          </a:ln>
        </p:spPr>
      </p:sp>
      <p:sp>
        <p:nvSpPr>
          <p:cNvPr id="6" name="Ellipse 6"/>
          <p:cNvSpPr/>
          <p:nvPr/>
        </p:nvSpPr>
        <p:spPr>
          <a:xfrm>
            <a:off x="4953000" y="1905000"/>
            <a:ext cx="2286000" cy="2286000"/>
          </a:xfrm>
          <a:prstGeom prst="ellipse">
            <a:avLst/>
          </a:prstGeom>
          <a:noFill/>
          <a:ln w="4762">
            <a:solidFill>
              <a:srgbClr val="C9A84C">
                <a:alpha val="10000"/>
              </a:srgbClr>
            </a:solidFill>
          </a:ln>
        </p:spPr>
      </p:sp>
      <p:sp>
        <p:nvSpPr>
          <p:cNvPr id="7" name="Ellipse 7"/>
          <p:cNvSpPr/>
          <p:nvPr/>
        </p:nvSpPr>
        <p:spPr>
          <a:xfrm>
            <a:off x="5238750" y="2190750"/>
            <a:ext cx="1714500" cy="1714500"/>
          </a:xfrm>
          <a:prstGeom prst="ellipse">
            <a:avLst/>
          </a:prstGeom>
          <a:noFill/>
          <a:ln w="4762">
            <a:solidFill>
              <a:srgbClr val="C9A84C">
                <a:alpha val="8000"/>
              </a:srgbClr>
            </a:solidFill>
          </a:ln>
        </p:spPr>
      </p:sp>
      <p:sp>
        <p:nvSpPr>
          <p:cNvPr id="8" name="Ellipse 8"/>
          <p:cNvSpPr/>
          <p:nvPr/>
        </p:nvSpPr>
        <p:spPr>
          <a:xfrm>
            <a:off x="1885950" y="1409700"/>
            <a:ext cx="38100" cy="38100"/>
          </a:xfrm>
          <a:prstGeom prst="ellipse">
            <a:avLst/>
          </a:prstGeom>
          <a:solidFill>
            <a:srgbClr val="C9A84C">
              <a:alpha val="40000"/>
            </a:srgbClr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10272712" y="1700212"/>
            <a:ext cx="28575" cy="28575"/>
          </a:xfrm>
          <a:prstGeom prst="ellipse">
            <a:avLst/>
          </a:prstGeom>
          <a:solidFill>
            <a:srgbClr val="C9A84C">
              <a:alpha val="30000"/>
            </a:srgbClr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2843212" y="5224462"/>
            <a:ext cx="28575" cy="28575"/>
          </a:xfrm>
          <a:prstGeom prst="ellipse">
            <a:avLst/>
          </a:prstGeom>
          <a:solidFill>
            <a:srgbClr val="4A7CF7">
              <a:alpha val="30000"/>
            </a:srgbClr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9315450" y="4933950"/>
            <a:ext cx="38100" cy="38100"/>
          </a:xfrm>
          <a:prstGeom prst="ellipse">
            <a:avLst/>
          </a:prstGeom>
          <a:solidFill>
            <a:srgbClr val="C9A84C">
              <a:alpha val="40000"/>
            </a:srgb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1419225" y="3324225"/>
            <a:ext cx="19050" cy="19050"/>
          </a:xfrm>
          <a:prstGeom prst="ellipse">
            <a:avLst/>
          </a:prstGeom>
          <a:solidFill>
            <a:srgbClr val="C9A84C">
              <a:alpha val="30000"/>
            </a:srgbClr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10748962" y="3795712"/>
            <a:ext cx="28575" cy="28575"/>
          </a:xfrm>
          <a:prstGeom prst="ellipse">
            <a:avLst/>
          </a:prstGeom>
          <a:solidFill>
            <a:srgbClr val="4A7CF7">
              <a:alpha val="25000"/>
            </a:srgbClr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754499" y="2213610"/>
            <a:ext cx="268300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gradFill>
                  <a:gsLst>
                    <a:gs pos="0">
                      <a:srgbClr val="C9A84C"/>
                    </a:gs>
                    <a:gs pos="50000">
                      <a:srgbClr val="E8D48B"/>
                    </a:gs>
                    <a:gs pos="100000">
                      <a:srgbClr val="C9A84C"/>
                    </a:gs>
                  </a:gsLst>
                  <a:lin ang="2700000" scaled="1"/>
                </a:gradFill>
                <a:latin typeface="Georgia"/>
                <a:ea typeface="Microsoft YaHei"/>
                <a:cs typeface="Georgia"/>
              </a:rPr>
              <a:t>感谢阅读</a:t>
            </a:r>
          </a:p>
        </p:txBody>
      </p:sp>
      <p:sp>
        <p:nvSpPr>
          <p:cNvPr id="15" name="Line 15"/>
          <p:cNvSpPr/>
          <p:nvPr/>
        </p:nvSpPr>
        <p:spPr>
          <a:xfrm>
            <a:off x="5143500" y="285750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19050">
            <a:solidFill>
              <a:srgbClr val="C9A84C">
                <a:alpha val="60000"/>
              </a:srgbClr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4959668" y="3171825"/>
            <a:ext cx="227266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i="1" dirty="0">
                <a:solidFill>
                  <a:srgbClr val="E8D48B"/>
                </a:solidFill>
                <a:latin typeface="Georgia"/>
                <a:ea typeface="SimSun"/>
                <a:cs typeface="Georgia"/>
              </a:rPr>
              <a:t>"As Above, So Below"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402931" y="3664268"/>
            <a:ext cx="33861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9A98A0"/>
                </a:solidFill>
                <a:latin typeface="Arial"/>
                <a:ea typeface="Microsoft YaHei"/>
                <a:cs typeface="Arial"/>
              </a:rPr>
              <a:t>西方占星学五大底层人性原型体系报告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925062" y="4156710"/>
            <a:ext cx="434187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领域意识 · 损失厌恶 · 等级服从 · 部落归属 · 互惠交换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266622" y="6483191"/>
            <a:ext cx="364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18 / 18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