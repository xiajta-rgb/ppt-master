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1524000" y="-4762500"/>
            <a:ext cx="15240000" cy="9525000"/>
          </a:xfrm>
          <a:prstGeom prst="ellipse">
            <a:avLst/>
          </a:prstGeom>
          <a:gradFill>
            <a:gsLst>
              <a:gs pos="0">
                <a:srgbClr val="C9A962">
                  <a:alpha val="15000"/>
                </a:srgbClr>
              </a:gs>
              <a:gs pos="100000">
                <a:srgbClr val="C9A962">
                  <a:alpha val="0"/>
                </a:srgbClr>
              </a:gs>
            </a:gsLst>
            <a:path path="circle">
              <a:fillToRect l="50000" t="-20000" r="50000" b="120000"/>
            </a:path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53000" y="1543050"/>
            <a:ext cx="2286000" cy="342900"/>
            <a:chOff x="4953000" y="1543050"/>
            <a:chExt cx="2286000" cy="342900"/>
          </a:xfrm>
        </p:grpSpPr>
        <p:sp>
          <p:nvSpPr>
            <p:cNvPr id="4" name="Rectangle 4"/>
            <p:cNvSpPr/>
            <p:nvPr/>
          </p:nvSpPr>
          <p:spPr>
            <a:xfrm>
              <a:off x="4953000" y="1543050"/>
              <a:ext cx="2286000" cy="342900"/>
            </a:xfrm>
            <a:prstGeom prst="rect">
              <a:avLst/>
            </a:prstGeom>
            <a:solidFill>
              <a:srgbClr val="C9A962">
                <a:alpha val="10000"/>
              </a:srgbClr>
            </a:solidFill>
            <a:ln w="9525">
              <a:solidFill>
                <a:srgbClr val="C9A962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13776" y="1673066"/>
              <a:ext cx="156444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INDUSTRY RESEARCH · 2025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535900" y="2406015"/>
            <a:ext cx="312020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亚马逊美国站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82869" y="3072765"/>
            <a:ext cx="362626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gradFill>
                  <a:gsLst>
                    <a:gs pos="0">
                      <a:srgbClr val="C9A962"/>
                    </a:gs>
                    <a:gs pos="100000">
                      <a:srgbClr val="E0C882"/>
                    </a:gs>
                  </a:gsLst>
                  <a:lin ang="2700000" scaled="1"/>
                </a:gradFill>
                <a:latin typeface="Space Grotesk"/>
                <a:ea typeface="Microsoft YaHei"/>
                <a:cs typeface="Space Grotesk"/>
              </a:rPr>
              <a:t>男休闲工装服装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35900" y="3739515"/>
            <a:ext cx="312020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市场深度分析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59318" y="4632960"/>
            <a:ext cx="78733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从市场规模、竞争格局到产品设计DNA——面料科技、版型工学、辅料体系与视觉呈现的全方位专业解读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56070" y="5419249"/>
            <a:ext cx="28798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Inter"/>
                <a:ea typeface="Microsoft YaHei"/>
                <a:cs typeface="Inter"/>
              </a:rPr>
              <a:t>2025年4月</a:t>
            </a:r>
            <a:r>
              <a:rPr lang="zh-CN" sz="975" dirty="0">
                <a:solidFill>
                  <a:srgbClr val="6E6E73"/>
                </a:solidFill>
                <a:latin typeface="Inter"/>
                <a:ea typeface="Microsoft YaHei"/>
                <a:cs typeface="Inter"/>
              </a:rPr>
              <a:t>|</a:t>
            </a:r>
            <a:r>
              <a:rPr lang="zh-CN" sz="975" dirty="0">
                <a:solidFill>
                  <a:srgbClr val="6E6E73"/>
                </a:solidFill>
                <a:latin typeface="Inter"/>
                <a:ea typeface="Microsoft YaHei"/>
                <a:cs typeface="Inter"/>
              </a:rPr>
              <a:t>Amazon US Market</a:t>
            </a:r>
            <a:r>
              <a:rPr lang="zh-CN" sz="975" dirty="0">
                <a:solidFill>
                  <a:srgbClr val="6E6E73"/>
                </a:solidFill>
                <a:latin typeface="Inter"/>
                <a:ea typeface="Microsoft YaHei"/>
                <a:cs typeface="Inter"/>
              </a:rPr>
              <a:t>|</a:t>
            </a:r>
            <a:r>
              <a:rPr lang="zh-CN" sz="975" dirty="0">
                <a:solidFill>
                  <a:srgbClr val="6E6E73"/>
                </a:solidFill>
                <a:latin typeface="Inter"/>
                <a:ea typeface="Microsoft YaHei"/>
                <a:cs typeface="Inter"/>
              </a:rPr>
              <a:t>课程研究报告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1419"/>
              </a:gs>
              <a:gs pos="100000">
                <a:srgbClr val="0A0A0F"/>
              </a:gs>
            </a:gsLst>
            <a:lin ang="54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77339" y="426720"/>
            <a:ext cx="1437322" cy="673418"/>
            <a:chOff x="5377339" y="426720"/>
            <a:chExt cx="1437322" cy="673418"/>
          </a:xfrm>
        </p:grpSpPr>
        <p:sp>
          <p:nvSpPr>
            <p:cNvPr id="3" name="TextBox 3"/>
            <p:cNvSpPr txBox="1"/>
            <p:nvPr/>
          </p:nvSpPr>
          <p:spPr>
            <a:xfrm>
              <a:off x="5767130" y="426720"/>
              <a:ext cx="6577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CONTENTS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77339" y="642938"/>
              <a:ext cx="14373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5F5F7"/>
                  </a:solidFill>
                  <a:latin typeface="Space Grotesk"/>
                  <a:ea typeface="Microsoft YaHei"/>
                  <a:cs typeface="Space Grotesk"/>
                </a:rPr>
                <a:t>报告目录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1047750"/>
            <a:ext cx="10953750" cy="1905000"/>
            <a:chOff x="571500" y="1047750"/>
            <a:chExt cx="10953750" cy="1905000"/>
          </a:xfrm>
        </p:grpSpPr>
        <p:grpSp>
          <p:nvGrpSpPr>
            <p:cNvPr id="14" name="Group 14"/>
            <p:cNvGrpSpPr/>
            <p:nvPr/>
          </p:nvGrpSpPr>
          <p:grpSpPr>
            <a:xfrm>
              <a:off x="571500" y="1047750"/>
              <a:ext cx="3524250" cy="857250"/>
              <a:chOff x="571500" y="1047750"/>
              <a:chExt cx="3524250" cy="857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047750"/>
                <a:ext cx="3524250" cy="857250"/>
              </a:xfrm>
              <a:prstGeom prst="rect">
                <a:avLst/>
              </a:prstGeom>
              <a:solidFill>
                <a:srgbClr val="FFFFFF">
                  <a:alpha val="3000"/>
                </a:srgbClr>
              </a:solidFill>
              <a:ln w="9525">
                <a:solidFill>
                  <a:srgbClr val="C9A962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41045" y="1155382"/>
                <a:ext cx="25698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9A962">
                        <a:alpha val="50000"/>
                      </a:srgbClr>
                    </a:solidFill>
                    <a:latin typeface="Space Grotesk"/>
                    <a:ea typeface="Microsoft YaHei"/>
                    <a:cs typeface="Space Grotesk"/>
                  </a:rPr>
                  <a:t>01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29665" y="1220152"/>
                <a:ext cx="14758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市场现状与行业趋势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52475" y="1462088"/>
                <a:ext cx="138279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1.1 工装文化溯源与历史演变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52475" y="1595438"/>
                <a:ext cx="108156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1.2 工装核心文化属性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371725" y="1462088"/>
                <a:ext cx="151971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1.3 亚马逊类目结构与核心数据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371725" y="1595438"/>
                <a:ext cx="151971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1.4 市场规模、增速与增长驱动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2475" y="1728788"/>
                <a:ext cx="151971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1.5 海外主流潮流：巴恩风解读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286250" y="1047750"/>
              <a:ext cx="3524250" cy="857250"/>
              <a:chOff x="4286250" y="1047750"/>
              <a:chExt cx="3524250" cy="8572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286250" y="1047750"/>
                <a:ext cx="3524250" cy="857250"/>
              </a:xfrm>
              <a:prstGeom prst="rect">
                <a:avLst/>
              </a:prstGeom>
              <a:solidFill>
                <a:srgbClr val="FFFFFF">
                  <a:alpha val="3000"/>
                </a:srgbClr>
              </a:solidFill>
              <a:ln w="9525">
                <a:solidFill>
                  <a:srgbClr val="C9A962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455795" y="115538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9A962">
                        <a:alpha val="50000"/>
                      </a:srgbClr>
                    </a:solidFill>
                    <a:latin typeface="Space Grotesk"/>
                    <a:ea typeface="Microsoft YaHei"/>
                    <a:cs typeface="Space Grotesk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844415" y="1220152"/>
                <a:ext cx="12584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核心产品设计DNA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467225" y="1462088"/>
                <a:ext cx="213860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2.1 主流四大风格：复古/军事/机能/轻工装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467225" y="1595438"/>
                <a:ext cx="88987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2.2 核心面料科技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086475" y="1595438"/>
                <a:ext cx="121848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2.3 版型工学与功能细节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67225" y="1728788"/>
                <a:ext cx="99941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2.4 辅料与五金体系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01000" y="1047750"/>
              <a:ext cx="3524250" cy="857250"/>
              <a:chOff x="8001000" y="1047750"/>
              <a:chExt cx="3524250" cy="857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8001000" y="1047750"/>
                <a:ext cx="3524250" cy="857250"/>
              </a:xfrm>
              <a:prstGeom prst="rect">
                <a:avLst/>
              </a:prstGeom>
              <a:solidFill>
                <a:srgbClr val="FFFFFF">
                  <a:alpha val="3000"/>
                </a:srgbClr>
              </a:solidFill>
              <a:ln w="9525">
                <a:solidFill>
                  <a:srgbClr val="C9A962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170545" y="115538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9A962">
                        <a:alpha val="50000"/>
                      </a:srgbClr>
                    </a:solidFill>
                    <a:latin typeface="Space Grotesk"/>
                    <a:ea typeface="Microsoft YaHei"/>
                    <a:cs typeface="Space Grotesk"/>
                  </a:rPr>
                  <a:t>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59165" y="1220152"/>
                <a:ext cx="14758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产品视觉与电商呈现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181975" y="1462088"/>
                <a:ext cx="162925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3.1 四大风格色彩体系与设计语言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181975" y="1595438"/>
                <a:ext cx="161829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3.2 亚马逊主图/A+页面视觉规范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81975" y="1728788"/>
                <a:ext cx="132802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3.3 摄影美学与视觉差异化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571500" y="2095500"/>
              <a:ext cx="3524250" cy="857250"/>
              <a:chOff x="571500" y="2095500"/>
              <a:chExt cx="3524250" cy="8572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71500" y="2095500"/>
                <a:ext cx="3524250" cy="857250"/>
              </a:xfrm>
              <a:prstGeom prst="rect">
                <a:avLst/>
              </a:prstGeom>
              <a:solidFill>
                <a:srgbClr val="FFFFFF">
                  <a:alpha val="3000"/>
                </a:srgbClr>
              </a:solidFill>
              <a:ln w="9525">
                <a:solidFill>
                  <a:srgbClr val="C9A962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41045" y="220313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9A962">
                        <a:alpha val="50000"/>
                      </a:srgbClr>
                    </a:solidFill>
                    <a:latin typeface="Space Grotesk"/>
                    <a:ea typeface="Microsoft YaHei"/>
                    <a:cs typeface="Space Grotesk"/>
                  </a:rPr>
                  <a:t>04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2267902"/>
                <a:ext cx="16368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消费者人群与需求演变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52475" y="2509838"/>
                <a:ext cx="162925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4.1 四大核心人群画像与消费特征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52475" y="2643188"/>
                <a:ext cx="132802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4.2 五大消费需求演变路径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286250" y="2095500"/>
              <a:ext cx="3524250" cy="857250"/>
              <a:chOff x="4286250" y="2095500"/>
              <a:chExt cx="3524250" cy="8572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4286250" y="2095500"/>
                <a:ext cx="3524250" cy="857250"/>
              </a:xfrm>
              <a:prstGeom prst="rect">
                <a:avLst/>
              </a:prstGeom>
              <a:solidFill>
                <a:srgbClr val="FFFFFF">
                  <a:alpha val="3000"/>
                </a:srgbClr>
              </a:solidFill>
              <a:ln w="9525">
                <a:solidFill>
                  <a:srgbClr val="C9A962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455795" y="220313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9A962">
                        <a:alpha val="50000"/>
                      </a:srgbClr>
                    </a:solidFill>
                    <a:latin typeface="Space Grotesk"/>
                    <a:ea typeface="Microsoft YaHei"/>
                    <a:cs typeface="Space Grotesk"/>
                  </a:rPr>
                  <a:t>05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844415" y="22679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品牌竞争格局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467225" y="2509838"/>
                <a:ext cx="151971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5.1 四档价格带品牌矩阵与定位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467225" y="2643188"/>
                <a:ext cx="121848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5.2 头部品牌差异化策略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467225" y="2776538"/>
                <a:ext cx="132802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5.3 行业生命周期阶段研判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8001000" y="2095500"/>
              <a:ext cx="3524250" cy="857250"/>
              <a:chOff x="8001000" y="2095500"/>
              <a:chExt cx="3524250" cy="85725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001000" y="2095500"/>
                <a:ext cx="3524250" cy="857250"/>
              </a:xfrm>
              <a:prstGeom prst="rect">
                <a:avLst/>
              </a:prstGeom>
              <a:solidFill>
                <a:srgbClr val="FFFFFF">
                  <a:alpha val="3000"/>
                </a:srgbClr>
              </a:solidFill>
              <a:ln w="9525">
                <a:solidFill>
                  <a:srgbClr val="C9A962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170545" y="220313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9A962">
                        <a:alpha val="50000"/>
                      </a:srgbClr>
                    </a:solidFill>
                    <a:latin typeface="Space Grotesk"/>
                    <a:ea typeface="Microsoft YaHei"/>
                    <a:cs typeface="Space Grotesk"/>
                  </a:rPr>
                  <a:t>06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559165" y="2267902"/>
                <a:ext cx="14758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未来机遇与入局战略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181975" y="2509838"/>
                <a:ext cx="108156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6.1 三大核心市场机遇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181975" y="2643188"/>
                <a:ext cx="88987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6.2 市场切入策略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801225" y="2643188"/>
                <a:ext cx="165663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6.3 产品、营销、供应链落地建议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81975" y="2776538"/>
                <a:ext cx="121848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6.4 市场风险与合规提示</a:t>
                </a:r>
              </a:p>
            </p:txBody>
          </p:sp>
        </p:grpSp>
      </p:grpSp>
      <p:grpSp>
        <p:nvGrpSpPr>
          <p:cNvPr id="120" name="Group 120"/>
          <p:cNvGrpSpPr/>
          <p:nvPr/>
        </p:nvGrpSpPr>
        <p:grpSpPr>
          <a:xfrm>
            <a:off x="571500" y="3238500"/>
            <a:ext cx="11049000" cy="3429000"/>
            <a:chOff x="571500" y="3238500"/>
            <a:chExt cx="11049000" cy="3429000"/>
          </a:xfrm>
        </p:grpSpPr>
        <p:sp>
          <p:nvSpPr>
            <p:cNvPr id="52" name="Rectangle 52"/>
            <p:cNvSpPr/>
            <p:nvPr/>
          </p:nvSpPr>
          <p:spPr>
            <a:xfrm>
              <a:off x="571500" y="3238500"/>
              <a:ext cx="11049000" cy="34290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71500" y="3238500"/>
              <a:ext cx="11049000" cy="57150"/>
            </a:xfrm>
            <a:prstGeom prst="rect">
              <a:avLst/>
            </a:prstGeom>
            <a:gradFill>
              <a:gsLst>
                <a:gs pos="0">
                  <a:srgbClr val="C9A962"/>
                </a:gs>
                <a:gs pos="100000">
                  <a:srgbClr val="E0C882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935355" y="3427095"/>
              <a:ext cx="5158180" cy="463867"/>
              <a:chOff x="935355" y="3427095"/>
              <a:chExt cx="5158180" cy="463867"/>
            </a:xfrm>
          </p:grpSpPr>
          <p:sp>
            <p:nvSpPr>
              <p:cNvPr id="54" name="TextBox 54"/>
              <p:cNvSpPr txBox="1"/>
              <p:nvPr/>
            </p:nvSpPr>
            <p:spPr>
              <a:xfrm>
                <a:off x="941070" y="3427095"/>
                <a:ext cx="123051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REPORT STRUCTURE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35355" y="3616642"/>
                <a:ext cx="51581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逻辑主线：市场 → 用户 → 产品 → 视觉 → 竞品 → 趋势策略</a:t>
                </a: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952500" y="4048125"/>
              <a:ext cx="10572750" cy="476250"/>
              <a:chOff x="952500" y="4048125"/>
              <a:chExt cx="10572750" cy="476250"/>
            </a:xfrm>
          </p:grpSpPr>
          <p:grpSp>
            <p:nvGrpSpPr>
              <p:cNvPr id="60" name="Group 60"/>
              <p:cNvGrpSpPr/>
              <p:nvPr/>
            </p:nvGrpSpPr>
            <p:grpSpPr>
              <a:xfrm>
                <a:off x="952500" y="4048125"/>
                <a:ext cx="1524000" cy="476250"/>
                <a:chOff x="952500" y="4048125"/>
                <a:chExt cx="1524000" cy="476250"/>
              </a:xfrm>
            </p:grpSpPr>
            <p:sp>
              <p:nvSpPr>
                <p:cNvPr id="57" name="Rectangle 57"/>
                <p:cNvSpPr/>
                <p:nvPr/>
              </p:nvSpPr>
              <p:spPr>
                <a:xfrm>
                  <a:off x="952500" y="4048125"/>
                  <a:ext cx="1524000" cy="476250"/>
                </a:xfrm>
                <a:prstGeom prst="rect">
                  <a:avLst/>
                </a:prstGeom>
                <a:solidFill>
                  <a:srgbClr val="C9A962">
                    <a:alpha val="10000"/>
                  </a:srgbClr>
                </a:solidFill>
                <a:ln w="9525">
                  <a:solidFill>
                    <a:srgbClr val="C9A962"/>
                  </a:solidFill>
                </a:ln>
              </p:spPr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1435176" y="4168616"/>
                  <a:ext cx="558647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CH01 市场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1459468" y="4337209"/>
                  <a:ext cx="510064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现状与趋势</a:t>
                  </a:r>
                </a:p>
              </p:txBody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2556510" y="420433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→</a:t>
                </a:r>
              </a:p>
            </p:txBody>
          </p:sp>
          <p:grpSp>
            <p:nvGrpSpPr>
              <p:cNvPr id="65" name="Group 65"/>
              <p:cNvGrpSpPr/>
              <p:nvPr/>
            </p:nvGrpSpPr>
            <p:grpSpPr>
              <a:xfrm>
                <a:off x="2762250" y="4048125"/>
                <a:ext cx="1524000" cy="476250"/>
                <a:chOff x="2762250" y="4048125"/>
                <a:chExt cx="1524000" cy="476250"/>
              </a:xfrm>
            </p:grpSpPr>
            <p:sp>
              <p:nvSpPr>
                <p:cNvPr id="62" name="Rectangle 62"/>
                <p:cNvSpPr/>
                <p:nvPr/>
              </p:nvSpPr>
              <p:spPr>
                <a:xfrm>
                  <a:off x="2762250" y="4048125"/>
                  <a:ext cx="1524000" cy="476250"/>
                </a:xfrm>
                <a:prstGeom prst="rect">
                  <a:avLst/>
                </a:prstGeom>
                <a:solidFill>
                  <a:srgbClr val="C9A962">
                    <a:alpha val="10000"/>
                  </a:srgbClr>
                </a:solidFill>
                <a:ln w="9525">
                  <a:solidFill>
                    <a:srgbClr val="C9A962"/>
                  </a:solidFill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3229112" y="4168616"/>
                  <a:ext cx="590276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CH02 产品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3335762" y="4337209"/>
                  <a:ext cx="376976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设计DNA</a:t>
                  </a:r>
                </a:p>
              </p:txBody>
            </p:sp>
          </p:grpSp>
          <p:sp>
            <p:nvSpPr>
              <p:cNvPr id="66" name="TextBox 66"/>
              <p:cNvSpPr txBox="1"/>
              <p:nvPr/>
            </p:nvSpPr>
            <p:spPr>
              <a:xfrm>
                <a:off x="4366260" y="420433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→</a:t>
                </a:r>
              </a:p>
            </p:txBody>
          </p:sp>
          <p:grpSp>
            <p:nvGrpSpPr>
              <p:cNvPr id="70" name="Group 70"/>
              <p:cNvGrpSpPr/>
              <p:nvPr/>
            </p:nvGrpSpPr>
            <p:grpSpPr>
              <a:xfrm>
                <a:off x="4572000" y="4048125"/>
                <a:ext cx="1524000" cy="476250"/>
                <a:chOff x="4572000" y="4048125"/>
                <a:chExt cx="1524000" cy="476250"/>
              </a:xfrm>
            </p:grpSpPr>
            <p:sp>
              <p:nvSpPr>
                <p:cNvPr id="67" name="Rectangle 67"/>
                <p:cNvSpPr/>
                <p:nvPr/>
              </p:nvSpPr>
              <p:spPr>
                <a:xfrm>
                  <a:off x="4572000" y="4048125"/>
                  <a:ext cx="1524000" cy="476250"/>
                </a:xfrm>
                <a:prstGeom prst="rect">
                  <a:avLst/>
                </a:prstGeom>
                <a:solidFill>
                  <a:srgbClr val="C9A962">
                    <a:alpha val="10000"/>
                  </a:srgbClr>
                </a:solidFill>
                <a:ln w="9525">
                  <a:solidFill>
                    <a:srgbClr val="C9A962"/>
                  </a:solidFill>
                </a:ln>
              </p:spPr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5038862" y="4168616"/>
                  <a:ext cx="590276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CH03 视觉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5128260" y="4337209"/>
                  <a:ext cx="411480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电商呈现</a:t>
                  </a:r>
                </a:p>
              </p:txBody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6176010" y="420433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→</a:t>
                </a:r>
              </a:p>
            </p:txBody>
          </p:sp>
          <p:grpSp>
            <p:nvGrpSpPr>
              <p:cNvPr id="75" name="Group 75"/>
              <p:cNvGrpSpPr/>
              <p:nvPr/>
            </p:nvGrpSpPr>
            <p:grpSpPr>
              <a:xfrm>
                <a:off x="6381750" y="4048125"/>
                <a:ext cx="1524000" cy="476250"/>
                <a:chOff x="6381750" y="4048125"/>
                <a:chExt cx="1524000" cy="476250"/>
              </a:xfrm>
            </p:grpSpPr>
            <p:sp>
              <p:nvSpPr>
                <p:cNvPr id="72" name="Rectangle 72"/>
                <p:cNvSpPr/>
                <p:nvPr/>
              </p:nvSpPr>
              <p:spPr>
                <a:xfrm>
                  <a:off x="6381750" y="4048125"/>
                  <a:ext cx="1524000" cy="476250"/>
                </a:xfrm>
                <a:prstGeom prst="rect">
                  <a:avLst/>
                </a:prstGeom>
                <a:solidFill>
                  <a:srgbClr val="C9A962">
                    <a:alpha val="10000"/>
                  </a:srgbClr>
                </a:solidFill>
                <a:ln w="9525">
                  <a:solidFill>
                    <a:srgbClr val="C9A962"/>
                  </a:solidFill>
                </a:ln>
              </p:spPr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6848612" y="4168616"/>
                  <a:ext cx="590276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CH04 用户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6888718" y="4337209"/>
                  <a:ext cx="510064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人群与需求</a:t>
                  </a:r>
                </a:p>
              </p:txBody>
            </p:sp>
          </p:grpSp>
          <p:sp>
            <p:nvSpPr>
              <p:cNvPr id="76" name="TextBox 76"/>
              <p:cNvSpPr txBox="1"/>
              <p:nvPr/>
            </p:nvSpPr>
            <p:spPr>
              <a:xfrm>
                <a:off x="7985760" y="420433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→</a:t>
                </a:r>
              </a:p>
            </p:txBody>
          </p:sp>
          <p:grpSp>
            <p:nvGrpSpPr>
              <p:cNvPr id="80" name="Group 80"/>
              <p:cNvGrpSpPr/>
              <p:nvPr/>
            </p:nvGrpSpPr>
            <p:grpSpPr>
              <a:xfrm>
                <a:off x="8191500" y="4048125"/>
                <a:ext cx="1524000" cy="476250"/>
                <a:chOff x="8191500" y="4048125"/>
                <a:chExt cx="1524000" cy="476250"/>
              </a:xfrm>
            </p:grpSpPr>
            <p:sp>
              <p:nvSpPr>
                <p:cNvPr id="77" name="Rectangle 77"/>
                <p:cNvSpPr/>
                <p:nvPr/>
              </p:nvSpPr>
              <p:spPr>
                <a:xfrm>
                  <a:off x="8191500" y="4048125"/>
                  <a:ext cx="1524000" cy="476250"/>
                </a:xfrm>
                <a:prstGeom prst="rect">
                  <a:avLst/>
                </a:prstGeom>
                <a:solidFill>
                  <a:srgbClr val="C9A962">
                    <a:alpha val="10000"/>
                  </a:srgbClr>
                </a:solidFill>
                <a:ln w="9525">
                  <a:solidFill>
                    <a:srgbClr val="C9A962"/>
                  </a:solidFill>
                </a:ln>
              </p:spPr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8658362" y="4168616"/>
                  <a:ext cx="590276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CH05 竞品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8747760" y="4337209"/>
                  <a:ext cx="411480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品牌格局</a:t>
                  </a:r>
                </a:p>
              </p:txBody>
            </p:sp>
          </p:grpSp>
          <p:sp>
            <p:nvSpPr>
              <p:cNvPr id="81" name="TextBox 81"/>
              <p:cNvSpPr txBox="1"/>
              <p:nvPr/>
            </p:nvSpPr>
            <p:spPr>
              <a:xfrm>
                <a:off x="9795510" y="420433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→</a:t>
                </a:r>
              </a:p>
            </p:txBody>
          </p:sp>
          <p:grpSp>
            <p:nvGrpSpPr>
              <p:cNvPr id="85" name="Group 85"/>
              <p:cNvGrpSpPr/>
              <p:nvPr/>
            </p:nvGrpSpPr>
            <p:grpSpPr>
              <a:xfrm>
                <a:off x="10001250" y="4048125"/>
                <a:ext cx="1524000" cy="476250"/>
                <a:chOff x="10001250" y="4048125"/>
                <a:chExt cx="1524000" cy="476250"/>
              </a:xfrm>
            </p:grpSpPr>
            <p:sp>
              <p:nvSpPr>
                <p:cNvPr id="82" name="Rectangle 82"/>
                <p:cNvSpPr/>
                <p:nvPr/>
              </p:nvSpPr>
              <p:spPr>
                <a:xfrm>
                  <a:off x="10001250" y="4048125"/>
                  <a:ext cx="1524000" cy="476250"/>
                </a:xfrm>
                <a:prstGeom prst="rect">
                  <a:avLst/>
                </a:prstGeom>
                <a:solidFill>
                  <a:srgbClr val="C9A962">
                    <a:alpha val="10000"/>
                  </a:srgbClr>
                </a:solidFill>
                <a:ln w="9525">
                  <a:solidFill>
                    <a:srgbClr val="C9A962"/>
                  </a:solidFill>
                </a:ln>
              </p:spPr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10468112" y="4168616"/>
                  <a:ext cx="590276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CH06 战略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10508218" y="4337209"/>
                  <a:ext cx="510064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机遇与入局</a:t>
                  </a:r>
                </a:p>
              </p:txBody>
            </p:sp>
          </p:grpSp>
        </p:grpSp>
        <p:grpSp>
          <p:nvGrpSpPr>
            <p:cNvPr id="89" name="Group 89"/>
            <p:cNvGrpSpPr/>
            <p:nvPr/>
          </p:nvGrpSpPr>
          <p:grpSpPr>
            <a:xfrm>
              <a:off x="939165" y="4721066"/>
              <a:ext cx="1314831" cy="398622"/>
              <a:chOff x="939165" y="4721066"/>
              <a:chExt cx="1314831" cy="398622"/>
            </a:xfrm>
          </p:grpSpPr>
          <p:sp>
            <p:nvSpPr>
              <p:cNvPr id="87" name="TextBox 87"/>
              <p:cNvSpPr txBox="1"/>
              <p:nvPr/>
            </p:nvSpPr>
            <p:spPr>
              <a:xfrm>
                <a:off x="942022" y="4721066"/>
                <a:ext cx="90024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KEY HIGHLIGHTS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939165" y="4906328"/>
                <a:ext cx="1314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本次报告核心看点</a:t>
                </a:r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952500" y="5143500"/>
              <a:ext cx="10477500" cy="1333500"/>
              <a:chOff x="952500" y="5143500"/>
              <a:chExt cx="10477500" cy="1333500"/>
            </a:xfrm>
          </p:grpSpPr>
          <p:grpSp>
            <p:nvGrpSpPr>
              <p:cNvPr id="97" name="Group 97"/>
              <p:cNvGrpSpPr/>
              <p:nvPr/>
            </p:nvGrpSpPr>
            <p:grpSpPr>
              <a:xfrm>
                <a:off x="952500" y="5143500"/>
                <a:ext cx="2476500" cy="1333500"/>
                <a:chOff x="952500" y="5143500"/>
                <a:chExt cx="2476500" cy="1333500"/>
              </a:xfrm>
            </p:grpSpPr>
            <p:sp>
              <p:nvSpPr>
                <p:cNvPr id="90" name="Rectangle 90"/>
                <p:cNvSpPr/>
                <p:nvPr/>
              </p:nvSpPr>
              <p:spPr>
                <a:xfrm>
                  <a:off x="952500" y="5143500"/>
                  <a:ext cx="2476500" cy="133350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1084898" y="5292566"/>
                  <a:ext cx="52701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新增板块</a:t>
                  </a:r>
                </a:p>
              </p:txBody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1084898" y="5511641"/>
                  <a:ext cx="743902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品类边界说明</a:t>
                  </a:r>
                </a:p>
              </p:txBody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1085850" y="5691188"/>
                  <a:ext cx="151971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区分Work Utility / Tactical /</a:t>
                  </a:r>
                </a:p>
              </p:txBody>
            </p:sp>
            <p:sp>
              <p:nvSpPr>
                <p:cNvPr id="94" name="TextBox 94"/>
                <p:cNvSpPr txBox="1"/>
                <p:nvPr/>
              </p:nvSpPr>
              <p:spPr>
                <a:xfrm>
                  <a:off x="1085850" y="5843588"/>
                  <a:ext cx="113085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Techwear / Gorpcore</a:t>
                  </a:r>
                </a:p>
              </p:txBody>
            </p:sp>
            <p:sp>
              <p:nvSpPr>
                <p:cNvPr id="95" name="TextBox 95"/>
                <p:cNvSpPr txBox="1"/>
                <p:nvPr/>
              </p:nvSpPr>
              <p:spPr>
                <a:xfrm>
                  <a:off x="1084898" y="6054566"/>
                  <a:ext cx="743902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核心面料科技</a:t>
                  </a:r>
                </a:p>
              </p:txBody>
            </p:sp>
            <p:sp>
              <p:nvSpPr>
                <p:cNvPr id="96" name="TextBox 96"/>
                <p:cNvSpPr txBox="1"/>
                <p:nvPr/>
              </p:nvSpPr>
              <p:spPr>
                <a:xfrm>
                  <a:off x="1085850" y="6234112"/>
                  <a:ext cx="139374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Cordura/Ripstop/防水透气</a:t>
                  </a:r>
                </a:p>
              </p:txBody>
            </p:sp>
          </p:grpSp>
          <p:grpSp>
            <p:nvGrpSpPr>
              <p:cNvPr id="104" name="Group 104"/>
              <p:cNvGrpSpPr/>
              <p:nvPr/>
            </p:nvGrpSpPr>
            <p:grpSpPr>
              <a:xfrm>
                <a:off x="3619500" y="5143500"/>
                <a:ext cx="2476500" cy="1333500"/>
                <a:chOff x="3619500" y="5143500"/>
                <a:chExt cx="2476500" cy="1333500"/>
              </a:xfrm>
            </p:grpSpPr>
            <p:sp>
              <p:nvSpPr>
                <p:cNvPr id="98" name="Rectangle 98"/>
                <p:cNvSpPr/>
                <p:nvPr/>
              </p:nvSpPr>
              <p:spPr>
                <a:xfrm>
                  <a:off x="3619500" y="5143500"/>
                  <a:ext cx="2476500" cy="133350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99" name="TextBox 99"/>
                <p:cNvSpPr txBox="1"/>
                <p:nvPr/>
              </p:nvSpPr>
              <p:spPr>
                <a:xfrm>
                  <a:off x="3751898" y="5292566"/>
                  <a:ext cx="52701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新增板块</a:t>
                  </a:r>
                </a:p>
              </p:txBody>
            </p:sp>
            <p:sp>
              <p:nvSpPr>
                <p:cNvPr id="100" name="TextBox 100"/>
                <p:cNvSpPr txBox="1"/>
                <p:nvPr/>
              </p:nvSpPr>
              <p:spPr>
                <a:xfrm>
                  <a:off x="3751898" y="5511641"/>
                  <a:ext cx="1105376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版型工学与功能细节</a:t>
                  </a:r>
                </a:p>
              </p:txBody>
            </p:sp>
            <p:sp>
              <p:nvSpPr>
                <p:cNvPr id="101" name="TextBox 101"/>
                <p:cNvSpPr txBox="1"/>
                <p:nvPr/>
              </p:nvSpPr>
              <p:spPr>
                <a:xfrm>
                  <a:off x="3752850" y="5691188"/>
                  <a:ext cx="145399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立体剪裁/活动余量/加固结构</a:t>
                  </a:r>
                </a:p>
              </p:txBody>
            </p:sp>
            <p:sp>
              <p:nvSpPr>
                <p:cNvPr id="102" name="TextBox 102"/>
                <p:cNvSpPr txBox="1"/>
                <p:nvPr/>
              </p:nvSpPr>
              <p:spPr>
                <a:xfrm>
                  <a:off x="3751898" y="5911691"/>
                  <a:ext cx="1105376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市场风险与合规提示</a:t>
                  </a:r>
                </a:p>
              </p:txBody>
            </p:sp>
            <p:sp>
              <p:nvSpPr>
                <p:cNvPr id="103" name="TextBox 103"/>
                <p:cNvSpPr txBox="1"/>
                <p:nvPr/>
              </p:nvSpPr>
              <p:spPr>
                <a:xfrm>
                  <a:off x="3752850" y="6091238"/>
                  <a:ext cx="145399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政策法规/知识产权/运营风险</a:t>
                  </a:r>
                </a:p>
              </p:txBody>
            </p:sp>
          </p:grpSp>
          <p:grpSp>
            <p:nvGrpSpPr>
              <p:cNvPr id="111" name="Group 111"/>
              <p:cNvGrpSpPr/>
              <p:nvPr/>
            </p:nvGrpSpPr>
            <p:grpSpPr>
              <a:xfrm>
                <a:off x="6286500" y="5143500"/>
                <a:ext cx="2476500" cy="1333500"/>
                <a:chOff x="6286500" y="5143500"/>
                <a:chExt cx="2476500" cy="1333500"/>
              </a:xfrm>
            </p:grpSpPr>
            <p:sp>
              <p:nvSpPr>
                <p:cNvPr id="105" name="Rectangle 105"/>
                <p:cNvSpPr/>
                <p:nvPr/>
              </p:nvSpPr>
              <p:spPr>
                <a:xfrm>
                  <a:off x="6286500" y="5143500"/>
                  <a:ext cx="2476500" cy="133350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106" name="TextBox 106"/>
                <p:cNvSpPr txBox="1"/>
                <p:nvPr/>
              </p:nvSpPr>
              <p:spPr>
                <a:xfrm>
                  <a:off x="6418898" y="5292566"/>
                  <a:ext cx="52701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内容修正</a:t>
                  </a:r>
                </a:p>
              </p:txBody>
            </p:sp>
            <p:sp>
              <p:nvSpPr>
                <p:cNvPr id="107" name="TextBox 107"/>
                <p:cNvSpPr txBox="1"/>
                <p:nvPr/>
              </p:nvSpPr>
              <p:spPr>
                <a:xfrm>
                  <a:off x="6418898" y="5511641"/>
                  <a:ext cx="984885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数据来源标注完善</a:t>
                  </a:r>
                </a:p>
              </p:txBody>
            </p:sp>
            <p:sp>
              <p:nvSpPr>
                <p:cNvPr id="108" name="TextBox 108"/>
                <p:cNvSpPr txBox="1"/>
                <p:nvPr/>
              </p:nvSpPr>
              <p:spPr>
                <a:xfrm>
                  <a:off x="6419850" y="5691188"/>
                  <a:ext cx="123491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补充周期/币种/区域标注</a:t>
                  </a:r>
                </a:p>
              </p:txBody>
            </p:sp>
            <p:sp>
              <p:nvSpPr>
                <p:cNvPr id="109" name="TextBox 109"/>
                <p:cNvSpPr txBox="1"/>
                <p:nvPr/>
              </p:nvSpPr>
              <p:spPr>
                <a:xfrm>
                  <a:off x="6418898" y="5911691"/>
                  <a:ext cx="864394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色彩名称标准化</a:t>
                  </a:r>
                </a:p>
              </p:txBody>
            </p:sp>
            <p:sp>
              <p:nvSpPr>
                <p:cNvPr id="110" name="TextBox 110"/>
                <p:cNvSpPr txBox="1"/>
                <p:nvPr/>
              </p:nvSpPr>
              <p:spPr>
                <a:xfrm>
                  <a:off x="6419850" y="6091238"/>
                  <a:ext cx="139374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统一欧美通用色名/军规色名</a:t>
                  </a:r>
                </a:p>
              </p:txBody>
            </p:sp>
          </p:grpSp>
          <p:grpSp>
            <p:nvGrpSpPr>
              <p:cNvPr id="118" name="Group 118"/>
              <p:cNvGrpSpPr/>
              <p:nvPr/>
            </p:nvGrpSpPr>
            <p:grpSpPr>
              <a:xfrm>
                <a:off x="8953500" y="5143500"/>
                <a:ext cx="2476500" cy="1333500"/>
                <a:chOff x="8953500" y="5143500"/>
                <a:chExt cx="2476500" cy="1333500"/>
              </a:xfrm>
            </p:grpSpPr>
            <p:sp>
              <p:nvSpPr>
                <p:cNvPr id="112" name="Rectangle 112"/>
                <p:cNvSpPr/>
                <p:nvPr/>
              </p:nvSpPr>
              <p:spPr>
                <a:xfrm>
                  <a:off x="8953500" y="5143500"/>
                  <a:ext cx="2476500" cy="133350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113" name="TextBox 113"/>
                <p:cNvSpPr txBox="1"/>
                <p:nvPr/>
              </p:nvSpPr>
              <p:spPr>
                <a:xfrm>
                  <a:off x="9085898" y="5292566"/>
                  <a:ext cx="52701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架构优化</a:t>
                  </a:r>
                </a:p>
              </p:txBody>
            </p:sp>
            <p:sp>
              <p:nvSpPr>
                <p:cNvPr id="114" name="TextBox 114"/>
                <p:cNvSpPr txBox="1"/>
                <p:nvPr/>
              </p:nvSpPr>
              <p:spPr>
                <a:xfrm>
                  <a:off x="9085898" y="5511641"/>
                  <a:ext cx="743902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逻辑主线重排</a:t>
                  </a:r>
                </a:p>
              </p:txBody>
            </p:sp>
            <p:sp>
              <p:nvSpPr>
                <p:cNvPr id="115" name="TextBox 115"/>
                <p:cNvSpPr txBox="1"/>
                <p:nvPr/>
              </p:nvSpPr>
              <p:spPr>
                <a:xfrm>
                  <a:off x="9086850" y="5691188"/>
                  <a:ext cx="163472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市场→产品→视觉→用户→竞品→战略</a:t>
                  </a:r>
                </a:p>
              </p:txBody>
            </p:sp>
            <p:sp>
              <p:nvSpPr>
                <p:cNvPr id="116" name="TextBox 116"/>
                <p:cNvSpPr txBox="1"/>
                <p:nvPr/>
              </p:nvSpPr>
              <p:spPr>
                <a:xfrm>
                  <a:off x="9085898" y="5911691"/>
                  <a:ext cx="743902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错位内容归位</a:t>
                  </a:r>
                </a:p>
              </p:txBody>
            </p:sp>
            <p:sp>
              <p:nvSpPr>
                <p:cNvPr id="117" name="TextBox 117"/>
                <p:cNvSpPr txBox="1"/>
                <p:nvPr/>
              </p:nvSpPr>
              <p:spPr>
                <a:xfrm>
                  <a:off x="9086850" y="6091238"/>
                  <a:ext cx="1514237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风格页→CH02 / 生命周期→CH05</a:t>
                  </a:r>
                </a:p>
              </p:txBody>
            </p:sp>
          </p:grpSp>
        </p:grpSp>
      </p:grp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91941"/>
            <a:ext cx="10583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SCOPE DEFINITION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550545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品类边界说明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085374"/>
            <a:ext cx="34423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明确本报告研究范围，区分四大相关但不同的品类概念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571500" y="1476375"/>
            <a:ext cx="11049000" cy="5143500"/>
            <a:chOff x="571500" y="1476375"/>
            <a:chExt cx="11049000" cy="5143500"/>
          </a:xfrm>
        </p:grpSpPr>
        <p:grpSp>
          <p:nvGrpSpPr>
            <p:cNvPr id="20" name="Group 20"/>
            <p:cNvGrpSpPr/>
            <p:nvPr/>
          </p:nvGrpSpPr>
          <p:grpSpPr>
            <a:xfrm>
              <a:off x="571500" y="1476375"/>
              <a:ext cx="5334000" cy="2476500"/>
              <a:chOff x="571500" y="1476375"/>
              <a:chExt cx="5334000" cy="2476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76375"/>
                <a:ext cx="5334000" cy="2476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476375"/>
                <a:ext cx="5334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44855" y="1711642"/>
                <a:ext cx="212525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Work Utility 劳保工装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762000" y="2000250"/>
                <a:ext cx="571500" cy="209550"/>
              </a:xfrm>
              <a:prstGeom prst="rect">
                <a:avLst/>
              </a:prstGeom>
              <a:solidFill>
                <a:srgbClr val="C9A962">
                  <a:alpha val="15000"/>
                </a:srgbClr>
              </a:solidFill>
              <a:ln w="9525">
                <a:solidFill>
                  <a:srgbClr val="C9A962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50689" y="2062162"/>
                <a:ext cx="59412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 dirty="0">
                    <a:solidFill>
                      <a:srgbClr val="C9A962"/>
                    </a:solidFill>
                    <a:latin typeface="Inter"/>
                    <a:ea typeface="Microsoft YaHei"/>
                    <a:cs typeface="Inter"/>
                  </a:rPr>
                  <a:t>本报告核心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0570" y="2331720"/>
                <a:ext cx="25203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5F5F7"/>
                    </a:solidFill>
                    <a:latin typeface="Inter"/>
                    <a:ea typeface="Microsoft YaHei"/>
                    <a:cs typeface="Inter"/>
                  </a:rPr>
                  <a:t>定义：面向真实劳动场景的功能性工作服装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1522" y="2530316"/>
                <a:ext cx="303323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核心特征：耐磨面料、多口袋设计、加固缝线、实用至上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1522" y="2720816"/>
                <a:ext cx="265971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代表品牌：Carhartt、Dickies、Wrangler Riggs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51522" y="2911316"/>
                <a:ext cx="237053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亚马逊类目：Men's Work Utility &amp; Safety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2475" y="3157538"/>
                <a:ext cx="82415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本报告聚焦范围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51522" y="3339941"/>
                <a:ext cx="292479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亚马逊美国站 Men's Work Utility &amp; Safety 类目下的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51522" y="3530441"/>
                <a:ext cx="29127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休闲化、潮流化工装单品，兼顾功能性与日常穿搭属性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286500" y="1476375"/>
              <a:ext cx="5334000" cy="2476500"/>
              <a:chOff x="6286500" y="1476375"/>
              <a:chExt cx="5334000" cy="24765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286500" y="1476375"/>
                <a:ext cx="5334000" cy="2476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6286500" y="1476375"/>
                <a:ext cx="5334000" cy="57150"/>
              </a:xfrm>
              <a:prstGeom prst="rect">
                <a:avLst/>
              </a:prstGeom>
              <a:solidFill>
                <a:srgbClr val="6B7C5E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459855" y="1711642"/>
                <a:ext cx="17319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6B7C5E"/>
                    </a:solidFill>
                    <a:latin typeface="Space Grotesk"/>
                    <a:ea typeface="Microsoft YaHei"/>
                    <a:cs typeface="Space Grotesk"/>
                  </a:rPr>
                  <a:t>Tactical 战术服装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6477000" y="2000250"/>
                <a:ext cx="571500" cy="209550"/>
              </a:xfrm>
              <a:prstGeom prst="rect">
                <a:avLst/>
              </a:prstGeom>
              <a:solidFill>
                <a:srgbClr val="6B7C5E">
                  <a:alpha val="15000"/>
                </a:srgbClr>
              </a:solidFill>
              <a:ln w="9525">
                <a:solidFill>
                  <a:srgbClr val="6B7C5E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523196" y="20621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 dirty="0">
                    <a:solidFill>
                      <a:srgbClr val="6B7C5E"/>
                    </a:solidFill>
                    <a:latin typeface="Inter"/>
                    <a:ea typeface="Microsoft YaHei"/>
                    <a:cs typeface="Inter"/>
                  </a:rPr>
                  <a:t>相关参考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65570" y="2331720"/>
                <a:ext cx="279634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5F5F7"/>
                    </a:solidFill>
                    <a:latin typeface="Inter"/>
                    <a:ea typeface="Microsoft YaHei"/>
                    <a:cs typeface="Inter"/>
                  </a:rPr>
                  <a:t>定义：面向执法/安保/户外场景的高功能性服装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66522" y="2530316"/>
                <a:ext cx="303323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核心特征：隐蔽口袋、速干面料、模块化设计、低调外观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466522" y="2720816"/>
                <a:ext cx="237053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代表品牌：5.11 Tactical、Vertx、Propper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466522" y="2911316"/>
                <a:ext cx="28585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与工装关系：部分设计元素（口袋/加固）被工装借鉴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467475" y="315753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6B7C5E"/>
                    </a:solidFill>
                    <a:latin typeface="Space Grotesk"/>
                    <a:ea typeface="Microsoft YaHei"/>
                    <a:cs typeface="Space Grotesk"/>
                  </a:rPr>
                  <a:t>边界说明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466522" y="3339941"/>
                <a:ext cx="279225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战术服装侧重隐蔽与模块化，工装侧重耐穿与实用性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66522" y="3530441"/>
                <a:ext cx="279225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本报告仅在工装借鉴战术元素时涉及，不做深入展开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71500" y="4143375"/>
              <a:ext cx="5334000" cy="2476500"/>
              <a:chOff x="571500" y="4143375"/>
              <a:chExt cx="5334000" cy="2476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4143375"/>
                <a:ext cx="5334000" cy="2476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571500" y="4143375"/>
                <a:ext cx="5334000" cy="57150"/>
              </a:xfrm>
              <a:prstGeom prst="rect">
                <a:avLst/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44855" y="4378642"/>
                <a:ext cx="166979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3498DB"/>
                    </a:solidFill>
                    <a:latin typeface="Space Grotesk"/>
                    <a:ea typeface="Microsoft YaHei"/>
                    <a:cs typeface="Space Grotesk"/>
                  </a:rPr>
                  <a:t>Techwear 机能风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762000" y="4667250"/>
                <a:ext cx="571500" cy="209550"/>
              </a:xfrm>
              <a:prstGeom prst="rect">
                <a:avLst/>
              </a:prstGeom>
              <a:solidFill>
                <a:srgbClr val="3498DB">
                  <a:alpha val="15000"/>
                </a:srgbClr>
              </a:solidFill>
              <a:ln w="9525">
                <a:solidFill>
                  <a:srgbClr val="3498DB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08196" y="47291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 dirty="0">
                    <a:solidFill>
                      <a:srgbClr val="3498DB"/>
                    </a:solidFill>
                    <a:latin typeface="Inter"/>
                    <a:ea typeface="Microsoft YaHei"/>
                    <a:cs typeface="Inter"/>
                  </a:rPr>
                  <a:t>风格分支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50570" y="4998720"/>
                <a:ext cx="25203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5F5F7"/>
                    </a:solidFill>
                    <a:latin typeface="Inter"/>
                    <a:ea typeface="Microsoft YaHei"/>
                    <a:cs typeface="Inter"/>
                  </a:rPr>
                  <a:t>定义：科技面料与先锋设计融合的潮流风格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51522" y="5197316"/>
                <a:ext cx="310553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核心特征：GORE-TEX、反光材质、未来感廓形、防水挡风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51522" y="5387816"/>
                <a:ext cx="318385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代表品牌：ACRONYM、Arc'teryx Veilance、Stone Island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51522" y="5578316"/>
                <a:ext cx="322602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与工装关系：机能风是工装四大风格之一（Techwear分支）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52475" y="582453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3498DB"/>
                    </a:solidFill>
                    <a:latin typeface="Space Grotesk"/>
                    <a:ea typeface="Microsoft YaHei"/>
                    <a:cs typeface="Space Grotesk"/>
                  </a:rPr>
                  <a:t>边界说明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51522" y="6006941"/>
                <a:ext cx="257537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机能风作为工装四大风格之一在CH02中详细分析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51522" y="6197441"/>
                <a:ext cx="279827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但纯机能风（如ACRONYM）不属于Work Utility类目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286500" y="4143375"/>
              <a:ext cx="5334000" cy="2476500"/>
              <a:chOff x="6286500" y="4143375"/>
              <a:chExt cx="5334000" cy="24765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286500" y="4143375"/>
                <a:ext cx="5334000" cy="2476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6286500" y="4143375"/>
                <a:ext cx="5334000" cy="57150"/>
              </a:xfrm>
              <a:prstGeom prst="rect">
                <a:avLst/>
              </a:prstGeom>
              <a:solidFill>
                <a:srgbClr val="C47040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459855" y="4378642"/>
                <a:ext cx="162838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47040"/>
                    </a:solidFill>
                    <a:latin typeface="Space Grotesk"/>
                    <a:ea typeface="Microsoft YaHei"/>
                    <a:cs typeface="Space Grotesk"/>
                  </a:rPr>
                  <a:t>Gorpcore 山系风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6477000" y="4667250"/>
                <a:ext cx="571500" cy="209550"/>
              </a:xfrm>
              <a:prstGeom prst="rect">
                <a:avLst/>
              </a:prstGeom>
              <a:solidFill>
                <a:srgbClr val="C47040">
                  <a:alpha val="15000"/>
                </a:srgbClr>
              </a:solidFill>
              <a:ln w="9525">
                <a:solidFill>
                  <a:srgbClr val="C47040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523196" y="47291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 dirty="0">
                    <a:solidFill>
                      <a:srgbClr val="C47040"/>
                    </a:solidFill>
                    <a:latin typeface="Inter"/>
                    <a:ea typeface="Microsoft YaHei"/>
                    <a:cs typeface="Inter"/>
                  </a:rPr>
                  <a:t>潮流关联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465570" y="4998720"/>
                <a:ext cx="29146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5F5F7"/>
                    </a:solidFill>
                    <a:latin typeface="Inter"/>
                    <a:ea typeface="Microsoft YaHei"/>
                    <a:cs typeface="Inter"/>
                  </a:rPr>
                  <a:t>定义：户外机能服装融入都市日常穿搭的潮流风格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466522" y="5197316"/>
                <a:ext cx="243078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核心特征：抓绒、冲锋衣、登山鞋、叠穿搭配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466522" y="5387816"/>
                <a:ext cx="275610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代表品牌：Patagonia、The North Face、Salomon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466522" y="5578316"/>
                <a:ext cx="243078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与工装关系：山系风与工装在户外场景有交叉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467475" y="582453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47040"/>
                    </a:solidFill>
                    <a:latin typeface="Space Grotesk"/>
                    <a:ea typeface="Microsoft YaHei"/>
                    <a:cs typeface="Space Grotesk"/>
                  </a:rPr>
                  <a:t>边界说明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466522" y="6006941"/>
                <a:ext cx="279225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山系风属于独立潮流，与工装在面料和功能上有交叉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466522" y="6197441"/>
                <a:ext cx="314167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本报告在巴恩风（Barn Fit）部分涉及山系与工装融合趋势</a:t>
                </a:r>
              </a:p>
            </p:txBody>
          </p:sp>
        </p:grpSp>
      </p:grpSp>
      <p:sp>
        <p:nvSpPr>
          <p:cNvPr id="61" name="Rectangle 6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81000" y="95250"/>
            <a:ext cx="11430000" cy="6667500"/>
          </a:xfrm>
          <a:prstGeom prst="ellipse">
            <a:avLst/>
          </a:prstGeom>
          <a:gradFill>
            <a:gsLst>
              <a:gs pos="0">
                <a:srgbClr val="C9A962">
                  <a:alpha val="8000"/>
                </a:srgbClr>
              </a:gs>
              <a:gs pos="100000">
                <a:srgbClr val="C9A96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80115" y="236315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9A962">
                    <a:alpha val="60000"/>
                  </a:srgbClr>
                </a:solidFill>
                <a:latin typeface="Space Grotesk"/>
                <a:ea typeface="Microsoft YaHei"/>
                <a:cs typeface="Space Grotesk"/>
              </a:rPr>
              <a:t>CHAPTER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65970" y="2754630"/>
            <a:ext cx="506006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市场现状与行业趋势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3333750"/>
            <a:ext cx="1905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66310" y="368046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从文化溯源到市场规模的全面洞察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179570" y="4379595"/>
            <a:ext cx="4204906" cy="601980"/>
            <a:chOff x="4179570" y="4379595"/>
            <a:chExt cx="4204906" cy="601980"/>
          </a:xfrm>
        </p:grpSpPr>
        <p:sp>
          <p:nvSpPr>
            <p:cNvPr id="9" name="TextBox 9"/>
            <p:cNvSpPr txBox="1"/>
            <p:nvPr/>
          </p:nvSpPr>
          <p:spPr>
            <a:xfrm>
              <a:off x="4179570" y="4379595"/>
              <a:ext cx="16593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1.1 工装文化溯源与历史演变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79570" y="4589145"/>
              <a:ext cx="12978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1.2 工装核心文化属性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60820" y="4379595"/>
              <a:ext cx="18236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1.3 亚马逊类目结构与核心数据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60820" y="4589145"/>
              <a:ext cx="18236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1.4 市场规模、增速与增长驱动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70195" y="4798695"/>
              <a:ext cx="18236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1.5 海外主流潮流：巴恩风解读</a:t>
              </a:r>
            </a:p>
          </p:txBody>
        </p:sp>
      </p:grpSp>
      <p:sp>
        <p:nvSpPr>
          <p:cNvPr id="15" name="Rectangle 1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9194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550545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工装文化核心定义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085374"/>
            <a:ext cx="41543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从文化定义到市场格局，全面把握工装风格的核心价值与发展方向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1500" y="1476375"/>
            <a:ext cx="11049000" cy="5143500"/>
            <a:chOff x="571500" y="1476375"/>
            <a:chExt cx="11049000" cy="5143500"/>
          </a:xfrm>
        </p:grpSpPr>
        <p:sp>
          <p:nvSpPr>
            <p:cNvPr id="8" name="Rectangle 8"/>
            <p:cNvSpPr/>
            <p:nvPr/>
          </p:nvSpPr>
          <p:spPr>
            <a:xfrm>
              <a:off x="571500" y="1476375"/>
              <a:ext cx="11049000" cy="51435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476375"/>
              <a:ext cx="1104900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06855" y="1921192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F5F7"/>
                  </a:solidFill>
                  <a:latin typeface="Space Grotesk"/>
                  <a:ea typeface="Microsoft YaHei"/>
                  <a:cs typeface="Space Grotesk"/>
                </a:rPr>
                <a:t>工装文化核心定义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9665" y="2315528"/>
              <a:ext cx="46272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工装文化是功能性工作服与时尚、亚文化、生活方式结合的潮流形态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9665" y="2601278"/>
              <a:ext cx="309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起源于工业时代实用需求，现代已演变为代表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7760" y="291846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F5F7"/>
                  </a:solidFill>
                  <a:latin typeface="Inter"/>
                  <a:ea typeface="Microsoft YaHei"/>
                  <a:cs typeface="Inter"/>
                </a:rPr>
                <a:t>粗犷、耐用、真实生活态度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9665" y="32204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的符号化审美体系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43000" y="3571875"/>
              <a:ext cx="9906000" cy="2857500"/>
            </a:xfrm>
            <a:prstGeom prst="rect">
              <a:avLst/>
            </a:prstGeom>
            <a:solidFill>
              <a:srgbClr val="252530"/>
            </a:solidFill>
            <a:ln w="9525">
              <a:solidFill>
                <a:srgbClr val="3A3A45"/>
              </a:solidFill>
              <a:custDash>
                <a:ds d="400000" sp="200000"/>
              </a:custDash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11427" y="5030152"/>
              <a:ext cx="11691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[ Image Added ]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9194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550545"/>
            <a:ext cx="410946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工装文化溯源与历史演变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085374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追溯工装文化的历史起源与演变脉络</a:t>
            </a:r>
          </a:p>
        </p:txBody>
      </p:sp>
      <p:sp>
        <p:nvSpPr>
          <p:cNvPr id="8" name="Line 8"/>
          <p:cNvSpPr/>
          <p:nvPr/>
        </p:nvSpPr>
        <p:spPr>
          <a:xfrm>
            <a:off x="571500" y="1524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19050">
            <a:solidFill>
              <a:srgbClr val="C9A962"/>
            </a:solidFill>
            <a:prstDash val="lgDash"/>
          </a:ln>
        </p:spPr>
      </p:sp>
      <p:grpSp>
        <p:nvGrpSpPr>
          <p:cNvPr id="53" name="Group 53"/>
          <p:cNvGrpSpPr/>
          <p:nvPr/>
        </p:nvGrpSpPr>
        <p:grpSpPr>
          <a:xfrm>
            <a:off x="571500" y="1857375"/>
            <a:ext cx="11525250" cy="4762500"/>
            <a:chOff x="571500" y="1857375"/>
            <a:chExt cx="11525250" cy="4762500"/>
          </a:xfrm>
        </p:grpSpPr>
        <p:grpSp>
          <p:nvGrpSpPr>
            <p:cNvPr id="19" name="Group 19"/>
            <p:cNvGrpSpPr/>
            <p:nvPr/>
          </p:nvGrpSpPr>
          <p:grpSpPr>
            <a:xfrm>
              <a:off x="571500" y="1857375"/>
              <a:ext cx="2667000" cy="4762500"/>
              <a:chOff x="571500" y="1857375"/>
              <a:chExt cx="2667000" cy="47625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762000" y="1857375"/>
                <a:ext cx="381000" cy="381000"/>
              </a:xfrm>
              <a:prstGeom prst="ellipse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15012" y="1991678"/>
                <a:ext cx="749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A0A0F"/>
                    </a:solidFill>
                    <a:latin typeface="Inter"/>
                    <a:ea typeface="Microsoft YaHei"/>
                    <a:cs typeface="Inter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47783" y="2331720"/>
                <a:ext cx="6094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18-19世纪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41080" y="2533174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工业革命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23900" y="2747962"/>
                <a:ext cx="4572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工装诞生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571500" y="3000375"/>
                <a:ext cx="2667000" cy="3619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571500" y="3000375"/>
                <a:ext cx="2667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66750" y="3190875"/>
                <a:ext cx="2476500" cy="3238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151739" y="4792028"/>
                <a:ext cx="15065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早期工装图片 3:4 ]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662577" y="5102066"/>
                <a:ext cx="48484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280×340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524250" y="1857375"/>
              <a:ext cx="2667000" cy="4762500"/>
              <a:chOff x="3524250" y="1857375"/>
              <a:chExt cx="2667000" cy="476250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3714750" y="1857375"/>
                <a:ext cx="381000" cy="381000"/>
              </a:xfrm>
              <a:prstGeom prst="ellipse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847634" y="1991678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A0A0F"/>
                    </a:solidFill>
                    <a:latin typeface="Inter"/>
                    <a:ea typeface="Microsoft YaHei"/>
                    <a:cs typeface="Inter"/>
                  </a:rPr>
                  <a:t>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610885" y="2331720"/>
                <a:ext cx="58873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20世纪初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668589" y="2533174"/>
                <a:ext cx="47332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军事化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676650" y="2747962"/>
                <a:ext cx="4572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阶级象征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3524250" y="3000375"/>
                <a:ext cx="2667000" cy="3619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3524250" y="3000375"/>
                <a:ext cx="2667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3619500" y="3190875"/>
                <a:ext cx="2476500" cy="3238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104489" y="4792028"/>
                <a:ext cx="15065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军事工装图片 3:4 ]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615327" y="5102066"/>
                <a:ext cx="48484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280×340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477000" y="1857375"/>
              <a:ext cx="2667000" cy="4762500"/>
              <a:chOff x="6477000" y="1857375"/>
              <a:chExt cx="2667000" cy="4762500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6667500" y="1857375"/>
                <a:ext cx="381000" cy="381000"/>
              </a:xfrm>
              <a:prstGeom prst="ellipse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800384" y="1991678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A0A0F"/>
                    </a:solidFill>
                    <a:latin typeface="Inter"/>
                    <a:ea typeface="Microsoft YaHei"/>
                    <a:cs typeface="Inter"/>
                  </a:rPr>
                  <a:t>3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501527" y="2331720"/>
                <a:ext cx="71294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1950-1980s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546580" y="2533174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工装复兴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629400" y="2747962"/>
                <a:ext cx="4572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街头文化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477000" y="3000375"/>
                <a:ext cx="2667000" cy="3619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6477000" y="3000375"/>
                <a:ext cx="2667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6572250" y="3190875"/>
                <a:ext cx="2476500" cy="3238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057239" y="4792028"/>
                <a:ext cx="15065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工装复兴图片 3:4 ]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568077" y="5102066"/>
                <a:ext cx="48484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280×340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429750" y="1857375"/>
              <a:ext cx="2667000" cy="4762500"/>
              <a:chOff x="9429750" y="1857375"/>
              <a:chExt cx="2667000" cy="47625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9620250" y="1857375"/>
                <a:ext cx="381000" cy="381000"/>
              </a:xfrm>
              <a:prstGeom prst="ellipse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9753134" y="1991678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A0A0F"/>
                    </a:solidFill>
                    <a:latin typeface="Inter"/>
                    <a:ea typeface="Microsoft YaHei"/>
                    <a:cs typeface="Inter"/>
                  </a:rPr>
                  <a:t>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488781" y="2331720"/>
                <a:ext cx="64393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1990s至今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499330" y="2533174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工装潮流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582150" y="2747962"/>
                <a:ext cx="4572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当代演绎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9429750" y="3000375"/>
                <a:ext cx="2667000" cy="3619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9429750" y="3000375"/>
                <a:ext cx="2667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9525000" y="3190875"/>
                <a:ext cx="2476500" cy="3238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009989" y="4792028"/>
                <a:ext cx="15065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当代工装图片 3:4 ]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520827" y="5102066"/>
                <a:ext cx="48484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280×340</a:t>
                </a:r>
              </a:p>
            </p:txBody>
          </p:sp>
        </p:grpSp>
      </p:grpSp>
      <p:sp>
        <p:nvSpPr>
          <p:cNvPr id="54" name="Rectangle 5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91941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550545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工装核心文化属性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085374"/>
            <a:ext cx="25879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解析工装文化的三大核心属性与市场定位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71500" y="1476375"/>
            <a:ext cx="11049000" cy="5143500"/>
            <a:chOff x="571500" y="1476375"/>
            <a:chExt cx="11049000" cy="5143500"/>
          </a:xfrm>
        </p:grpSpPr>
        <p:sp>
          <p:nvSpPr>
            <p:cNvPr id="8" name="Rectangle 8"/>
            <p:cNvSpPr/>
            <p:nvPr/>
          </p:nvSpPr>
          <p:spPr>
            <a:xfrm>
              <a:off x="571500" y="1476375"/>
              <a:ext cx="11049000" cy="51435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71500" y="1476375"/>
              <a:ext cx="3676650" cy="5143500"/>
              <a:chOff x="571500" y="1476375"/>
              <a:chExt cx="3676650" cy="51435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476375"/>
                <a:ext cx="3676650" cy="5143500"/>
              </a:xfrm>
              <a:prstGeom prst="rect">
                <a:avLst/>
              </a:prstGeom>
              <a:solidFill>
                <a:srgbClr val="1A1A20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71500" y="1476375"/>
                <a:ext cx="3676650" cy="57150"/>
              </a:xfrm>
              <a:prstGeom prst="rect">
                <a:avLst/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42950" y="1695450"/>
                <a:ext cx="72818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E74C3C"/>
                    </a:solidFill>
                    <a:latin typeface="Space Grotesk"/>
                    <a:ea typeface="Microsoft YaHei"/>
                    <a:cs typeface="Space Grotesk"/>
                  </a:rPr>
                  <a:t>功能性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49618" y="2085499"/>
                <a:ext cx="34423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5F5F7"/>
                    </a:solidFill>
                    <a:latin typeface="Inter"/>
                    <a:ea typeface="Microsoft YaHei"/>
                    <a:cs typeface="Inter"/>
                  </a:rPr>
                  <a:t>以实用为根基，口袋、加固缝线、耐磨面料等设计元素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0570" y="2331720"/>
                <a:ext cx="14687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服务于真实劳动场景需求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762000" y="2619375"/>
                <a:ext cx="3295650" cy="38100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  <a:custDash>
                  <a:ds d="400000" sp="200000"/>
                </a:custDash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781568" y="4561999"/>
                <a:ext cx="12565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功能性图片 3:4 ]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257675" y="1476375"/>
              <a:ext cx="3676650" cy="5143500"/>
              <a:chOff x="4257675" y="1476375"/>
              <a:chExt cx="3676650" cy="51435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257675" y="1476375"/>
                <a:ext cx="3676650" cy="5143500"/>
              </a:xfrm>
              <a:prstGeom prst="rect">
                <a:avLst/>
              </a:prstGeom>
              <a:solidFill>
                <a:srgbClr val="1A1A20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4257675" y="1476375"/>
                <a:ext cx="3676650" cy="57150"/>
              </a:xfrm>
              <a:prstGeom prst="rect">
                <a:avLst/>
              </a:prstGeom>
              <a:solidFill>
                <a:srgbClr val="F39C1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429125" y="1695450"/>
                <a:ext cx="72818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39C12"/>
                    </a:solidFill>
                    <a:latin typeface="Space Grotesk"/>
                    <a:ea typeface="Microsoft YaHei"/>
                    <a:cs typeface="Space Grotesk"/>
                  </a:rPr>
                  <a:t>多元化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35792" y="2085499"/>
                <a:ext cx="34423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5F5F7"/>
                    </a:solidFill>
                    <a:latin typeface="Inter"/>
                    <a:ea typeface="Microsoft YaHei"/>
                    <a:cs typeface="Inter"/>
                  </a:rPr>
                  <a:t>从单一工作服演变为涵盖复古、军事、机能、轻工装等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36745" y="2331720"/>
                <a:ext cx="13373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多风格体系的时尚品类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4448175" y="2619375"/>
                <a:ext cx="3295650" cy="38100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  <a:custDash>
                  <a:ds d="400000" sp="200000"/>
                </a:custDash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467743" y="4561999"/>
                <a:ext cx="12565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多元化图片 3:4 ]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943850" y="1476375"/>
              <a:ext cx="3676650" cy="5143500"/>
              <a:chOff x="7943850" y="1476375"/>
              <a:chExt cx="3676650" cy="5143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943850" y="1476375"/>
                <a:ext cx="3676650" cy="5143500"/>
              </a:xfrm>
              <a:prstGeom prst="rect">
                <a:avLst/>
              </a:prstGeom>
              <a:solidFill>
                <a:srgbClr val="1A1A20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7943850" y="1476375"/>
                <a:ext cx="367665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115300" y="1695450"/>
                <a:ext cx="118824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文化符号化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21968" y="2085499"/>
                <a:ext cx="32999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5F5F7"/>
                    </a:solidFill>
                    <a:latin typeface="Inter"/>
                    <a:ea typeface="Microsoft YaHei"/>
                    <a:cs typeface="Inter"/>
                  </a:rPr>
                  <a:t>承载工人阶级精神、朋克反叛态度、户外生活方式等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22920" y="2331720"/>
                <a:ext cx="23888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多重文化意涵，成为身份认同的视觉符号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8134350" y="2619375"/>
                <a:ext cx="3295650" cy="38100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  <a:custDash>
                  <a:ds d="400000" sp="200000"/>
                </a:custDash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082719" y="4561999"/>
                <a:ext cx="13989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文化符号图片 3:4 ]</a:t>
                </a:r>
              </a:p>
            </p:txBody>
          </p:sp>
        </p:grpSp>
      </p:grpSp>
      <p:sp>
        <p:nvSpPr>
          <p:cNvPr id="34" name="Rectangle 3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44316"/>
            <a:ext cx="6535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459105"/>
            <a:ext cx="488394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亚马逊美国站类目结构与核心数据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001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0070" y="902970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解析市场发展趋势与品牌格局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1143000"/>
            <a:ext cx="11049000" cy="1238250"/>
            <a:chOff x="571500" y="1143000"/>
            <a:chExt cx="11049000" cy="1238250"/>
          </a:xfrm>
        </p:grpSpPr>
        <p:sp>
          <p:nvSpPr>
            <p:cNvPr id="8" name="Rectangle 8"/>
            <p:cNvSpPr/>
            <p:nvPr/>
          </p:nvSpPr>
          <p:spPr>
            <a:xfrm>
              <a:off x="571500" y="1143000"/>
              <a:ext cx="11049000" cy="12382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30580" y="1325880"/>
              <a:ext cx="989171" cy="698182"/>
              <a:chOff x="830580" y="1325880"/>
              <a:chExt cx="989171" cy="698182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30580" y="1325880"/>
                <a:ext cx="76182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6.7</a:t>
                </a:r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%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46772" y="1692116"/>
                <a:ext cx="7439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年复合增长率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47725" y="1871662"/>
                <a:ext cx="97202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2018-2023中国市场</a:t>
                </a:r>
              </a:p>
            </p:txBody>
          </p:sp>
        </p:grpSp>
        <p:sp>
          <p:nvSpPr>
            <p:cNvPr id="13" name="Line 13"/>
            <p:cNvSpPr/>
            <p:nvPr/>
          </p:nvSpPr>
          <p:spPr>
            <a:xfrm>
              <a:off x="3333750" y="1285875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9525">
              <a:solidFill>
                <a:srgbClr val="2A2A35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592830" y="1325880"/>
              <a:ext cx="1361599" cy="698182"/>
              <a:chOff x="3592830" y="1325880"/>
              <a:chExt cx="1361599" cy="698182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3592830" y="1325880"/>
                <a:ext cx="100335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1560</a:t>
                </a:r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亿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609022" y="1692116"/>
                <a:ext cx="102103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市场总规模(2023)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609975" y="1871662"/>
                <a:ext cx="134445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工作服/特殊工装/休闲工装</a:t>
                </a:r>
              </a:p>
            </p:txBody>
          </p:sp>
        </p:grpSp>
        <p:sp>
          <p:nvSpPr>
            <p:cNvPr id="18" name="Line 18"/>
            <p:cNvSpPr/>
            <p:nvPr/>
          </p:nvSpPr>
          <p:spPr>
            <a:xfrm>
              <a:off x="6381750" y="1285875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9525">
              <a:solidFill>
                <a:srgbClr val="2A2A35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640830" y="1325880"/>
              <a:ext cx="1082278" cy="698182"/>
              <a:chOff x="6640830" y="1325880"/>
              <a:chExt cx="1082278" cy="698182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6640830" y="1325880"/>
                <a:ext cx="76182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3.8</a:t>
                </a:r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%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57022" y="1692116"/>
                <a:ext cx="98488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传统品牌年增长率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57975" y="1871662"/>
                <a:ext cx="106513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深耕工作/防护服领域</a:t>
                </a:r>
              </a:p>
            </p:txBody>
          </p:sp>
        </p:grpSp>
        <p:sp>
          <p:nvSpPr>
            <p:cNvPr id="23" name="Line 23"/>
            <p:cNvSpPr/>
            <p:nvPr/>
          </p:nvSpPr>
          <p:spPr>
            <a:xfrm>
              <a:off x="9144000" y="1285875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9525">
              <a:solidFill>
                <a:srgbClr val="2A2A35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403080" y="1325880"/>
              <a:ext cx="1191816" cy="698182"/>
              <a:chOff x="9403080" y="1325880"/>
              <a:chExt cx="1191816" cy="698182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9403080" y="1325880"/>
                <a:ext cx="85844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12.4</a:t>
                </a:r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%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419272" y="1692116"/>
                <a:ext cx="98488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新兴品牌年增长率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420225" y="1871662"/>
                <a:ext cx="117467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创新设计+社媒营销突围</a:t>
                </a:r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>
            <a:off x="571500" y="2552700"/>
            <a:ext cx="11049000" cy="4095750"/>
            <a:chOff x="571500" y="2552700"/>
            <a:chExt cx="11049000" cy="4095750"/>
          </a:xfrm>
        </p:grpSpPr>
        <p:sp>
          <p:nvSpPr>
            <p:cNvPr id="29" name="Rectangle 29"/>
            <p:cNvSpPr/>
            <p:nvPr/>
          </p:nvSpPr>
          <p:spPr>
            <a:xfrm>
              <a:off x="571500" y="2552700"/>
              <a:ext cx="11049000" cy="40957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38200" y="2701766"/>
              <a:ext cx="3379184" cy="567690"/>
              <a:chOff x="838200" y="2701766"/>
              <a:chExt cx="3379184" cy="56769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846772" y="2701766"/>
                <a:ext cx="110899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C9A962"/>
                    </a:solidFill>
                    <a:latin typeface="Inter"/>
                    <a:ea typeface="Microsoft YaHei"/>
                    <a:cs typeface="Inter"/>
                  </a:rPr>
                  <a:t>AMAZON CATEGORY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38200" y="2838450"/>
                <a:ext cx="25684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亚马逊站内类目市场容量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46772" y="3101816"/>
                <a:ext cx="337061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Best Sellers — Men's Work Utility &amp; Safety 各子类目销售额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857250" y="3409950"/>
              <a:ext cx="10763250" cy="2952750"/>
              <a:chOff x="857250" y="3409950"/>
              <a:chExt cx="10763250" cy="29527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57250" y="3409950"/>
                <a:ext cx="10477500" cy="2952750"/>
              </a:xfrm>
              <a:prstGeom prst="rect">
                <a:avLst/>
              </a:prstGeom>
              <a:solidFill>
                <a:srgbClr val="141419"/>
              </a:solidFill>
              <a:ln w="9525">
                <a:solidFill>
                  <a:srgbClr val="2A2A35"/>
                </a:solidFill>
              </a:ln>
            </p:spPr>
          </p:sp>
          <p:grpSp>
            <p:nvGrpSpPr>
              <p:cNvPr id="75" name="Group 75"/>
              <p:cNvGrpSpPr/>
              <p:nvPr/>
            </p:nvGrpSpPr>
            <p:grpSpPr>
              <a:xfrm>
                <a:off x="1131570" y="3652838"/>
                <a:ext cx="10488930" cy="2555081"/>
                <a:chOff x="1131570" y="3652838"/>
                <a:chExt cx="10488930" cy="2555081"/>
              </a:xfrm>
            </p:grpSpPr>
            <p:sp>
              <p:nvSpPr>
                <p:cNvPr id="35" name="TextBox 35"/>
                <p:cNvSpPr txBox="1"/>
                <p:nvPr/>
              </p:nvSpPr>
              <p:spPr>
                <a:xfrm>
                  <a:off x="1133475" y="3652838"/>
                  <a:ext cx="4572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中文类目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2371725" y="3652838"/>
                  <a:ext cx="78581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亚马逊类目名称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467475" y="3652838"/>
                  <a:ext cx="89535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销售额（万美金）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1039475" y="3652838"/>
                  <a:ext cx="23812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占比</a:t>
                  </a:r>
                </a:p>
              </p:txBody>
            </p:sp>
            <p:sp>
              <p:nvSpPr>
                <p:cNvPr id="39" name="Line 39"/>
                <p:cNvSpPr/>
                <p:nvPr/>
              </p:nvSpPr>
              <p:spPr>
                <a:xfrm>
                  <a:off x="1143000" y="3829050"/>
                  <a:ext cx="10477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00" h="9525">
                      <a:moveTo>
                        <a:pt x="0" y="0"/>
                      </a:moveTo>
                      <a:lnTo>
                        <a:pt x="10477500" y="0"/>
                      </a:lnTo>
                    </a:path>
                  </a:pathLst>
                </a:custGeom>
                <a:noFill/>
                <a:ln w="9525">
                  <a:solidFill>
                    <a:srgbClr val="2A2A35"/>
                  </a:solidFill>
                </a:ln>
              </p:spPr>
            </p:sp>
            <p:grpSp>
              <p:nvGrpSpPr>
                <p:cNvPr id="46" name="Group 46"/>
                <p:cNvGrpSpPr/>
                <p:nvPr/>
              </p:nvGrpSpPr>
              <p:grpSpPr>
                <a:xfrm>
                  <a:off x="1131570" y="4000500"/>
                  <a:ext cx="10290334" cy="226219"/>
                  <a:chOff x="1131570" y="4000500"/>
                  <a:chExt cx="10290334" cy="226219"/>
                </a:xfrm>
              </p:grpSpPr>
              <p:sp>
                <p:nvSpPr>
                  <p:cNvPr id="40" name="TextBox 40"/>
                  <p:cNvSpPr txBox="1"/>
                  <p:nvPr/>
                </p:nvSpPr>
                <p:spPr>
                  <a:xfrm>
                    <a:off x="1131570" y="4017645"/>
                    <a:ext cx="574929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C9A962"/>
                        </a:solidFill>
                        <a:latin typeface="Inter"/>
                        <a:ea typeface="Microsoft YaHei"/>
                        <a:cs typeface="Inter"/>
                      </a:rPr>
                      <a:t>工装长裤</a:t>
                    </a:r>
                  </a:p>
                </p:txBody>
              </p:sp>
              <p:sp>
                <p:nvSpPr>
                  <p:cNvPr id="41" name="TextBox 41"/>
                  <p:cNvSpPr txBox="1"/>
                  <p:nvPr/>
                </p:nvSpPr>
                <p:spPr>
                  <a:xfrm>
                    <a:off x="2370772" y="4025741"/>
                    <a:ext cx="2015085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dirty="0">
                        <a:solidFill>
                          <a:srgbClr val="F5F5F7"/>
                        </a:solidFill>
                        <a:latin typeface="Inter"/>
                        <a:ea typeface="Microsoft YaHei"/>
                        <a:cs typeface="Inter"/>
                      </a:rPr>
                      <a:t>Men's Work Utility &amp; Safety Pants</a:t>
                    </a:r>
                  </a:p>
                </p:txBody>
              </p:sp>
              <p:sp>
                <p:nvSpPr>
                  <p:cNvPr id="42" name="Rectangle 42"/>
                  <p:cNvSpPr/>
                  <p:nvPr/>
                </p:nvSpPr>
                <p:spPr>
                  <a:xfrm>
                    <a:off x="4953000" y="4000500"/>
                    <a:ext cx="4762500" cy="171450"/>
                  </a:xfrm>
                  <a:prstGeom prst="rect">
                    <a:avLst/>
                  </a:prstGeom>
                  <a:solidFill>
                    <a:srgbClr val="252530"/>
                  </a:solidFill>
                  <a:ln>
                    <a:noFill/>
                  </a:ln>
                </p:spPr>
              </p:sp>
              <p:sp>
                <p:nvSpPr>
                  <p:cNvPr id="43" name="Rectangle 43"/>
                  <p:cNvSpPr/>
                  <p:nvPr/>
                </p:nvSpPr>
                <p:spPr>
                  <a:xfrm>
                    <a:off x="4953000" y="4000500"/>
                    <a:ext cx="4762500" cy="171450"/>
                  </a:xfrm>
                  <a:prstGeom prst="rect">
                    <a:avLst/>
                  </a:prstGeom>
                  <a:gradFill>
                    <a:gsLst>
                      <a:gs pos="0">
                        <a:srgbClr val="C9A962">
                          <a:alpha val="90000"/>
                        </a:srgbClr>
                      </a:gs>
                      <a:gs pos="100000">
                        <a:srgbClr val="E0C882">
                          <a:alpha val="90000"/>
                        </a:srgbClr>
                      </a:gs>
                    </a:gsLst>
                    <a:lin ang="0" scaled="1"/>
                  </a:gradFill>
                  <a:ln>
                    <a:noFill/>
                  </a:ln>
                </p:spPr>
              </p:sp>
              <p:sp>
                <p:nvSpPr>
                  <p:cNvPr id="44" name="TextBox 44"/>
                  <p:cNvSpPr txBox="1"/>
                  <p:nvPr/>
                </p:nvSpPr>
                <p:spPr>
                  <a:xfrm>
                    <a:off x="9798368" y="4028599"/>
                    <a:ext cx="271471" cy="198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75" b="1" dirty="0">
                        <a:solidFill>
                          <a:srgbClr val="C9A962"/>
                        </a:solidFill>
                        <a:latin typeface="Space Grotesk"/>
                        <a:ea typeface="Microsoft YaHei"/>
                        <a:cs typeface="Space Grotesk"/>
                      </a:rPr>
                      <a:t>952</a:t>
                    </a:r>
                  </a:p>
                </p:txBody>
              </p:sp>
              <p:sp>
                <p:nvSpPr>
                  <p:cNvPr id="45" name="TextBox 45"/>
                  <p:cNvSpPr txBox="1"/>
                  <p:nvPr/>
                </p:nvSpPr>
                <p:spPr>
                  <a:xfrm>
                    <a:off x="11037570" y="4036695"/>
                    <a:ext cx="384334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38.7%</a:t>
                    </a:r>
                  </a:p>
                </p:txBody>
              </p:sp>
            </p:grpSp>
            <p:grpSp>
              <p:nvGrpSpPr>
                <p:cNvPr id="53" name="Group 53"/>
                <p:cNvGrpSpPr/>
                <p:nvPr/>
              </p:nvGrpSpPr>
              <p:grpSpPr>
                <a:xfrm>
                  <a:off x="1131570" y="4495800"/>
                  <a:ext cx="10290334" cy="226219"/>
                  <a:chOff x="1131570" y="4495800"/>
                  <a:chExt cx="10290334" cy="226219"/>
                </a:xfrm>
              </p:grpSpPr>
              <p:sp>
                <p:nvSpPr>
                  <p:cNvPr id="47" name="TextBox 47"/>
                  <p:cNvSpPr txBox="1"/>
                  <p:nvPr/>
                </p:nvSpPr>
                <p:spPr>
                  <a:xfrm>
                    <a:off x="1131570" y="4512945"/>
                    <a:ext cx="574929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C9A962"/>
                        </a:solidFill>
                        <a:latin typeface="Inter"/>
                        <a:ea typeface="Microsoft YaHei"/>
                        <a:cs typeface="Inter"/>
                      </a:rPr>
                      <a:t>工装上衣</a:t>
                    </a:r>
                  </a:p>
                </p:txBody>
              </p:sp>
              <p:sp>
                <p:nvSpPr>
                  <p:cNvPr id="48" name="TextBox 48"/>
                  <p:cNvSpPr txBox="1"/>
                  <p:nvPr/>
                </p:nvSpPr>
                <p:spPr>
                  <a:xfrm>
                    <a:off x="2370772" y="4521041"/>
                    <a:ext cx="1948815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dirty="0">
                        <a:solidFill>
                          <a:srgbClr val="F5F5F7"/>
                        </a:solidFill>
                        <a:latin typeface="Inter"/>
                        <a:ea typeface="Microsoft YaHei"/>
                        <a:cs typeface="Inter"/>
                      </a:rPr>
                      <a:t>Men's Work Utility &amp; Safety Tops</a:t>
                    </a:r>
                  </a:p>
                </p:txBody>
              </p:sp>
              <p:sp>
                <p:nvSpPr>
                  <p:cNvPr id="49" name="Rectangle 49"/>
                  <p:cNvSpPr/>
                  <p:nvPr/>
                </p:nvSpPr>
                <p:spPr>
                  <a:xfrm>
                    <a:off x="4953000" y="4495800"/>
                    <a:ext cx="4762500" cy="171450"/>
                  </a:xfrm>
                  <a:prstGeom prst="rect">
                    <a:avLst/>
                  </a:prstGeom>
                  <a:solidFill>
                    <a:srgbClr val="252530"/>
                  </a:solidFill>
                  <a:ln>
                    <a:noFill/>
                  </a:ln>
                </p:spPr>
              </p:sp>
              <p:sp>
                <p:nvSpPr>
                  <p:cNvPr id="50" name="Rectangle 50"/>
                  <p:cNvSpPr/>
                  <p:nvPr/>
                </p:nvSpPr>
                <p:spPr>
                  <a:xfrm>
                    <a:off x="4953000" y="4495800"/>
                    <a:ext cx="2857500" cy="171450"/>
                  </a:xfrm>
                  <a:prstGeom prst="rect">
                    <a:avLst/>
                  </a:prstGeom>
                  <a:gradFill>
                    <a:gsLst>
                      <a:gs pos="0">
                        <a:srgbClr val="C9A962">
                          <a:alpha val="75000"/>
                        </a:srgbClr>
                      </a:gs>
                      <a:gs pos="100000">
                        <a:srgbClr val="E0C882">
                          <a:alpha val="75000"/>
                        </a:srgbClr>
                      </a:gs>
                    </a:gsLst>
                    <a:lin ang="0" scaled="1"/>
                  </a:gradFill>
                  <a:ln>
                    <a:noFill/>
                  </a:ln>
                </p:spPr>
              </p:sp>
              <p:sp>
                <p:nvSpPr>
                  <p:cNvPr id="51" name="TextBox 51"/>
                  <p:cNvSpPr txBox="1"/>
                  <p:nvPr/>
                </p:nvSpPr>
                <p:spPr>
                  <a:xfrm>
                    <a:off x="7893368" y="4523899"/>
                    <a:ext cx="271471" cy="198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75" b="1" dirty="0">
                        <a:solidFill>
                          <a:srgbClr val="C9A962"/>
                        </a:solidFill>
                        <a:latin typeface="Space Grotesk"/>
                        <a:ea typeface="Microsoft YaHei"/>
                        <a:cs typeface="Space Grotesk"/>
                      </a:rPr>
                      <a:t>570</a:t>
                    </a:r>
                  </a:p>
                </p:txBody>
              </p:sp>
              <p:sp>
                <p:nvSpPr>
                  <p:cNvPr id="52" name="TextBox 52"/>
                  <p:cNvSpPr txBox="1"/>
                  <p:nvPr/>
                </p:nvSpPr>
                <p:spPr>
                  <a:xfrm>
                    <a:off x="11037570" y="4531995"/>
                    <a:ext cx="384334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23.2%</a:t>
                    </a:r>
                  </a:p>
                </p:txBody>
              </p:sp>
            </p:grpSp>
            <p:grpSp>
              <p:nvGrpSpPr>
                <p:cNvPr id="60" name="Group 60"/>
                <p:cNvGrpSpPr/>
                <p:nvPr/>
              </p:nvGrpSpPr>
              <p:grpSpPr>
                <a:xfrm>
                  <a:off x="1131570" y="4991100"/>
                  <a:ext cx="10257472" cy="226219"/>
                  <a:chOff x="1131570" y="4991100"/>
                  <a:chExt cx="10257472" cy="226219"/>
                </a:xfrm>
              </p:grpSpPr>
              <p:sp>
                <p:nvSpPr>
                  <p:cNvPr id="54" name="TextBox 54"/>
                  <p:cNvSpPr txBox="1"/>
                  <p:nvPr/>
                </p:nvSpPr>
                <p:spPr>
                  <a:xfrm>
                    <a:off x="1131570" y="5008245"/>
                    <a:ext cx="574929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C9A962"/>
                        </a:solidFill>
                        <a:latin typeface="Inter"/>
                        <a:ea typeface="Microsoft YaHei"/>
                        <a:cs typeface="Inter"/>
                      </a:rPr>
                      <a:t>连体工装</a:t>
                    </a:r>
                  </a:p>
                </p:txBody>
              </p:sp>
              <p:sp>
                <p:nvSpPr>
                  <p:cNvPr id="55" name="TextBox 55"/>
                  <p:cNvSpPr txBox="1"/>
                  <p:nvPr/>
                </p:nvSpPr>
                <p:spPr>
                  <a:xfrm>
                    <a:off x="2370772" y="5016341"/>
                    <a:ext cx="2177748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dirty="0">
                        <a:solidFill>
                          <a:srgbClr val="F5F5F7"/>
                        </a:solidFill>
                        <a:latin typeface="Inter"/>
                        <a:ea typeface="Microsoft YaHei"/>
                        <a:cs typeface="Inter"/>
                      </a:rPr>
                      <a:t>Men's Work Utility &amp; Safety Overalls</a:t>
                    </a:r>
                  </a:p>
                </p:txBody>
              </p:sp>
              <p:sp>
                <p:nvSpPr>
                  <p:cNvPr id="56" name="Rectangle 56"/>
                  <p:cNvSpPr/>
                  <p:nvPr/>
                </p:nvSpPr>
                <p:spPr>
                  <a:xfrm>
                    <a:off x="4953000" y="4991100"/>
                    <a:ext cx="4762500" cy="171450"/>
                  </a:xfrm>
                  <a:prstGeom prst="rect">
                    <a:avLst/>
                  </a:prstGeom>
                  <a:solidFill>
                    <a:srgbClr val="252530"/>
                  </a:solidFill>
                  <a:ln>
                    <a:noFill/>
                  </a:ln>
                </p:spPr>
              </p:sp>
              <p:sp>
                <p:nvSpPr>
                  <p:cNvPr id="57" name="Rectangle 57"/>
                  <p:cNvSpPr/>
                  <p:nvPr/>
                </p:nvSpPr>
                <p:spPr>
                  <a:xfrm>
                    <a:off x="4953000" y="4991100"/>
                    <a:ext cx="2076450" cy="171450"/>
                  </a:xfrm>
                  <a:prstGeom prst="rect">
                    <a:avLst/>
                  </a:prstGeom>
                  <a:gradFill>
                    <a:gsLst>
                      <a:gs pos="0">
                        <a:srgbClr val="C9A962">
                          <a:alpha val="60000"/>
                        </a:srgbClr>
                      </a:gs>
                      <a:gs pos="100000">
                        <a:srgbClr val="E0C882">
                          <a:alpha val="60000"/>
                        </a:srgbClr>
                      </a:gs>
                    </a:gsLst>
                    <a:lin ang="0" scaled="1"/>
                  </a:gradFill>
                  <a:ln>
                    <a:noFill/>
                  </a:ln>
                </p:spPr>
              </p:sp>
              <p:sp>
                <p:nvSpPr>
                  <p:cNvPr id="58" name="TextBox 58"/>
                  <p:cNvSpPr txBox="1"/>
                  <p:nvPr/>
                </p:nvSpPr>
                <p:spPr>
                  <a:xfrm>
                    <a:off x="7112318" y="5019199"/>
                    <a:ext cx="234091" cy="198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75" b="1" dirty="0">
                        <a:solidFill>
                          <a:srgbClr val="C9A962"/>
                        </a:solidFill>
                        <a:latin typeface="Space Grotesk"/>
                        <a:ea typeface="Microsoft YaHei"/>
                        <a:cs typeface="Space Grotesk"/>
                      </a:rPr>
                      <a:t>415</a:t>
                    </a:r>
                  </a:p>
                </p:txBody>
              </p:sp>
              <p:sp>
                <p:nvSpPr>
                  <p:cNvPr id="59" name="TextBox 59"/>
                  <p:cNvSpPr txBox="1"/>
                  <p:nvPr/>
                </p:nvSpPr>
                <p:spPr>
                  <a:xfrm>
                    <a:off x="11037570" y="5027295"/>
                    <a:ext cx="351472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16.9%</a:t>
                    </a:r>
                  </a:p>
                </p:txBody>
              </p:sp>
            </p:grpSp>
            <p:grpSp>
              <p:nvGrpSpPr>
                <p:cNvPr id="67" name="Group 67"/>
                <p:cNvGrpSpPr/>
                <p:nvPr/>
              </p:nvGrpSpPr>
              <p:grpSpPr>
                <a:xfrm>
                  <a:off x="1131570" y="5486400"/>
                  <a:ext cx="10257472" cy="226219"/>
                  <a:chOff x="1131570" y="5486400"/>
                  <a:chExt cx="10257472" cy="226219"/>
                </a:xfrm>
              </p:grpSpPr>
              <p:sp>
                <p:nvSpPr>
                  <p:cNvPr id="61" name="TextBox 61"/>
                  <p:cNvSpPr txBox="1"/>
                  <p:nvPr/>
                </p:nvSpPr>
                <p:spPr>
                  <a:xfrm>
                    <a:off x="1131570" y="5503545"/>
                    <a:ext cx="574929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C9A962"/>
                        </a:solidFill>
                        <a:latin typeface="Inter"/>
                        <a:ea typeface="Microsoft YaHei"/>
                        <a:cs typeface="Inter"/>
                      </a:rPr>
                      <a:t>工装短裤</a:t>
                    </a:r>
                  </a:p>
                </p:txBody>
              </p:sp>
              <p:sp>
                <p:nvSpPr>
                  <p:cNvPr id="62" name="TextBox 62"/>
                  <p:cNvSpPr txBox="1"/>
                  <p:nvPr/>
                </p:nvSpPr>
                <p:spPr>
                  <a:xfrm>
                    <a:off x="2370772" y="5511641"/>
                    <a:ext cx="2081355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dirty="0">
                        <a:solidFill>
                          <a:srgbClr val="F5F5F7"/>
                        </a:solidFill>
                        <a:latin typeface="Inter"/>
                        <a:ea typeface="Microsoft YaHei"/>
                        <a:cs typeface="Inter"/>
                      </a:rPr>
                      <a:t>Men's Work Utility &amp; Safety Shorts</a:t>
                    </a:r>
                  </a:p>
                </p:txBody>
              </p:sp>
              <p:sp>
                <p:nvSpPr>
                  <p:cNvPr id="63" name="Rectangle 63"/>
                  <p:cNvSpPr/>
                  <p:nvPr/>
                </p:nvSpPr>
                <p:spPr>
                  <a:xfrm>
                    <a:off x="4953000" y="5486400"/>
                    <a:ext cx="4762500" cy="171450"/>
                  </a:xfrm>
                  <a:prstGeom prst="rect">
                    <a:avLst/>
                  </a:prstGeom>
                  <a:solidFill>
                    <a:srgbClr val="252530"/>
                  </a:solidFill>
                  <a:ln>
                    <a:noFill/>
                  </a:ln>
                </p:spPr>
              </p:sp>
              <p:sp>
                <p:nvSpPr>
                  <p:cNvPr id="64" name="Rectangle 64"/>
                  <p:cNvSpPr/>
                  <p:nvPr/>
                </p:nvSpPr>
                <p:spPr>
                  <a:xfrm>
                    <a:off x="4953000" y="5486400"/>
                    <a:ext cx="1704975" cy="171450"/>
                  </a:xfrm>
                  <a:prstGeom prst="rect">
                    <a:avLst/>
                  </a:prstGeom>
                  <a:gradFill>
                    <a:gsLst>
                      <a:gs pos="0">
                        <a:srgbClr val="C9A962">
                          <a:alpha val="50000"/>
                        </a:srgbClr>
                      </a:gs>
                      <a:gs pos="100000">
                        <a:srgbClr val="E0C882">
                          <a:alpha val="50000"/>
                        </a:srgbClr>
                      </a:gs>
                    </a:gsLst>
                    <a:lin ang="0" scaled="1"/>
                  </a:gradFill>
                  <a:ln>
                    <a:noFill/>
                  </a:ln>
                </p:spPr>
              </p:sp>
              <p:sp>
                <p:nvSpPr>
                  <p:cNvPr id="65" name="TextBox 65"/>
                  <p:cNvSpPr txBox="1"/>
                  <p:nvPr/>
                </p:nvSpPr>
                <p:spPr>
                  <a:xfrm>
                    <a:off x="6740842" y="5514499"/>
                    <a:ext cx="271471" cy="198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75" b="1" dirty="0">
                        <a:solidFill>
                          <a:srgbClr val="C9A962"/>
                        </a:solidFill>
                        <a:latin typeface="Space Grotesk"/>
                        <a:ea typeface="Microsoft YaHei"/>
                        <a:cs typeface="Space Grotesk"/>
                      </a:rPr>
                      <a:t>340</a:t>
                    </a:r>
                  </a:p>
                </p:txBody>
              </p:sp>
              <p:sp>
                <p:nvSpPr>
                  <p:cNvPr id="66" name="TextBox 66"/>
                  <p:cNvSpPr txBox="1"/>
                  <p:nvPr/>
                </p:nvSpPr>
                <p:spPr>
                  <a:xfrm>
                    <a:off x="11037570" y="5522595"/>
                    <a:ext cx="351472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13.8%</a:t>
                    </a:r>
                  </a:p>
                </p:txBody>
              </p:sp>
            </p:grpSp>
            <p:grpSp>
              <p:nvGrpSpPr>
                <p:cNvPr id="74" name="Group 74"/>
                <p:cNvGrpSpPr/>
                <p:nvPr/>
              </p:nvGrpSpPr>
              <p:grpSpPr>
                <a:xfrm>
                  <a:off x="1131570" y="5981700"/>
                  <a:ext cx="10218039" cy="226219"/>
                  <a:chOff x="1131570" y="5981700"/>
                  <a:chExt cx="10218039" cy="226219"/>
                </a:xfrm>
              </p:grpSpPr>
              <p:sp>
                <p:nvSpPr>
                  <p:cNvPr id="68" name="TextBox 68"/>
                  <p:cNvSpPr txBox="1"/>
                  <p:nvPr/>
                </p:nvSpPr>
                <p:spPr>
                  <a:xfrm>
                    <a:off x="1131570" y="5998845"/>
                    <a:ext cx="574929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b="1" dirty="0">
                        <a:solidFill>
                          <a:srgbClr val="C9A962"/>
                        </a:solidFill>
                        <a:latin typeface="Inter"/>
                        <a:ea typeface="Microsoft YaHei"/>
                        <a:cs typeface="Inter"/>
                      </a:rPr>
                      <a:t>工装外套</a:t>
                    </a:r>
                  </a:p>
                </p:txBody>
              </p:sp>
              <p:sp>
                <p:nvSpPr>
                  <p:cNvPr id="69" name="TextBox 69"/>
                  <p:cNvSpPr txBox="1"/>
                  <p:nvPr/>
                </p:nvSpPr>
                <p:spPr>
                  <a:xfrm>
                    <a:off x="2370772" y="6006941"/>
                    <a:ext cx="2328362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dirty="0">
                        <a:solidFill>
                          <a:srgbClr val="F5F5F7"/>
                        </a:solidFill>
                        <a:latin typeface="Inter"/>
                        <a:ea typeface="Microsoft YaHei"/>
                        <a:cs typeface="Inter"/>
                      </a:rPr>
                      <a:t>Men's Work Utility &amp; Safety Outerwear</a:t>
                    </a:r>
                  </a:p>
                </p:txBody>
              </p:sp>
              <p:sp>
                <p:nvSpPr>
                  <p:cNvPr id="70" name="Rectangle 70"/>
                  <p:cNvSpPr/>
                  <p:nvPr/>
                </p:nvSpPr>
                <p:spPr>
                  <a:xfrm>
                    <a:off x="4953000" y="5981700"/>
                    <a:ext cx="4762500" cy="171450"/>
                  </a:xfrm>
                  <a:prstGeom prst="rect">
                    <a:avLst/>
                  </a:prstGeom>
                  <a:solidFill>
                    <a:srgbClr val="252530"/>
                  </a:solidFill>
                  <a:ln>
                    <a:noFill/>
                  </a:ln>
                </p:spPr>
              </p:sp>
              <p:sp>
                <p:nvSpPr>
                  <p:cNvPr id="71" name="Rectangle 71"/>
                  <p:cNvSpPr/>
                  <p:nvPr/>
                </p:nvSpPr>
                <p:spPr>
                  <a:xfrm>
                    <a:off x="4953000" y="5981700"/>
                    <a:ext cx="914400" cy="171450"/>
                  </a:xfrm>
                  <a:prstGeom prst="rect">
                    <a:avLst/>
                  </a:prstGeom>
                  <a:gradFill>
                    <a:gsLst>
                      <a:gs pos="0">
                        <a:srgbClr val="C9A962">
                          <a:alpha val="40000"/>
                        </a:srgbClr>
                      </a:gs>
                      <a:gs pos="100000">
                        <a:srgbClr val="E0C882">
                          <a:alpha val="40000"/>
                        </a:srgbClr>
                      </a:gs>
                    </a:gsLst>
                    <a:lin ang="0" scaled="1"/>
                  </a:gradFill>
                  <a:ln>
                    <a:noFill/>
                  </a:ln>
                </p:spPr>
              </p:sp>
              <p:sp>
                <p:nvSpPr>
                  <p:cNvPr id="72" name="TextBox 72"/>
                  <p:cNvSpPr txBox="1"/>
                  <p:nvPr/>
                </p:nvSpPr>
                <p:spPr>
                  <a:xfrm>
                    <a:off x="5950268" y="6009799"/>
                    <a:ext cx="234091" cy="198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75" b="1" dirty="0">
                        <a:solidFill>
                          <a:srgbClr val="C9A962"/>
                        </a:solidFill>
                        <a:latin typeface="Space Grotesk"/>
                        <a:ea typeface="Microsoft YaHei"/>
                        <a:cs typeface="Space Grotesk"/>
                      </a:rPr>
                      <a:t>182</a:t>
                    </a:r>
                  </a:p>
                </p:txBody>
              </p:sp>
              <p:sp>
                <p:nvSpPr>
                  <p:cNvPr id="73" name="TextBox 73"/>
                  <p:cNvSpPr txBox="1"/>
                  <p:nvPr/>
                </p:nvSpPr>
                <p:spPr>
                  <a:xfrm>
                    <a:off x="11037570" y="6017895"/>
                    <a:ext cx="312039" cy="1828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90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7.4%</a:t>
                    </a:r>
                  </a:p>
                </p:txBody>
              </p:sp>
            </p:grpSp>
          </p:grpSp>
        </p:grpSp>
      </p:grpSp>
      <p:sp>
        <p:nvSpPr>
          <p:cNvPr id="78" name="TextBox 78"/>
          <p:cNvSpPr txBox="1"/>
          <p:nvPr/>
        </p:nvSpPr>
        <p:spPr>
          <a:xfrm>
            <a:off x="562928" y="6594634"/>
            <a:ext cx="4009787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6E6E73"/>
                </a:solidFill>
                <a:latin typeface="Inter"/>
                <a:ea typeface="Microsoft YaHei"/>
                <a:cs typeface="Inter"/>
              </a:rPr>
              <a:t>数据来源：Amazon Best Sellers Rank · 统计周期：2025年Q1 · 币种：USD · 区域：美国站</a:t>
            </a:r>
          </a:p>
        </p:txBody>
      </p:sp>
      <p:sp>
        <p:nvSpPr>
          <p:cNvPr id="79" name="Rectangle 7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44316"/>
            <a:ext cx="9761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01 · 1.4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459105"/>
            <a:ext cx="391782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市场规模、增速与增长驱动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001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0070" y="902970"/>
            <a:ext cx="57867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全球及美国市场数据与增长动力解析 | 数据来源：Global Growth Insights / Technavio / Statista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1143000"/>
            <a:ext cx="11049000" cy="1238250"/>
            <a:chOff x="571500" y="1143000"/>
            <a:chExt cx="11049000" cy="1238250"/>
          </a:xfrm>
        </p:grpSpPr>
        <p:sp>
          <p:nvSpPr>
            <p:cNvPr id="8" name="Rectangle 8"/>
            <p:cNvSpPr/>
            <p:nvPr/>
          </p:nvSpPr>
          <p:spPr>
            <a:xfrm>
              <a:off x="571500" y="1143000"/>
              <a:ext cx="11049000" cy="12382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30580" y="1325880"/>
              <a:ext cx="1558766" cy="698182"/>
              <a:chOff x="830580" y="1325880"/>
              <a:chExt cx="1558766" cy="698182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830580" y="1325880"/>
                <a:ext cx="761829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6.7</a:t>
                </a:r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%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46772" y="1692116"/>
                <a:ext cx="117767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年复合增长率 (CAGR)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47725" y="1871662"/>
                <a:ext cx="154162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2018-2023 全球工装市场 | 美元</a:t>
                </a:r>
              </a:p>
            </p:txBody>
          </p:sp>
        </p:grpSp>
        <p:sp>
          <p:nvSpPr>
            <p:cNvPr id="13" name="Line 13"/>
            <p:cNvSpPr/>
            <p:nvPr/>
          </p:nvSpPr>
          <p:spPr>
            <a:xfrm>
              <a:off x="3333750" y="1285875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9525">
              <a:solidFill>
                <a:srgbClr val="2A2A35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592830" y="1325880"/>
              <a:ext cx="1788795" cy="698182"/>
              <a:chOff x="3592830" y="1325880"/>
              <a:chExt cx="1788795" cy="698182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3592830" y="1325880"/>
                <a:ext cx="118048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$1560</a:t>
                </a:r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亿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609022" y="1692116"/>
                <a:ext cx="129816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全球市场总规模 (2023)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609975" y="1871662"/>
                <a:ext cx="177165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含工作服/特殊工装/休闲工装 | 美元</a:t>
                </a:r>
              </a:p>
            </p:txBody>
          </p:sp>
        </p:grpSp>
        <p:sp>
          <p:nvSpPr>
            <p:cNvPr id="18" name="Line 18"/>
            <p:cNvSpPr/>
            <p:nvPr/>
          </p:nvSpPr>
          <p:spPr>
            <a:xfrm>
              <a:off x="6381750" y="1285875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9525">
              <a:solidFill>
                <a:srgbClr val="2A2A35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640830" y="1325880"/>
              <a:ext cx="2396728" cy="698182"/>
              <a:chOff x="6640830" y="1325880"/>
              <a:chExt cx="2396728" cy="698182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6640830" y="1325880"/>
                <a:ext cx="126099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$2459</a:t>
                </a:r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万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57022" y="1692116"/>
                <a:ext cx="122586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亚马逊美国站月销售额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57975" y="1871662"/>
                <a:ext cx="237958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Men's Work Utility &amp; Safety | 2025年Q1 | 美元</a:t>
                </a:r>
              </a:p>
            </p:txBody>
          </p:sp>
        </p:grpSp>
        <p:sp>
          <p:nvSpPr>
            <p:cNvPr id="23" name="Line 23"/>
            <p:cNvSpPr/>
            <p:nvPr/>
          </p:nvSpPr>
          <p:spPr>
            <a:xfrm>
              <a:off x="9144000" y="1285875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9525">
              <a:solidFill>
                <a:srgbClr val="2A2A35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403080" y="1325880"/>
              <a:ext cx="1892856" cy="698182"/>
              <a:chOff x="9403080" y="1325880"/>
              <a:chExt cx="1892856" cy="698182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9403080" y="1325880"/>
                <a:ext cx="85844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12.4</a:t>
                </a:r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%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419272" y="1692116"/>
                <a:ext cx="122586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休闲工装细分年增长率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420225" y="1871662"/>
                <a:ext cx="187571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远超传统工装3.8% | 2023-2024 | 美国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571500" y="2571750"/>
            <a:ext cx="5334000" cy="4000500"/>
            <a:chOff x="571500" y="2571750"/>
            <a:chExt cx="5334000" cy="4000500"/>
          </a:xfrm>
        </p:grpSpPr>
        <p:sp>
          <p:nvSpPr>
            <p:cNvPr id="29" name="Rectangle 29"/>
            <p:cNvSpPr/>
            <p:nvPr/>
          </p:nvSpPr>
          <p:spPr>
            <a:xfrm>
              <a:off x="571500" y="2571750"/>
              <a:ext cx="5334000" cy="40005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" y="2571750"/>
              <a:ext cx="533400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8665" y="2791778"/>
              <a:ext cx="12504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GROWTH DRIVERS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4855" y="297846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F5F7"/>
                  </a:solidFill>
                  <a:latin typeface="Space Grotesk"/>
                  <a:ea typeface="Microsoft YaHei"/>
                  <a:cs typeface="Space Grotesk"/>
                </a:rPr>
                <a:t>五大增长驱动因素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762000" y="3333750"/>
              <a:ext cx="4953000" cy="3000375"/>
              <a:chOff x="762000" y="3333750"/>
              <a:chExt cx="4953000" cy="3000375"/>
            </a:xfrm>
          </p:grpSpPr>
          <p:grpSp>
            <p:nvGrpSpPr>
              <p:cNvPr id="37" name="Group 37"/>
              <p:cNvGrpSpPr/>
              <p:nvPr/>
            </p:nvGrpSpPr>
            <p:grpSpPr>
              <a:xfrm>
                <a:off x="762000" y="3333750"/>
                <a:ext cx="4953000" cy="523875"/>
                <a:chOff x="762000" y="3333750"/>
                <a:chExt cx="4953000" cy="523875"/>
              </a:xfrm>
            </p:grpSpPr>
            <p:sp>
              <p:nvSpPr>
                <p:cNvPr id="33" name="Rectangle 33"/>
                <p:cNvSpPr/>
                <p:nvPr/>
              </p:nvSpPr>
              <p:spPr>
                <a:xfrm>
                  <a:off x="762000" y="3333750"/>
                  <a:ext cx="4953000" cy="5238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893445" y="3446145"/>
                  <a:ext cx="14017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01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1179195" y="3446145"/>
                  <a:ext cx="1803283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巴恩风（Barn Fit）潮流带动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181100" y="3633788"/>
                  <a:ext cx="210026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社交媒体推动工装从功能场景进入日常穿搭</a:t>
                  </a:r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762000" y="3952875"/>
                <a:ext cx="4953000" cy="523875"/>
                <a:chOff x="762000" y="3952875"/>
                <a:chExt cx="4953000" cy="523875"/>
              </a:xfrm>
            </p:grpSpPr>
            <p:sp>
              <p:nvSpPr>
                <p:cNvPr id="38" name="Rectangle 38"/>
                <p:cNvSpPr/>
                <p:nvPr/>
              </p:nvSpPr>
              <p:spPr>
                <a:xfrm>
                  <a:off x="762000" y="3952875"/>
                  <a:ext cx="4953000" cy="5238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893445" y="4065270"/>
                  <a:ext cx="17467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02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1179195" y="4065270"/>
                  <a:ext cx="126501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功能性与时尚性融合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1181100" y="4252912"/>
                  <a:ext cx="233029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消费者追求"好看又好穿"，工装天然满足双需求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762000" y="4572000"/>
                <a:ext cx="4953000" cy="523875"/>
                <a:chOff x="762000" y="4572000"/>
                <a:chExt cx="4953000" cy="523875"/>
              </a:xfrm>
            </p:grpSpPr>
            <p:sp>
              <p:nvSpPr>
                <p:cNvPr id="43" name="Rectangle 43"/>
                <p:cNvSpPr/>
                <p:nvPr/>
              </p:nvSpPr>
              <p:spPr>
                <a:xfrm>
                  <a:off x="762000" y="4572000"/>
                  <a:ext cx="4953000" cy="5238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893445" y="4684395"/>
                  <a:ext cx="17467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03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1179195" y="4684395"/>
                  <a:ext cx="112699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户外生活方式渗透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1181100" y="4872038"/>
                  <a:ext cx="214407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Gorpcore山系风与工装在户外场景深度交叉</a:t>
                  </a: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762000" y="5191125"/>
                <a:ext cx="4953000" cy="523875"/>
                <a:chOff x="762000" y="5191125"/>
                <a:chExt cx="4953000" cy="523875"/>
              </a:xfrm>
            </p:grpSpPr>
            <p:sp>
              <p:nvSpPr>
                <p:cNvPr id="48" name="Rectangle 48"/>
                <p:cNvSpPr/>
                <p:nvPr/>
              </p:nvSpPr>
              <p:spPr>
                <a:xfrm>
                  <a:off x="762000" y="5191125"/>
                  <a:ext cx="4953000" cy="5238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893445" y="5303520"/>
                  <a:ext cx="17467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04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1179195" y="5303520"/>
                  <a:ext cx="850964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电商渠道增长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1181100" y="5491162"/>
                  <a:ext cx="247269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亚马逊工装类目年增速超12%，线上渗透率持续提升</a:t>
                  </a:r>
                </a:p>
              </p:txBody>
            </p:sp>
          </p:grpSp>
          <p:grpSp>
            <p:nvGrpSpPr>
              <p:cNvPr id="57" name="Group 57"/>
              <p:cNvGrpSpPr/>
              <p:nvPr/>
            </p:nvGrpSpPr>
            <p:grpSpPr>
              <a:xfrm>
                <a:off x="762000" y="5810250"/>
                <a:ext cx="4953000" cy="523875"/>
                <a:chOff x="762000" y="5810250"/>
                <a:chExt cx="4953000" cy="523875"/>
              </a:xfrm>
            </p:grpSpPr>
            <p:sp>
              <p:nvSpPr>
                <p:cNvPr id="53" name="Rectangle 53"/>
                <p:cNvSpPr/>
                <p:nvPr/>
              </p:nvSpPr>
              <p:spPr>
                <a:xfrm>
                  <a:off x="762000" y="5810250"/>
                  <a:ext cx="4953000" cy="5238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893445" y="5922645"/>
                  <a:ext cx="17467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05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1179195" y="5922645"/>
                  <a:ext cx="988981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可持续消费趋势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1181100" y="6110288"/>
                  <a:ext cx="254936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工装"耐穿"属性天然契合可持续理念，降低替换频率</a:t>
                  </a:r>
                </a:p>
              </p:txBody>
            </p:sp>
          </p:grpSp>
        </p:grpSp>
      </p:grpSp>
      <p:grpSp>
        <p:nvGrpSpPr>
          <p:cNvPr id="102" name="Group 102"/>
          <p:cNvGrpSpPr/>
          <p:nvPr/>
        </p:nvGrpSpPr>
        <p:grpSpPr>
          <a:xfrm>
            <a:off x="6096000" y="2571750"/>
            <a:ext cx="5524500" cy="4000500"/>
            <a:chOff x="6096000" y="2571750"/>
            <a:chExt cx="5524500" cy="4000500"/>
          </a:xfrm>
        </p:grpSpPr>
        <p:sp>
          <p:nvSpPr>
            <p:cNvPr id="60" name="Rectangle 60"/>
            <p:cNvSpPr/>
            <p:nvPr/>
          </p:nvSpPr>
          <p:spPr>
            <a:xfrm>
              <a:off x="6096000" y="2571750"/>
              <a:ext cx="5524500" cy="40005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96000" y="2571750"/>
              <a:ext cx="552450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73165" y="2791778"/>
              <a:ext cx="12906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MARKET SEGMENT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69355" y="297846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F5F7"/>
                  </a:solidFill>
                  <a:latin typeface="Space Grotesk"/>
                  <a:ea typeface="Microsoft YaHei"/>
                  <a:cs typeface="Space Grotesk"/>
                </a:rPr>
                <a:t>细分市场增速对比</a:t>
              </a:r>
            </a:p>
          </p:txBody>
        </p:sp>
        <p:grpSp>
          <p:nvGrpSpPr>
            <p:cNvPr id="94" name="Group 94"/>
            <p:cNvGrpSpPr/>
            <p:nvPr/>
          </p:nvGrpSpPr>
          <p:grpSpPr>
            <a:xfrm>
              <a:off x="6276022" y="3352800"/>
              <a:ext cx="5318046" cy="1552575"/>
              <a:chOff x="6276022" y="3352800"/>
              <a:chExt cx="5318046" cy="1552575"/>
            </a:xfrm>
          </p:grpSpPr>
          <p:grpSp>
            <p:nvGrpSpPr>
              <p:cNvPr id="69" name="Group 69"/>
              <p:cNvGrpSpPr/>
              <p:nvPr/>
            </p:nvGrpSpPr>
            <p:grpSpPr>
              <a:xfrm>
                <a:off x="6276022" y="3352800"/>
                <a:ext cx="5301615" cy="219075"/>
                <a:chOff x="6276022" y="3352800"/>
                <a:chExt cx="5301615" cy="219075"/>
              </a:xfrm>
            </p:grpSpPr>
            <p:sp>
              <p:nvSpPr>
                <p:cNvPr id="64" name="TextBox 64"/>
                <p:cNvSpPr txBox="1"/>
                <p:nvPr/>
              </p:nvSpPr>
              <p:spPr>
                <a:xfrm>
                  <a:off x="6276022" y="3378041"/>
                  <a:ext cx="743902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传统劳保工装</a:t>
                  </a:r>
                </a:p>
              </p:txBody>
            </p:sp>
            <p:sp>
              <p:nvSpPr>
                <p:cNvPr id="65" name="Rectangle 65"/>
                <p:cNvSpPr/>
                <p:nvPr/>
              </p:nvSpPr>
              <p:spPr>
                <a:xfrm>
                  <a:off x="7810500" y="3352800"/>
                  <a:ext cx="3333750" cy="171450"/>
                </a:xfrm>
                <a:prstGeom prst="rect">
                  <a:avLst/>
                </a:prstGeom>
                <a:solidFill>
                  <a:srgbClr val="252530"/>
                </a:solidFill>
                <a:ln>
                  <a:noFill/>
                </a:ln>
              </p:spPr>
            </p:sp>
            <p:sp>
              <p:nvSpPr>
                <p:cNvPr id="66" name="Rectangle 66"/>
                <p:cNvSpPr/>
                <p:nvPr/>
              </p:nvSpPr>
              <p:spPr>
                <a:xfrm>
                  <a:off x="7810500" y="3352800"/>
                  <a:ext cx="904875" cy="171450"/>
                </a:xfrm>
                <a:prstGeom prst="rect">
                  <a:avLst/>
                </a:prstGeom>
                <a:gradFill>
                  <a:gsLst>
                    <a:gs pos="0">
                      <a:srgbClr val="C9A962">
                        <a:alpha val="40000"/>
                      </a:srgbClr>
                    </a:gs>
                    <a:gs pos="100000">
                      <a:srgbClr val="E0C882">
                        <a:alpha val="4000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8799195" y="3388995"/>
                  <a:ext cx="31203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86868B"/>
                      </a:solidFill>
                      <a:latin typeface="Space Grotesk"/>
                      <a:ea typeface="Microsoft YaHei"/>
                      <a:cs typeface="Space Grotesk"/>
                    </a:rPr>
                    <a:t>3.8%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11229975" y="3405188"/>
                  <a:ext cx="34766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成熟期</a:t>
                  </a:r>
                </a:p>
              </p:txBody>
            </p:sp>
          </p:grpSp>
          <p:grpSp>
            <p:nvGrpSpPr>
              <p:cNvPr id="75" name="Group 75"/>
              <p:cNvGrpSpPr/>
              <p:nvPr/>
            </p:nvGrpSpPr>
            <p:grpSpPr>
              <a:xfrm>
                <a:off x="6276022" y="3686175"/>
                <a:ext cx="5301615" cy="219075"/>
                <a:chOff x="6276022" y="3686175"/>
                <a:chExt cx="5301615" cy="219075"/>
              </a:xfrm>
            </p:grpSpPr>
            <p:sp>
              <p:nvSpPr>
                <p:cNvPr id="70" name="TextBox 70"/>
                <p:cNvSpPr txBox="1"/>
                <p:nvPr/>
              </p:nvSpPr>
              <p:spPr>
                <a:xfrm>
                  <a:off x="6276022" y="3711416"/>
                  <a:ext cx="743902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军事风格工装</a:t>
                  </a:r>
                </a:p>
              </p:txBody>
            </p:sp>
            <p:sp>
              <p:nvSpPr>
                <p:cNvPr id="71" name="Rectangle 71"/>
                <p:cNvSpPr/>
                <p:nvPr/>
              </p:nvSpPr>
              <p:spPr>
                <a:xfrm>
                  <a:off x="7810500" y="3686175"/>
                  <a:ext cx="3333750" cy="171450"/>
                </a:xfrm>
                <a:prstGeom prst="rect">
                  <a:avLst/>
                </a:prstGeom>
                <a:solidFill>
                  <a:srgbClr val="252530"/>
                </a:solidFill>
                <a:ln>
                  <a:noFill/>
                </a:ln>
              </p:spPr>
            </p:sp>
            <p:sp>
              <p:nvSpPr>
                <p:cNvPr id="72" name="Rectangle 72"/>
                <p:cNvSpPr/>
                <p:nvPr/>
              </p:nvSpPr>
              <p:spPr>
                <a:xfrm>
                  <a:off x="7810500" y="3686175"/>
                  <a:ext cx="1666875" cy="171450"/>
                </a:xfrm>
                <a:prstGeom prst="rect">
                  <a:avLst/>
                </a:prstGeom>
                <a:gradFill>
                  <a:gsLst>
                    <a:gs pos="0">
                      <a:srgbClr val="C9A962">
                        <a:alpha val="60000"/>
                      </a:srgbClr>
                    </a:gs>
                    <a:gs pos="100000">
                      <a:srgbClr val="E0C882">
                        <a:alpha val="6000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9561195" y="3722370"/>
                  <a:ext cx="31203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7.2%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11229975" y="3738562"/>
                  <a:ext cx="34766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成长期</a:t>
                  </a:r>
                </a:p>
              </p:txBody>
            </p:sp>
          </p:grpSp>
          <p:grpSp>
            <p:nvGrpSpPr>
              <p:cNvPr id="81" name="Group 81"/>
              <p:cNvGrpSpPr/>
              <p:nvPr/>
            </p:nvGrpSpPr>
            <p:grpSpPr>
              <a:xfrm>
                <a:off x="6276022" y="4019550"/>
                <a:ext cx="5301615" cy="219075"/>
                <a:chOff x="6276022" y="4019550"/>
                <a:chExt cx="5301615" cy="219075"/>
              </a:xfrm>
            </p:grpSpPr>
            <p:sp>
              <p:nvSpPr>
                <p:cNvPr id="76" name="TextBox 76"/>
                <p:cNvSpPr txBox="1"/>
                <p:nvPr/>
              </p:nvSpPr>
              <p:spPr>
                <a:xfrm>
                  <a:off x="6276022" y="4044791"/>
                  <a:ext cx="623411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机能工装风</a:t>
                  </a:r>
                </a:p>
              </p:txBody>
            </p:sp>
            <p:sp>
              <p:nvSpPr>
                <p:cNvPr id="77" name="Rectangle 77"/>
                <p:cNvSpPr/>
                <p:nvPr/>
              </p:nvSpPr>
              <p:spPr>
                <a:xfrm>
                  <a:off x="7810500" y="4019550"/>
                  <a:ext cx="3333750" cy="171450"/>
                </a:xfrm>
                <a:prstGeom prst="rect">
                  <a:avLst/>
                </a:prstGeom>
                <a:solidFill>
                  <a:srgbClr val="252530"/>
                </a:solidFill>
                <a:ln>
                  <a:noFill/>
                </a:ln>
              </p:spPr>
            </p:sp>
            <p:sp>
              <p:nvSpPr>
                <p:cNvPr id="78" name="Rectangle 78"/>
                <p:cNvSpPr/>
                <p:nvPr/>
              </p:nvSpPr>
              <p:spPr>
                <a:xfrm>
                  <a:off x="7810500" y="4019550"/>
                  <a:ext cx="2333625" cy="171450"/>
                </a:xfrm>
                <a:prstGeom prst="rect">
                  <a:avLst/>
                </a:prstGeom>
                <a:gradFill>
                  <a:gsLst>
                    <a:gs pos="0">
                      <a:srgbClr val="C9A962">
                        <a:alpha val="75000"/>
                      </a:srgbClr>
                    </a:gs>
                    <a:gs pos="100000">
                      <a:srgbClr val="E0C882">
                        <a:alpha val="7500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10227945" y="4055745"/>
                  <a:ext cx="318611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10.1%</a:t>
                  </a:r>
                </a:p>
              </p:txBody>
            </p:sp>
            <p:sp>
              <p:nvSpPr>
                <p:cNvPr id="80" name="TextBox 80"/>
                <p:cNvSpPr txBox="1"/>
                <p:nvPr/>
              </p:nvSpPr>
              <p:spPr>
                <a:xfrm>
                  <a:off x="11229975" y="4071938"/>
                  <a:ext cx="34766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成长期</a:t>
                  </a:r>
                </a:p>
              </p:txBody>
            </p:sp>
          </p:grpSp>
          <p:grpSp>
            <p:nvGrpSpPr>
              <p:cNvPr id="87" name="Group 87"/>
              <p:cNvGrpSpPr/>
              <p:nvPr/>
            </p:nvGrpSpPr>
            <p:grpSpPr>
              <a:xfrm>
                <a:off x="6276022" y="4352925"/>
                <a:ext cx="5318046" cy="219075"/>
                <a:chOff x="6276022" y="4352925"/>
                <a:chExt cx="5318046" cy="219075"/>
              </a:xfrm>
            </p:grpSpPr>
            <p:sp>
              <p:nvSpPr>
                <p:cNvPr id="82" name="TextBox 82"/>
                <p:cNvSpPr txBox="1"/>
                <p:nvPr/>
              </p:nvSpPr>
              <p:spPr>
                <a:xfrm>
                  <a:off x="6276022" y="4378166"/>
                  <a:ext cx="930664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轻工装/休闲工装</a:t>
                  </a:r>
                </a:p>
              </p:txBody>
            </p:sp>
            <p:sp>
              <p:nvSpPr>
                <p:cNvPr id="83" name="Rectangle 83"/>
                <p:cNvSpPr/>
                <p:nvPr/>
              </p:nvSpPr>
              <p:spPr>
                <a:xfrm>
                  <a:off x="7810500" y="4352925"/>
                  <a:ext cx="3333750" cy="171450"/>
                </a:xfrm>
                <a:prstGeom prst="rect">
                  <a:avLst/>
                </a:prstGeom>
                <a:solidFill>
                  <a:srgbClr val="252530"/>
                </a:solidFill>
                <a:ln>
                  <a:noFill/>
                </a:ln>
              </p:spPr>
            </p:sp>
            <p:sp>
              <p:nvSpPr>
                <p:cNvPr id="84" name="Rectangle 84"/>
                <p:cNvSpPr/>
                <p:nvPr/>
              </p:nvSpPr>
              <p:spPr>
                <a:xfrm>
                  <a:off x="7810500" y="4352925"/>
                  <a:ext cx="2857500" cy="171450"/>
                </a:xfrm>
                <a:prstGeom prst="rect">
                  <a:avLst/>
                </a:prstGeom>
                <a:gradFill>
                  <a:gsLst>
                    <a:gs pos="0">
                      <a:srgbClr val="C9A962">
                        <a:alpha val="90000"/>
                      </a:srgbClr>
                    </a:gs>
                    <a:gs pos="100000">
                      <a:srgbClr val="E0C882">
                        <a:alpha val="9000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10751820" y="4389120"/>
                  <a:ext cx="35147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12.4%</a:t>
                  </a:r>
                </a:p>
              </p:txBody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11229975" y="4405312"/>
                  <a:ext cx="36409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高增长</a:t>
                  </a:r>
                </a:p>
              </p:txBody>
            </p:sp>
          </p:grpSp>
          <p:grpSp>
            <p:nvGrpSpPr>
              <p:cNvPr id="93" name="Group 93"/>
              <p:cNvGrpSpPr/>
              <p:nvPr/>
            </p:nvGrpSpPr>
            <p:grpSpPr>
              <a:xfrm>
                <a:off x="6276022" y="4686300"/>
                <a:ext cx="5301615" cy="219075"/>
                <a:chOff x="6276022" y="4686300"/>
                <a:chExt cx="5301615" cy="219075"/>
              </a:xfrm>
            </p:grpSpPr>
            <p:sp>
              <p:nvSpPr>
                <p:cNvPr id="88" name="TextBox 88"/>
                <p:cNvSpPr txBox="1"/>
                <p:nvPr/>
              </p:nvSpPr>
              <p:spPr>
                <a:xfrm>
                  <a:off x="6276022" y="4711541"/>
                  <a:ext cx="623411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复古工装风</a:t>
                  </a:r>
                </a:p>
              </p:txBody>
            </p:sp>
            <p:sp>
              <p:nvSpPr>
                <p:cNvPr id="89" name="Rectangle 89"/>
                <p:cNvSpPr/>
                <p:nvPr/>
              </p:nvSpPr>
              <p:spPr>
                <a:xfrm>
                  <a:off x="7810500" y="4686300"/>
                  <a:ext cx="3333750" cy="171450"/>
                </a:xfrm>
                <a:prstGeom prst="rect">
                  <a:avLst/>
                </a:prstGeom>
                <a:solidFill>
                  <a:srgbClr val="252530"/>
                </a:solidFill>
                <a:ln>
                  <a:noFill/>
                </a:ln>
              </p:spPr>
            </p:sp>
            <p:sp>
              <p:nvSpPr>
                <p:cNvPr id="90" name="Rectangle 90"/>
                <p:cNvSpPr/>
                <p:nvPr/>
              </p:nvSpPr>
              <p:spPr>
                <a:xfrm>
                  <a:off x="7810500" y="4686300"/>
                  <a:ext cx="2000250" cy="171450"/>
                </a:xfrm>
                <a:prstGeom prst="rect">
                  <a:avLst/>
                </a:prstGeom>
                <a:gradFill>
                  <a:gsLst>
                    <a:gs pos="0">
                      <a:srgbClr val="C9A962">
                        <a:alpha val="65000"/>
                      </a:srgbClr>
                    </a:gs>
                    <a:gs pos="100000">
                      <a:srgbClr val="E0C882">
                        <a:alpha val="6500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9894570" y="4722495"/>
                  <a:ext cx="31203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8.6%</a:t>
                  </a:r>
                </a:p>
              </p:txBody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11229975" y="4738688"/>
                  <a:ext cx="34766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成长期</a:t>
                  </a:r>
                </a:p>
              </p:txBody>
            </p:sp>
          </p:grpSp>
        </p:grpSp>
        <p:grpSp>
          <p:nvGrpSpPr>
            <p:cNvPr id="101" name="Group 101"/>
            <p:cNvGrpSpPr/>
            <p:nvPr/>
          </p:nvGrpSpPr>
          <p:grpSpPr>
            <a:xfrm>
              <a:off x="6286500" y="5238750"/>
              <a:ext cx="5143500" cy="1143000"/>
              <a:chOff x="6286500" y="5238750"/>
              <a:chExt cx="5143500" cy="1143000"/>
            </a:xfrm>
          </p:grpSpPr>
          <p:sp>
            <p:nvSpPr>
              <p:cNvPr id="95" name="Rectangle 95"/>
              <p:cNvSpPr/>
              <p:nvPr/>
            </p:nvSpPr>
            <p:spPr>
              <a:xfrm>
                <a:off x="6286500" y="5238750"/>
                <a:ext cx="5143500" cy="11430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6418898" y="5387816"/>
                <a:ext cx="69148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KEY INSIGHT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6417945" y="5617845"/>
                <a:ext cx="24450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5F5F7"/>
                    </a:solidFill>
                    <a:latin typeface="Inter"/>
                    <a:ea typeface="Microsoft YaHei"/>
                    <a:cs typeface="Inter"/>
                  </a:rPr>
                  <a:t>轻工装/休闲工装是增速最快的细分赛道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6418898" y="5835491"/>
                <a:ext cx="244885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年复合增长率12.4%，是传统劳保工装的3.3倍</a:t>
                </a: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6418898" y="6025991"/>
                <a:ext cx="276815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亚马逊美国站Men's Work Utility类目月销$2459万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6419850" y="6186488"/>
                <a:ext cx="240149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数据周期：2023-2024 | 区域：美国 | 币种：美元</a:t>
                </a:r>
              </a:p>
            </p:txBody>
          </p:sp>
        </p:grpSp>
      </p:grpSp>
      <p:sp>
        <p:nvSpPr>
          <p:cNvPr id="103" name="Rectangle 10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44316"/>
            <a:ext cx="9761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01 · 1.5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459105"/>
            <a:ext cx="391782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海外主流潮流：巴恩风解读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001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0070" y="902970"/>
            <a:ext cx="39793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Barn Fit / 潮巴恩风——2024-2025年海外最具影响力的工装潮流趋势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1190625"/>
            <a:ext cx="5334000" cy="2667000"/>
            <a:chOff x="571500" y="1190625"/>
            <a:chExt cx="5334000" cy="2667000"/>
          </a:xfrm>
        </p:grpSpPr>
        <p:sp>
          <p:nvSpPr>
            <p:cNvPr id="8" name="Rectangle 8"/>
            <p:cNvSpPr/>
            <p:nvPr/>
          </p:nvSpPr>
          <p:spPr>
            <a:xfrm>
              <a:off x="571500" y="1190625"/>
              <a:ext cx="5334000" cy="26670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190625"/>
              <a:ext cx="5334000" cy="57150"/>
            </a:xfrm>
            <a:prstGeom prst="rect">
              <a:avLst/>
            </a:prstGeom>
            <a:solidFill>
              <a:srgbClr val="B5A88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6760" y="1394460"/>
              <a:ext cx="20915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5A882"/>
                  </a:solidFill>
                  <a:latin typeface="Space Grotesk"/>
                  <a:ea typeface="Microsoft YaHei"/>
                  <a:cs typeface="Space Grotesk"/>
                </a:rPr>
                <a:t>什么是巴恩风 Barn Fit？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0570" y="1712595"/>
              <a:ext cx="34272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F5F7"/>
                  </a:solidFill>
                  <a:latin typeface="Inter"/>
                  <a:ea typeface="Microsoft YaHei"/>
                  <a:cs typeface="Inter"/>
                </a:rPr>
                <a:t>巴恩风（Barn Fit）源自美国中西部农场文化，以谷仓夹克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1903095"/>
              <a:ext cx="34141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F5F7"/>
                  </a:solidFill>
                  <a:latin typeface="Inter"/>
                  <a:ea typeface="Microsoft YaHei"/>
                  <a:cs typeface="Inter"/>
                </a:rPr>
                <a:t>（Barn Jacket）为核心单品，融合工装实用性与复古美学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522" y="21969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核心特征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522" y="2387441"/>
              <a:ext cx="30633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大地色系（Olive/Khaki/Rust）· 廓形宽松 · 多口袋设计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522" y="2577941"/>
              <a:ext cx="21717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帆布/灯芯绒面料 · 做旧质感 · 叠穿搭配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522" y="286369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代表单品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522" y="3054191"/>
              <a:ext cx="30272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谷仓夹克（Barn Jacket）· 伐木衬衫 · 工装裤 · 工装靴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522" y="33399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代表品牌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522" y="3530441"/>
              <a:ext cx="32802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Carhartt WIP · Dickies · Flint and Tinder · Taylor Stitch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0" y="1190625"/>
            <a:ext cx="5524500" cy="2667000"/>
            <a:chOff x="6096000" y="1190625"/>
            <a:chExt cx="5524500" cy="2667000"/>
          </a:xfrm>
        </p:grpSpPr>
        <p:sp>
          <p:nvSpPr>
            <p:cNvPr id="21" name="Rectangle 21"/>
            <p:cNvSpPr/>
            <p:nvPr/>
          </p:nvSpPr>
          <p:spPr>
            <a:xfrm>
              <a:off x="6096000" y="1190625"/>
              <a:ext cx="5524500" cy="26670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0" y="1190625"/>
              <a:ext cx="552450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71260" y="139446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巴恩风市场影响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6286500" y="1714500"/>
              <a:ext cx="5143500" cy="1952625"/>
              <a:chOff x="6286500" y="1714500"/>
              <a:chExt cx="5143500" cy="1952625"/>
            </a:xfrm>
          </p:grpSpPr>
          <p:grpSp>
            <p:nvGrpSpPr>
              <p:cNvPr id="29" name="Group 29"/>
              <p:cNvGrpSpPr/>
              <p:nvPr/>
            </p:nvGrpSpPr>
            <p:grpSpPr>
              <a:xfrm>
                <a:off x="6286500" y="1714500"/>
                <a:ext cx="2476500" cy="904875"/>
                <a:chOff x="6286500" y="1714500"/>
                <a:chExt cx="2476500" cy="904875"/>
              </a:xfrm>
            </p:grpSpPr>
            <p:sp>
              <p:nvSpPr>
                <p:cNvPr id="24" name="Rectangle 24"/>
                <p:cNvSpPr/>
                <p:nvPr/>
              </p:nvSpPr>
              <p:spPr>
                <a:xfrm>
                  <a:off x="6286500" y="1714500"/>
                  <a:ext cx="2476500" cy="9048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6408420" y="1774508"/>
                  <a:ext cx="737747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+340%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6419850" y="2090738"/>
                  <a:ext cx="142113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TikTok #BarnFit 播放量增长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6420802" y="2260759"/>
                  <a:ext cx="697373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2023-2024 YoY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6420802" y="2422684"/>
                  <a:ext cx="1279017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数据来源：TikTok Analytics</a:t>
                  </a: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8953500" y="1714500"/>
                <a:ext cx="2476500" cy="904875"/>
                <a:chOff x="8953500" y="1714500"/>
                <a:chExt cx="2476500" cy="904875"/>
              </a:xfrm>
            </p:grpSpPr>
            <p:sp>
              <p:nvSpPr>
                <p:cNvPr id="30" name="Rectangle 30"/>
                <p:cNvSpPr/>
                <p:nvPr/>
              </p:nvSpPr>
              <p:spPr>
                <a:xfrm>
                  <a:off x="8953500" y="1714500"/>
                  <a:ext cx="2476500" cy="9048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9075420" y="1774508"/>
                  <a:ext cx="59858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+67%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9086850" y="2090738"/>
                  <a:ext cx="13335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亚马逊谷仓夹克搜索量增长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9087802" y="2260759"/>
                  <a:ext cx="933974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2024 Q1-Q4 | 美国站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9087802" y="2422684"/>
                  <a:ext cx="1111425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数据来源：Jungle Scout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6286500" y="2762250"/>
                <a:ext cx="2476500" cy="904875"/>
                <a:chOff x="6286500" y="2762250"/>
                <a:chExt cx="2476500" cy="904875"/>
              </a:xfrm>
            </p:grpSpPr>
            <p:sp>
              <p:nvSpPr>
                <p:cNvPr id="36" name="Rectangle 36"/>
                <p:cNvSpPr/>
                <p:nvPr/>
              </p:nvSpPr>
              <p:spPr>
                <a:xfrm>
                  <a:off x="6286500" y="2762250"/>
                  <a:ext cx="2476500" cy="9048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408420" y="2822258"/>
                  <a:ext cx="95282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$85-150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419850" y="3138488"/>
                  <a:ext cx="1004887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谷仓夹克主流价格带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420802" y="3308509"/>
                  <a:ext cx="894540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亚马逊美国站 | 美元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420802" y="3470434"/>
                  <a:ext cx="1461397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数据来源：Amazon Best Sellers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8953500" y="2762250"/>
                <a:ext cx="2476500" cy="904875"/>
                <a:chOff x="8953500" y="2762250"/>
                <a:chExt cx="2476500" cy="904875"/>
              </a:xfrm>
            </p:grpSpPr>
            <p:sp>
              <p:nvSpPr>
                <p:cNvPr id="42" name="Rectangle 42"/>
                <p:cNvSpPr/>
                <p:nvPr/>
              </p:nvSpPr>
              <p:spPr>
                <a:xfrm>
                  <a:off x="8953500" y="2762250"/>
                  <a:ext cx="2476500" cy="9048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9075420" y="2822258"/>
                  <a:ext cx="67448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18-35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9086850" y="3138488"/>
                  <a:ext cx="78581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核心消费年龄段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9087802" y="3308509"/>
                  <a:ext cx="1091708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都市男性 | 社媒活跃用户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9087802" y="3470434"/>
                  <a:ext cx="1407176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数据来源：Instagram Insights</a:t>
                  </a:r>
                </a:p>
              </p:txBody>
            </p:sp>
          </p:grpSp>
        </p:grpSp>
      </p:grpSp>
      <p:grpSp>
        <p:nvGrpSpPr>
          <p:cNvPr id="91" name="Group 91"/>
          <p:cNvGrpSpPr/>
          <p:nvPr/>
        </p:nvGrpSpPr>
        <p:grpSpPr>
          <a:xfrm>
            <a:off x="571500" y="4048125"/>
            <a:ext cx="11049000" cy="2571750"/>
            <a:chOff x="571500" y="4048125"/>
            <a:chExt cx="11049000" cy="2571750"/>
          </a:xfrm>
        </p:grpSpPr>
        <p:sp>
          <p:nvSpPr>
            <p:cNvPr id="50" name="Rectangle 50"/>
            <p:cNvSpPr/>
            <p:nvPr/>
          </p:nvSpPr>
          <p:spPr>
            <a:xfrm>
              <a:off x="571500" y="4048125"/>
              <a:ext cx="11049000" cy="25717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71500" y="4048125"/>
              <a:ext cx="1104900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8665" y="4268152"/>
              <a:ext cx="16449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BARN FIT × WORKWEAR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4855" y="4454842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F5F7"/>
                  </a:solidFill>
                  <a:latin typeface="Space Grotesk"/>
                  <a:ea typeface="Microsoft YaHei"/>
                  <a:cs typeface="Space Grotesk"/>
                </a:rPr>
                <a:t>巴恩风与工装的融合趋势</a:t>
              </a:r>
            </a:p>
          </p:txBody>
        </p:sp>
        <p:grpSp>
          <p:nvGrpSpPr>
            <p:cNvPr id="90" name="Group 90"/>
            <p:cNvGrpSpPr/>
            <p:nvPr/>
          </p:nvGrpSpPr>
          <p:grpSpPr>
            <a:xfrm>
              <a:off x="762000" y="4810125"/>
              <a:ext cx="10858500" cy="1619250"/>
              <a:chOff x="762000" y="4810125"/>
              <a:chExt cx="10858500" cy="1619250"/>
            </a:xfrm>
          </p:grpSpPr>
          <p:grpSp>
            <p:nvGrpSpPr>
              <p:cNvPr id="62" name="Group 62"/>
              <p:cNvGrpSpPr/>
              <p:nvPr/>
            </p:nvGrpSpPr>
            <p:grpSpPr>
              <a:xfrm>
                <a:off x="762000" y="4810125"/>
                <a:ext cx="2571750" cy="1619250"/>
                <a:chOff x="762000" y="4810125"/>
                <a:chExt cx="2571750" cy="1619250"/>
              </a:xfrm>
            </p:grpSpPr>
            <p:sp>
              <p:nvSpPr>
                <p:cNvPr id="54" name="Rectangle 54"/>
                <p:cNvSpPr/>
                <p:nvPr/>
              </p:nvSpPr>
              <p:spPr>
                <a:xfrm>
                  <a:off x="762000" y="4810125"/>
                  <a:ext cx="2571750" cy="161925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893445" y="4951095"/>
                  <a:ext cx="457614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B5A882"/>
                      </a:solidFill>
                      <a:latin typeface="Space Grotesk"/>
                      <a:ea typeface="Microsoft YaHei"/>
                      <a:cs typeface="Space Grotesk"/>
                    </a:rPr>
                    <a:t>趋势 01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893445" y="5170170"/>
                  <a:ext cx="140303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谷仓夹克成为爆款入口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95350" y="5395912"/>
                  <a:ext cx="164020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Barn Jacket是巴恩风最具代表性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895350" y="5548312"/>
                  <a:ext cx="140469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单品，亚马逊搜索量激增67%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895350" y="577691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产品建议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895350" y="5948362"/>
                  <a:ext cx="155257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优先开发谷仓夹克，搭配工装裤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895350" y="6100762"/>
                  <a:ext cx="13335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形成套装销售，提升客单价</a:t>
                  </a:r>
                </a:p>
              </p:txBody>
            </p:sp>
          </p:grpSp>
          <p:grpSp>
            <p:nvGrpSpPr>
              <p:cNvPr id="71" name="Group 71"/>
              <p:cNvGrpSpPr/>
              <p:nvPr/>
            </p:nvGrpSpPr>
            <p:grpSpPr>
              <a:xfrm>
                <a:off x="3524250" y="4810125"/>
                <a:ext cx="2571750" cy="1619250"/>
                <a:chOff x="3524250" y="4810125"/>
                <a:chExt cx="2571750" cy="1619250"/>
              </a:xfrm>
            </p:grpSpPr>
            <p:sp>
              <p:nvSpPr>
                <p:cNvPr id="63" name="Rectangle 63"/>
                <p:cNvSpPr/>
                <p:nvPr/>
              </p:nvSpPr>
              <p:spPr>
                <a:xfrm>
                  <a:off x="3524250" y="4810125"/>
                  <a:ext cx="2571750" cy="161925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3655695" y="4951095"/>
                  <a:ext cx="49211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B5A882"/>
                      </a:solidFill>
                      <a:latin typeface="Space Grotesk"/>
                      <a:ea typeface="Microsoft YaHei"/>
                      <a:cs typeface="Space Grotesk"/>
                    </a:rPr>
                    <a:t>趋势 02</a:t>
                  </a:r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3655695" y="5170170"/>
                  <a:ext cx="1126998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大地色系成为主流</a:t>
                  </a:r>
                </a:p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3657600" y="5395912"/>
                  <a:ext cx="163472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Olive Drab/Khaki/Rust等大地色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3657600" y="5548312"/>
                  <a:ext cx="155257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取代传统黑色，成为工装新标配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3657600" y="577691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产品建议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3657600" y="5948362"/>
                  <a:ext cx="129516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主图优先展示大地色系SKU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3657600" y="6100762"/>
                  <a:ext cx="147042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关键词加入Barn/Olive/Khaki</a:t>
                  </a:r>
                </a:p>
              </p:txBody>
            </p:sp>
          </p:grpSp>
          <p:grpSp>
            <p:nvGrpSpPr>
              <p:cNvPr id="80" name="Group 80"/>
              <p:cNvGrpSpPr/>
              <p:nvPr/>
            </p:nvGrpSpPr>
            <p:grpSpPr>
              <a:xfrm>
                <a:off x="6286500" y="4810125"/>
                <a:ext cx="2571750" cy="1619250"/>
                <a:chOff x="6286500" y="4810125"/>
                <a:chExt cx="2571750" cy="1619250"/>
              </a:xfrm>
            </p:grpSpPr>
            <p:sp>
              <p:nvSpPr>
                <p:cNvPr id="72" name="Rectangle 72"/>
                <p:cNvSpPr/>
                <p:nvPr/>
              </p:nvSpPr>
              <p:spPr>
                <a:xfrm>
                  <a:off x="6286500" y="4810125"/>
                  <a:ext cx="2571750" cy="161925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6417945" y="4951095"/>
                  <a:ext cx="49211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B5A882"/>
                      </a:solidFill>
                      <a:latin typeface="Space Grotesk"/>
                      <a:ea typeface="Microsoft YaHei"/>
                      <a:cs typeface="Space Grotesk"/>
                    </a:rPr>
                    <a:t>趋势 03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6417945" y="5170170"/>
                  <a:ext cx="1265015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叠穿搭配驱动多品类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6419850" y="5395912"/>
                  <a:ext cx="139374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巴恩风强调叠穿，夹克+衬衫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6419850" y="5548312"/>
                  <a:ext cx="150328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+工装裤的搭配组合带动全品类</a:t>
                  </a: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6419850" y="577691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产品建议</a:t>
                  </a: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6419850" y="5948362"/>
                  <a:ext cx="161282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开发完整产品线，覆盖上装+下装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6419850" y="6100762"/>
                  <a:ext cx="156352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A+页面展示搭配方案，提升转化</a:t>
                  </a:r>
                </a:p>
              </p:txBody>
            </p:sp>
          </p:grpSp>
          <p:grpSp>
            <p:nvGrpSpPr>
              <p:cNvPr id="89" name="Group 89"/>
              <p:cNvGrpSpPr/>
              <p:nvPr/>
            </p:nvGrpSpPr>
            <p:grpSpPr>
              <a:xfrm>
                <a:off x="9048750" y="4810125"/>
                <a:ext cx="2571750" cy="1619250"/>
                <a:chOff x="9048750" y="4810125"/>
                <a:chExt cx="2571750" cy="1619250"/>
              </a:xfrm>
            </p:grpSpPr>
            <p:sp>
              <p:nvSpPr>
                <p:cNvPr id="81" name="Rectangle 81"/>
                <p:cNvSpPr/>
                <p:nvPr/>
              </p:nvSpPr>
              <p:spPr>
                <a:xfrm>
                  <a:off x="9048750" y="4810125"/>
                  <a:ext cx="2571750" cy="161925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9180195" y="4951095"/>
                  <a:ext cx="492119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B5A882"/>
                      </a:solidFill>
                      <a:latin typeface="Space Grotesk"/>
                      <a:ea typeface="Microsoft YaHei"/>
                      <a:cs typeface="Space Grotesk"/>
                    </a:rPr>
                    <a:t>趋势 04</a:t>
                  </a:r>
                </a:p>
              </p:txBody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9180195" y="5170170"/>
                  <a:ext cx="1403032" cy="1828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b="1" dirty="0">
                      <a:solidFill>
                        <a:srgbClr val="F5F5F7"/>
                      </a:solidFill>
                      <a:latin typeface="Inter"/>
                      <a:ea typeface="Microsoft YaHei"/>
                      <a:cs typeface="Inter"/>
                    </a:rPr>
                    <a:t>社媒营销成为关键渠道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9182100" y="5395912"/>
                  <a:ext cx="160734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TikTok/Instagram是巴恩风传播</a:t>
                  </a:r>
                </a:p>
              </p:txBody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9182100" y="5548312"/>
                  <a:ext cx="153614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主阵地，KOL穿搭视频驱动购买</a:t>
                  </a:r>
                </a:p>
              </p:txBody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9182100" y="577691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营销建议</a:t>
                  </a:r>
                </a:p>
              </p:txBody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9182100" y="5948362"/>
                  <a:ext cx="155257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与穿搭博主合作，拍摄叠穿教程</a:t>
                  </a:r>
                </a:p>
              </p:txBody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9182100" y="6100762"/>
                  <a:ext cx="139374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Amazon Posts同步社媒内容</a:t>
                  </a:r>
                </a:p>
              </p:txBody>
            </p:sp>
          </p:grpSp>
        </p:grpSp>
      </p:grpSp>
      <p:sp>
        <p:nvSpPr>
          <p:cNvPr id="92" name="Rectangle 9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81000" y="95250"/>
            <a:ext cx="11430000" cy="6667500"/>
          </a:xfrm>
          <a:prstGeom prst="ellipse">
            <a:avLst/>
          </a:prstGeom>
          <a:gradFill>
            <a:gsLst>
              <a:gs pos="0">
                <a:srgbClr val="C9A962">
                  <a:alpha val="8000"/>
                </a:srgbClr>
              </a:gs>
              <a:gs pos="100000">
                <a:srgbClr val="C9A96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59987" y="2363152"/>
            <a:ext cx="8720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9A962">
                    <a:alpha val="60000"/>
                  </a:srgbClr>
                </a:solidFill>
                <a:latin typeface="Space Grotesk"/>
                <a:ea typeface="Microsoft YaHei"/>
                <a:cs typeface="Space Grotesk"/>
              </a:rPr>
              <a:t>CHAPTER 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38616" y="2754630"/>
            <a:ext cx="431476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核心产品设计DNA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3333750"/>
            <a:ext cx="1905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76356" y="3680460"/>
            <a:ext cx="34392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四大风格 + 面料科技 + 版型工学 + 辅料五金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179570" y="4379595"/>
            <a:ext cx="3843433" cy="392430"/>
            <a:chOff x="4179570" y="4379595"/>
            <a:chExt cx="3843433" cy="392430"/>
          </a:xfrm>
        </p:grpSpPr>
        <p:sp>
          <p:nvSpPr>
            <p:cNvPr id="9" name="TextBox 9"/>
            <p:cNvSpPr txBox="1"/>
            <p:nvPr/>
          </p:nvSpPr>
          <p:spPr>
            <a:xfrm>
              <a:off x="4179570" y="4379595"/>
              <a:ext cx="2566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2.1 主流四大风格：复古/军事/机能/轻工装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79570" y="4589145"/>
              <a:ext cx="10678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2.2 核心面料科技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60820" y="4379595"/>
              <a:ext cx="14621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2.3 版型工学与功能细节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60820" y="4589145"/>
              <a:ext cx="11992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2.4 辅料与五金体系</a:t>
              </a:r>
            </a:p>
          </p:txBody>
        </p:sp>
      </p:grpSp>
      <p:sp>
        <p:nvSpPr>
          <p:cNvPr id="14" name="Rectangle 1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91941"/>
            <a:ext cx="6851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550545"/>
            <a:ext cx="263728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辅料与五金体系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085374"/>
            <a:ext cx="36274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拉链、扣具——工装服装"专业感"与"可靠性"的具象化表达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71500" y="1476375"/>
            <a:ext cx="11049000" cy="5048250"/>
            <a:chOff x="571500" y="1476375"/>
            <a:chExt cx="11049000" cy="5048250"/>
          </a:xfrm>
        </p:grpSpPr>
        <p:grpSp>
          <p:nvGrpSpPr>
            <p:cNvPr id="22" name="Group 22"/>
            <p:cNvGrpSpPr/>
            <p:nvPr/>
          </p:nvGrpSpPr>
          <p:grpSpPr>
            <a:xfrm>
              <a:off x="571500" y="1476375"/>
              <a:ext cx="5334000" cy="5048250"/>
              <a:chOff x="571500" y="1476375"/>
              <a:chExt cx="5334000" cy="50482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76375"/>
                <a:ext cx="5334000" cy="50482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476375"/>
                <a:ext cx="5334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46760" y="1680210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拉链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0570" y="1950720"/>
                <a:ext cx="270433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YKK（70%市占率）、SBS | 树脂/金属，抗腐蚀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48665" y="2125028"/>
                <a:ext cx="9122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$0.5-3/pcs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762000" y="2381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573185" y="3244691"/>
                <a:ext cx="70173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YKK金属拉链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3190875" y="2381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002060" y="3244691"/>
                <a:ext cx="70173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YKK树脂拉链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41910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573185" y="5054441"/>
                <a:ext cx="70173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SBS闭尾拉链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190875" y="41910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101465" y="505444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防水拉链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925008" y="6205538"/>
                <a:ext cx="62698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245×180 4:3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286500" y="1476375"/>
              <a:ext cx="5334000" cy="5048250"/>
              <a:chOff x="6286500" y="1476375"/>
              <a:chExt cx="5334000" cy="5048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286500" y="1476375"/>
                <a:ext cx="5334000" cy="50482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286500" y="1476375"/>
                <a:ext cx="5334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461760" y="1680210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扣具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65570" y="1950720"/>
                <a:ext cx="26583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ITW Nexus、Cobra（军规）| acetyl、锌合金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63665" y="2125028"/>
                <a:ext cx="6949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$1-8/pcs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6477000" y="2381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221915" y="3244691"/>
                <a:ext cx="83427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Cobra军规扣具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8905875" y="2381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656814" y="3244691"/>
                <a:ext cx="82222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ITW Nexus扣具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6477000" y="41910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408676" y="5054441"/>
                <a:ext cx="46074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UTX扣具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8905875" y="41910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686937" y="5054441"/>
                <a:ext cx="76197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Duraflex扣具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640008" y="6205538"/>
                <a:ext cx="62698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245×180 4:3</a:t>
                </a:r>
              </a:p>
            </p:txBody>
          </p:sp>
        </p:grpSp>
      </p:grpSp>
      <p:sp>
        <p:nvSpPr>
          <p:cNvPr id="39" name="Rectangle 3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91941"/>
            <a:ext cx="6851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550545"/>
            <a:ext cx="263728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辅料与五金体系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085374"/>
            <a:ext cx="33141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织带、魔术贴——工装服装功能性与耐用性的关键支撑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71500" y="1476375"/>
            <a:ext cx="11049000" cy="5048250"/>
            <a:chOff x="571500" y="1476375"/>
            <a:chExt cx="11049000" cy="5048250"/>
          </a:xfrm>
        </p:grpSpPr>
        <p:grpSp>
          <p:nvGrpSpPr>
            <p:cNvPr id="22" name="Group 22"/>
            <p:cNvGrpSpPr/>
            <p:nvPr/>
          </p:nvGrpSpPr>
          <p:grpSpPr>
            <a:xfrm>
              <a:off x="571500" y="1476375"/>
              <a:ext cx="5334000" cy="5048250"/>
              <a:chOff x="571500" y="1476375"/>
              <a:chExt cx="5334000" cy="50482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76375"/>
                <a:ext cx="5334000" cy="50482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476375"/>
                <a:ext cx="5334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46760" y="1680210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织带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0570" y="1950720"/>
                <a:ext cx="223113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YKK（织带）| 尼龙/聚酯，军规级抗拉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48665" y="2125028"/>
                <a:ext cx="10813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$0.2-1/meter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762000" y="2381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672590" y="32446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尼龙织带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3190875" y="2381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101465" y="32446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聚酯织带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41910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726811" y="5054441"/>
                <a:ext cx="39447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PP织带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190875" y="41910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101465" y="505444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反光织带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925008" y="6205538"/>
                <a:ext cx="62698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245×180 4:3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286500" y="1476375"/>
              <a:ext cx="5334000" cy="5048250"/>
              <a:chOff x="6286500" y="1476375"/>
              <a:chExt cx="5334000" cy="5048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286500" y="1476375"/>
                <a:ext cx="5334000" cy="50482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286500" y="1476375"/>
                <a:ext cx="5334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461760" y="1680210"/>
                <a:ext cx="5825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魔术贴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65570" y="1950720"/>
                <a:ext cx="12321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3M Scotchcal | 尼龙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63665" y="2125028"/>
                <a:ext cx="9122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$0.3-2/pcs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6477000" y="2381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249025" y="3244691"/>
                <a:ext cx="78005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3M工业魔术贴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8905875" y="2381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876711" y="3244691"/>
                <a:ext cx="3824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射出钩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6477000" y="41910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447836" y="5054441"/>
                <a:ext cx="3824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蘑菇头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8905875" y="41910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876711" y="5054441"/>
                <a:ext cx="3824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不织布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640008" y="6205538"/>
                <a:ext cx="62698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245×180 4:3</a:t>
                </a:r>
              </a:p>
            </p:txBody>
          </p:sp>
        </p:grpSp>
      </p:grpSp>
      <p:sp>
        <p:nvSpPr>
          <p:cNvPr id="39" name="Rectangle 3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81000" y="95250"/>
            <a:ext cx="11430000" cy="6667500"/>
          </a:xfrm>
          <a:prstGeom prst="ellipse">
            <a:avLst/>
          </a:prstGeom>
          <a:gradFill>
            <a:gsLst>
              <a:gs pos="0">
                <a:srgbClr val="C9A962">
                  <a:alpha val="8000"/>
                </a:srgbClr>
              </a:gs>
              <a:gs pos="100000">
                <a:srgbClr val="C9A96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59987" y="2363152"/>
            <a:ext cx="8720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9A962">
                    <a:alpha val="60000"/>
                  </a:srgbClr>
                </a:solidFill>
                <a:latin typeface="Space Grotesk"/>
                <a:ea typeface="Microsoft YaHei"/>
                <a:cs typeface="Space Grotesk"/>
              </a:rPr>
              <a:t>CHAPTER 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65970" y="2754630"/>
            <a:ext cx="506006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产品视觉与电商呈现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3333750"/>
            <a:ext cx="1905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09350" y="3680460"/>
            <a:ext cx="27732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色彩体系 / Listing规范 / 摄影美学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179570" y="4379595"/>
            <a:ext cx="3974878" cy="392430"/>
            <a:chOff x="4179570" y="4379595"/>
            <a:chExt cx="3974878" cy="392430"/>
          </a:xfrm>
        </p:grpSpPr>
        <p:sp>
          <p:nvSpPr>
            <p:cNvPr id="9" name="TextBox 9"/>
            <p:cNvSpPr txBox="1"/>
            <p:nvPr/>
          </p:nvSpPr>
          <p:spPr>
            <a:xfrm>
              <a:off x="4179570" y="4379595"/>
              <a:ext cx="19551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3.1 四大风格色彩体系与设计语言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79570" y="4589145"/>
              <a:ext cx="19419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3.2 亚马逊主图/A+页面视觉规范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60820" y="4379595"/>
              <a:ext cx="1593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3.3 摄影美学与视觉差异化</a:t>
              </a:r>
            </a:p>
          </p:txBody>
        </p:sp>
      </p:grpSp>
      <p:sp>
        <p:nvSpPr>
          <p:cNvPr id="13" name="Rectangle 1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91941"/>
            <a:ext cx="6851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550545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产品视觉呈现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085374"/>
            <a:ext cx="25879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在亚马逊电商语境下，视觉呈现即产品力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71500" y="1476375"/>
            <a:ext cx="11049000" cy="5048250"/>
            <a:chOff x="571500" y="1476375"/>
            <a:chExt cx="11049000" cy="5048250"/>
          </a:xfrm>
        </p:grpSpPr>
        <p:grpSp>
          <p:nvGrpSpPr>
            <p:cNvPr id="22" name="Group 22"/>
            <p:cNvGrpSpPr/>
            <p:nvPr/>
          </p:nvGrpSpPr>
          <p:grpSpPr>
            <a:xfrm>
              <a:off x="571500" y="1476375"/>
              <a:ext cx="5334000" cy="5048250"/>
              <a:chOff x="571500" y="1476375"/>
              <a:chExt cx="5334000" cy="50482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76375"/>
                <a:ext cx="5334000" cy="50482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476375"/>
                <a:ext cx="5334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46760" y="1680210"/>
                <a:ext cx="15394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顶级军规 Tactical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1522" y="1958816"/>
                <a:ext cx="336458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主色调：黑色、卡其色、OD绿 | 辅色调：Coyote Brown、沙色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52475" y="2138362"/>
                <a:ext cx="176617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设计语言：最低调务实，无logo外露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762000" y="235267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552099" y="3216116"/>
                <a:ext cx="7439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黑色战术夹克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3190875" y="235267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980974" y="3216116"/>
                <a:ext cx="7439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卡其色工装裤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416242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654516" y="5025866"/>
                <a:ext cx="53906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OD绿背心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190875" y="416242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023146" y="5025866"/>
                <a:ext cx="65955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Coyote背包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925008" y="6157912"/>
                <a:ext cx="62698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245×180 4:3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286500" y="1476375"/>
              <a:ext cx="5334000" cy="5048250"/>
              <a:chOff x="6286500" y="1476375"/>
              <a:chExt cx="5334000" cy="5048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286500" y="1476375"/>
                <a:ext cx="5334000" cy="50482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286500" y="1476375"/>
                <a:ext cx="5334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461760" y="16802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户外工装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66522" y="1958816"/>
                <a:ext cx="33525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主色调：棕色、Dark Navy | 辅色调：Hamilton Brown、Lily绿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67475" y="2138362"/>
                <a:ext cx="200715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设计语言：都市街头化，鲜艳色调 + 做旧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6477000" y="235267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267099" y="3216116"/>
                <a:ext cx="7439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棕色工装外套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8905875" y="235267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593556" y="3216116"/>
                <a:ext cx="9487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Dark Navy工装裤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6477000" y="416242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140583" y="5025866"/>
                <a:ext cx="99693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Hamilton工装背心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8905875" y="416242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714047" y="5025866"/>
                <a:ext cx="70775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Lily绿户外帽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640008" y="6157912"/>
                <a:ext cx="62698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245×180 4:3</a:t>
                </a:r>
              </a:p>
            </p:txBody>
          </p:sp>
        </p:grpSp>
      </p:grpSp>
      <p:sp>
        <p:nvSpPr>
          <p:cNvPr id="39" name="Rectangle 3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91941"/>
            <a:ext cx="6851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550545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产品视觉呈现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085374"/>
            <a:ext cx="28869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从主图规范到A+内容，从色彩体系到摄影美学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71500" y="1476375"/>
            <a:ext cx="11049000" cy="5048250"/>
            <a:chOff x="571500" y="1476375"/>
            <a:chExt cx="11049000" cy="5048250"/>
          </a:xfrm>
        </p:grpSpPr>
        <p:grpSp>
          <p:nvGrpSpPr>
            <p:cNvPr id="22" name="Group 22"/>
            <p:cNvGrpSpPr/>
            <p:nvPr/>
          </p:nvGrpSpPr>
          <p:grpSpPr>
            <a:xfrm>
              <a:off x="571500" y="1476375"/>
              <a:ext cx="5334000" cy="5048250"/>
              <a:chOff x="571500" y="1476375"/>
              <a:chExt cx="5334000" cy="50482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76375"/>
                <a:ext cx="5334000" cy="50482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476375"/>
                <a:ext cx="5334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46760" y="16802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执法专业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1522" y="1958816"/>
                <a:ext cx="259344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主色调：黑色、Navy Blue | 辅色调：银色反光条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52475" y="2138362"/>
                <a:ext cx="199072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设计语言：明确功能分区，反光安全标识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762000" y="235267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672590" y="3216116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执法夹克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3190875" y="235267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101465" y="3216116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战术长裤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416242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672590" y="5025866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防弹背心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190875" y="416242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101465" y="5025866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战术手套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925008" y="6157912"/>
                <a:ext cx="62698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245×180 4:3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286500" y="1476375"/>
              <a:ext cx="5334000" cy="5048250"/>
              <a:chOff x="6286500" y="1476375"/>
              <a:chExt cx="5334000" cy="5048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286500" y="1476375"/>
                <a:ext cx="5334000" cy="50482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286500" y="1476375"/>
                <a:ext cx="5334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461760" y="1680210"/>
                <a:ext cx="10794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K-Techwear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66522" y="1958816"/>
                <a:ext cx="290069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主色调：黑、灰、橄榄绿 | 辅色调：亮橙（压胶撞色）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67475" y="2138362"/>
                <a:ext cx="254936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设计语言：机能解构，"将功能通过时装化手段隐藏"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6477000" y="235267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387590" y="3216116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解构外套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8905875" y="235267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816465" y="3216116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机能长裤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6477000" y="416242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387590" y="5025866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战术马甲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8905875" y="4162425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816465" y="5025866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户外背包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640008" y="6157912"/>
                <a:ext cx="62698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245×180 4:3</a:t>
                </a:r>
              </a:p>
            </p:txBody>
          </p:sp>
        </p:grpSp>
      </p:grpSp>
      <p:sp>
        <p:nvSpPr>
          <p:cNvPr id="39" name="Rectangle 3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44316"/>
            <a:ext cx="10077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03 · 3.1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459105"/>
            <a:ext cx="42398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四大风格色彩体系与设计语言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001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0070" y="902970"/>
            <a:ext cx="40647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色彩是风格的第一视觉识别——军规色系/大地色系/机能色系/都市色系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571500" y="1190625"/>
            <a:ext cx="11049000" cy="2571750"/>
            <a:chOff x="571500" y="1190625"/>
            <a:chExt cx="11049000" cy="257175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1190625"/>
              <a:ext cx="5334000" cy="2571750"/>
              <a:chOff x="571500" y="1190625"/>
              <a:chExt cx="5334000" cy="2571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190625"/>
                <a:ext cx="533400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190625"/>
                <a:ext cx="5334000" cy="57150"/>
              </a:xfrm>
              <a:prstGeom prst="rect">
                <a:avLst/>
              </a:prstGeom>
              <a:solidFill>
                <a:srgbClr val="B5A88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47712" y="1402556"/>
                <a:ext cx="227135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B5A882"/>
                    </a:solidFill>
                    <a:latin typeface="Space Grotesk"/>
                    <a:ea typeface="Microsoft YaHei"/>
                    <a:cs typeface="Space Grotesk"/>
                  </a:rPr>
                  <a:t>复古工装 Vintage Workwear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1522" y="1654016"/>
                <a:ext cx="231028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大地色系为主，强调做旧质感与历史沉淀感</a:t>
                </a:r>
              </a:p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762000" y="1905000"/>
                <a:ext cx="3238500" cy="678656"/>
                <a:chOff x="762000" y="1905000"/>
                <a:chExt cx="3238500" cy="678656"/>
              </a:xfrm>
            </p:grpSpPr>
            <p:sp>
              <p:nvSpPr>
                <p:cNvPr id="12" name="Rectangle 12"/>
                <p:cNvSpPr/>
                <p:nvPr/>
              </p:nvSpPr>
              <p:spPr>
                <a:xfrm>
                  <a:off x="762000" y="1905000"/>
                  <a:ext cx="571500" cy="381000"/>
                </a:xfrm>
                <a:prstGeom prst="rect">
                  <a:avLst/>
                </a:prstGeom>
                <a:solidFill>
                  <a:srgbClr val="8B7355"/>
                </a:solidFill>
                <a:ln>
                  <a:noFill/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930592" y="2364105"/>
                  <a:ext cx="234315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Khaki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964406" y="2476976"/>
                  <a:ext cx="166687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卡其</a:t>
                  </a:r>
                </a:p>
              </p:txBody>
            </p:sp>
            <p:sp>
              <p:nvSpPr>
                <p:cNvPr id="15" name="Rectangle 15"/>
                <p:cNvSpPr/>
                <p:nvPr/>
              </p:nvSpPr>
              <p:spPr>
                <a:xfrm>
                  <a:off x="1428750" y="1905000"/>
                  <a:ext cx="571500" cy="381000"/>
                </a:xfrm>
                <a:prstGeom prst="rect">
                  <a:avLst/>
                </a:prstGeom>
                <a:solidFill>
                  <a:srgbClr val="556B2F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489996" y="2364105"/>
                  <a:ext cx="449008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Olive Drab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592818" y="2476976"/>
                  <a:ext cx="243364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橄榄绿</a:t>
                  </a:r>
                </a:p>
              </p:txBody>
            </p:sp>
            <p:sp>
              <p:nvSpPr>
                <p:cNvPr id="18" name="Rectangle 18"/>
                <p:cNvSpPr/>
                <p:nvPr/>
              </p:nvSpPr>
              <p:spPr>
                <a:xfrm>
                  <a:off x="2095500" y="1905000"/>
                  <a:ext cx="571500" cy="381000"/>
                </a:xfrm>
                <a:prstGeom prst="rect">
                  <a:avLst/>
                </a:prstGeom>
                <a:solidFill>
                  <a:srgbClr val="8B4513"/>
                </a:solidFill>
                <a:ln>
                  <a:noFill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277237" y="2364105"/>
                  <a:ext cx="208026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Rust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2259568" y="2476976"/>
                  <a:ext cx="243364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铁锈红</a:t>
                  </a:r>
                </a:p>
              </p:txBody>
            </p:sp>
            <p:sp>
              <p:nvSpPr>
                <p:cNvPr id="21" name="Rectangle 21"/>
                <p:cNvSpPr/>
                <p:nvPr/>
              </p:nvSpPr>
              <p:spPr>
                <a:xfrm>
                  <a:off x="2762250" y="1905000"/>
                  <a:ext cx="571500" cy="381000"/>
                </a:xfrm>
                <a:prstGeom prst="rect">
                  <a:avLst/>
                </a:prstGeom>
                <a:solidFill>
                  <a:srgbClr val="4A4A4A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2858548" y="2364105"/>
                  <a:ext cx="378904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Charcoal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2964656" y="2476976"/>
                  <a:ext cx="166687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炭灰</a:t>
                  </a:r>
                </a:p>
              </p:txBody>
            </p:sp>
            <p:sp>
              <p:nvSpPr>
                <p:cNvPr id="24" name="Rectangle 24"/>
                <p:cNvSpPr/>
                <p:nvPr/>
              </p:nvSpPr>
              <p:spPr>
                <a:xfrm>
                  <a:off x="3429000" y="1905000"/>
                  <a:ext cx="571500" cy="381000"/>
                </a:xfrm>
                <a:prstGeom prst="rect">
                  <a:avLst/>
                </a:prstGeom>
                <a:solidFill>
                  <a:srgbClr val="D2B48C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3634835" y="2364105"/>
                  <a:ext cx="159830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Tan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3631406" y="2476976"/>
                  <a:ext cx="166687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棕褐</a:t>
                  </a:r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752475" y="2586038"/>
                <a:ext cx="3168253" cy="666750"/>
                <a:chOff x="752475" y="2586038"/>
                <a:chExt cx="3168253" cy="666750"/>
              </a:xfrm>
            </p:grpSpPr>
            <p:sp>
              <p:nvSpPr>
                <p:cNvPr id="28" name="TextBox 28"/>
                <p:cNvSpPr txBox="1"/>
                <p:nvPr/>
              </p:nvSpPr>
              <p:spPr>
                <a:xfrm>
                  <a:off x="752475" y="258603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设计语言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752475" y="2757488"/>
                  <a:ext cx="214955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做旧水洗 · 磨白处理 · 蜡染质感 · 铜扣搭配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752475" y="2928938"/>
                  <a:ext cx="300942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色名标准：使用Olive Drab/Khaki/Rust等军规/工装通用色名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752475" y="3100388"/>
                  <a:ext cx="316825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避免使用"Hamilton Brown"等非标准色名，统一为Saddle Brown</a:t>
                  </a:r>
                </a:p>
              </p:txBody>
            </p:sp>
          </p:grpSp>
        </p:grpSp>
        <p:grpSp>
          <p:nvGrpSpPr>
            <p:cNvPr id="59" name="Group 59"/>
            <p:cNvGrpSpPr/>
            <p:nvPr/>
          </p:nvGrpSpPr>
          <p:grpSpPr>
            <a:xfrm>
              <a:off x="6286500" y="1190625"/>
              <a:ext cx="5334000" cy="2571750"/>
              <a:chOff x="6286500" y="1190625"/>
              <a:chExt cx="5334000" cy="25717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286500" y="1190625"/>
                <a:ext cx="533400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6286500" y="1190625"/>
                <a:ext cx="5334000" cy="57150"/>
              </a:xfrm>
              <a:prstGeom prst="rect">
                <a:avLst/>
              </a:prstGeom>
              <a:solidFill>
                <a:srgbClr val="6B7C5E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462712" y="1402556"/>
                <a:ext cx="231448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6B7C5E"/>
                    </a:solidFill>
                    <a:latin typeface="Space Grotesk"/>
                    <a:ea typeface="Microsoft YaHei"/>
                    <a:cs typeface="Space Grotesk"/>
                  </a:rPr>
                  <a:t>军事工装 Military Workwear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466522" y="1654016"/>
                <a:ext cx="18283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军规色系为核心，迷彩与纯色并行</a:t>
                </a:r>
              </a:p>
            </p:txBody>
          </p:sp>
          <p:grpSp>
            <p:nvGrpSpPr>
              <p:cNvPr id="53" name="Group 53"/>
              <p:cNvGrpSpPr/>
              <p:nvPr/>
            </p:nvGrpSpPr>
            <p:grpSpPr>
              <a:xfrm>
                <a:off x="6477000" y="1905000"/>
                <a:ext cx="3238500" cy="678656"/>
                <a:chOff x="6477000" y="1905000"/>
                <a:chExt cx="3238500" cy="678656"/>
              </a:xfrm>
            </p:grpSpPr>
            <p:sp>
              <p:nvSpPr>
                <p:cNvPr id="38" name="Rectangle 38"/>
                <p:cNvSpPr/>
                <p:nvPr/>
              </p:nvSpPr>
              <p:spPr>
                <a:xfrm>
                  <a:off x="6477000" y="1905000"/>
                  <a:ext cx="571500" cy="381000"/>
                </a:xfrm>
                <a:prstGeom prst="rect">
                  <a:avLst/>
                </a:prstGeom>
                <a:solidFill>
                  <a:srgbClr val="4B5320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516338" y="2364105"/>
                  <a:ext cx="492823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Army Green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679406" y="2476976"/>
                  <a:ext cx="166687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军绿</a:t>
                  </a:r>
                </a:p>
              </p:txBody>
            </p:sp>
            <p:sp>
              <p:nvSpPr>
                <p:cNvPr id="41" name="Rectangle 41"/>
                <p:cNvSpPr/>
                <p:nvPr/>
              </p:nvSpPr>
              <p:spPr>
                <a:xfrm>
                  <a:off x="7143750" y="1905000"/>
                  <a:ext cx="571500" cy="381000"/>
                </a:xfrm>
                <a:prstGeom prst="rect">
                  <a:avLst/>
                </a:prstGeom>
                <a:solidFill>
                  <a:srgbClr val="3C3C3C"/>
                </a:solidFill>
                <a:ln>
                  <a:noFill/>
                </a:ln>
              </p:spPr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7231285" y="2364105"/>
                  <a:ext cx="396430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OD Green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7307818" y="2476976"/>
                  <a:ext cx="243364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暗橄榄</a:t>
                  </a:r>
                </a:p>
              </p:txBody>
            </p:sp>
            <p:sp>
              <p:nvSpPr>
                <p:cNvPr id="44" name="Rectangle 44"/>
                <p:cNvSpPr/>
                <p:nvPr/>
              </p:nvSpPr>
              <p:spPr>
                <a:xfrm>
                  <a:off x="7810500" y="1905000"/>
                  <a:ext cx="571500" cy="381000"/>
                </a:xfrm>
                <a:prstGeom prst="rect">
                  <a:avLst/>
                </a:prstGeom>
                <a:solidFill>
                  <a:srgbClr val="6B8E23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7981283" y="2364105"/>
                  <a:ext cx="229934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Olive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012906" y="2476976"/>
                  <a:ext cx="166687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橄榄</a:t>
                  </a:r>
                </a:p>
              </p:txBody>
            </p:sp>
            <p:sp>
              <p:nvSpPr>
                <p:cNvPr id="47" name="Rectangle 47"/>
                <p:cNvSpPr/>
                <p:nvPr/>
              </p:nvSpPr>
              <p:spPr>
                <a:xfrm>
                  <a:off x="8477250" y="1905000"/>
                  <a:ext cx="571500" cy="381000"/>
                </a:xfrm>
                <a:prstGeom prst="rect">
                  <a:avLst/>
                </a:prstGeom>
                <a:solidFill>
                  <a:srgbClr val="2F4F4F"/>
                </a:solidFill>
                <a:ln>
                  <a:noFill/>
                </a:ln>
              </p:spPr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8536305" y="2364105"/>
                  <a:ext cx="453390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Dark Slate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8641318" y="2476976"/>
                  <a:ext cx="243364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暗岩灰</a:t>
                  </a:r>
                </a:p>
              </p:txBody>
            </p:sp>
            <p:sp>
              <p:nvSpPr>
                <p:cNvPr id="50" name="Rectangle 50"/>
                <p:cNvSpPr/>
                <p:nvPr/>
              </p:nvSpPr>
              <p:spPr>
                <a:xfrm>
                  <a:off x="9144000" y="1905000"/>
                  <a:ext cx="571500" cy="381000"/>
                </a:xfrm>
                <a:prstGeom prst="rect">
                  <a:avLst/>
                </a:prstGeom>
                <a:solidFill>
                  <a:srgbClr val="C19A6B"/>
                </a:solidFill>
                <a:ln>
                  <a:noFill/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9192101" y="2364105"/>
                  <a:ext cx="475297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Desert Tan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9308068" y="2476976"/>
                  <a:ext cx="243364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沙漠棕</a:t>
                  </a:r>
                </a:p>
              </p:txBody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6467475" y="2586038"/>
                <a:ext cx="2686288" cy="666750"/>
                <a:chOff x="6467475" y="2586038"/>
                <a:chExt cx="2686288" cy="666750"/>
              </a:xfrm>
            </p:grpSpPr>
            <p:sp>
              <p:nvSpPr>
                <p:cNvPr id="54" name="TextBox 54"/>
                <p:cNvSpPr txBox="1"/>
                <p:nvPr/>
              </p:nvSpPr>
              <p:spPr>
                <a:xfrm>
                  <a:off x="6467475" y="258603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6B7C5E"/>
                      </a:solidFill>
                      <a:latin typeface="Space Grotesk"/>
                      <a:ea typeface="Microsoft YaHei"/>
                      <a:cs typeface="Space Grotesk"/>
                    </a:rPr>
                    <a:t>设计语言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6467475" y="2757488"/>
                  <a:ext cx="250555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MIL-SPEC色号 · 迷彩印花（Woodland/Multicam）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6467475" y="2928938"/>
                  <a:ext cx="268628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色名标准：使用Army Green/OD Green等军规标准色名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6467475" y="3100388"/>
                  <a:ext cx="251102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避免使用"Lily绿"等非标准色名，统一为Olive Drab</a:t>
                  </a:r>
                </a:p>
              </p:txBody>
            </p:sp>
          </p:grpSp>
        </p:grpSp>
      </p:grpSp>
      <p:grpSp>
        <p:nvGrpSpPr>
          <p:cNvPr id="113" name="Group 113"/>
          <p:cNvGrpSpPr/>
          <p:nvPr/>
        </p:nvGrpSpPr>
        <p:grpSpPr>
          <a:xfrm>
            <a:off x="571500" y="3952875"/>
            <a:ext cx="11049000" cy="2571750"/>
            <a:chOff x="571500" y="3952875"/>
            <a:chExt cx="11049000" cy="2571750"/>
          </a:xfrm>
        </p:grpSpPr>
        <p:grpSp>
          <p:nvGrpSpPr>
            <p:cNvPr id="86" name="Group 86"/>
            <p:cNvGrpSpPr/>
            <p:nvPr/>
          </p:nvGrpSpPr>
          <p:grpSpPr>
            <a:xfrm>
              <a:off x="571500" y="3952875"/>
              <a:ext cx="5334000" cy="2571750"/>
              <a:chOff x="571500" y="3952875"/>
              <a:chExt cx="5334000" cy="25717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571500" y="3952875"/>
                <a:ext cx="533400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571500" y="3952875"/>
                <a:ext cx="5334000" cy="57150"/>
              </a:xfrm>
              <a:prstGeom prst="rect">
                <a:avLst/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747712" y="4164806"/>
                <a:ext cx="156401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3498DB"/>
                    </a:solidFill>
                    <a:latin typeface="Space Grotesk"/>
                    <a:ea typeface="Microsoft YaHei"/>
                    <a:cs typeface="Space Grotesk"/>
                  </a:rPr>
                  <a:t>机能工装 Techwear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51522" y="4416266"/>
                <a:ext cx="18283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暗色系为主，强调科技感与未来感</a:t>
                </a:r>
              </a:p>
            </p:txBody>
          </p:sp>
          <p:grpSp>
            <p:nvGrpSpPr>
              <p:cNvPr id="80" name="Group 80"/>
              <p:cNvGrpSpPr/>
              <p:nvPr/>
            </p:nvGrpSpPr>
            <p:grpSpPr>
              <a:xfrm>
                <a:off x="762000" y="4667250"/>
                <a:ext cx="3238500" cy="678656"/>
                <a:chOff x="762000" y="4667250"/>
                <a:chExt cx="3238500" cy="678656"/>
              </a:xfrm>
            </p:grpSpPr>
            <p:sp>
              <p:nvSpPr>
                <p:cNvPr id="65" name="Rectangle 65"/>
                <p:cNvSpPr/>
                <p:nvPr/>
              </p:nvSpPr>
              <p:spPr>
                <a:xfrm>
                  <a:off x="762000" y="4667250"/>
                  <a:ext cx="571500" cy="381000"/>
                </a:xfrm>
                <a:prstGeom prst="rect">
                  <a:avLst/>
                </a:prstGeom>
                <a:solidFill>
                  <a:srgbClr val="1A1A1A"/>
                </a:solidFill>
                <a:ln>
                  <a:noFill/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788194" y="5126355"/>
                  <a:ext cx="519112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Matte Black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926068" y="5239226"/>
                  <a:ext cx="243364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哑光黑</a:t>
                  </a:r>
                </a:p>
              </p:txBody>
            </p:sp>
            <p:sp>
              <p:nvSpPr>
                <p:cNvPr id="68" name="Rectangle 68"/>
                <p:cNvSpPr/>
                <p:nvPr/>
              </p:nvSpPr>
              <p:spPr>
                <a:xfrm>
                  <a:off x="1428750" y="4667250"/>
                  <a:ext cx="571500" cy="381000"/>
                </a:xfrm>
                <a:prstGeom prst="rect">
                  <a:avLst/>
                </a:prstGeom>
                <a:solidFill>
                  <a:srgbClr val="2C3E50"/>
                </a:solidFill>
                <a:ln>
                  <a:noFill/>
                </a:ln>
              </p:spPr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1500949" y="5126355"/>
                  <a:ext cx="427101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Dark Navy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1592818" y="5239226"/>
                  <a:ext cx="243364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深藏青</a:t>
                  </a:r>
                </a:p>
              </p:txBody>
            </p:sp>
            <p:sp>
              <p:nvSpPr>
                <p:cNvPr id="71" name="Rectangle 71"/>
                <p:cNvSpPr/>
                <p:nvPr/>
              </p:nvSpPr>
              <p:spPr>
                <a:xfrm>
                  <a:off x="2095500" y="4667250"/>
                  <a:ext cx="571500" cy="381000"/>
                </a:xfrm>
                <a:prstGeom prst="rect">
                  <a:avLst/>
                </a:prstGeom>
                <a:solidFill>
                  <a:srgbClr val="4A4A4A"/>
                </a:solidFill>
                <a:ln>
                  <a:noFill/>
                </a:ln>
              </p:spPr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2183035" y="5126355"/>
                  <a:ext cx="396430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Gunmetal</a:t>
                  </a: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2297906" y="5239226"/>
                  <a:ext cx="166687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枪灰</a:t>
                  </a:r>
                </a:p>
              </p:txBody>
            </p:sp>
            <p:sp>
              <p:nvSpPr>
                <p:cNvPr id="74" name="Rectangle 74"/>
                <p:cNvSpPr/>
                <p:nvPr/>
              </p:nvSpPr>
              <p:spPr>
                <a:xfrm>
                  <a:off x="2762250" y="4667250"/>
                  <a:ext cx="571500" cy="381000"/>
                </a:xfrm>
                <a:prstGeom prst="rect">
                  <a:avLst/>
                </a:prstGeom>
                <a:solidFill>
                  <a:srgbClr val="C0C0C0"/>
                </a:solidFill>
                <a:ln>
                  <a:noFill/>
                </a:ln>
              </p:spPr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2917698" y="5126355"/>
                  <a:ext cx="260604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Silver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2964656" y="5239226"/>
                  <a:ext cx="166687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银色</a:t>
                  </a:r>
                </a:p>
              </p:txBody>
            </p:sp>
            <p:sp>
              <p:nvSpPr>
                <p:cNvPr id="77" name="Rectangle 77"/>
                <p:cNvSpPr/>
                <p:nvPr/>
              </p:nvSpPr>
              <p:spPr>
                <a:xfrm>
                  <a:off x="3429000" y="4667250"/>
                  <a:ext cx="571500" cy="381000"/>
                </a:xfrm>
                <a:prstGeom prst="rect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3477101" y="5126355"/>
                  <a:ext cx="475297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Anthracite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3593068" y="5239226"/>
                  <a:ext cx="243364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无烟煤</a:t>
                  </a:r>
                </a:p>
              </p:txBody>
            </p:sp>
          </p:grpSp>
          <p:grpSp>
            <p:nvGrpSpPr>
              <p:cNvPr id="85" name="Group 85"/>
              <p:cNvGrpSpPr/>
              <p:nvPr/>
            </p:nvGrpSpPr>
            <p:grpSpPr>
              <a:xfrm>
                <a:off x="752475" y="5348288"/>
                <a:ext cx="2691765" cy="666750"/>
                <a:chOff x="752475" y="5348288"/>
                <a:chExt cx="2691765" cy="666750"/>
              </a:xfrm>
            </p:grpSpPr>
            <p:sp>
              <p:nvSpPr>
                <p:cNvPr id="81" name="TextBox 81"/>
                <p:cNvSpPr txBox="1"/>
                <p:nvPr/>
              </p:nvSpPr>
              <p:spPr>
                <a:xfrm>
                  <a:off x="752475" y="534828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3498DB"/>
                      </a:solidFill>
                      <a:latin typeface="Space Grotesk"/>
                      <a:ea typeface="Microsoft YaHei"/>
                      <a:cs typeface="Space Grotesk"/>
                    </a:rPr>
                    <a:t>设计语言</a:t>
                  </a:r>
                </a:p>
              </p:txBody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752475" y="5519738"/>
                  <a:ext cx="240149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3M反光元素 · 镭射切割 · 压胶拉链 · 单色调搭配</a:t>
                  </a:r>
                </a:p>
              </p:txBody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752475" y="5691188"/>
                  <a:ext cx="250007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色名标准：使用Matte Black/Gunmetal等工业色名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752475" y="5862638"/>
                  <a:ext cx="269176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避免使用"K-Techwear"等自造词，统一使用Techwear</a:t>
                  </a:r>
                </a:p>
              </p:txBody>
            </p:sp>
          </p:grpSp>
        </p:grpSp>
        <p:grpSp>
          <p:nvGrpSpPr>
            <p:cNvPr id="112" name="Group 112"/>
            <p:cNvGrpSpPr/>
            <p:nvPr/>
          </p:nvGrpSpPr>
          <p:grpSpPr>
            <a:xfrm>
              <a:off x="6286500" y="3952875"/>
              <a:ext cx="5334000" cy="2571750"/>
              <a:chOff x="6286500" y="3952875"/>
              <a:chExt cx="5334000" cy="2571750"/>
            </a:xfrm>
          </p:grpSpPr>
          <p:sp>
            <p:nvSpPr>
              <p:cNvPr id="87" name="Rectangle 87"/>
              <p:cNvSpPr/>
              <p:nvPr/>
            </p:nvSpPr>
            <p:spPr>
              <a:xfrm>
                <a:off x="6286500" y="3952875"/>
                <a:ext cx="533400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6286500" y="3952875"/>
                <a:ext cx="5334000" cy="57150"/>
              </a:xfrm>
              <a:prstGeom prst="rect">
                <a:avLst/>
              </a:prstGeom>
              <a:solidFill>
                <a:srgbClr val="C47040"/>
              </a:solidFill>
              <a:ln>
                <a:noFill/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6462712" y="4164806"/>
                <a:ext cx="19090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C47040"/>
                    </a:solidFill>
                    <a:latin typeface="Space Grotesk"/>
                    <a:ea typeface="Microsoft YaHei"/>
                    <a:cs typeface="Space Grotesk"/>
                  </a:rPr>
                  <a:t>轻工装 Light Workwear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6466522" y="4416266"/>
                <a:ext cx="194881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都市色系为主，强调日常感与百搭性</a:t>
                </a:r>
              </a:p>
            </p:txBody>
          </p:sp>
          <p:grpSp>
            <p:nvGrpSpPr>
              <p:cNvPr id="106" name="Group 106"/>
              <p:cNvGrpSpPr/>
              <p:nvPr/>
            </p:nvGrpSpPr>
            <p:grpSpPr>
              <a:xfrm>
                <a:off x="6477000" y="4667250"/>
                <a:ext cx="3238500" cy="678656"/>
                <a:chOff x="6477000" y="4667250"/>
                <a:chExt cx="3238500" cy="678656"/>
              </a:xfrm>
            </p:grpSpPr>
            <p:sp>
              <p:nvSpPr>
                <p:cNvPr id="91" name="Rectangle 91"/>
                <p:cNvSpPr/>
                <p:nvPr/>
              </p:nvSpPr>
              <p:spPr>
                <a:xfrm>
                  <a:off x="6477000" y="4667250"/>
                  <a:ext cx="571500" cy="3810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6536055" y="5126355"/>
                  <a:ext cx="453390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Slate Gray</a:t>
                  </a:r>
                </a:p>
              </p:txBody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6641068" y="5239226"/>
                  <a:ext cx="243364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石板灰</a:t>
                  </a:r>
                </a:p>
              </p:txBody>
            </p:sp>
            <p:sp>
              <p:nvSpPr>
                <p:cNvPr id="94" name="Rectangle 94"/>
                <p:cNvSpPr/>
                <p:nvPr/>
              </p:nvSpPr>
              <p:spPr>
                <a:xfrm>
                  <a:off x="7143750" y="4667250"/>
                  <a:ext cx="571500" cy="381000"/>
                </a:xfrm>
                <a:prstGeom prst="rect">
                  <a:avLst/>
                </a:prstGeom>
                <a:solidFill>
                  <a:srgbClr val="B8B8B8"/>
                </a:solidFill>
                <a:ln>
                  <a:noFill/>
                </a:ln>
              </p:spPr>
            </p:sp>
            <p:sp>
              <p:nvSpPr>
                <p:cNvPr id="95" name="TextBox 95"/>
                <p:cNvSpPr txBox="1"/>
                <p:nvPr/>
              </p:nvSpPr>
              <p:spPr>
                <a:xfrm>
                  <a:off x="7202805" y="5126355"/>
                  <a:ext cx="453390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Light Gray</a:t>
                  </a:r>
                </a:p>
              </p:txBody>
            </p:sp>
            <p:sp>
              <p:nvSpPr>
                <p:cNvPr id="96" name="TextBox 96"/>
                <p:cNvSpPr txBox="1"/>
                <p:nvPr/>
              </p:nvSpPr>
              <p:spPr>
                <a:xfrm>
                  <a:off x="7346156" y="5239226"/>
                  <a:ext cx="166687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浅灰</a:t>
                  </a:r>
                </a:p>
              </p:txBody>
            </p:sp>
            <p:sp>
              <p:nvSpPr>
                <p:cNvPr id="97" name="Rectangle 97"/>
                <p:cNvSpPr/>
                <p:nvPr/>
              </p:nvSpPr>
              <p:spPr>
                <a:xfrm>
                  <a:off x="7810500" y="4667250"/>
                  <a:ext cx="571500" cy="381000"/>
                </a:xfrm>
                <a:prstGeom prst="rect">
                  <a:avLst/>
                </a:prstGeom>
                <a:solidFill>
                  <a:srgbClr val="1C1C1C"/>
                </a:solidFill>
                <a:ln>
                  <a:noFill/>
                </a:ln>
              </p:spPr>
            </p:sp>
            <p:sp>
              <p:nvSpPr>
                <p:cNvPr id="98" name="TextBox 98"/>
                <p:cNvSpPr txBox="1"/>
                <p:nvPr/>
              </p:nvSpPr>
              <p:spPr>
                <a:xfrm>
                  <a:off x="7812596" y="5126355"/>
                  <a:ext cx="567309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Washed Black</a:t>
                  </a:r>
                </a:p>
              </p:txBody>
            </p:sp>
            <p:sp>
              <p:nvSpPr>
                <p:cNvPr id="99" name="TextBox 99"/>
                <p:cNvSpPr txBox="1"/>
                <p:nvPr/>
              </p:nvSpPr>
              <p:spPr>
                <a:xfrm>
                  <a:off x="7974568" y="5239226"/>
                  <a:ext cx="243364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水洗黑</a:t>
                  </a:r>
                </a:p>
              </p:txBody>
            </p:sp>
            <p:sp>
              <p:nvSpPr>
                <p:cNvPr id="100" name="Rectangle 100"/>
                <p:cNvSpPr/>
                <p:nvPr/>
              </p:nvSpPr>
              <p:spPr>
                <a:xfrm>
                  <a:off x="8477250" y="4667250"/>
                  <a:ext cx="571500" cy="381000"/>
                </a:xfrm>
                <a:prstGeom prst="rect">
                  <a:avLst/>
                </a:prstGeom>
                <a:solidFill>
                  <a:srgbClr val="C4A882"/>
                </a:solidFill>
                <a:ln>
                  <a:noFill/>
                </a:ln>
              </p:spPr>
            </p:sp>
            <p:sp>
              <p:nvSpPr>
                <p:cNvPr id="101" name="TextBox 101"/>
                <p:cNvSpPr txBox="1"/>
                <p:nvPr/>
              </p:nvSpPr>
              <p:spPr>
                <a:xfrm>
                  <a:off x="8658987" y="5126355"/>
                  <a:ext cx="208026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Sand</a:t>
                  </a:r>
                </a:p>
              </p:txBody>
            </p:sp>
            <p:sp>
              <p:nvSpPr>
                <p:cNvPr id="102" name="TextBox 102"/>
                <p:cNvSpPr txBox="1"/>
                <p:nvPr/>
              </p:nvSpPr>
              <p:spPr>
                <a:xfrm>
                  <a:off x="8679656" y="5239226"/>
                  <a:ext cx="166687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沙色</a:t>
                  </a:r>
                </a:p>
              </p:txBody>
            </p:sp>
            <p:sp>
              <p:nvSpPr>
                <p:cNvPr id="103" name="Rectangle 103"/>
                <p:cNvSpPr/>
                <p:nvPr/>
              </p:nvSpPr>
              <p:spPr>
                <a:xfrm>
                  <a:off x="9144000" y="4667250"/>
                  <a:ext cx="571500" cy="381000"/>
                </a:xfrm>
                <a:prstGeom prst="rect">
                  <a:avLst/>
                </a:prstGeom>
                <a:solidFill>
                  <a:srgbClr val="F5F5DC"/>
                </a:solidFill>
                <a:ln>
                  <a:noFill/>
                </a:ln>
              </p:spPr>
            </p:sp>
            <p:sp>
              <p:nvSpPr>
                <p:cNvPr id="104" name="TextBox 104"/>
                <p:cNvSpPr txBox="1"/>
                <p:nvPr/>
              </p:nvSpPr>
              <p:spPr>
                <a:xfrm>
                  <a:off x="9312592" y="5126355"/>
                  <a:ext cx="234315" cy="1219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60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Beige</a:t>
                  </a:r>
                </a:p>
              </p:txBody>
            </p:sp>
            <p:sp>
              <p:nvSpPr>
                <p:cNvPr id="105" name="TextBox 105"/>
                <p:cNvSpPr txBox="1"/>
                <p:nvPr/>
              </p:nvSpPr>
              <p:spPr>
                <a:xfrm>
                  <a:off x="9346406" y="5239226"/>
                  <a:ext cx="166687" cy="106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52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米色</a:t>
                  </a:r>
                </a:p>
              </p:txBody>
            </p:sp>
          </p:grpSp>
          <p:grpSp>
            <p:nvGrpSpPr>
              <p:cNvPr id="111" name="Group 111"/>
              <p:cNvGrpSpPr/>
              <p:nvPr/>
            </p:nvGrpSpPr>
            <p:grpSpPr>
              <a:xfrm>
                <a:off x="6467475" y="5348288"/>
                <a:ext cx="2686288" cy="666750"/>
                <a:chOff x="6467475" y="5348288"/>
                <a:chExt cx="2686288" cy="666750"/>
              </a:xfrm>
            </p:grpSpPr>
            <p:sp>
              <p:nvSpPr>
                <p:cNvPr id="107" name="TextBox 107"/>
                <p:cNvSpPr txBox="1"/>
                <p:nvPr/>
              </p:nvSpPr>
              <p:spPr>
                <a:xfrm>
                  <a:off x="6467475" y="534828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47040"/>
                      </a:solidFill>
                      <a:latin typeface="Space Grotesk"/>
                      <a:ea typeface="Microsoft YaHei"/>
                      <a:cs typeface="Space Grotesk"/>
                    </a:rPr>
                    <a:t>设计语言</a:t>
                  </a:r>
                </a:p>
              </p:txBody>
            </p:sp>
            <p:sp>
              <p:nvSpPr>
                <p:cNvPr id="108" name="TextBox 108"/>
                <p:cNvSpPr txBox="1"/>
                <p:nvPr/>
              </p:nvSpPr>
              <p:spPr>
                <a:xfrm>
                  <a:off x="6467475" y="5519738"/>
                  <a:ext cx="214955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低饱和度 · 简约廓形 · 柔和色调 · 通勤百搭</a:t>
                  </a:r>
                </a:p>
              </p:txBody>
            </p:sp>
            <p:sp>
              <p:nvSpPr>
                <p:cNvPr id="109" name="TextBox 109"/>
                <p:cNvSpPr txBox="1"/>
                <p:nvPr/>
              </p:nvSpPr>
              <p:spPr>
                <a:xfrm>
                  <a:off x="6467475" y="5691188"/>
                  <a:ext cx="251650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色名标准：使用Slate Gray/Sand/Beige等通用色名</a:t>
                  </a:r>
                </a:p>
              </p:txBody>
            </p:sp>
            <p:sp>
              <p:nvSpPr>
                <p:cNvPr id="110" name="TextBox 110"/>
                <p:cNvSpPr txBox="1"/>
                <p:nvPr/>
              </p:nvSpPr>
              <p:spPr>
                <a:xfrm>
                  <a:off x="6467475" y="5862638"/>
                  <a:ext cx="268628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避免使用非标准色名，确保Listing色名与欧美市场一致</a:t>
                  </a:r>
                </a:p>
              </p:txBody>
            </p:sp>
          </p:grpSp>
        </p:grpSp>
      </p:grpSp>
      <p:sp>
        <p:nvSpPr>
          <p:cNvPr id="114" name="Rectangle 11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44316"/>
            <a:ext cx="10394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03 · 3.2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459105"/>
            <a:ext cx="412714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亚马逊主图/A+页面视觉规范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001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0070" y="902970"/>
            <a:ext cx="42751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Listing优化要点与A+内容创作方向 | 提升点击率与转化率的核心视觉策略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71500" y="1190625"/>
            <a:ext cx="5334000" cy="2571750"/>
            <a:chOff x="571500" y="1190625"/>
            <a:chExt cx="5334000" cy="2571750"/>
          </a:xfrm>
        </p:grpSpPr>
        <p:sp>
          <p:nvSpPr>
            <p:cNvPr id="8" name="Rectangle 8"/>
            <p:cNvSpPr/>
            <p:nvPr/>
          </p:nvSpPr>
          <p:spPr>
            <a:xfrm>
              <a:off x="571500" y="1190625"/>
              <a:ext cx="5334000" cy="25717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190625"/>
              <a:ext cx="533400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7712" y="1402556"/>
              <a:ext cx="1676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主图规范（7张标准）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762000" y="1714500"/>
              <a:ext cx="4953000" cy="2000250"/>
              <a:chOff x="762000" y="1714500"/>
              <a:chExt cx="4953000" cy="2000250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762000" y="1714500"/>
                <a:ext cx="2381250" cy="428625"/>
                <a:chOff x="762000" y="1714500"/>
                <a:chExt cx="2381250" cy="428625"/>
              </a:xfrm>
            </p:grpSpPr>
            <p:sp>
              <p:nvSpPr>
                <p:cNvPr id="11" name="Rectangle 11"/>
                <p:cNvSpPr/>
                <p:nvPr/>
              </p:nvSpPr>
              <p:spPr>
                <a:xfrm>
                  <a:off x="762000" y="1714500"/>
                  <a:ext cx="2381250" cy="42862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847725" y="1804988"/>
                  <a:ext cx="43310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图1 主图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848678" y="1965484"/>
                  <a:ext cx="1451539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白底正面全身照，无模特/无道具</a:t>
                  </a:r>
                </a:p>
              </p:txBody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3333750" y="1714500"/>
                <a:ext cx="2381250" cy="428625"/>
                <a:chOff x="3333750" y="1714500"/>
                <a:chExt cx="2381250" cy="428625"/>
              </a:xfrm>
            </p:grpSpPr>
            <p:sp>
              <p:nvSpPr>
                <p:cNvPr id="15" name="Rectangle 15"/>
                <p:cNvSpPr/>
                <p:nvPr/>
              </p:nvSpPr>
              <p:spPr>
                <a:xfrm>
                  <a:off x="3333750" y="1714500"/>
                  <a:ext cx="2381250" cy="42862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3419475" y="1804988"/>
                  <a:ext cx="46185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图2 背面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3420428" y="1965484"/>
                  <a:ext cx="1101566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展示背部设计、口袋布局</a:t>
                  </a:r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762000" y="2238375"/>
                <a:ext cx="2381250" cy="428625"/>
                <a:chOff x="762000" y="2238375"/>
                <a:chExt cx="2381250" cy="428625"/>
              </a:xfrm>
            </p:grpSpPr>
            <p:sp>
              <p:nvSpPr>
                <p:cNvPr id="19" name="Rectangle 19"/>
                <p:cNvSpPr/>
                <p:nvPr/>
              </p:nvSpPr>
              <p:spPr>
                <a:xfrm>
                  <a:off x="762000" y="2238375"/>
                  <a:ext cx="2381250" cy="42862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847725" y="2328862"/>
                  <a:ext cx="46185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图3 细节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848678" y="2489359"/>
                  <a:ext cx="1111425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面料纹理/缝线/五金特写</a:t>
                  </a: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3333750" y="2238375"/>
                <a:ext cx="2381250" cy="428625"/>
                <a:chOff x="3333750" y="2238375"/>
                <a:chExt cx="2381250" cy="428625"/>
              </a:xfrm>
            </p:grpSpPr>
            <p:sp>
              <p:nvSpPr>
                <p:cNvPr id="23" name="Rectangle 23"/>
                <p:cNvSpPr/>
                <p:nvPr/>
              </p:nvSpPr>
              <p:spPr>
                <a:xfrm>
                  <a:off x="3333750" y="2238375"/>
                  <a:ext cx="2381250" cy="42862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3419475" y="2328862"/>
                  <a:ext cx="46185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图4 口袋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3420428" y="2489359"/>
                  <a:ext cx="1155787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多口袋功能展示/容量演示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762000" y="2762250"/>
                <a:ext cx="2381250" cy="428625"/>
                <a:chOff x="762000" y="2762250"/>
                <a:chExt cx="2381250" cy="428625"/>
              </a:xfrm>
            </p:grpSpPr>
            <p:sp>
              <p:nvSpPr>
                <p:cNvPr id="27" name="Rectangle 27"/>
                <p:cNvSpPr/>
                <p:nvPr/>
              </p:nvSpPr>
              <p:spPr>
                <a:xfrm>
                  <a:off x="762000" y="2762250"/>
                  <a:ext cx="2381250" cy="42862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847725" y="2852738"/>
                  <a:ext cx="46185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图5 场景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848678" y="3013234"/>
                  <a:ext cx="1111425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户外/工地/都市穿搭场景</a:t>
                  </a:r>
                </a:p>
              </p:txBody>
            </p:sp>
          </p:grpSp>
          <p:grpSp>
            <p:nvGrpSpPr>
              <p:cNvPr id="34" name="Group 34"/>
              <p:cNvGrpSpPr/>
              <p:nvPr/>
            </p:nvGrpSpPr>
            <p:grpSpPr>
              <a:xfrm>
                <a:off x="3333750" y="2762250"/>
                <a:ext cx="2381250" cy="428625"/>
                <a:chOff x="3333750" y="2762250"/>
                <a:chExt cx="2381250" cy="428625"/>
              </a:xfrm>
            </p:grpSpPr>
            <p:sp>
              <p:nvSpPr>
                <p:cNvPr id="31" name="Rectangle 31"/>
                <p:cNvSpPr/>
                <p:nvPr/>
              </p:nvSpPr>
              <p:spPr>
                <a:xfrm>
                  <a:off x="3333750" y="2762250"/>
                  <a:ext cx="2381250" cy="42862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3419475" y="2852738"/>
                  <a:ext cx="46185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图6 尺码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3420428" y="3013234"/>
                  <a:ext cx="1155787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尺码对照表/模特身高体重</a:t>
                  </a: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762000" y="3286125"/>
                <a:ext cx="2381250" cy="428625"/>
                <a:chOff x="762000" y="3286125"/>
                <a:chExt cx="2381250" cy="428625"/>
              </a:xfrm>
            </p:grpSpPr>
            <p:sp>
              <p:nvSpPr>
                <p:cNvPr id="35" name="Rectangle 35"/>
                <p:cNvSpPr/>
                <p:nvPr/>
              </p:nvSpPr>
              <p:spPr>
                <a:xfrm>
                  <a:off x="762000" y="3286125"/>
                  <a:ext cx="2381250" cy="42862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847725" y="3376612"/>
                  <a:ext cx="46185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图7 多色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848678" y="3537109"/>
                  <a:ext cx="1002982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所有可选颜色平铺展示</a:t>
                  </a:r>
                </a:p>
              </p:txBody>
            </p:sp>
          </p:grpSp>
        </p:grpSp>
      </p:grpSp>
      <p:grpSp>
        <p:nvGrpSpPr>
          <p:cNvPr id="67" name="Group 67"/>
          <p:cNvGrpSpPr/>
          <p:nvPr/>
        </p:nvGrpSpPr>
        <p:grpSpPr>
          <a:xfrm>
            <a:off x="6096000" y="1190625"/>
            <a:ext cx="5524500" cy="2571750"/>
            <a:chOff x="6096000" y="1190625"/>
            <a:chExt cx="5524500" cy="2571750"/>
          </a:xfrm>
        </p:grpSpPr>
        <p:sp>
          <p:nvSpPr>
            <p:cNvPr id="41" name="Rectangle 41"/>
            <p:cNvSpPr/>
            <p:nvPr/>
          </p:nvSpPr>
          <p:spPr>
            <a:xfrm>
              <a:off x="6096000" y="1190625"/>
              <a:ext cx="5524500" cy="25717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0" y="1190625"/>
              <a:ext cx="552450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72212" y="14025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关键词布局策略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6286500" y="1714500"/>
              <a:ext cx="5143500" cy="2007394"/>
              <a:chOff x="6286500" y="1714500"/>
              <a:chExt cx="5143500" cy="2007394"/>
            </a:xfrm>
          </p:grpSpPr>
          <p:grpSp>
            <p:nvGrpSpPr>
              <p:cNvPr id="47" name="Group 47"/>
              <p:cNvGrpSpPr/>
              <p:nvPr/>
            </p:nvGrpSpPr>
            <p:grpSpPr>
              <a:xfrm>
                <a:off x="6286500" y="1714500"/>
                <a:ext cx="5143500" cy="476250"/>
                <a:chOff x="6286500" y="1714500"/>
                <a:chExt cx="5143500" cy="476250"/>
              </a:xfrm>
            </p:grpSpPr>
            <p:sp>
              <p:nvSpPr>
                <p:cNvPr id="44" name="Rectangle 44"/>
                <p:cNvSpPr/>
                <p:nvPr/>
              </p:nvSpPr>
              <p:spPr>
                <a:xfrm>
                  <a:off x="6286500" y="1714500"/>
                  <a:ext cx="5143500" cy="47625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6372225" y="180498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标题公式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6373178" y="1984534"/>
                  <a:ext cx="2560606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Brand + Style + Feature + Material + Occasion + Color</a:t>
                  </a:r>
                </a:p>
              </p:txBody>
            </p:sp>
          </p:grpSp>
          <p:grpSp>
            <p:nvGrpSpPr>
              <p:cNvPr id="53" name="Group 53"/>
              <p:cNvGrpSpPr/>
              <p:nvPr/>
            </p:nvGrpSpPr>
            <p:grpSpPr>
              <a:xfrm>
                <a:off x="6286500" y="2286000"/>
                <a:ext cx="2476500" cy="673894"/>
                <a:chOff x="6286500" y="2286000"/>
                <a:chExt cx="2476500" cy="673894"/>
              </a:xfrm>
            </p:grpSpPr>
            <p:sp>
              <p:nvSpPr>
                <p:cNvPr id="48" name="Rectangle 48"/>
                <p:cNvSpPr/>
                <p:nvPr/>
              </p:nvSpPr>
              <p:spPr>
                <a:xfrm>
                  <a:off x="6286500" y="2286000"/>
                  <a:ext cx="2476500" cy="66675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6372225" y="2376488"/>
                  <a:ext cx="59412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核心关键词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6373178" y="2556034"/>
                  <a:ext cx="1239584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work pants / cargo pants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6373178" y="2689384"/>
                  <a:ext cx="1244513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work jacket / barn jacket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6373178" y="2822734"/>
                  <a:ext cx="1150858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utility shirt / coveralls</a:t>
                  </a:r>
                </a:p>
              </p:txBody>
            </p:sp>
          </p:grpSp>
          <p:grpSp>
            <p:nvGrpSpPr>
              <p:cNvPr id="59" name="Group 59"/>
              <p:cNvGrpSpPr/>
              <p:nvPr/>
            </p:nvGrpSpPr>
            <p:grpSpPr>
              <a:xfrm>
                <a:off x="8953500" y="2286000"/>
                <a:ext cx="2476500" cy="673894"/>
                <a:chOff x="8953500" y="2286000"/>
                <a:chExt cx="2476500" cy="673894"/>
              </a:xfrm>
            </p:grpSpPr>
            <p:sp>
              <p:nvSpPr>
                <p:cNvPr id="54" name="Rectangle 54"/>
                <p:cNvSpPr/>
                <p:nvPr/>
              </p:nvSpPr>
              <p:spPr>
                <a:xfrm>
                  <a:off x="8953500" y="2286000"/>
                  <a:ext cx="2476500" cy="66675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9039225" y="2376488"/>
                  <a:ext cx="59412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长尾关键词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9040178" y="2556034"/>
                  <a:ext cx="1668423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men's work pants reinforced knee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9040178" y="2689384"/>
                  <a:ext cx="1027628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barn jacket men olive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9040178" y="2822734"/>
                  <a:ext cx="1505760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heavy duty work pants for men</a:t>
                  </a:r>
                </a:p>
              </p:txBody>
            </p:sp>
          </p:grpSp>
          <p:grpSp>
            <p:nvGrpSpPr>
              <p:cNvPr id="65" name="Group 65"/>
              <p:cNvGrpSpPr/>
              <p:nvPr/>
            </p:nvGrpSpPr>
            <p:grpSpPr>
              <a:xfrm>
                <a:off x="6286500" y="3048000"/>
                <a:ext cx="5143500" cy="673894"/>
                <a:chOff x="6286500" y="3048000"/>
                <a:chExt cx="5143500" cy="673894"/>
              </a:xfrm>
            </p:grpSpPr>
            <p:sp>
              <p:nvSpPr>
                <p:cNvPr id="60" name="Rectangle 60"/>
                <p:cNvSpPr/>
                <p:nvPr/>
              </p:nvSpPr>
              <p:spPr>
                <a:xfrm>
                  <a:off x="6286500" y="3048000"/>
                  <a:ext cx="5143500" cy="61912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6372225" y="3138488"/>
                  <a:ext cx="97942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Listing差异化卖点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6373178" y="3318034"/>
                  <a:ext cx="2471880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1. 面料科技：Cordura加固 / Ripstop防撕裂 / 弹力混纺</a:t>
                  </a: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6373178" y="3451384"/>
                  <a:ext cx="2466951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2. 功能细节：多口袋 / 加固膝盖 / 防水拉链 / 可调袖口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6373178" y="3584734"/>
                  <a:ext cx="2314146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3. 场景适配：work / outdoor / casual 三场景覆盖</a:t>
                  </a:r>
                </a:p>
              </p:txBody>
            </p:sp>
          </p:grpSp>
        </p:grpSp>
      </p:grpSp>
      <p:grpSp>
        <p:nvGrpSpPr>
          <p:cNvPr id="112" name="Group 112"/>
          <p:cNvGrpSpPr/>
          <p:nvPr/>
        </p:nvGrpSpPr>
        <p:grpSpPr>
          <a:xfrm>
            <a:off x="571500" y="3952875"/>
            <a:ext cx="11049000" cy="2571750"/>
            <a:chOff x="571500" y="3952875"/>
            <a:chExt cx="11049000" cy="2571750"/>
          </a:xfrm>
        </p:grpSpPr>
        <p:sp>
          <p:nvSpPr>
            <p:cNvPr id="68" name="Rectangle 68"/>
            <p:cNvSpPr/>
            <p:nvPr/>
          </p:nvSpPr>
          <p:spPr>
            <a:xfrm>
              <a:off x="571500" y="3952875"/>
              <a:ext cx="11049000" cy="25717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71500" y="3952875"/>
              <a:ext cx="1104900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7712" y="4164806"/>
              <a:ext cx="15985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A+页面内容创作方向</a:t>
              </a:r>
            </a:p>
          </p:txBody>
        </p:sp>
        <p:grpSp>
          <p:nvGrpSpPr>
            <p:cNvPr id="111" name="Group 111"/>
            <p:cNvGrpSpPr/>
            <p:nvPr/>
          </p:nvGrpSpPr>
          <p:grpSpPr>
            <a:xfrm>
              <a:off x="762000" y="4476750"/>
              <a:ext cx="10858500" cy="1857375"/>
              <a:chOff x="762000" y="4476750"/>
              <a:chExt cx="10858500" cy="1857375"/>
            </a:xfrm>
          </p:grpSpPr>
          <p:grpSp>
            <p:nvGrpSpPr>
              <p:cNvPr id="80" name="Group 80"/>
              <p:cNvGrpSpPr/>
              <p:nvPr/>
            </p:nvGrpSpPr>
            <p:grpSpPr>
              <a:xfrm>
                <a:off x="762000" y="4476750"/>
                <a:ext cx="2571750" cy="1857375"/>
                <a:chOff x="762000" y="4476750"/>
                <a:chExt cx="2571750" cy="1857375"/>
              </a:xfrm>
            </p:grpSpPr>
            <p:sp>
              <p:nvSpPr>
                <p:cNvPr id="71" name="Rectangle 71"/>
                <p:cNvSpPr/>
                <p:nvPr/>
              </p:nvSpPr>
              <p:spPr>
                <a:xfrm>
                  <a:off x="762000" y="4476750"/>
                  <a:ext cx="2571750" cy="1857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894398" y="4625816"/>
                  <a:ext cx="78005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品牌故事模块</a:t>
                  </a: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895350" y="4852988"/>
                  <a:ext cx="1004887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品牌工装基因与传承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895350" y="5024438"/>
                  <a:ext cx="1004887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面料来源与工艺标准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895350" y="5195888"/>
                  <a:ext cx="1004887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设计理念与用户承诺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895350" y="544353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视觉建议</a:t>
                  </a: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895350" y="5614988"/>
                  <a:ext cx="123491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工厂/面料/缝制过程实拍</a:t>
                  </a: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895350" y="5786438"/>
                  <a:ext cx="122396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配合文字说明品牌专业度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896302" y="6023134"/>
                  <a:ext cx="889611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建议尺寸：970×600</a:t>
                  </a:r>
                </a:p>
              </p:txBody>
            </p:sp>
          </p:grpSp>
          <p:grpSp>
            <p:nvGrpSpPr>
              <p:cNvPr id="90" name="Group 90"/>
              <p:cNvGrpSpPr/>
              <p:nvPr/>
            </p:nvGrpSpPr>
            <p:grpSpPr>
              <a:xfrm>
                <a:off x="3524250" y="4476750"/>
                <a:ext cx="2571750" cy="1857375"/>
                <a:chOff x="3524250" y="4476750"/>
                <a:chExt cx="2571750" cy="1857375"/>
              </a:xfrm>
            </p:grpSpPr>
            <p:sp>
              <p:nvSpPr>
                <p:cNvPr id="81" name="Rectangle 81"/>
                <p:cNvSpPr/>
                <p:nvPr/>
              </p:nvSpPr>
              <p:spPr>
                <a:xfrm>
                  <a:off x="3524250" y="4476750"/>
                  <a:ext cx="2571750" cy="1857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3656648" y="4625816"/>
                  <a:ext cx="78005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功能对比模块</a:t>
                  </a:r>
                </a:p>
              </p:txBody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3657600" y="4852988"/>
                  <a:ext cx="78581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面料科技对比表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3657600" y="5024438"/>
                  <a:ext cx="78581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功能细节标注图</a:t>
                  </a:r>
                </a:p>
              </p:txBody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3657600" y="5195888"/>
                  <a:ext cx="78581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竞品差异化对比</a:t>
                  </a:r>
                </a:p>
              </p:txBody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3657600" y="544353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视觉建议</a:t>
                  </a:r>
                </a:p>
              </p:txBody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3657600" y="5614988"/>
                  <a:ext cx="106513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产品拆解图+功能标注</a:t>
                  </a:r>
                </a:p>
              </p:txBody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3657600" y="5786438"/>
                  <a:ext cx="123491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表格对比面料/功能/价格</a:t>
                  </a:r>
                </a:p>
              </p:txBody>
            </p:sp>
            <p:sp>
              <p:nvSpPr>
                <p:cNvPr id="89" name="TextBox 89"/>
                <p:cNvSpPr txBox="1"/>
                <p:nvPr/>
              </p:nvSpPr>
              <p:spPr>
                <a:xfrm>
                  <a:off x="3658552" y="6023134"/>
                  <a:ext cx="889611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建议尺寸：970×300</a:t>
                  </a:r>
                </a:p>
              </p:txBody>
            </p:sp>
          </p:grpSp>
          <p:grpSp>
            <p:nvGrpSpPr>
              <p:cNvPr id="100" name="Group 100"/>
              <p:cNvGrpSpPr/>
              <p:nvPr/>
            </p:nvGrpSpPr>
            <p:grpSpPr>
              <a:xfrm>
                <a:off x="6286500" y="4476750"/>
                <a:ext cx="2571750" cy="1857375"/>
                <a:chOff x="6286500" y="4476750"/>
                <a:chExt cx="2571750" cy="1857375"/>
              </a:xfrm>
            </p:grpSpPr>
            <p:sp>
              <p:nvSpPr>
                <p:cNvPr id="91" name="Rectangle 91"/>
                <p:cNvSpPr/>
                <p:nvPr/>
              </p:nvSpPr>
              <p:spPr>
                <a:xfrm>
                  <a:off x="6286500" y="4476750"/>
                  <a:ext cx="2571750" cy="1857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6418898" y="4625816"/>
                  <a:ext cx="78005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场景穿搭模块</a:t>
                  </a:r>
                </a:p>
              </p:txBody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6419850" y="4852988"/>
                  <a:ext cx="110894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Work场景：工地/车间</a:t>
                  </a:r>
                </a:p>
              </p:txBody>
            </p:sp>
            <p:sp>
              <p:nvSpPr>
                <p:cNvPr id="94" name="TextBox 94"/>
                <p:cNvSpPr txBox="1"/>
                <p:nvPr/>
              </p:nvSpPr>
              <p:spPr>
                <a:xfrm>
                  <a:off x="6419850" y="5024438"/>
                  <a:ext cx="128968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Outdoor场景：露营/徒步</a:t>
                  </a:r>
                </a:p>
              </p:txBody>
            </p:sp>
            <p:sp>
              <p:nvSpPr>
                <p:cNvPr id="95" name="TextBox 95"/>
                <p:cNvSpPr txBox="1"/>
                <p:nvPr/>
              </p:nvSpPr>
              <p:spPr>
                <a:xfrm>
                  <a:off x="6419850" y="5195888"/>
                  <a:ext cx="118014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Casual场景：都市/通勤</a:t>
                  </a:r>
                </a:p>
              </p:txBody>
            </p:sp>
            <p:sp>
              <p:nvSpPr>
                <p:cNvPr id="96" name="TextBox 96"/>
                <p:cNvSpPr txBox="1"/>
                <p:nvPr/>
              </p:nvSpPr>
              <p:spPr>
                <a:xfrm>
                  <a:off x="6419850" y="544353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视觉建议</a:t>
                  </a:r>
                </a:p>
              </p:txBody>
            </p:sp>
            <p:sp>
              <p:nvSpPr>
                <p:cNvPr id="97" name="TextBox 97"/>
                <p:cNvSpPr txBox="1"/>
                <p:nvPr/>
              </p:nvSpPr>
              <p:spPr>
                <a:xfrm>
                  <a:off x="6419850" y="5614988"/>
                  <a:ext cx="89535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三场景模特穿搭图</a:t>
                  </a:r>
                </a:p>
              </p:txBody>
            </p:sp>
            <p:sp>
              <p:nvSpPr>
                <p:cNvPr id="98" name="TextBox 98"/>
                <p:cNvSpPr txBox="1"/>
                <p:nvPr/>
              </p:nvSpPr>
              <p:spPr>
                <a:xfrm>
                  <a:off x="6419850" y="5786438"/>
                  <a:ext cx="95559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搭配推荐+购买链接</a:t>
                  </a:r>
                </a:p>
              </p:txBody>
            </p:sp>
            <p:sp>
              <p:nvSpPr>
                <p:cNvPr id="99" name="TextBox 99"/>
                <p:cNvSpPr txBox="1"/>
                <p:nvPr/>
              </p:nvSpPr>
              <p:spPr>
                <a:xfrm>
                  <a:off x="6420802" y="6023134"/>
                  <a:ext cx="889611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建议尺寸：970×600</a:t>
                  </a:r>
                </a:p>
              </p:txBody>
            </p:sp>
          </p:grpSp>
          <p:grpSp>
            <p:nvGrpSpPr>
              <p:cNvPr id="110" name="Group 110"/>
              <p:cNvGrpSpPr/>
              <p:nvPr/>
            </p:nvGrpSpPr>
            <p:grpSpPr>
              <a:xfrm>
                <a:off x="9048750" y="4476750"/>
                <a:ext cx="2571750" cy="1857375"/>
                <a:chOff x="9048750" y="4476750"/>
                <a:chExt cx="2571750" cy="1857375"/>
              </a:xfrm>
            </p:grpSpPr>
            <p:sp>
              <p:nvSpPr>
                <p:cNvPr id="101" name="Rectangle 101"/>
                <p:cNvSpPr/>
                <p:nvPr/>
              </p:nvSpPr>
              <p:spPr>
                <a:xfrm>
                  <a:off x="9048750" y="4476750"/>
                  <a:ext cx="2571750" cy="1857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102" name="TextBox 102"/>
                <p:cNvSpPr txBox="1"/>
                <p:nvPr/>
              </p:nvSpPr>
              <p:spPr>
                <a:xfrm>
                  <a:off x="9181148" y="4625816"/>
                  <a:ext cx="78005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广告投放要点</a:t>
                  </a:r>
                </a:p>
              </p:txBody>
            </p:sp>
            <p:sp>
              <p:nvSpPr>
                <p:cNvPr id="103" name="TextBox 103"/>
                <p:cNvSpPr txBox="1"/>
                <p:nvPr/>
              </p:nvSpPr>
              <p:spPr>
                <a:xfrm>
                  <a:off x="9182100" y="4852988"/>
                  <a:ext cx="118562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SP广告：核心词+长尾词</a:t>
                  </a:r>
                </a:p>
              </p:txBody>
            </p:sp>
            <p:sp>
              <p:nvSpPr>
                <p:cNvPr id="104" name="TextBox 104"/>
                <p:cNvSpPr txBox="1"/>
                <p:nvPr/>
              </p:nvSpPr>
              <p:spPr>
                <a:xfrm>
                  <a:off x="9182100" y="5024438"/>
                  <a:ext cx="118562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SB广告：品牌词+场景词</a:t>
                  </a:r>
                </a:p>
              </p:txBody>
            </p:sp>
            <p:sp>
              <p:nvSpPr>
                <p:cNvPr id="105" name="TextBox 105"/>
                <p:cNvSpPr txBox="1"/>
                <p:nvPr/>
              </p:nvSpPr>
              <p:spPr>
                <a:xfrm>
                  <a:off x="9182100" y="5195888"/>
                  <a:ext cx="111990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SD广告：竞品ASIN定向</a:t>
                  </a:r>
                </a:p>
              </p:txBody>
            </p:sp>
            <p:sp>
              <p:nvSpPr>
                <p:cNvPr id="106" name="TextBox 106"/>
                <p:cNvSpPr txBox="1"/>
                <p:nvPr/>
              </p:nvSpPr>
              <p:spPr>
                <a:xfrm>
                  <a:off x="9182100" y="544353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预算分配</a:t>
                  </a:r>
                </a:p>
              </p:txBody>
            </p:sp>
            <p:sp>
              <p:nvSpPr>
                <p:cNvPr id="107" name="TextBox 107"/>
                <p:cNvSpPr txBox="1"/>
                <p:nvPr/>
              </p:nvSpPr>
              <p:spPr>
                <a:xfrm>
                  <a:off x="9182100" y="5614988"/>
                  <a:ext cx="124587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SP 60% / SB 25% / SD 15%</a:t>
                  </a:r>
                </a:p>
              </p:txBody>
            </p:sp>
            <p:sp>
              <p:nvSpPr>
                <p:cNvPr id="108" name="TextBox 108"/>
                <p:cNvSpPr txBox="1"/>
                <p:nvPr/>
              </p:nvSpPr>
              <p:spPr>
                <a:xfrm>
                  <a:off x="9182100" y="5786438"/>
                  <a:ext cx="95011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ACoS目标：25-35%</a:t>
                  </a:r>
                </a:p>
              </p:txBody>
            </p:sp>
            <p:sp>
              <p:nvSpPr>
                <p:cNvPr id="109" name="TextBox 109"/>
                <p:cNvSpPr txBox="1"/>
                <p:nvPr/>
              </p:nvSpPr>
              <p:spPr>
                <a:xfrm>
                  <a:off x="9183052" y="6023134"/>
                  <a:ext cx="869894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新品期可放宽至40%</a:t>
                  </a:r>
                </a:p>
              </p:txBody>
            </p:sp>
          </p:grpSp>
        </p:grpSp>
      </p:grpSp>
      <p:sp>
        <p:nvSpPr>
          <p:cNvPr id="113" name="Rectangle 11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44316"/>
            <a:ext cx="10394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03 · 3.3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45910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摄影美学与视觉差异化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001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0070" y="902970"/>
            <a:ext cx="35981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场景搭建/光影运用/竞品视觉对比——打造高转化率的视觉体系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71500" y="1190625"/>
            <a:ext cx="3524250" cy="2571750"/>
            <a:chOff x="571500" y="1190625"/>
            <a:chExt cx="3524250" cy="2571750"/>
          </a:xfrm>
        </p:grpSpPr>
        <p:sp>
          <p:nvSpPr>
            <p:cNvPr id="8" name="Rectangle 8"/>
            <p:cNvSpPr/>
            <p:nvPr/>
          </p:nvSpPr>
          <p:spPr>
            <a:xfrm>
              <a:off x="571500" y="1190625"/>
              <a:ext cx="3524250" cy="25717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190625"/>
              <a:ext cx="352425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8665" y="14106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场景搭建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762000" y="1714500"/>
              <a:ext cx="3143250" cy="476250"/>
              <a:chOff x="762000" y="1714500"/>
              <a:chExt cx="3143250" cy="4762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762000" y="1714500"/>
                <a:ext cx="3143250" cy="4762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47725" y="1804988"/>
                <a:ext cx="55961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Work 场景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48678" y="1984534"/>
                <a:ext cx="1885307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工地/车间/仓库 · 自然光+补光 · 粗犷质感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3238500" y="1790700"/>
                <a:ext cx="571500" cy="323850"/>
              </a:xfrm>
              <a:prstGeom prst="rect">
                <a:avLst/>
              </a:prstGeom>
              <a:solidFill>
                <a:srgbClr val="3A3A45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385185" y="1935480"/>
                <a:ext cx="278130" cy="121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0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示例图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62000" y="2286000"/>
              <a:ext cx="3143250" cy="476250"/>
              <a:chOff x="762000" y="2286000"/>
              <a:chExt cx="3143250" cy="4762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762000" y="2286000"/>
                <a:ext cx="3143250" cy="4762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47725" y="2376488"/>
                <a:ext cx="74939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Outdoor 场景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48678" y="2556034"/>
                <a:ext cx="183108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森林/山地/营地 · 柔和自然光 · 户外氛围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3238500" y="2362200"/>
                <a:ext cx="571500" cy="323850"/>
              </a:xfrm>
              <a:prstGeom prst="rect">
                <a:avLst/>
              </a:prstGeom>
              <a:solidFill>
                <a:srgbClr val="3A3A45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385185" y="2506980"/>
                <a:ext cx="278130" cy="121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0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示例图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62000" y="2857500"/>
              <a:ext cx="3143250" cy="476250"/>
              <a:chOff x="762000" y="2857500"/>
              <a:chExt cx="3143250" cy="476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62000" y="2857500"/>
                <a:ext cx="3143250" cy="4762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47725" y="2947988"/>
                <a:ext cx="63437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Casual 场景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48678" y="3127534"/>
                <a:ext cx="173250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咖啡店/街道/办公室 · 暖色调 · 都市感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3238500" y="2933700"/>
                <a:ext cx="571500" cy="323850"/>
              </a:xfrm>
              <a:prstGeom prst="rect">
                <a:avLst/>
              </a:prstGeom>
              <a:solidFill>
                <a:srgbClr val="3A3A4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385185" y="3078480"/>
                <a:ext cx="278130" cy="121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0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示例图</a:t>
                </a: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4286250" y="1190625"/>
            <a:ext cx="3524250" cy="2571750"/>
            <a:chOff x="4286250" y="1190625"/>
            <a:chExt cx="3524250" cy="2571750"/>
          </a:xfrm>
        </p:grpSpPr>
        <p:sp>
          <p:nvSpPr>
            <p:cNvPr id="30" name="Rectangle 30"/>
            <p:cNvSpPr/>
            <p:nvPr/>
          </p:nvSpPr>
          <p:spPr>
            <a:xfrm>
              <a:off x="4286250" y="1190625"/>
              <a:ext cx="3524250" cy="25717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286250" y="1190625"/>
              <a:ext cx="352425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463415" y="14106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光影运用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476750" y="1714500"/>
              <a:ext cx="3143250" cy="476250"/>
              <a:chOff x="4476750" y="1714500"/>
              <a:chExt cx="3143250" cy="4762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4476750" y="1714500"/>
                <a:ext cx="3143250" cy="4762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562475" y="180498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主图光影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563428" y="1984534"/>
                <a:ext cx="183601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均匀柔光 · 无阴影 · 白底高亮 · 细节清晰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4476750" y="2286000"/>
              <a:ext cx="3143250" cy="476250"/>
              <a:chOff x="4476750" y="2286000"/>
              <a:chExt cx="3143250" cy="4762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4476750" y="2286000"/>
                <a:ext cx="3143250" cy="4762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562475" y="237648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场景光影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563428" y="2556034"/>
                <a:ext cx="191981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侧逆光突出质感 · 暖光营造氛围 · 明暗对比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4476750" y="2857500"/>
              <a:ext cx="3143250" cy="476250"/>
              <a:chOff x="4476750" y="2857500"/>
              <a:chExt cx="3143250" cy="4762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4476750" y="2857500"/>
                <a:ext cx="3143250" cy="4762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562475" y="294798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细节光影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563428" y="3127534"/>
                <a:ext cx="162406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微距补光 · 纹理突出 · 五金反光控制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8001000" y="1190625"/>
            <a:ext cx="3238500" cy="2571750"/>
            <a:chOff x="8001000" y="1190625"/>
            <a:chExt cx="3238500" cy="2571750"/>
          </a:xfrm>
        </p:grpSpPr>
        <p:sp>
          <p:nvSpPr>
            <p:cNvPr id="46" name="Rectangle 46"/>
            <p:cNvSpPr/>
            <p:nvPr/>
          </p:nvSpPr>
          <p:spPr>
            <a:xfrm>
              <a:off x="8001000" y="1190625"/>
              <a:ext cx="3238500" cy="25717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001000" y="1190625"/>
              <a:ext cx="323850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78165" y="14106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视觉差异化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8181975" y="1766888"/>
              <a:ext cx="1004887" cy="857250"/>
              <a:chOff x="8181975" y="1766888"/>
              <a:chExt cx="1004887" cy="857250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8181975" y="1766888"/>
                <a:ext cx="70913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竞品视觉痛点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181975" y="1957388"/>
                <a:ext cx="78581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主图同质化严重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181975" y="2128838"/>
                <a:ext cx="100488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场景图缺失或质量低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181975" y="2300288"/>
                <a:ext cx="78581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细节展示不充分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181975" y="2471738"/>
                <a:ext cx="78581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色名与实物不符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181975" y="2338388"/>
              <a:ext cx="1333500" cy="857250"/>
              <a:chOff x="8181975" y="2338388"/>
              <a:chExt cx="1333500" cy="857250"/>
            </a:xfrm>
          </p:grpSpPr>
          <p:sp>
            <p:nvSpPr>
              <p:cNvPr id="55" name="TextBox 55"/>
              <p:cNvSpPr txBox="1"/>
              <p:nvPr/>
            </p:nvSpPr>
            <p:spPr>
              <a:xfrm>
                <a:off x="8181975" y="2338388"/>
                <a:ext cx="59412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差异化策略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181975" y="2528888"/>
                <a:ext cx="13335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场景化主图（非白底平铺）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181975" y="2700338"/>
                <a:ext cx="84605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功能标注+对比图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181975" y="2871788"/>
                <a:ext cx="67627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面料微距特写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181975" y="3043238"/>
                <a:ext cx="95559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标准色名+色卡对照</a:t>
                </a:r>
              </a:p>
            </p:txBody>
          </p:sp>
        </p:grpSp>
      </p:grpSp>
      <p:grpSp>
        <p:nvGrpSpPr>
          <p:cNvPr id="106" name="Group 106"/>
          <p:cNvGrpSpPr/>
          <p:nvPr/>
        </p:nvGrpSpPr>
        <p:grpSpPr>
          <a:xfrm>
            <a:off x="571500" y="3952875"/>
            <a:ext cx="11049000" cy="2571750"/>
            <a:chOff x="571500" y="3952875"/>
            <a:chExt cx="11049000" cy="2571750"/>
          </a:xfrm>
        </p:grpSpPr>
        <p:sp>
          <p:nvSpPr>
            <p:cNvPr id="62" name="Rectangle 62"/>
            <p:cNvSpPr/>
            <p:nvPr/>
          </p:nvSpPr>
          <p:spPr>
            <a:xfrm>
              <a:off x="571500" y="3952875"/>
              <a:ext cx="11049000" cy="25717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71500" y="3952875"/>
              <a:ext cx="1104900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48665" y="4172902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竞品视觉对比分析</a:t>
              </a:r>
            </a:p>
          </p:txBody>
        </p:sp>
        <p:grpSp>
          <p:nvGrpSpPr>
            <p:cNvPr id="105" name="Group 105"/>
            <p:cNvGrpSpPr/>
            <p:nvPr/>
          </p:nvGrpSpPr>
          <p:grpSpPr>
            <a:xfrm>
              <a:off x="762000" y="4476750"/>
              <a:ext cx="10858500" cy="1857375"/>
              <a:chOff x="762000" y="4476750"/>
              <a:chExt cx="10858500" cy="1857375"/>
            </a:xfrm>
          </p:grpSpPr>
          <p:grpSp>
            <p:nvGrpSpPr>
              <p:cNvPr id="74" name="Group 74"/>
              <p:cNvGrpSpPr/>
              <p:nvPr/>
            </p:nvGrpSpPr>
            <p:grpSpPr>
              <a:xfrm>
                <a:off x="762000" y="4476750"/>
                <a:ext cx="2571750" cy="1857375"/>
                <a:chOff x="762000" y="4476750"/>
                <a:chExt cx="2571750" cy="1857375"/>
              </a:xfrm>
            </p:grpSpPr>
            <p:sp>
              <p:nvSpPr>
                <p:cNvPr id="65" name="Rectangle 65"/>
                <p:cNvSpPr/>
                <p:nvPr/>
              </p:nvSpPr>
              <p:spPr>
                <a:xfrm>
                  <a:off x="762000" y="4476750"/>
                  <a:ext cx="2571750" cy="1857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894398" y="4625816"/>
                  <a:ext cx="577625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Carhartt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895350" y="4852988"/>
                  <a:ext cx="89535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专业工装视觉风格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895350" y="5024438"/>
                  <a:ext cx="117467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场景图：工地/户外实拍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895350" y="5195888"/>
                  <a:ext cx="1004887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色调：大地色系为主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895350" y="5443538"/>
                  <a:ext cx="36409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可借鉴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895350" y="5614988"/>
                  <a:ext cx="78581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场景化拍摄思路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895350" y="5786438"/>
                  <a:ext cx="78581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品牌故事化呈现</a:t>
                  </a: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896302" y="6023134"/>
                  <a:ext cx="889611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主图评分：4.2/5.0</a:t>
                  </a:r>
                </a:p>
              </p:txBody>
            </p:sp>
          </p:grpSp>
          <p:grpSp>
            <p:nvGrpSpPr>
              <p:cNvPr id="84" name="Group 84"/>
              <p:cNvGrpSpPr/>
              <p:nvPr/>
            </p:nvGrpSpPr>
            <p:grpSpPr>
              <a:xfrm>
                <a:off x="3524250" y="4476750"/>
                <a:ext cx="2571750" cy="1857375"/>
                <a:chOff x="3524250" y="4476750"/>
                <a:chExt cx="2571750" cy="1857375"/>
              </a:xfrm>
            </p:grpSpPr>
            <p:sp>
              <p:nvSpPr>
                <p:cNvPr id="75" name="Rectangle 75"/>
                <p:cNvSpPr/>
                <p:nvPr/>
              </p:nvSpPr>
              <p:spPr>
                <a:xfrm>
                  <a:off x="3524250" y="4476750"/>
                  <a:ext cx="2571750" cy="1857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3656648" y="4625816"/>
                  <a:ext cx="444783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Dickies</a:t>
                  </a: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3657600" y="4852988"/>
                  <a:ext cx="89535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经典工装视觉风格</a:t>
                  </a: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3657600" y="5024438"/>
                  <a:ext cx="117467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场景图：简约白底+模特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3657600" y="5195888"/>
                  <a:ext cx="89535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色调：多色系覆盖</a:t>
                  </a:r>
                </a:p>
              </p:txBody>
            </p:sp>
            <p:sp>
              <p:nvSpPr>
                <p:cNvPr id="80" name="TextBox 80"/>
                <p:cNvSpPr txBox="1"/>
                <p:nvPr/>
              </p:nvSpPr>
              <p:spPr>
                <a:xfrm>
                  <a:off x="3657600" y="5443538"/>
                  <a:ext cx="36409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可借鉴</a:t>
                  </a:r>
                </a:p>
              </p:txBody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3657600" y="5614988"/>
                  <a:ext cx="78581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多色系展示方式</a:t>
                  </a:r>
                </a:p>
              </p:txBody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3657600" y="5786438"/>
                  <a:ext cx="78581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尺码信息可视化</a:t>
                  </a:r>
                </a:p>
              </p:txBody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3658552" y="6023134"/>
                  <a:ext cx="889611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主图评分：4.0/5.0</a:t>
                  </a:r>
                </a:p>
              </p:txBody>
            </p:sp>
          </p:grpSp>
          <p:grpSp>
            <p:nvGrpSpPr>
              <p:cNvPr id="94" name="Group 94"/>
              <p:cNvGrpSpPr/>
              <p:nvPr/>
            </p:nvGrpSpPr>
            <p:grpSpPr>
              <a:xfrm>
                <a:off x="6286500" y="4476750"/>
                <a:ext cx="2571750" cy="1857375"/>
                <a:chOff x="6286500" y="4476750"/>
                <a:chExt cx="2571750" cy="1857375"/>
              </a:xfrm>
            </p:grpSpPr>
            <p:sp>
              <p:nvSpPr>
                <p:cNvPr id="85" name="Rectangle 85"/>
                <p:cNvSpPr/>
                <p:nvPr/>
              </p:nvSpPr>
              <p:spPr>
                <a:xfrm>
                  <a:off x="6286500" y="4476750"/>
                  <a:ext cx="2571750" cy="1857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6418898" y="4625816"/>
                  <a:ext cx="514367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Pro Club</a:t>
                  </a:r>
                </a:p>
              </p:txBody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6419850" y="4852988"/>
                  <a:ext cx="78581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性价比工装视觉</a:t>
                  </a:r>
                </a:p>
              </p:txBody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6419850" y="5024438"/>
                  <a:ext cx="111442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场景图：基础白底平铺</a:t>
                  </a:r>
                </a:p>
              </p:txBody>
            </p:sp>
            <p:sp>
              <p:nvSpPr>
                <p:cNvPr id="89" name="TextBox 89"/>
                <p:cNvSpPr txBox="1"/>
                <p:nvPr/>
              </p:nvSpPr>
              <p:spPr>
                <a:xfrm>
                  <a:off x="6419850" y="5195888"/>
                  <a:ext cx="106513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色调：黑色/灰色为主</a:t>
                  </a:r>
                </a:p>
              </p:txBody>
            </p:sp>
            <p:sp>
              <p:nvSpPr>
                <p:cNvPr id="90" name="TextBox 90"/>
                <p:cNvSpPr txBox="1"/>
                <p:nvPr/>
              </p:nvSpPr>
              <p:spPr>
                <a:xfrm>
                  <a:off x="6419850" y="5443538"/>
                  <a:ext cx="59412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差异化机会</a:t>
                  </a:r>
                </a:p>
              </p:txBody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6419850" y="5614988"/>
                  <a:ext cx="111442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场景图质量提升空间大</a:t>
                  </a:r>
                </a:p>
              </p:txBody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6419850" y="5786438"/>
                  <a:ext cx="79676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A+内容几乎空白</a:t>
                  </a:r>
                </a:p>
              </p:txBody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6420802" y="6023134"/>
                  <a:ext cx="889611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主图评分：3.5/5.0</a:t>
                  </a:r>
                </a:p>
              </p:txBody>
            </p:sp>
          </p:grpSp>
          <p:grpSp>
            <p:nvGrpSpPr>
              <p:cNvPr id="104" name="Group 104"/>
              <p:cNvGrpSpPr/>
              <p:nvPr/>
            </p:nvGrpSpPr>
            <p:grpSpPr>
              <a:xfrm>
                <a:off x="9048750" y="4476750"/>
                <a:ext cx="2571750" cy="1857375"/>
                <a:chOff x="9048750" y="4476750"/>
                <a:chExt cx="2571750" cy="1857375"/>
              </a:xfrm>
            </p:grpSpPr>
            <p:sp>
              <p:nvSpPr>
                <p:cNvPr id="95" name="Rectangle 95"/>
                <p:cNvSpPr/>
                <p:nvPr/>
              </p:nvSpPr>
              <p:spPr>
                <a:xfrm>
                  <a:off x="9048750" y="4476750"/>
                  <a:ext cx="2571750" cy="1857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96" name="TextBox 96"/>
                <p:cNvSpPr txBox="1"/>
                <p:nvPr/>
              </p:nvSpPr>
              <p:spPr>
                <a:xfrm>
                  <a:off x="9181148" y="4625816"/>
                  <a:ext cx="653534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我们的策略</a:t>
                  </a:r>
                </a:p>
              </p:txBody>
            </p:sp>
            <p:sp>
              <p:nvSpPr>
                <p:cNvPr id="97" name="TextBox 97"/>
                <p:cNvSpPr txBox="1"/>
                <p:nvPr/>
              </p:nvSpPr>
              <p:spPr>
                <a:xfrm>
                  <a:off x="9182100" y="4852988"/>
                  <a:ext cx="89535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高品质视觉差异化</a:t>
                  </a:r>
                </a:p>
              </p:txBody>
            </p:sp>
            <p:sp>
              <p:nvSpPr>
                <p:cNvPr id="98" name="TextBox 98"/>
                <p:cNvSpPr txBox="1"/>
                <p:nvPr/>
              </p:nvSpPr>
              <p:spPr>
                <a:xfrm>
                  <a:off x="9182100" y="5024438"/>
                  <a:ext cx="111442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场景图：三场景全覆盖</a:t>
                  </a:r>
                </a:p>
              </p:txBody>
            </p:sp>
            <p:sp>
              <p:nvSpPr>
                <p:cNvPr id="99" name="TextBox 99"/>
                <p:cNvSpPr txBox="1"/>
                <p:nvPr/>
              </p:nvSpPr>
              <p:spPr>
                <a:xfrm>
                  <a:off x="9182100" y="5195888"/>
                  <a:ext cx="111442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色调：巴恩风大地色系</a:t>
                  </a:r>
                </a:p>
              </p:txBody>
            </p:sp>
            <p:sp>
              <p:nvSpPr>
                <p:cNvPr id="100" name="TextBox 100"/>
                <p:cNvSpPr txBox="1"/>
                <p:nvPr/>
              </p:nvSpPr>
              <p:spPr>
                <a:xfrm>
                  <a:off x="9182100" y="544353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核心优势</a:t>
                  </a:r>
                </a:p>
              </p:txBody>
            </p:sp>
            <p:sp>
              <p:nvSpPr>
                <p:cNvPr id="101" name="TextBox 101"/>
                <p:cNvSpPr txBox="1"/>
                <p:nvPr/>
              </p:nvSpPr>
              <p:spPr>
                <a:xfrm>
                  <a:off x="9182100" y="5614988"/>
                  <a:ext cx="106513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场景化主图+功能标注</a:t>
                  </a:r>
                </a:p>
              </p:txBody>
            </p:sp>
            <p:sp>
              <p:nvSpPr>
                <p:cNvPr id="102" name="TextBox 102"/>
                <p:cNvSpPr txBox="1"/>
                <p:nvPr/>
              </p:nvSpPr>
              <p:spPr>
                <a:xfrm>
                  <a:off x="9182100" y="5786438"/>
                  <a:ext cx="1076087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完整A+内容+搭配推荐</a:t>
                  </a:r>
                </a:p>
              </p:txBody>
            </p:sp>
            <p:sp>
              <p:nvSpPr>
                <p:cNvPr id="103" name="TextBox 103"/>
                <p:cNvSpPr txBox="1"/>
                <p:nvPr/>
              </p:nvSpPr>
              <p:spPr>
                <a:xfrm>
                  <a:off x="9183052" y="6023134"/>
                  <a:ext cx="943832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目标评分：4.5+/5.0</a:t>
                  </a:r>
                </a:p>
              </p:txBody>
            </p:sp>
          </p:grpSp>
        </p:grpSp>
      </p:grpSp>
      <p:sp>
        <p:nvSpPr>
          <p:cNvPr id="107" name="Rectangle 10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81000" y="95250"/>
            <a:ext cx="11430000" cy="6667500"/>
          </a:xfrm>
          <a:prstGeom prst="ellipse">
            <a:avLst/>
          </a:prstGeom>
          <a:gradFill>
            <a:gsLst>
              <a:gs pos="0">
                <a:srgbClr val="C9A962">
                  <a:alpha val="8000"/>
                </a:srgbClr>
              </a:gs>
              <a:gs pos="100000">
                <a:srgbClr val="C9A96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59987" y="2363152"/>
            <a:ext cx="8720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9A962">
                    <a:alpha val="60000"/>
                  </a:srgbClr>
                </a:solidFill>
                <a:latin typeface="Space Grotesk"/>
                <a:ea typeface="Microsoft YaHei"/>
                <a:cs typeface="Space Grotesk"/>
              </a:rPr>
              <a:t>CHAPTER 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89935" y="2754630"/>
            <a:ext cx="561213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消费者人群与需求演变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3333750"/>
            <a:ext cx="1905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766310" y="368046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核心人群画像与消费需求路径分析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941570" y="4379595"/>
            <a:ext cx="1955102" cy="392430"/>
            <a:chOff x="4941570" y="4379595"/>
            <a:chExt cx="1955102" cy="392430"/>
          </a:xfrm>
        </p:grpSpPr>
        <p:sp>
          <p:nvSpPr>
            <p:cNvPr id="9" name="TextBox 9"/>
            <p:cNvSpPr txBox="1"/>
            <p:nvPr/>
          </p:nvSpPr>
          <p:spPr>
            <a:xfrm>
              <a:off x="4941570" y="4379595"/>
              <a:ext cx="19551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4.1 四大核心人群画像与消费特征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41570" y="4589145"/>
              <a:ext cx="1593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4.2 五大消费需求演变路径</a:t>
              </a:r>
            </a:p>
          </p:txBody>
        </p:sp>
      </p:grpSp>
      <p:sp>
        <p:nvSpPr>
          <p:cNvPr id="12" name="Rectangle 1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91941"/>
            <a:ext cx="10394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04 · 4.3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550545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品牌竞争格局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085374"/>
            <a:ext cx="41187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从$25 Dickies到$322 Crye Precision，市场存在清晰的价格阶梯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165" y="1458278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价格分层与定位矩阵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71500" y="1809750"/>
            <a:ext cx="11049000" cy="4762500"/>
            <a:chOff x="571500" y="1809750"/>
            <a:chExt cx="11049000" cy="4762500"/>
          </a:xfrm>
        </p:grpSpPr>
        <p:grpSp>
          <p:nvGrpSpPr>
            <p:cNvPr id="18" name="Group 18"/>
            <p:cNvGrpSpPr/>
            <p:nvPr/>
          </p:nvGrpSpPr>
          <p:grpSpPr>
            <a:xfrm>
              <a:off x="571500" y="1809750"/>
              <a:ext cx="5334000" cy="4762500"/>
              <a:chOff x="571500" y="1809750"/>
              <a:chExt cx="5334000" cy="47625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809750"/>
                <a:ext cx="5334000" cy="4762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71500" y="1809750"/>
                <a:ext cx="5334000" cy="76200"/>
              </a:xfrm>
              <a:prstGeom prst="rect">
                <a:avLst/>
              </a:prstGeom>
              <a:solidFill>
                <a:srgbClr val="4A9F6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48665" y="2029778"/>
                <a:ext cx="12504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$20-40 大众工装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50570" y="2284095"/>
                <a:ext cx="183680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5F5F7"/>
                    </a:solidFill>
                    <a:latin typeface="Inter"/>
                    <a:ea typeface="Microsoft YaHei"/>
                    <a:cs typeface="Inter"/>
                  </a:rPr>
                  <a:t>Dickies, Wrangler, Carhartt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2475" y="2490788"/>
                <a:ext cx="13335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性价比、实用性、品牌认知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2475" y="2681288"/>
                <a:ext cx="13335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目标：蓝领工人、日常休闲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762000" y="2905125"/>
                <a:ext cx="4953000" cy="35242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408563" y="4649152"/>
                <a:ext cx="16598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大众工装产品图 4:3 ]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996077" y="4959191"/>
                <a:ext cx="48484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520×390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286500" y="1809750"/>
              <a:ext cx="5334000" cy="4762500"/>
              <a:chOff x="6286500" y="1809750"/>
              <a:chExt cx="5334000" cy="4762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286500" y="1809750"/>
                <a:ext cx="5334000" cy="4762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286500" y="1809750"/>
                <a:ext cx="5334000" cy="7620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463665" y="2029778"/>
                <a:ext cx="12504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$40-80 中端战术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465570" y="2284095"/>
                <a:ext cx="13438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5F5F7"/>
                    </a:solidFill>
                    <a:latin typeface="Inter"/>
                    <a:ea typeface="Microsoft YaHei"/>
                    <a:cs typeface="Inter"/>
                  </a:rPr>
                  <a:t>5.11 Tactical, Condor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467475" y="2490788"/>
                <a:ext cx="155257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功能性强、面料可靠、款式多样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67475" y="2681288"/>
                <a:ext cx="155257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目标：户外爱好者、执法从业者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6477000" y="2905125"/>
                <a:ext cx="4953000" cy="35242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123563" y="4649152"/>
                <a:ext cx="16598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中端战术产品图 4:3 ]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711077" y="4959191"/>
                <a:ext cx="48484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520×390</a:t>
                </a:r>
              </a:p>
            </p:txBody>
          </p:sp>
        </p:grpSp>
      </p:grpSp>
      <p:sp>
        <p:nvSpPr>
          <p:cNvPr id="30" name="Rectangle 3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44316"/>
            <a:ext cx="10077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04 · 4.1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459105"/>
            <a:ext cx="42398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四大核心人群画像与消费特征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001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0070" y="902970"/>
            <a:ext cx="38479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从职业蓝领到潮流玩家——精准定位目标客群，驱动产品与营销策略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571500" y="1190625"/>
            <a:ext cx="11049000" cy="2476500"/>
            <a:chOff x="571500" y="1190625"/>
            <a:chExt cx="11049000" cy="2476500"/>
          </a:xfrm>
        </p:grpSpPr>
        <p:grpSp>
          <p:nvGrpSpPr>
            <p:cNvPr id="25" name="Group 25"/>
            <p:cNvGrpSpPr/>
            <p:nvPr/>
          </p:nvGrpSpPr>
          <p:grpSpPr>
            <a:xfrm>
              <a:off x="571500" y="1190625"/>
              <a:ext cx="5334000" cy="2476500"/>
              <a:chOff x="571500" y="1190625"/>
              <a:chExt cx="5334000" cy="2476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190625"/>
                <a:ext cx="5334000" cy="2476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190625"/>
                <a:ext cx="5334000" cy="57150"/>
              </a:xfrm>
              <a:prstGeom prst="rect">
                <a:avLst/>
              </a:prstGeom>
              <a:solidFill>
                <a:srgbClr val="B5A88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47712" y="1402556"/>
                <a:ext cx="234036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B5A882"/>
                    </a:solidFill>
                    <a:latin typeface="Space Grotesk"/>
                    <a:ea typeface="Microsoft YaHei"/>
                    <a:cs typeface="Space Grotesk"/>
                  </a:rPr>
                  <a:t>职业蓝领 Blue-Collar Worker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4667250" y="1333500"/>
                <a:ext cx="1047750" cy="228600"/>
              </a:xfrm>
              <a:prstGeom prst="rect">
                <a:avLst/>
              </a:prstGeom>
              <a:solidFill>
                <a:srgbClr val="B5A882">
                  <a:alpha val="15000"/>
                </a:srgbClr>
              </a:solidFill>
              <a:ln w="9525">
                <a:solidFill>
                  <a:srgbClr val="B5A882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951571" y="140493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 dirty="0">
                    <a:solidFill>
                      <a:srgbClr val="B5A882"/>
                    </a:solidFill>
                    <a:latin typeface="Inter"/>
                    <a:ea typeface="Microsoft YaHei"/>
                    <a:cs typeface="Inter"/>
                  </a:rPr>
                  <a:t>核心人群</a:t>
                </a:r>
              </a:p>
            </p:txBody>
          </p:sp>
          <p:grpSp>
            <p:nvGrpSpPr>
              <p:cNvPr id="16" name="Group 16"/>
              <p:cNvGrpSpPr/>
              <p:nvPr/>
            </p:nvGrpSpPr>
            <p:grpSpPr>
              <a:xfrm>
                <a:off x="752475" y="1766888"/>
                <a:ext cx="2176939" cy="514350"/>
                <a:chOff x="752475" y="1766888"/>
                <a:chExt cx="2176939" cy="514350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752475" y="176688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人群特征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52475" y="1957388"/>
                  <a:ext cx="217693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25-55岁 · 男性为主 · 建筑/制造/物流/维修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52475" y="2128838"/>
                  <a:ext cx="167306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日均穿着8-12小时 · 重复购买率高</a:t>
                  </a:r>
                </a:p>
              </p:txBody>
            </p:sp>
          </p:grpSp>
          <p:grpSp>
            <p:nvGrpSpPr>
              <p:cNvPr id="20" name="Group 20"/>
              <p:cNvGrpSpPr/>
              <p:nvPr/>
            </p:nvGrpSpPr>
            <p:grpSpPr>
              <a:xfrm>
                <a:off x="752475" y="2386012"/>
                <a:ext cx="2133124" cy="514350"/>
                <a:chOff x="752475" y="2386012"/>
                <a:chExt cx="2133124" cy="514350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752475" y="238601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消费偏好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752475" y="2576512"/>
                  <a:ext cx="213312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耐用性第一 · 功能性优先 · 价格敏感度中等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752475" y="2747962"/>
                  <a:ext cx="178260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偏好：加固膝盖/多口袋/防撕裂面料</a:t>
                  </a:r>
                </a:p>
              </p:txBody>
            </p:sp>
          </p:grpSp>
          <p:grpSp>
            <p:nvGrpSpPr>
              <p:cNvPr id="24" name="Group 24"/>
              <p:cNvGrpSpPr/>
              <p:nvPr/>
            </p:nvGrpSpPr>
            <p:grpSpPr>
              <a:xfrm>
                <a:off x="752475" y="3020378"/>
                <a:ext cx="2490549" cy="213360"/>
                <a:chOff x="752475" y="3020378"/>
                <a:chExt cx="2490549" cy="213360"/>
              </a:xfrm>
            </p:grpSpPr>
            <p:sp>
              <p:nvSpPr>
                <p:cNvPr id="21" name="TextBox 21"/>
                <p:cNvSpPr txBox="1"/>
                <p:nvPr/>
              </p:nvSpPr>
              <p:spPr>
                <a:xfrm>
                  <a:off x="752475" y="3052762"/>
                  <a:ext cx="36409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客单价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1510665" y="3020378"/>
                  <a:ext cx="558036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B5A882"/>
                      </a:solidFill>
                      <a:latin typeface="Space Grotesk"/>
                      <a:ea typeface="Microsoft YaHei"/>
                      <a:cs typeface="Space Grotesk"/>
                    </a:rPr>
                    <a:t>$35-65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2276475" y="3052762"/>
                  <a:ext cx="96654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复购周期：3-6个月</a:t>
                  </a:r>
                </a:p>
              </p:txBody>
            </p:sp>
          </p:grpSp>
        </p:grpSp>
        <p:grpSp>
          <p:nvGrpSpPr>
            <p:cNvPr id="43" name="Group 43"/>
            <p:cNvGrpSpPr/>
            <p:nvPr/>
          </p:nvGrpSpPr>
          <p:grpSpPr>
            <a:xfrm>
              <a:off x="6286500" y="1190625"/>
              <a:ext cx="5334000" cy="2476500"/>
              <a:chOff x="6286500" y="1190625"/>
              <a:chExt cx="5334000" cy="2476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286500" y="1190625"/>
                <a:ext cx="5334000" cy="2476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286500" y="1190625"/>
                <a:ext cx="5334000" cy="57150"/>
              </a:xfrm>
              <a:prstGeom prst="rect">
                <a:avLst/>
              </a:prstGeom>
              <a:solidFill>
                <a:srgbClr val="6B7C5E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462712" y="1402556"/>
                <a:ext cx="259914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6B7C5E"/>
                    </a:solidFill>
                    <a:latin typeface="Space Grotesk"/>
                    <a:ea typeface="Microsoft YaHei"/>
                    <a:cs typeface="Space Grotesk"/>
                  </a:rPr>
                  <a:t>户外爱好者 Outdoor Enthusiast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10382250" y="1333500"/>
                <a:ext cx="1047750" cy="228600"/>
              </a:xfrm>
              <a:prstGeom prst="rect">
                <a:avLst/>
              </a:prstGeom>
              <a:solidFill>
                <a:srgbClr val="6B7C5E">
                  <a:alpha val="15000"/>
                </a:srgbClr>
              </a:solidFill>
              <a:ln w="9525">
                <a:solidFill>
                  <a:srgbClr val="6B7C5E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666571" y="140493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 dirty="0">
                    <a:solidFill>
                      <a:srgbClr val="6B7C5E"/>
                    </a:solidFill>
                    <a:latin typeface="Inter"/>
                    <a:ea typeface="Microsoft YaHei"/>
                    <a:cs typeface="Inter"/>
                  </a:rPr>
                  <a:t>增长人群</a:t>
                </a:r>
              </a:p>
            </p:txBody>
          </p:sp>
          <p:grpSp>
            <p:nvGrpSpPr>
              <p:cNvPr id="34" name="Group 34"/>
              <p:cNvGrpSpPr/>
              <p:nvPr/>
            </p:nvGrpSpPr>
            <p:grpSpPr>
              <a:xfrm>
                <a:off x="6467475" y="1766888"/>
                <a:ext cx="2176939" cy="514350"/>
                <a:chOff x="6467475" y="1766888"/>
                <a:chExt cx="2176939" cy="514350"/>
              </a:xfrm>
            </p:grpSpPr>
            <p:sp>
              <p:nvSpPr>
                <p:cNvPr id="31" name="TextBox 31"/>
                <p:cNvSpPr txBox="1"/>
                <p:nvPr/>
              </p:nvSpPr>
              <p:spPr>
                <a:xfrm>
                  <a:off x="6467475" y="176688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人群特征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6467475" y="1957388"/>
                  <a:ext cx="217693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22-45岁 · 男女兼顾 · 露营/钓鱼/徒步/狩猎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467475" y="2128838"/>
                  <a:ext cx="141017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周末/假期穿着 · 季节性购买</a:t>
                  </a: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6467475" y="2386012"/>
                <a:ext cx="1782604" cy="514350"/>
                <a:chOff x="6467475" y="2386012"/>
                <a:chExt cx="1782604" cy="514350"/>
              </a:xfrm>
            </p:grpSpPr>
            <p:sp>
              <p:nvSpPr>
                <p:cNvPr id="35" name="TextBox 35"/>
                <p:cNvSpPr txBox="1"/>
                <p:nvPr/>
              </p:nvSpPr>
              <p:spPr>
                <a:xfrm>
                  <a:off x="6467475" y="238601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消费偏好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6467475" y="2576512"/>
                  <a:ext cx="175521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功能性+舒适性 · 防水透气 · 轻量化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467475" y="2747962"/>
                  <a:ext cx="178260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偏好：防泼水/透气面料/可收纳口袋</a:t>
                  </a:r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6467475" y="3020378"/>
                <a:ext cx="2523411" cy="213360"/>
                <a:chOff x="6467475" y="3020378"/>
                <a:chExt cx="2523411" cy="213360"/>
              </a:xfrm>
            </p:grpSpPr>
            <p:sp>
              <p:nvSpPr>
                <p:cNvPr id="39" name="TextBox 39"/>
                <p:cNvSpPr txBox="1"/>
                <p:nvPr/>
              </p:nvSpPr>
              <p:spPr>
                <a:xfrm>
                  <a:off x="6467475" y="3052762"/>
                  <a:ext cx="36409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客单价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7225665" y="3020378"/>
                  <a:ext cx="558036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6B7C5E"/>
                      </a:solidFill>
                      <a:latin typeface="Space Grotesk"/>
                      <a:ea typeface="Microsoft YaHei"/>
                      <a:cs typeface="Space Grotesk"/>
                    </a:rPr>
                    <a:t>$45-85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7991475" y="3052762"/>
                  <a:ext cx="99941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复购周期：6-12个月</a:t>
                  </a:r>
                </a:p>
              </p:txBody>
            </p:sp>
          </p:grpSp>
        </p:grpSp>
      </p:grpSp>
      <p:grpSp>
        <p:nvGrpSpPr>
          <p:cNvPr id="83" name="Group 83"/>
          <p:cNvGrpSpPr/>
          <p:nvPr/>
        </p:nvGrpSpPr>
        <p:grpSpPr>
          <a:xfrm>
            <a:off x="571500" y="3905250"/>
            <a:ext cx="11049000" cy="2571750"/>
            <a:chOff x="571500" y="3905250"/>
            <a:chExt cx="11049000" cy="2571750"/>
          </a:xfrm>
        </p:grpSpPr>
        <p:grpSp>
          <p:nvGrpSpPr>
            <p:cNvPr id="63" name="Group 63"/>
            <p:cNvGrpSpPr/>
            <p:nvPr/>
          </p:nvGrpSpPr>
          <p:grpSpPr>
            <a:xfrm>
              <a:off x="571500" y="3905250"/>
              <a:ext cx="5334000" cy="2571750"/>
              <a:chOff x="571500" y="3905250"/>
              <a:chExt cx="5334000" cy="2571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571500" y="3905250"/>
                <a:ext cx="533400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571500" y="3905250"/>
                <a:ext cx="5334000" cy="57150"/>
              </a:xfrm>
              <a:prstGeom prst="rect">
                <a:avLst/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47712" y="4117181"/>
                <a:ext cx="30304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3498DB"/>
                    </a:solidFill>
                    <a:latin typeface="Space Grotesk"/>
                    <a:ea typeface="Microsoft YaHei"/>
                    <a:cs typeface="Space Grotesk"/>
                  </a:rPr>
                  <a:t>潮流玩家 Fashion-Forward Consumer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4667250" y="4048125"/>
                <a:ext cx="1047750" cy="228600"/>
              </a:xfrm>
              <a:prstGeom prst="rect">
                <a:avLst/>
              </a:prstGeom>
              <a:solidFill>
                <a:srgbClr val="3498DB">
                  <a:alpha val="15000"/>
                </a:srgbClr>
              </a:solidFill>
              <a:ln w="9525">
                <a:solidFill>
                  <a:srgbClr val="3498DB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4894064" y="4119562"/>
                <a:ext cx="59412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 dirty="0">
                    <a:solidFill>
                      <a:srgbClr val="3498DB"/>
                    </a:solidFill>
                    <a:latin typeface="Inter"/>
                    <a:ea typeface="Microsoft YaHei"/>
                    <a:cs typeface="Inter"/>
                  </a:rPr>
                  <a:t>高价值人群</a:t>
                </a:r>
              </a:p>
            </p:txBody>
          </p:sp>
          <p:grpSp>
            <p:nvGrpSpPr>
              <p:cNvPr id="53" name="Group 53"/>
              <p:cNvGrpSpPr/>
              <p:nvPr/>
            </p:nvGrpSpPr>
            <p:grpSpPr>
              <a:xfrm>
                <a:off x="752475" y="4481512"/>
                <a:ext cx="2308384" cy="514350"/>
                <a:chOff x="752475" y="4481512"/>
                <a:chExt cx="2308384" cy="514350"/>
              </a:xfrm>
            </p:grpSpPr>
            <p:sp>
              <p:nvSpPr>
                <p:cNvPr id="50" name="TextBox 50"/>
                <p:cNvSpPr txBox="1"/>
                <p:nvPr/>
              </p:nvSpPr>
              <p:spPr>
                <a:xfrm>
                  <a:off x="752475" y="448151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人群特征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752475" y="4672012"/>
                  <a:ext cx="230838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18-35岁 · 都市男性 · 关注时尚/街头/工装潮流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752475" y="4843462"/>
                  <a:ext cx="191404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社交媒体驱动 · 品牌意识强 · 冲动消费</a:t>
                  </a:r>
                </a:p>
              </p:txBody>
            </p:sp>
          </p:grpSp>
          <p:grpSp>
            <p:nvGrpSpPr>
              <p:cNvPr id="57" name="Group 57"/>
              <p:cNvGrpSpPr/>
              <p:nvPr/>
            </p:nvGrpSpPr>
            <p:grpSpPr>
              <a:xfrm>
                <a:off x="752475" y="5100638"/>
                <a:ext cx="2133124" cy="514350"/>
                <a:chOff x="752475" y="5100638"/>
                <a:chExt cx="2133124" cy="514350"/>
              </a:xfrm>
            </p:grpSpPr>
            <p:sp>
              <p:nvSpPr>
                <p:cNvPr id="54" name="TextBox 54"/>
                <p:cNvSpPr txBox="1"/>
                <p:nvPr/>
              </p:nvSpPr>
              <p:spPr>
                <a:xfrm>
                  <a:off x="752475" y="510063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消费偏好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752475" y="5291138"/>
                  <a:ext cx="213312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设计感第一 · 品牌溢价接受度高 · 社交属性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752475" y="5462588"/>
                  <a:ext cx="167306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偏好：巴恩风/复古工装/限定配色</a:t>
                  </a:r>
                </a:p>
              </p:txBody>
            </p:sp>
          </p:grpSp>
          <p:grpSp>
            <p:nvGrpSpPr>
              <p:cNvPr id="61" name="Group 61"/>
              <p:cNvGrpSpPr/>
              <p:nvPr/>
            </p:nvGrpSpPr>
            <p:grpSpPr>
              <a:xfrm>
                <a:off x="752475" y="5735002"/>
                <a:ext cx="2558415" cy="213360"/>
                <a:chOff x="752475" y="5735002"/>
                <a:chExt cx="2558415" cy="213360"/>
              </a:xfrm>
            </p:grpSpPr>
            <p:sp>
              <p:nvSpPr>
                <p:cNvPr id="58" name="TextBox 58"/>
                <p:cNvSpPr txBox="1"/>
                <p:nvPr/>
              </p:nvSpPr>
              <p:spPr>
                <a:xfrm>
                  <a:off x="752475" y="5767388"/>
                  <a:ext cx="36409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客单价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1510665" y="5735002"/>
                  <a:ext cx="606342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3498DB"/>
                      </a:solidFill>
                      <a:latin typeface="Space Grotesk"/>
                      <a:ea typeface="Microsoft YaHei"/>
                      <a:cs typeface="Space Grotesk"/>
                    </a:rPr>
                    <a:t>$60-150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2371725" y="5767388"/>
                  <a:ext cx="93916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复购周期：1-3个月</a:t>
                  </a:r>
                </a:p>
              </p:txBody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752475" y="6053138"/>
                <a:ext cx="261837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3498DB"/>
                    </a:solidFill>
                    <a:latin typeface="Inter"/>
                    <a:ea typeface="Microsoft YaHei"/>
                    <a:cs typeface="Inter"/>
                  </a:rPr>
                  <a:t>关键渠道：Instagram / TikTok / Reddit 工装社区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6286500" y="3905250"/>
              <a:ext cx="5334000" cy="2571750"/>
              <a:chOff x="6286500" y="3905250"/>
              <a:chExt cx="5334000" cy="257175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6286500" y="3905250"/>
                <a:ext cx="533400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6286500" y="3905250"/>
                <a:ext cx="5334000" cy="57150"/>
              </a:xfrm>
              <a:prstGeom prst="rect">
                <a:avLst/>
              </a:prstGeom>
              <a:solidFill>
                <a:srgbClr val="C47040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6462712" y="4117181"/>
                <a:ext cx="22799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C47040"/>
                    </a:solidFill>
                    <a:latin typeface="Space Grotesk"/>
                    <a:ea typeface="Microsoft YaHei"/>
                    <a:cs typeface="Space Grotesk"/>
                  </a:rPr>
                  <a:t>日常通勤者 Everyday Casual</a:t>
                </a:r>
              </a:p>
            </p:txBody>
          </p:sp>
          <p:sp>
            <p:nvSpPr>
              <p:cNvPr id="67" name="Rectangle 67"/>
              <p:cNvSpPr/>
              <p:nvPr/>
            </p:nvSpPr>
            <p:spPr>
              <a:xfrm>
                <a:off x="10382250" y="4048125"/>
                <a:ext cx="1047750" cy="228600"/>
              </a:xfrm>
              <a:prstGeom prst="rect">
                <a:avLst/>
              </a:prstGeom>
              <a:solidFill>
                <a:srgbClr val="C47040">
                  <a:alpha val="15000"/>
                </a:srgbClr>
              </a:solidFill>
              <a:ln w="9525">
                <a:solidFill>
                  <a:srgbClr val="C47040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10666571" y="41195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 dirty="0">
                    <a:solidFill>
                      <a:srgbClr val="C47040"/>
                    </a:solidFill>
                    <a:latin typeface="Inter"/>
                    <a:ea typeface="Microsoft YaHei"/>
                    <a:cs typeface="Inter"/>
                  </a:rPr>
                  <a:t>潜力人群</a:t>
                </a:r>
              </a:p>
            </p:txBody>
          </p:sp>
          <p:grpSp>
            <p:nvGrpSpPr>
              <p:cNvPr id="72" name="Group 72"/>
              <p:cNvGrpSpPr/>
              <p:nvPr/>
            </p:nvGrpSpPr>
            <p:grpSpPr>
              <a:xfrm>
                <a:off x="6467475" y="4481512"/>
                <a:ext cx="1914049" cy="514350"/>
                <a:chOff x="6467475" y="4481512"/>
                <a:chExt cx="1914049" cy="514350"/>
              </a:xfrm>
            </p:grpSpPr>
            <p:sp>
              <p:nvSpPr>
                <p:cNvPr id="69" name="TextBox 69"/>
                <p:cNvSpPr txBox="1"/>
                <p:nvPr/>
              </p:nvSpPr>
              <p:spPr>
                <a:xfrm>
                  <a:off x="6467475" y="448151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人群特征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6467475" y="4672012"/>
                  <a:ext cx="188666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25-50岁 · 都市男性 · 追求舒适与实用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6467475" y="4843462"/>
                  <a:ext cx="191404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日常穿着 · 百搭需求 · 价格敏感度较高</a:t>
                  </a:r>
                </a:p>
              </p:txBody>
            </p:sp>
          </p:grpSp>
          <p:grpSp>
            <p:nvGrpSpPr>
              <p:cNvPr id="76" name="Group 76"/>
              <p:cNvGrpSpPr/>
              <p:nvPr/>
            </p:nvGrpSpPr>
            <p:grpSpPr>
              <a:xfrm>
                <a:off x="6467475" y="5100638"/>
                <a:ext cx="1804511" cy="514350"/>
                <a:chOff x="6467475" y="5100638"/>
                <a:chExt cx="1804511" cy="514350"/>
              </a:xfrm>
            </p:grpSpPr>
            <p:sp>
              <p:nvSpPr>
                <p:cNvPr id="73" name="TextBox 73"/>
                <p:cNvSpPr txBox="1"/>
                <p:nvPr/>
              </p:nvSpPr>
              <p:spPr>
                <a:xfrm>
                  <a:off x="6467475" y="510063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消费偏好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6467475" y="5291138"/>
                  <a:ext cx="180451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舒适性第一 · 简约设计 · 百搭易搭配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6467475" y="5462588"/>
                  <a:ext cx="167306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偏好：轻工装/弹力面料/基础色系</a:t>
                  </a:r>
                </a:p>
              </p:txBody>
            </p:sp>
          </p:grpSp>
          <p:grpSp>
            <p:nvGrpSpPr>
              <p:cNvPr id="80" name="Group 80"/>
              <p:cNvGrpSpPr/>
              <p:nvPr/>
            </p:nvGrpSpPr>
            <p:grpSpPr>
              <a:xfrm>
                <a:off x="6467475" y="5735002"/>
                <a:ext cx="2523411" cy="213360"/>
                <a:chOff x="6467475" y="5735002"/>
                <a:chExt cx="2523411" cy="213360"/>
              </a:xfrm>
            </p:grpSpPr>
            <p:sp>
              <p:nvSpPr>
                <p:cNvPr id="77" name="TextBox 77"/>
                <p:cNvSpPr txBox="1"/>
                <p:nvPr/>
              </p:nvSpPr>
              <p:spPr>
                <a:xfrm>
                  <a:off x="6467475" y="5767388"/>
                  <a:ext cx="36409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客单价</a:t>
                  </a: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7225665" y="5735002"/>
                  <a:ext cx="558036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rgbClr val="C47040"/>
                      </a:solidFill>
                      <a:latin typeface="Space Grotesk"/>
                      <a:ea typeface="Microsoft YaHei"/>
                      <a:cs typeface="Space Grotesk"/>
                    </a:rPr>
                    <a:t>$25-50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7991475" y="5767388"/>
                  <a:ext cx="99941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复购周期：6-12个月</a:t>
                  </a:r>
                </a:p>
              </p:txBody>
            </p:sp>
          </p:grpSp>
          <p:sp>
            <p:nvSpPr>
              <p:cNvPr id="81" name="TextBox 81"/>
              <p:cNvSpPr txBox="1"/>
              <p:nvPr/>
            </p:nvSpPr>
            <p:spPr>
              <a:xfrm>
                <a:off x="6467475" y="6053138"/>
                <a:ext cx="241134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47040"/>
                    </a:solidFill>
                    <a:latin typeface="Inter"/>
                    <a:ea typeface="Microsoft YaHei"/>
                    <a:cs typeface="Inter"/>
                  </a:rPr>
                  <a:t>关键渠道：Amazon搜索 / 品牌官网 / 折扣平台</a:t>
                </a:r>
              </a:p>
            </p:txBody>
          </p:sp>
        </p:grpSp>
      </p:grpSp>
      <p:sp>
        <p:nvSpPr>
          <p:cNvPr id="84" name="Rectangle 8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91941"/>
            <a:ext cx="10394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04 · 4.4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550545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品牌竞争格局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085374"/>
            <a:ext cx="27303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市场存在清晰的价格阶梯和对应的消费群体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165" y="1458278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价格分层与定位矩阵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71500" y="1809750"/>
            <a:ext cx="10477500" cy="4857750"/>
            <a:chOff x="571500" y="1809750"/>
            <a:chExt cx="10477500" cy="4857750"/>
          </a:xfrm>
        </p:grpSpPr>
        <p:grpSp>
          <p:nvGrpSpPr>
            <p:cNvPr id="17" name="Group 17"/>
            <p:cNvGrpSpPr/>
            <p:nvPr/>
          </p:nvGrpSpPr>
          <p:grpSpPr>
            <a:xfrm>
              <a:off x="571500" y="1809750"/>
              <a:ext cx="5143500" cy="4857750"/>
              <a:chOff x="571500" y="1809750"/>
              <a:chExt cx="5143500" cy="4857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809750"/>
                <a:ext cx="5143500" cy="4857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71500" y="1809750"/>
                <a:ext cx="5143500" cy="7620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48665" y="2029778"/>
                <a:ext cx="12987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$80-150 专业战术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50570" y="2284095"/>
                <a:ext cx="137674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5F5F7"/>
                    </a:solidFill>
                    <a:latin typeface="Inter"/>
                    <a:ea typeface="Microsoft YaHei"/>
                    <a:cs typeface="Inter"/>
                  </a:rPr>
                  <a:t>Vertx, First Tactical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2475" y="2490788"/>
                <a:ext cx="155257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顶级面料、精密版型、细节工艺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2475" y="2681288"/>
                <a:ext cx="166211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目标：专业用户、城市战术爱好者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762000" y="2905125"/>
                <a:ext cx="4762500" cy="3619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  <a:custDash>
                  <a:ds d="400000" sp="200000"/>
                </a:custDash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159960" y="4696778"/>
                <a:ext cx="19665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专业战术产品图 3:4竖版 ]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905500" y="1809750"/>
              <a:ext cx="5143500" cy="4857750"/>
              <a:chOff x="5905500" y="1809750"/>
              <a:chExt cx="5143500" cy="4857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905500" y="1809750"/>
                <a:ext cx="5143500" cy="4857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5905500" y="1809750"/>
                <a:ext cx="5143500" cy="7620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082665" y="2029778"/>
                <a:ext cx="11216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$150+ 顶级军规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084570" y="2284095"/>
                <a:ext cx="202739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5F5F7"/>
                    </a:solidFill>
                    <a:latin typeface="Inter"/>
                    <a:ea typeface="Microsoft YaHei"/>
                    <a:cs typeface="Inter"/>
                  </a:rPr>
                  <a:t>Crye Precision, Arc'teryx LEAF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086475" y="2490788"/>
                <a:ext cx="122396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军事级别耐用性、轻量化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086475" y="2681288"/>
                <a:ext cx="155257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目标：特种部队、高端装备玩家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6096000" y="2905125"/>
                <a:ext cx="4762500" cy="3619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  <a:custDash>
                  <a:ds d="400000" sp="200000"/>
                </a:custDash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493960" y="4696778"/>
                <a:ext cx="19665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顶级军规产品图 3:4竖版 ]</a:t>
                </a:r>
              </a:p>
            </p:txBody>
          </p:sp>
        </p:grpSp>
      </p:grpSp>
      <p:sp>
        <p:nvSpPr>
          <p:cNvPr id="28" name="Rectangle 2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44316"/>
            <a:ext cx="10394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04 · 4.2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45910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五大消费需求演变路径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001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0070" y="902970"/>
            <a:ext cx="36573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从纯功能到功能+时尚——洞察消费升级方向，把握产品创新机遇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571500" y="1238250"/>
            <a:ext cx="11239500" cy="2476500"/>
            <a:chOff x="571500" y="1238250"/>
            <a:chExt cx="11239500" cy="2476500"/>
          </a:xfrm>
        </p:grpSpPr>
        <p:grpSp>
          <p:nvGrpSpPr>
            <p:cNvPr id="20" name="Group 20"/>
            <p:cNvGrpSpPr/>
            <p:nvPr/>
          </p:nvGrpSpPr>
          <p:grpSpPr>
            <a:xfrm>
              <a:off x="571500" y="1238250"/>
              <a:ext cx="2095500" cy="2476500"/>
              <a:chOff x="571500" y="1238250"/>
              <a:chExt cx="2095500" cy="2476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238250"/>
                <a:ext cx="2095500" cy="2476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238250"/>
                <a:ext cx="2095500" cy="57150"/>
              </a:xfrm>
              <a:prstGeom prst="rect">
                <a:avLst/>
              </a:prstGeom>
              <a:solidFill>
                <a:srgbClr val="B5A88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385626" y="1295400"/>
                <a:ext cx="467249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b="1" dirty="0">
                    <a:solidFill>
                      <a:srgbClr val="B5A882">
                        <a:alpha val="30000"/>
                      </a:srgbClr>
                    </a:solidFill>
                    <a:latin typeface="Space Grotesk"/>
                    <a:ea typeface="Microsoft YaHei"/>
                    <a:cs typeface="Space Grotesk"/>
                  </a:rPr>
                  <a:t>01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233071" y="1799749"/>
                <a:ext cx="7723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纯功能导向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45513" y="2014538"/>
                <a:ext cx="74747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Pure Function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857250" y="2238375"/>
                <a:ext cx="152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9525">
                    <a:moveTo>
                      <a:pt x="0" y="0"/>
                    </a:moveTo>
                    <a:lnTo>
                      <a:pt x="1524000" y="0"/>
                    </a:lnTo>
                  </a:path>
                </a:pathLst>
              </a:custGeom>
              <a:noFill/>
              <a:ln w="9525">
                <a:solidFill>
                  <a:srgbClr val="2A2A35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52475" y="2347912"/>
                <a:ext cx="90630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耐用/耐磨/多口袋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2475" y="2538412"/>
                <a:ext cx="89535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价格驱动购买决策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52475" y="2728912"/>
                <a:ext cx="67627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品牌忠诚度低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2475" y="30146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B5A882"/>
                    </a:solidFill>
                    <a:latin typeface="Inter"/>
                    <a:ea typeface="Microsoft YaHei"/>
                    <a:cs typeface="Inter"/>
                  </a:rPr>
                  <a:t>代表品类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52475" y="3205162"/>
                <a:ext cx="106513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基础工装裤/工装衬衫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53428" y="3403759"/>
                <a:ext cx="71216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价格带：$15-35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2857500" y="1238250"/>
              <a:ext cx="2095500" cy="2476500"/>
              <a:chOff x="2857500" y="1238250"/>
              <a:chExt cx="2095500" cy="24765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2857500" y="1238250"/>
                <a:ext cx="2095500" cy="2476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857500" y="1238250"/>
                <a:ext cx="2095500" cy="57150"/>
              </a:xfrm>
              <a:prstGeom prst="rect">
                <a:avLst/>
              </a:prstGeom>
              <a:solidFill>
                <a:srgbClr val="6B7C5E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614118" y="1295400"/>
                <a:ext cx="582263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b="1" dirty="0">
                    <a:solidFill>
                      <a:srgbClr val="6B7C5E">
                        <a:alpha val="30000"/>
                      </a:srgbClr>
                    </a:solidFill>
                    <a:latin typeface="Space Grotesk"/>
                    <a:ea typeface="Microsoft YaHei"/>
                    <a:cs typeface="Space Grotesk"/>
                  </a:rPr>
                  <a:t>02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552712" y="1799749"/>
                <a:ext cx="7050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功能+舒适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383637" y="2014538"/>
                <a:ext cx="104322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Function + Comfort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3143250" y="2238375"/>
                <a:ext cx="152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9525">
                    <a:moveTo>
                      <a:pt x="0" y="0"/>
                    </a:moveTo>
                    <a:lnTo>
                      <a:pt x="1524000" y="0"/>
                    </a:lnTo>
                  </a:path>
                </a:pathLst>
              </a:custGeom>
              <a:noFill/>
              <a:ln w="9525">
                <a:solidFill>
                  <a:srgbClr val="2A2A35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038475" y="2347912"/>
                <a:ext cx="95559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弹力面料/透气设计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038475" y="2538412"/>
                <a:ext cx="78581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全天穿着舒适度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038475" y="2728912"/>
                <a:ext cx="67627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开始关注品牌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038475" y="30146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6B7C5E"/>
                    </a:solidFill>
                    <a:latin typeface="Inter"/>
                    <a:ea typeface="Microsoft YaHei"/>
                    <a:cs typeface="Inter"/>
                  </a:rPr>
                  <a:t>代表品类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038475" y="3205162"/>
                <a:ext cx="106513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弹力工装裤/软壳外套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039428" y="3403759"/>
                <a:ext cx="73680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价格带：$30-55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143500" y="1238250"/>
              <a:ext cx="2095500" cy="2476500"/>
              <a:chOff x="5143500" y="1238250"/>
              <a:chExt cx="2095500" cy="2476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143500" y="1238250"/>
                <a:ext cx="2095500" cy="2476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5143500" y="1238250"/>
                <a:ext cx="20955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900118" y="1295400"/>
                <a:ext cx="582263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b="1" dirty="0">
                    <a:solidFill>
                      <a:srgbClr val="C9A962">
                        <a:alpha val="30000"/>
                      </a:srgbClr>
                    </a:solidFill>
                    <a:latin typeface="Space Grotesk"/>
                    <a:ea typeface="Microsoft YaHei"/>
                    <a:cs typeface="Space Grotesk"/>
                  </a:rPr>
                  <a:t>03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838712" y="1799749"/>
                <a:ext cx="7050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功能+时尚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694283" y="2014538"/>
                <a:ext cx="99393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Function + Fashion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5429250" y="2238375"/>
                <a:ext cx="152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9525">
                    <a:moveTo>
                      <a:pt x="0" y="0"/>
                    </a:moveTo>
                    <a:lnTo>
                      <a:pt x="1524000" y="0"/>
                    </a:lnTo>
                  </a:path>
                </a:pathLst>
              </a:custGeom>
              <a:noFill/>
              <a:ln w="9525">
                <a:solidFill>
                  <a:srgbClr val="2A2A35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324475" y="2347912"/>
                <a:ext cx="106513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巴恩风/复古工装兴起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324475" y="2538412"/>
                <a:ext cx="78581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工装元素日常化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324475" y="2728912"/>
                <a:ext cx="67627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品牌意识增强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324475" y="30146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Inter"/>
                    <a:ea typeface="Microsoft YaHei"/>
                    <a:cs typeface="Inter"/>
                  </a:rPr>
                  <a:t>代表品类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324475" y="3205162"/>
                <a:ext cx="95559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巴恩夹克/工装短裤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325428" y="3403759"/>
                <a:ext cx="73680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价格带：$45-85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7429500" y="1238250"/>
              <a:ext cx="2095500" cy="2476500"/>
              <a:chOff x="7429500" y="1238250"/>
              <a:chExt cx="2095500" cy="24765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7429500" y="1238250"/>
                <a:ext cx="2095500" cy="2476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7429500" y="1238250"/>
                <a:ext cx="2095500" cy="57150"/>
              </a:xfrm>
              <a:prstGeom prst="rect">
                <a:avLst/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186118" y="1295400"/>
                <a:ext cx="582263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b="1" dirty="0">
                    <a:solidFill>
                      <a:srgbClr val="3498DB">
                        <a:alpha val="30000"/>
                      </a:srgbClr>
                    </a:solidFill>
                    <a:latin typeface="Space Grotesk"/>
                    <a:ea typeface="Microsoft YaHei"/>
                    <a:cs typeface="Space Grotesk"/>
                  </a:rPr>
                  <a:t>04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124712" y="1799749"/>
                <a:ext cx="7050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功能+科技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056959" y="2014538"/>
                <a:ext cx="84058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Function + Tech</a:t>
                </a:r>
              </a:p>
            </p:txBody>
          </p:sp>
          <p:sp>
            <p:nvSpPr>
              <p:cNvPr id="52" name="Line 52"/>
              <p:cNvSpPr/>
              <p:nvPr/>
            </p:nvSpPr>
            <p:spPr>
              <a:xfrm>
                <a:off x="7715250" y="2238375"/>
                <a:ext cx="152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9525">
                    <a:moveTo>
                      <a:pt x="0" y="0"/>
                    </a:moveTo>
                    <a:lnTo>
                      <a:pt x="1524000" y="0"/>
                    </a:lnTo>
                  </a:path>
                </a:pathLst>
              </a:custGeom>
              <a:noFill/>
              <a:ln w="9525">
                <a:solidFill>
                  <a:srgbClr val="2A2A35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10475" y="2347912"/>
                <a:ext cx="111442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Cordura/Ripstop面料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610475" y="2538412"/>
                <a:ext cx="90630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防水/防撕裂/抗菌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610475" y="2728912"/>
                <a:ext cx="78581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科技感成为卖点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610475" y="30146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3498DB"/>
                    </a:solidFill>
                    <a:latin typeface="Inter"/>
                    <a:ea typeface="Microsoft YaHei"/>
                    <a:cs typeface="Inter"/>
                  </a:rPr>
                  <a:t>代表品类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610475" y="3205162"/>
                <a:ext cx="106513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机能工装裤/防水外套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611428" y="3403759"/>
                <a:ext cx="76638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价格带：$55-120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9715500" y="1238250"/>
              <a:ext cx="2095500" cy="2476500"/>
              <a:chOff x="9715500" y="1238250"/>
              <a:chExt cx="2095500" cy="24765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9715500" y="1238250"/>
                <a:ext cx="2095500" cy="2476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9715500" y="1238250"/>
                <a:ext cx="2095500" cy="57150"/>
              </a:xfrm>
              <a:prstGeom prst="rect">
                <a:avLst/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10472118" y="1295400"/>
                <a:ext cx="582263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000" b="1" dirty="0">
                    <a:solidFill>
                      <a:srgbClr val="E74C3C">
                        <a:alpha val="30000"/>
                      </a:srgbClr>
                    </a:solidFill>
                    <a:latin typeface="Space Grotesk"/>
                    <a:ea typeface="Microsoft YaHei"/>
                    <a:cs typeface="Space Grotesk"/>
                  </a:rPr>
                  <a:t>05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0335953" y="1799749"/>
                <a:ext cx="85459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功能+可持续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0159484" y="2014538"/>
                <a:ext cx="120753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Function + Sustainable</a:t>
                </a:r>
              </a:p>
            </p:txBody>
          </p:sp>
          <p:sp>
            <p:nvSpPr>
              <p:cNvPr id="65" name="Line 65"/>
              <p:cNvSpPr/>
              <p:nvPr/>
            </p:nvSpPr>
            <p:spPr>
              <a:xfrm>
                <a:off x="10001250" y="2238375"/>
                <a:ext cx="152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9525">
                    <a:moveTo>
                      <a:pt x="0" y="0"/>
                    </a:moveTo>
                    <a:lnTo>
                      <a:pt x="1524000" y="0"/>
                    </a:lnTo>
                  </a:path>
                </a:pathLst>
              </a:custGeom>
              <a:noFill/>
              <a:ln w="9525">
                <a:solidFill>
                  <a:srgbClr val="2A2A35"/>
                </a:solidFill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9896475" y="2347912"/>
                <a:ext cx="84605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再生面料/有机棉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9896475" y="2538412"/>
                <a:ext cx="84605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环保工艺/可追溯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896475" y="2728912"/>
                <a:ext cx="96654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ESG成为品牌加分项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9896475" y="30146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E74C3C"/>
                    </a:solidFill>
                    <a:latin typeface="Inter"/>
                    <a:ea typeface="Microsoft YaHei"/>
                    <a:cs typeface="Inter"/>
                  </a:rPr>
                  <a:t>代表品类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896475" y="3205162"/>
                <a:ext cx="67627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环保工装系列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897428" y="3403759"/>
                <a:ext cx="76638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价格带：$65-150</a:t>
                </a:r>
              </a:p>
            </p:txBody>
          </p:sp>
        </p:grpSp>
      </p:grpSp>
      <p:grpSp>
        <p:nvGrpSpPr>
          <p:cNvPr id="105" name="Group 105"/>
          <p:cNvGrpSpPr/>
          <p:nvPr/>
        </p:nvGrpSpPr>
        <p:grpSpPr>
          <a:xfrm>
            <a:off x="571500" y="4000500"/>
            <a:ext cx="11049000" cy="2476500"/>
            <a:chOff x="571500" y="4000500"/>
            <a:chExt cx="11049000" cy="2476500"/>
          </a:xfrm>
        </p:grpSpPr>
        <p:sp>
          <p:nvSpPr>
            <p:cNvPr id="74" name="Rectangle 74"/>
            <p:cNvSpPr/>
            <p:nvPr/>
          </p:nvSpPr>
          <p:spPr>
            <a:xfrm>
              <a:off x="571500" y="4000500"/>
              <a:ext cx="11049000" cy="24765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571500" y="4000500"/>
              <a:ext cx="1104900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48665" y="4220528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需求演变关键洞察</a:t>
              </a:r>
            </a:p>
          </p:txBody>
        </p:sp>
        <p:grpSp>
          <p:nvGrpSpPr>
            <p:cNvPr id="104" name="Group 104"/>
            <p:cNvGrpSpPr/>
            <p:nvPr/>
          </p:nvGrpSpPr>
          <p:grpSpPr>
            <a:xfrm>
              <a:off x="762000" y="4524375"/>
              <a:ext cx="10858500" cy="1714500"/>
              <a:chOff x="762000" y="4524375"/>
              <a:chExt cx="10858500" cy="1714500"/>
            </a:xfrm>
          </p:grpSpPr>
          <p:grpSp>
            <p:nvGrpSpPr>
              <p:cNvPr id="85" name="Group 85"/>
              <p:cNvGrpSpPr/>
              <p:nvPr/>
            </p:nvGrpSpPr>
            <p:grpSpPr>
              <a:xfrm>
                <a:off x="762000" y="4524375"/>
                <a:ext cx="3429000" cy="1714500"/>
                <a:chOff x="762000" y="4524375"/>
                <a:chExt cx="3429000" cy="1714500"/>
              </a:xfrm>
            </p:grpSpPr>
            <p:sp>
              <p:nvSpPr>
                <p:cNvPr id="77" name="Rectangle 77"/>
                <p:cNvSpPr/>
                <p:nvPr/>
              </p:nvSpPr>
              <p:spPr>
                <a:xfrm>
                  <a:off x="762000" y="4524375"/>
                  <a:ext cx="3429000" cy="171450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894398" y="4673441"/>
                  <a:ext cx="132406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趋势1：工装时尚化加速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895350" y="4919662"/>
                  <a:ext cx="218241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巴恩风（Barn Jacket）2024-2025持续爆发</a:t>
                  </a:r>
                </a:p>
              </p:txBody>
            </p:sp>
            <p:sp>
              <p:nvSpPr>
                <p:cNvPr id="80" name="TextBox 80"/>
                <p:cNvSpPr txBox="1"/>
                <p:nvPr/>
              </p:nvSpPr>
              <p:spPr>
                <a:xfrm>
                  <a:off x="895350" y="5091112"/>
                  <a:ext cx="177165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工装元素从工作场景渗透至日常穿搭</a:t>
                  </a:r>
                </a:p>
              </p:txBody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895350" y="5262562"/>
                  <a:ext cx="150328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Z世代成为工装潮流核心驱动力</a:t>
                  </a:r>
                </a:p>
              </p:txBody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895350" y="553878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产品启示</a:t>
                  </a:r>
                </a:p>
              </p:txBody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895350" y="5729288"/>
                  <a:ext cx="1514237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开发"工装+潮流"双定位产品线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895350" y="5900738"/>
                  <a:ext cx="146494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同一SKU覆盖工作/休闲双场景</a:t>
                  </a:r>
                </a:p>
              </p:txBody>
            </p:sp>
          </p:grpSp>
          <p:grpSp>
            <p:nvGrpSpPr>
              <p:cNvPr id="94" name="Group 94"/>
              <p:cNvGrpSpPr/>
              <p:nvPr/>
            </p:nvGrpSpPr>
            <p:grpSpPr>
              <a:xfrm>
                <a:off x="4476750" y="4524375"/>
                <a:ext cx="3429000" cy="1714500"/>
                <a:chOff x="4476750" y="4524375"/>
                <a:chExt cx="3429000" cy="1714500"/>
              </a:xfrm>
            </p:grpSpPr>
            <p:sp>
              <p:nvSpPr>
                <p:cNvPr id="86" name="Rectangle 86"/>
                <p:cNvSpPr/>
                <p:nvPr/>
              </p:nvSpPr>
              <p:spPr>
                <a:xfrm>
                  <a:off x="4476750" y="4524375"/>
                  <a:ext cx="3429000" cy="171450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4609148" y="4673441"/>
                  <a:ext cx="1735244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趋势2：面料科技成为核心卖点</a:t>
                  </a:r>
                </a:p>
              </p:txBody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4610100" y="4919662"/>
                  <a:ext cx="144303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消费者对面料名称认知度提升</a:t>
                  </a:r>
                </a:p>
              </p:txBody>
            </p:sp>
            <p:sp>
              <p:nvSpPr>
                <p:cNvPr id="89" name="TextBox 89"/>
                <p:cNvSpPr txBox="1"/>
                <p:nvPr/>
              </p:nvSpPr>
              <p:spPr>
                <a:xfrm>
                  <a:off x="4610100" y="5091112"/>
                  <a:ext cx="155257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Cordura/Ripstop成为搜索热词</a:t>
                  </a:r>
                </a:p>
              </p:txBody>
            </p:sp>
            <p:sp>
              <p:nvSpPr>
                <p:cNvPr id="90" name="TextBox 90"/>
                <p:cNvSpPr txBox="1"/>
                <p:nvPr/>
              </p:nvSpPr>
              <p:spPr>
                <a:xfrm>
                  <a:off x="4610100" y="5262562"/>
                  <a:ext cx="13335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功能面料溢价能力持续增强</a:t>
                  </a:r>
                </a:p>
              </p:txBody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4610100" y="553878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产品启示</a:t>
                  </a:r>
                </a:p>
              </p:txBody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4610100" y="5729288"/>
                  <a:ext cx="159091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Listing突出面料科技名称与功能</a:t>
                  </a:r>
                </a:p>
              </p:txBody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4610100" y="5900738"/>
                  <a:ext cx="156352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A+页面增加面料对比与科普内容</a:t>
                  </a:r>
                </a:p>
              </p:txBody>
            </p:sp>
          </p:grpSp>
          <p:grpSp>
            <p:nvGrpSpPr>
              <p:cNvPr id="103" name="Group 103"/>
              <p:cNvGrpSpPr/>
              <p:nvPr/>
            </p:nvGrpSpPr>
            <p:grpSpPr>
              <a:xfrm>
                <a:off x="8191500" y="4524375"/>
                <a:ext cx="3429000" cy="1714500"/>
                <a:chOff x="8191500" y="4524375"/>
                <a:chExt cx="3429000" cy="1714500"/>
              </a:xfrm>
            </p:grpSpPr>
            <p:sp>
              <p:nvSpPr>
                <p:cNvPr id="95" name="Rectangle 95"/>
                <p:cNvSpPr/>
                <p:nvPr/>
              </p:nvSpPr>
              <p:spPr>
                <a:xfrm>
                  <a:off x="8191500" y="4524375"/>
                  <a:ext cx="3429000" cy="171450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96" name="TextBox 96"/>
                <p:cNvSpPr txBox="1"/>
                <p:nvPr/>
              </p:nvSpPr>
              <p:spPr>
                <a:xfrm>
                  <a:off x="8323898" y="4673441"/>
                  <a:ext cx="160872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趋势3：可持续消费意识觉醒</a:t>
                  </a:r>
                </a:p>
              </p:txBody>
            </p:sp>
            <p:sp>
              <p:nvSpPr>
                <p:cNvPr id="97" name="TextBox 97"/>
                <p:cNvSpPr txBox="1"/>
                <p:nvPr/>
              </p:nvSpPr>
              <p:spPr>
                <a:xfrm>
                  <a:off x="8324850" y="4919662"/>
                  <a:ext cx="1514237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欧美消费者ESG关注度持续提升</a:t>
                  </a:r>
                </a:p>
              </p:txBody>
            </p:sp>
            <p:sp>
              <p:nvSpPr>
                <p:cNvPr id="98" name="TextBox 98"/>
                <p:cNvSpPr txBox="1"/>
                <p:nvPr/>
              </p:nvSpPr>
              <p:spPr>
                <a:xfrm>
                  <a:off x="8324850" y="5091112"/>
                  <a:ext cx="12842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再生面料/有机棉需求增长</a:t>
                  </a:r>
                </a:p>
              </p:txBody>
            </p:sp>
            <p:sp>
              <p:nvSpPr>
                <p:cNvPr id="99" name="TextBox 99"/>
                <p:cNvSpPr txBox="1"/>
                <p:nvPr/>
              </p:nvSpPr>
              <p:spPr>
                <a:xfrm>
                  <a:off x="8324850" y="5262562"/>
                  <a:ext cx="13335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环保标签成为差异化加分项</a:t>
                  </a:r>
                </a:p>
              </p:txBody>
            </p:sp>
            <p:sp>
              <p:nvSpPr>
                <p:cNvPr id="100" name="TextBox 100"/>
                <p:cNvSpPr txBox="1"/>
                <p:nvPr/>
              </p:nvSpPr>
              <p:spPr>
                <a:xfrm>
                  <a:off x="8324850" y="553878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产品启示</a:t>
                  </a:r>
                </a:p>
              </p:txBody>
            </p:sp>
            <p:sp>
              <p:nvSpPr>
                <p:cNvPr id="101" name="TextBox 101"/>
                <p:cNvSpPr txBox="1"/>
                <p:nvPr/>
              </p:nvSpPr>
              <p:spPr>
                <a:xfrm>
                  <a:off x="8324850" y="5729288"/>
                  <a:ext cx="122396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逐步引入再生面料产品线</a:t>
                  </a:r>
                </a:p>
              </p:txBody>
            </p:sp>
            <p:sp>
              <p:nvSpPr>
                <p:cNvPr id="102" name="TextBox 102"/>
                <p:cNvSpPr txBox="1"/>
                <p:nvPr/>
              </p:nvSpPr>
              <p:spPr>
                <a:xfrm>
                  <a:off x="8324850" y="5900738"/>
                  <a:ext cx="155257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获取OEKO-TEX/GRS等国际认证</a:t>
                  </a:r>
                </a:p>
              </p:txBody>
            </p:sp>
          </p:grpSp>
        </p:grpSp>
      </p:grpSp>
      <p:sp>
        <p:nvSpPr>
          <p:cNvPr id="106" name="Rectangle 10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81000" y="95250"/>
            <a:ext cx="11430000" cy="6667500"/>
          </a:xfrm>
          <a:prstGeom prst="ellipse">
            <a:avLst/>
          </a:prstGeom>
          <a:gradFill>
            <a:gsLst>
              <a:gs pos="0">
                <a:srgbClr val="C9A962">
                  <a:alpha val="8000"/>
                </a:srgbClr>
              </a:gs>
              <a:gs pos="100000">
                <a:srgbClr val="C9A96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59987" y="2363152"/>
            <a:ext cx="8720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9A962">
                    <a:alpha val="60000"/>
                  </a:srgbClr>
                </a:solidFill>
                <a:latin typeface="Space Grotesk"/>
                <a:ea typeface="Microsoft YaHei"/>
                <a:cs typeface="Space Grotesk"/>
              </a:rPr>
              <a:t>CHAPTER 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94073" y="2754630"/>
            <a:ext cx="340385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品牌竞争格局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3333750"/>
            <a:ext cx="1905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89501" y="3680460"/>
            <a:ext cx="34129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价格带矩阵 / 头部品牌策略 / 生命周期研判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179570" y="4379595"/>
            <a:ext cx="3974878" cy="392430"/>
            <a:chOff x="4179570" y="4379595"/>
            <a:chExt cx="3974878" cy="392430"/>
          </a:xfrm>
        </p:grpSpPr>
        <p:sp>
          <p:nvSpPr>
            <p:cNvPr id="9" name="TextBox 9"/>
            <p:cNvSpPr txBox="1"/>
            <p:nvPr/>
          </p:nvSpPr>
          <p:spPr>
            <a:xfrm>
              <a:off x="4179570" y="4379595"/>
              <a:ext cx="18236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5.1 四档价格带品牌矩阵与定位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79570" y="4589145"/>
              <a:ext cx="14621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5.2 头部品牌差异化策略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60820" y="4379595"/>
              <a:ext cx="1593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5.3 行业生命周期阶段研判</a:t>
              </a:r>
            </a:p>
          </p:txBody>
        </p:sp>
      </p:grpSp>
      <p:sp>
        <p:nvSpPr>
          <p:cNvPr id="13" name="Rectangle 1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91941"/>
            <a:ext cx="6851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550545"/>
            <a:ext cx="3373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未来机遇与入局战略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085374"/>
            <a:ext cx="40119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基于市场数据、产品分析和趋势洞察，为品牌入局提供战略方向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165" y="145827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战略机遇窗口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71500" y="1857375"/>
            <a:ext cx="12202144" cy="4667250"/>
            <a:chOff x="571500" y="1857375"/>
            <a:chExt cx="12202144" cy="4667250"/>
          </a:xfrm>
        </p:grpSpPr>
        <p:grpSp>
          <p:nvGrpSpPr>
            <p:cNvPr id="16" name="Group 16"/>
            <p:cNvGrpSpPr/>
            <p:nvPr/>
          </p:nvGrpSpPr>
          <p:grpSpPr>
            <a:xfrm>
              <a:off x="571500" y="1857375"/>
              <a:ext cx="6158293" cy="4667250"/>
              <a:chOff x="571500" y="1857375"/>
              <a:chExt cx="6158293" cy="46672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857375"/>
                <a:ext cx="3429000" cy="46672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71500" y="1857375"/>
                <a:ext cx="3429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29615" y="20774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城市战术渗透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32472" y="2339816"/>
                <a:ext cx="599732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Gorpcore风潮持续扩张，"看起来像战术装备"比"真的是战术装备"有更广阔的市场。城市战术风格溢价空间大。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742950" y="2571750"/>
                <a:ext cx="3086100" cy="38100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456063" y="4458652"/>
                <a:ext cx="16598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城市战术产品图 3:4 ]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043577" y="4768691"/>
                <a:ext cx="48484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324×400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286250" y="1857375"/>
              <a:ext cx="5037724" cy="4667250"/>
              <a:chOff x="4286250" y="1857375"/>
              <a:chExt cx="5037724" cy="46672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286250" y="1857375"/>
                <a:ext cx="3429000" cy="46672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4286250" y="1857375"/>
                <a:ext cx="3429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444365" y="2077402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可持续升级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47222" y="2339816"/>
                <a:ext cx="487675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40-45%消费者表示环保材料影响购买决策。再生面料、有机棉认证可以成为差异化切入点。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4457700" y="2571750"/>
                <a:ext cx="3086100" cy="38100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5094137" y="4458652"/>
                <a:ext cx="18132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环保可持续产品图 3:4 ]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758327" y="4768691"/>
                <a:ext cx="48484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324×400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8001000" y="1857375"/>
              <a:ext cx="4772644" cy="4667250"/>
              <a:chOff x="8001000" y="1857375"/>
              <a:chExt cx="4772644" cy="46672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8001000" y="1857375"/>
                <a:ext cx="3429000" cy="46672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8001000" y="1857375"/>
                <a:ext cx="3429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159115" y="20774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智能功能融合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61972" y="2339816"/>
                <a:ext cx="461167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抗菌面料、温度调节、智能收纳——科技赋能的面料创新是下一个十年的核心竞争维度。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8172450" y="2571750"/>
                <a:ext cx="3086100" cy="38100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885563" y="4458652"/>
                <a:ext cx="16598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智能功能产品图 3:4 ]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473077" y="4768691"/>
                <a:ext cx="48484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324×400</a:t>
                </a:r>
              </a:p>
            </p:txBody>
          </p:sp>
        </p:grpSp>
      </p:grpSp>
      <p:sp>
        <p:nvSpPr>
          <p:cNvPr id="34" name="Rectangle 3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44316"/>
            <a:ext cx="10077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05 · 5.1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459105"/>
            <a:ext cx="391782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四档价格带品牌矩阵与定位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001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0070" y="902970"/>
            <a:ext cx="31906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从高端到入门——清晰定位竞争格局，找到差异化切入点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571500" y="1190625"/>
            <a:ext cx="11144250" cy="2476500"/>
            <a:chOff x="571500" y="1190625"/>
            <a:chExt cx="11144250" cy="2476500"/>
          </a:xfrm>
        </p:grpSpPr>
        <p:grpSp>
          <p:nvGrpSpPr>
            <p:cNvPr id="25" name="Group 25"/>
            <p:cNvGrpSpPr/>
            <p:nvPr/>
          </p:nvGrpSpPr>
          <p:grpSpPr>
            <a:xfrm>
              <a:off x="571500" y="1190625"/>
              <a:ext cx="2571750" cy="2476500"/>
              <a:chOff x="571500" y="1190625"/>
              <a:chExt cx="2571750" cy="2476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190625"/>
                <a:ext cx="2571750" cy="2476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190625"/>
                <a:ext cx="2571750" cy="57150"/>
              </a:xfrm>
              <a:prstGeom prst="rect">
                <a:avLst/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362795" y="1418749"/>
                <a:ext cx="98916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E74C3C"/>
                    </a:solidFill>
                    <a:latin typeface="Space Grotesk"/>
                    <a:ea typeface="Microsoft YaHei"/>
                    <a:cs typeface="Space Grotesk"/>
                  </a:rPr>
                  <a:t>高端 Heritage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563743" y="1625441"/>
                <a:ext cx="58726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$120-300+</a:t>
                </a:r>
              </a:p>
            </p:txBody>
          </p:sp>
          <p:grpSp>
            <p:nvGrpSpPr>
              <p:cNvPr id="15" name="Group 15"/>
              <p:cNvGrpSpPr/>
              <p:nvPr/>
            </p:nvGrpSpPr>
            <p:grpSpPr>
              <a:xfrm>
                <a:off x="714375" y="1857375"/>
                <a:ext cx="2286000" cy="333375"/>
                <a:chOff x="714375" y="1857375"/>
                <a:chExt cx="2286000" cy="333375"/>
              </a:xfrm>
            </p:grpSpPr>
            <p:sp>
              <p:nvSpPr>
                <p:cNvPr id="12" name="Rectangle 12"/>
                <p:cNvSpPr/>
                <p:nvPr/>
              </p:nvSpPr>
              <p:spPr>
                <a:xfrm>
                  <a:off x="714375" y="1857375"/>
                  <a:ext cx="2286000" cy="333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799148" y="1977866"/>
                  <a:ext cx="818005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F5F5F7"/>
                      </a:solidFill>
                      <a:latin typeface="Space Grotesk"/>
                      <a:ea typeface="Microsoft YaHei"/>
                      <a:cs typeface="Space Grotesk"/>
                    </a:rPr>
                    <a:t>Carhartt WIP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2610802" y="1994059"/>
                  <a:ext cx="312896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潮流线</a:t>
                  </a:r>
                </a:p>
              </p:txBody>
            </p:sp>
          </p:grpSp>
          <p:grpSp>
            <p:nvGrpSpPr>
              <p:cNvPr id="19" name="Group 19"/>
              <p:cNvGrpSpPr/>
              <p:nvPr/>
            </p:nvGrpSpPr>
            <p:grpSpPr>
              <a:xfrm>
                <a:off x="714375" y="2286000"/>
                <a:ext cx="2307907" cy="333375"/>
                <a:chOff x="714375" y="2286000"/>
                <a:chExt cx="2307907" cy="333375"/>
              </a:xfrm>
            </p:grpSpPr>
            <p:sp>
              <p:nvSpPr>
                <p:cNvPr id="16" name="Rectangle 16"/>
                <p:cNvSpPr/>
                <p:nvPr/>
              </p:nvSpPr>
              <p:spPr>
                <a:xfrm>
                  <a:off x="714375" y="2286000"/>
                  <a:ext cx="2286000" cy="333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799148" y="2406491"/>
                  <a:ext cx="375199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F5F5F7"/>
                      </a:solidFill>
                      <a:latin typeface="Space Grotesk"/>
                      <a:ea typeface="Microsoft YaHei"/>
                      <a:cs typeface="Space Grotesk"/>
                    </a:rPr>
                    <a:t>Filson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2610802" y="2422684"/>
                  <a:ext cx="411480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户外工装</a:t>
                  </a:r>
                </a:p>
              </p:txBody>
            </p:sp>
          </p:grpSp>
          <p:grpSp>
            <p:nvGrpSpPr>
              <p:cNvPr id="24" name="Group 24"/>
              <p:cNvGrpSpPr/>
              <p:nvPr/>
            </p:nvGrpSpPr>
            <p:grpSpPr>
              <a:xfrm>
                <a:off x="704850" y="2767012"/>
                <a:ext cx="676275" cy="685800"/>
                <a:chOff x="704850" y="2767012"/>
                <a:chExt cx="676275" cy="685800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704850" y="276701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E74C3C"/>
                      </a:solidFill>
                      <a:latin typeface="Inter"/>
                      <a:ea typeface="Microsoft YaHei"/>
                      <a:cs typeface="Inter"/>
                    </a:rPr>
                    <a:t>定位特征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704850" y="2957512"/>
                  <a:ext cx="67627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百年品牌传承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704850" y="3128962"/>
                  <a:ext cx="67627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面料工艺极致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04850" y="3300412"/>
                  <a:ext cx="67627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文化符号属性</a:t>
                  </a:r>
                </a:p>
              </p:txBody>
            </p:sp>
          </p:grpSp>
        </p:grpSp>
        <p:grpSp>
          <p:nvGrpSpPr>
            <p:cNvPr id="43" name="Group 43"/>
            <p:cNvGrpSpPr/>
            <p:nvPr/>
          </p:nvGrpSpPr>
          <p:grpSpPr>
            <a:xfrm>
              <a:off x="3429000" y="1190625"/>
              <a:ext cx="2571750" cy="2476500"/>
              <a:chOff x="3429000" y="1190625"/>
              <a:chExt cx="2571750" cy="2476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3429000" y="1190625"/>
                <a:ext cx="2571750" cy="2476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3429000" y="1190625"/>
                <a:ext cx="257175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999755" y="1418749"/>
                <a:ext cx="14302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中高端 Professional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487513" y="1625441"/>
                <a:ext cx="4547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$60-120</a:t>
                </a:r>
              </a:p>
            </p:txBody>
          </p:sp>
          <p:grpSp>
            <p:nvGrpSpPr>
              <p:cNvPr id="33" name="Group 33"/>
              <p:cNvGrpSpPr/>
              <p:nvPr/>
            </p:nvGrpSpPr>
            <p:grpSpPr>
              <a:xfrm>
                <a:off x="3571875" y="1857375"/>
                <a:ext cx="2307907" cy="333375"/>
                <a:chOff x="3571875" y="1857375"/>
                <a:chExt cx="2307907" cy="333375"/>
              </a:xfrm>
            </p:grpSpPr>
            <p:sp>
              <p:nvSpPr>
                <p:cNvPr id="30" name="Rectangle 30"/>
                <p:cNvSpPr/>
                <p:nvPr/>
              </p:nvSpPr>
              <p:spPr>
                <a:xfrm>
                  <a:off x="3571875" y="1857375"/>
                  <a:ext cx="2286000" cy="333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3656648" y="1977866"/>
                  <a:ext cx="577625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F5F5F7"/>
                      </a:solidFill>
                      <a:latin typeface="Space Grotesk"/>
                      <a:ea typeface="Microsoft YaHei"/>
                      <a:cs typeface="Space Grotesk"/>
                    </a:rPr>
                    <a:t>Carhartt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5468302" y="1994059"/>
                  <a:ext cx="411480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专业工装</a:t>
                  </a:r>
                </a:p>
              </p:txBody>
            </p:sp>
          </p:grpSp>
          <p:grpSp>
            <p:nvGrpSpPr>
              <p:cNvPr id="37" name="Group 37"/>
              <p:cNvGrpSpPr/>
              <p:nvPr/>
            </p:nvGrpSpPr>
            <p:grpSpPr>
              <a:xfrm>
                <a:off x="3571875" y="2286000"/>
                <a:ext cx="2307907" cy="333375"/>
                <a:chOff x="3571875" y="2286000"/>
                <a:chExt cx="2307907" cy="333375"/>
              </a:xfrm>
            </p:grpSpPr>
            <p:sp>
              <p:nvSpPr>
                <p:cNvPr id="34" name="Rectangle 34"/>
                <p:cNvSpPr/>
                <p:nvPr/>
              </p:nvSpPr>
              <p:spPr>
                <a:xfrm>
                  <a:off x="3571875" y="2286000"/>
                  <a:ext cx="2286000" cy="333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3656648" y="2406491"/>
                  <a:ext cx="444783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F5F5F7"/>
                      </a:solidFill>
                      <a:latin typeface="Space Grotesk"/>
                      <a:ea typeface="Microsoft YaHei"/>
                      <a:cs typeface="Space Grotesk"/>
                    </a:rPr>
                    <a:t>Dickies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5468302" y="2422684"/>
                  <a:ext cx="411480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经典工装</a:t>
                  </a:r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3562350" y="2767012"/>
                <a:ext cx="785812" cy="685800"/>
                <a:chOff x="3562350" y="2767012"/>
                <a:chExt cx="785812" cy="685800"/>
              </a:xfrm>
            </p:grpSpPr>
            <p:sp>
              <p:nvSpPr>
                <p:cNvPr id="38" name="TextBox 38"/>
                <p:cNvSpPr txBox="1"/>
                <p:nvPr/>
              </p:nvSpPr>
              <p:spPr>
                <a:xfrm>
                  <a:off x="3562350" y="276701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定位特征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3562350" y="2957512"/>
                  <a:ext cx="67627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专业工装标杆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3562350" y="3128962"/>
                  <a:ext cx="78581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功能与品牌平衡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3562350" y="3300412"/>
                  <a:ext cx="4572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高复购率</a:t>
                  </a:r>
                </a:p>
              </p:txBody>
            </p:sp>
          </p:grpSp>
        </p:grpSp>
        <p:grpSp>
          <p:nvGrpSpPr>
            <p:cNvPr id="61" name="Group 61"/>
            <p:cNvGrpSpPr/>
            <p:nvPr/>
          </p:nvGrpSpPr>
          <p:grpSpPr>
            <a:xfrm>
              <a:off x="6286500" y="1190625"/>
              <a:ext cx="2571750" cy="2476500"/>
              <a:chOff x="6286500" y="1190625"/>
              <a:chExt cx="2571750" cy="24765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6286500" y="1190625"/>
                <a:ext cx="2571750" cy="2476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6286500" y="1190625"/>
                <a:ext cx="2571750" cy="57150"/>
              </a:xfrm>
              <a:prstGeom prst="rect">
                <a:avLst/>
              </a:prstGeom>
              <a:solidFill>
                <a:srgbClr val="6B7C5E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201148" y="1418749"/>
                <a:ext cx="7424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6B7C5E"/>
                    </a:solidFill>
                    <a:latin typeface="Space Grotesk"/>
                    <a:ea typeface="Microsoft YaHei"/>
                    <a:cs typeface="Space Grotesk"/>
                  </a:rPr>
                  <a:t>中端 Value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363087" y="1625441"/>
                <a:ext cx="41857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$30-60</a:t>
                </a:r>
              </a:p>
            </p:txBody>
          </p:sp>
          <p:grpSp>
            <p:nvGrpSpPr>
              <p:cNvPr id="51" name="Group 51"/>
              <p:cNvGrpSpPr/>
              <p:nvPr/>
            </p:nvGrpSpPr>
            <p:grpSpPr>
              <a:xfrm>
                <a:off x="6429375" y="1857375"/>
                <a:ext cx="2307907" cy="333375"/>
                <a:chOff x="6429375" y="1857375"/>
                <a:chExt cx="2307907" cy="333375"/>
              </a:xfrm>
            </p:grpSpPr>
            <p:sp>
              <p:nvSpPr>
                <p:cNvPr id="48" name="Rectangle 48"/>
                <p:cNvSpPr/>
                <p:nvPr/>
              </p:nvSpPr>
              <p:spPr>
                <a:xfrm>
                  <a:off x="6429375" y="1857375"/>
                  <a:ext cx="2286000" cy="333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6514148" y="1977866"/>
                  <a:ext cx="571299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F5F5F7"/>
                      </a:solidFill>
                      <a:latin typeface="Space Grotesk"/>
                      <a:ea typeface="Microsoft YaHei"/>
                      <a:cs typeface="Space Grotesk"/>
                    </a:rPr>
                    <a:t>Wrangler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8325802" y="1994059"/>
                  <a:ext cx="411480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西部工装</a:t>
                  </a:r>
                </a:p>
              </p:txBody>
            </p:sp>
          </p:grpSp>
          <p:grpSp>
            <p:nvGrpSpPr>
              <p:cNvPr id="55" name="Group 55"/>
              <p:cNvGrpSpPr/>
              <p:nvPr/>
            </p:nvGrpSpPr>
            <p:grpSpPr>
              <a:xfrm>
                <a:off x="6429375" y="2286000"/>
                <a:ext cx="2307907" cy="333375"/>
                <a:chOff x="6429375" y="2286000"/>
                <a:chExt cx="2307907" cy="333375"/>
              </a:xfrm>
            </p:grpSpPr>
            <p:sp>
              <p:nvSpPr>
                <p:cNvPr id="52" name="Rectangle 52"/>
                <p:cNvSpPr/>
                <p:nvPr/>
              </p:nvSpPr>
              <p:spPr>
                <a:xfrm>
                  <a:off x="6429375" y="2286000"/>
                  <a:ext cx="2286000" cy="333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6514148" y="2406491"/>
                  <a:ext cx="514367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F5F5F7"/>
                      </a:solidFill>
                      <a:latin typeface="Space Grotesk"/>
                      <a:ea typeface="Microsoft YaHei"/>
                      <a:cs typeface="Space Grotesk"/>
                    </a:rPr>
                    <a:t>Pro Club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8325802" y="2422684"/>
                  <a:ext cx="411480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基础工装</a:t>
                  </a:r>
                </a:p>
              </p:txBody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6419850" y="2767012"/>
                <a:ext cx="895350" cy="685800"/>
                <a:chOff x="6419850" y="2767012"/>
                <a:chExt cx="895350" cy="685800"/>
              </a:xfrm>
            </p:grpSpPr>
            <p:sp>
              <p:nvSpPr>
                <p:cNvPr id="56" name="TextBox 56"/>
                <p:cNvSpPr txBox="1"/>
                <p:nvPr/>
              </p:nvSpPr>
              <p:spPr>
                <a:xfrm>
                  <a:off x="6419850" y="276701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6B7C5E"/>
                      </a:solidFill>
                      <a:latin typeface="Inter"/>
                      <a:ea typeface="Microsoft YaHei"/>
                      <a:cs typeface="Inter"/>
                    </a:rPr>
                    <a:t>定位特征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6419850" y="2957512"/>
                  <a:ext cx="566737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性价比优先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6419850" y="3128962"/>
                  <a:ext cx="89535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功能满足基本需求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6419850" y="3300412"/>
                  <a:ext cx="4572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量大面广</a:t>
                  </a:r>
                </a:p>
              </p:txBody>
            </p:sp>
          </p:grpSp>
        </p:grpSp>
        <p:grpSp>
          <p:nvGrpSpPr>
            <p:cNvPr id="79" name="Group 79"/>
            <p:cNvGrpSpPr/>
            <p:nvPr/>
          </p:nvGrpSpPr>
          <p:grpSpPr>
            <a:xfrm>
              <a:off x="9144000" y="1190625"/>
              <a:ext cx="2571750" cy="2476500"/>
              <a:chOff x="9144000" y="1190625"/>
              <a:chExt cx="2571750" cy="247650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9144000" y="1190625"/>
                <a:ext cx="2571750" cy="247650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9144000" y="1190625"/>
                <a:ext cx="2571750" cy="57150"/>
              </a:xfrm>
              <a:prstGeom prst="rect">
                <a:avLst/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9998840" y="1418749"/>
                <a:ext cx="86207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3498DB"/>
                    </a:solidFill>
                    <a:latin typeface="Space Grotesk"/>
                    <a:ea typeface="Microsoft YaHei"/>
                    <a:cs typeface="Space Grotesk"/>
                  </a:rPr>
                  <a:t>入门 Budget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235648" y="1625441"/>
                <a:ext cx="38845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$15-30</a:t>
                </a:r>
              </a:p>
            </p:txBody>
          </p:sp>
          <p:grpSp>
            <p:nvGrpSpPr>
              <p:cNvPr id="69" name="Group 69"/>
              <p:cNvGrpSpPr/>
              <p:nvPr/>
            </p:nvGrpSpPr>
            <p:grpSpPr>
              <a:xfrm>
                <a:off x="9286875" y="1857375"/>
                <a:ext cx="2286000" cy="333375"/>
                <a:chOff x="9286875" y="1857375"/>
                <a:chExt cx="2286000" cy="333375"/>
              </a:xfrm>
            </p:grpSpPr>
            <p:sp>
              <p:nvSpPr>
                <p:cNvPr id="66" name="Rectangle 66"/>
                <p:cNvSpPr/>
                <p:nvPr/>
              </p:nvSpPr>
              <p:spPr>
                <a:xfrm>
                  <a:off x="9286875" y="1857375"/>
                  <a:ext cx="2286000" cy="333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9371648" y="1977866"/>
                  <a:ext cx="780050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F5F5F7"/>
                      </a:solidFill>
                      <a:latin typeface="Space Grotesk"/>
                      <a:ea typeface="Microsoft YaHei"/>
                      <a:cs typeface="Space Grotesk"/>
                    </a:rPr>
                    <a:t>中国白牌卖家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11183302" y="1994059"/>
                  <a:ext cx="214312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白牌</a:t>
                  </a:r>
                </a:p>
              </p:txBody>
            </p:sp>
          </p:grpSp>
          <p:grpSp>
            <p:nvGrpSpPr>
              <p:cNvPr id="73" name="Group 73"/>
              <p:cNvGrpSpPr/>
              <p:nvPr/>
            </p:nvGrpSpPr>
            <p:grpSpPr>
              <a:xfrm>
                <a:off x="9286875" y="2286000"/>
                <a:ext cx="2307907" cy="333375"/>
                <a:chOff x="9286875" y="2286000"/>
                <a:chExt cx="2307907" cy="333375"/>
              </a:xfrm>
            </p:grpSpPr>
            <p:sp>
              <p:nvSpPr>
                <p:cNvPr id="70" name="Rectangle 70"/>
                <p:cNvSpPr/>
                <p:nvPr/>
              </p:nvSpPr>
              <p:spPr>
                <a:xfrm>
                  <a:off x="9286875" y="2286000"/>
                  <a:ext cx="2286000" cy="333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9371648" y="2406491"/>
                  <a:ext cx="88758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F5F5F7"/>
                      </a:solidFill>
                      <a:latin typeface="Space Grotesk"/>
                      <a:ea typeface="Microsoft YaHei"/>
                      <a:cs typeface="Space Grotesk"/>
                    </a:rPr>
                    <a:t>Amazon Basics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11183302" y="2422684"/>
                  <a:ext cx="411480" cy="137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675" dirty="0">
                      <a:solidFill>
                        <a:srgbClr val="6E6E73"/>
                      </a:solidFill>
                      <a:latin typeface="Inter"/>
                      <a:ea typeface="Microsoft YaHei"/>
                      <a:cs typeface="Inter"/>
                    </a:rPr>
                    <a:t>平台自营</a:t>
                  </a:r>
                </a:p>
              </p:txBody>
            </p:sp>
          </p:grpSp>
          <p:grpSp>
            <p:nvGrpSpPr>
              <p:cNvPr id="78" name="Group 78"/>
              <p:cNvGrpSpPr/>
              <p:nvPr/>
            </p:nvGrpSpPr>
            <p:grpSpPr>
              <a:xfrm>
                <a:off x="9277350" y="2767012"/>
                <a:ext cx="479108" cy="685800"/>
                <a:chOff x="9277350" y="2767012"/>
                <a:chExt cx="479108" cy="685800"/>
              </a:xfrm>
            </p:grpSpPr>
            <p:sp>
              <p:nvSpPr>
                <p:cNvPr id="74" name="TextBox 74"/>
                <p:cNvSpPr txBox="1"/>
                <p:nvPr/>
              </p:nvSpPr>
              <p:spPr>
                <a:xfrm>
                  <a:off x="9277350" y="276701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3498DB"/>
                      </a:solidFill>
                      <a:latin typeface="Inter"/>
                      <a:ea typeface="Microsoft YaHei"/>
                      <a:cs typeface="Inter"/>
                    </a:rPr>
                    <a:t>定位特征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9277350" y="2957512"/>
                  <a:ext cx="4572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极致低价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9277350" y="3128962"/>
                  <a:ext cx="4572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功能基础</a:t>
                  </a: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9277350" y="3300412"/>
                  <a:ext cx="4572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品牌力弱</a:t>
                  </a:r>
                </a:p>
              </p:txBody>
            </p:sp>
          </p:grpSp>
        </p:grpSp>
      </p:grpSp>
      <p:grpSp>
        <p:nvGrpSpPr>
          <p:cNvPr id="117" name="Group 117"/>
          <p:cNvGrpSpPr/>
          <p:nvPr/>
        </p:nvGrpSpPr>
        <p:grpSpPr>
          <a:xfrm>
            <a:off x="571500" y="3952875"/>
            <a:ext cx="11049000" cy="2571750"/>
            <a:chOff x="571500" y="3952875"/>
            <a:chExt cx="11049000" cy="2571750"/>
          </a:xfrm>
        </p:grpSpPr>
        <p:sp>
          <p:nvSpPr>
            <p:cNvPr id="81" name="Rectangle 81"/>
            <p:cNvSpPr/>
            <p:nvPr/>
          </p:nvSpPr>
          <p:spPr>
            <a:xfrm>
              <a:off x="571500" y="3952875"/>
              <a:ext cx="11049000" cy="25717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571500" y="3952875"/>
              <a:ext cx="1104900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48665" y="4172902"/>
              <a:ext cx="1950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5.3 行业生命周期阶段研判</a:t>
              </a:r>
            </a:p>
          </p:txBody>
        </p:sp>
        <p:grpSp>
          <p:nvGrpSpPr>
            <p:cNvPr id="87" name="Group 87"/>
            <p:cNvGrpSpPr/>
            <p:nvPr/>
          </p:nvGrpSpPr>
          <p:grpSpPr>
            <a:xfrm>
              <a:off x="762000" y="4476750"/>
              <a:ext cx="10668000" cy="571500"/>
              <a:chOff x="762000" y="4476750"/>
              <a:chExt cx="10668000" cy="571500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762000" y="4476750"/>
                <a:ext cx="10668000" cy="571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894398" y="4578191"/>
                <a:ext cx="231721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当前阶段判断：成长期后期 → 成熟期前期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895350" y="4795838"/>
                <a:ext cx="604361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男休闲工装品类在亚马逊美国站已过爆发期，但巴恩风潮流带来结构性增长机会，整体市场仍在扩容，尚未进入存量竞争阶段</a:t>
                </a:r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762000" y="5191125"/>
              <a:ext cx="10620375" cy="1095375"/>
              <a:chOff x="762000" y="5191125"/>
              <a:chExt cx="10620375" cy="1095375"/>
            </a:xfrm>
          </p:grpSpPr>
          <p:grpSp>
            <p:nvGrpSpPr>
              <p:cNvPr id="94" name="Group 94"/>
              <p:cNvGrpSpPr/>
              <p:nvPr/>
            </p:nvGrpSpPr>
            <p:grpSpPr>
              <a:xfrm>
                <a:off x="762000" y="5191125"/>
                <a:ext cx="2476500" cy="1095375"/>
                <a:chOff x="762000" y="5191125"/>
                <a:chExt cx="2476500" cy="1095375"/>
              </a:xfrm>
            </p:grpSpPr>
            <p:sp>
              <p:nvSpPr>
                <p:cNvPr id="88" name="Rectangle 88"/>
                <p:cNvSpPr/>
                <p:nvPr/>
              </p:nvSpPr>
              <p:spPr>
                <a:xfrm>
                  <a:off x="762000" y="5191125"/>
                  <a:ext cx="2476500" cy="1095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89" name="TextBox 89"/>
                <p:cNvSpPr txBox="1"/>
                <p:nvPr/>
              </p:nvSpPr>
              <p:spPr>
                <a:xfrm>
                  <a:off x="895350" y="5319712"/>
                  <a:ext cx="116919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成长期特征（已验证）</a:t>
                  </a:r>
                </a:p>
              </p:txBody>
            </p:sp>
            <p:sp>
              <p:nvSpPr>
                <p:cNvPr id="90" name="TextBox 90"/>
                <p:cNvSpPr txBox="1"/>
                <p:nvPr/>
              </p:nvSpPr>
              <p:spPr>
                <a:xfrm>
                  <a:off x="895350" y="5529262"/>
                  <a:ext cx="89535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市场规模持续扩大</a:t>
                  </a:r>
                </a:p>
              </p:txBody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895350" y="5700712"/>
                  <a:ext cx="78581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新品牌持续涌入</a:t>
                  </a:r>
                </a:p>
              </p:txBody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895350" y="5872162"/>
                  <a:ext cx="89535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产品差异化空间大</a:t>
                  </a:r>
                </a:p>
              </p:txBody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895350" y="6043612"/>
                  <a:ext cx="78581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利润率相对较高</a:t>
                  </a:r>
                </a:p>
              </p:txBody>
            </p:sp>
          </p:grpSp>
          <p:grpSp>
            <p:nvGrpSpPr>
              <p:cNvPr id="101" name="Group 101"/>
              <p:cNvGrpSpPr/>
              <p:nvPr/>
            </p:nvGrpSpPr>
            <p:grpSpPr>
              <a:xfrm>
                <a:off x="3476625" y="5191125"/>
                <a:ext cx="2476500" cy="1095375"/>
                <a:chOff x="3476625" y="5191125"/>
                <a:chExt cx="2476500" cy="1095375"/>
              </a:xfrm>
            </p:grpSpPr>
            <p:sp>
              <p:nvSpPr>
                <p:cNvPr id="95" name="Rectangle 95"/>
                <p:cNvSpPr/>
                <p:nvPr/>
              </p:nvSpPr>
              <p:spPr>
                <a:xfrm>
                  <a:off x="3476625" y="5191125"/>
                  <a:ext cx="2476500" cy="1095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96" name="TextBox 96"/>
                <p:cNvSpPr txBox="1"/>
                <p:nvPr/>
              </p:nvSpPr>
              <p:spPr>
                <a:xfrm>
                  <a:off x="3609975" y="5319712"/>
                  <a:ext cx="105417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成熟期信号（初现）</a:t>
                  </a:r>
                </a:p>
              </p:txBody>
            </p:sp>
            <p:sp>
              <p:nvSpPr>
                <p:cNvPr id="97" name="TextBox 97"/>
                <p:cNvSpPr txBox="1"/>
                <p:nvPr/>
              </p:nvSpPr>
              <p:spPr>
                <a:xfrm>
                  <a:off x="3609975" y="5529262"/>
                  <a:ext cx="89535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头部品牌份额集中</a:t>
                  </a:r>
                </a:p>
              </p:txBody>
            </p:sp>
            <p:sp>
              <p:nvSpPr>
                <p:cNvPr id="98" name="TextBox 98"/>
                <p:cNvSpPr txBox="1"/>
                <p:nvPr/>
              </p:nvSpPr>
              <p:spPr>
                <a:xfrm>
                  <a:off x="3609975" y="5700712"/>
                  <a:ext cx="67627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价格竞争加剧</a:t>
                  </a:r>
                </a:p>
              </p:txBody>
            </p:sp>
            <p:sp>
              <p:nvSpPr>
                <p:cNvPr id="99" name="TextBox 99"/>
                <p:cNvSpPr txBox="1"/>
                <p:nvPr/>
              </p:nvSpPr>
              <p:spPr>
                <a:xfrm>
                  <a:off x="3609975" y="5872162"/>
                  <a:ext cx="93368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Listing同质化严重</a:t>
                  </a:r>
                </a:p>
              </p:txBody>
            </p:sp>
            <p:sp>
              <p:nvSpPr>
                <p:cNvPr id="100" name="TextBox 100"/>
                <p:cNvSpPr txBox="1"/>
                <p:nvPr/>
              </p:nvSpPr>
              <p:spPr>
                <a:xfrm>
                  <a:off x="3609975" y="6043612"/>
                  <a:ext cx="67627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获客成本上升</a:t>
                  </a:r>
                </a:p>
              </p:txBody>
            </p:sp>
          </p:grpSp>
          <p:grpSp>
            <p:nvGrpSpPr>
              <p:cNvPr id="108" name="Group 108"/>
              <p:cNvGrpSpPr/>
              <p:nvPr/>
            </p:nvGrpSpPr>
            <p:grpSpPr>
              <a:xfrm>
                <a:off x="6191250" y="5191125"/>
                <a:ext cx="2476500" cy="1095375"/>
                <a:chOff x="6191250" y="5191125"/>
                <a:chExt cx="2476500" cy="1095375"/>
              </a:xfrm>
            </p:grpSpPr>
            <p:sp>
              <p:nvSpPr>
                <p:cNvPr id="102" name="Rectangle 102"/>
                <p:cNvSpPr/>
                <p:nvPr/>
              </p:nvSpPr>
              <p:spPr>
                <a:xfrm>
                  <a:off x="6191250" y="5191125"/>
                  <a:ext cx="2476500" cy="1095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103" name="TextBox 103"/>
                <p:cNvSpPr txBox="1"/>
                <p:nvPr/>
              </p:nvSpPr>
              <p:spPr>
                <a:xfrm>
                  <a:off x="6324600" y="5319712"/>
                  <a:ext cx="59412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结构性机会</a:t>
                  </a:r>
                </a:p>
              </p:txBody>
            </p:sp>
            <p:sp>
              <p:nvSpPr>
                <p:cNvPr id="104" name="TextBox 104"/>
                <p:cNvSpPr txBox="1"/>
                <p:nvPr/>
              </p:nvSpPr>
              <p:spPr>
                <a:xfrm>
                  <a:off x="6324600" y="5529262"/>
                  <a:ext cx="122396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巴恩风细分赛道仍在增长</a:t>
                  </a:r>
                </a:p>
              </p:txBody>
            </p:sp>
            <p:sp>
              <p:nvSpPr>
                <p:cNvPr id="105" name="TextBox 105"/>
                <p:cNvSpPr txBox="1"/>
                <p:nvPr/>
              </p:nvSpPr>
              <p:spPr>
                <a:xfrm>
                  <a:off x="6324600" y="5700712"/>
                  <a:ext cx="13335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面料科技升级带来溢价空间</a:t>
                  </a:r>
                </a:p>
              </p:txBody>
            </p:sp>
            <p:sp>
              <p:nvSpPr>
                <p:cNvPr id="106" name="TextBox 106"/>
                <p:cNvSpPr txBox="1"/>
                <p:nvPr/>
              </p:nvSpPr>
              <p:spPr>
                <a:xfrm>
                  <a:off x="6324600" y="5872162"/>
                  <a:ext cx="90630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A+内容差异化机会</a:t>
                  </a:r>
                </a:p>
              </p:txBody>
            </p:sp>
            <p:sp>
              <p:nvSpPr>
                <p:cNvPr id="107" name="TextBox 107"/>
                <p:cNvSpPr txBox="1"/>
                <p:nvPr/>
              </p:nvSpPr>
              <p:spPr>
                <a:xfrm>
                  <a:off x="6324600" y="6043612"/>
                  <a:ext cx="111442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环保可持续成为新赛道</a:t>
                  </a:r>
                </a:p>
              </p:txBody>
            </p:sp>
          </p:grpSp>
          <p:grpSp>
            <p:nvGrpSpPr>
              <p:cNvPr id="115" name="Group 115"/>
              <p:cNvGrpSpPr/>
              <p:nvPr/>
            </p:nvGrpSpPr>
            <p:grpSpPr>
              <a:xfrm>
                <a:off x="8905875" y="5191125"/>
                <a:ext cx="2476500" cy="1095375"/>
                <a:chOff x="8905875" y="5191125"/>
                <a:chExt cx="2476500" cy="1095375"/>
              </a:xfrm>
            </p:grpSpPr>
            <p:sp>
              <p:nvSpPr>
                <p:cNvPr id="109" name="Rectangle 109"/>
                <p:cNvSpPr/>
                <p:nvPr/>
              </p:nvSpPr>
              <p:spPr>
                <a:xfrm>
                  <a:off x="8905875" y="5191125"/>
                  <a:ext cx="2476500" cy="1095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110" name="TextBox 110"/>
                <p:cNvSpPr txBox="1"/>
                <p:nvPr/>
              </p:nvSpPr>
              <p:spPr>
                <a:xfrm>
                  <a:off x="9039225" y="5319712"/>
                  <a:ext cx="70913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入局窗口判断</a:t>
                  </a:r>
                </a:p>
              </p:txBody>
            </p:sp>
            <p:sp>
              <p:nvSpPr>
                <p:cNvPr id="111" name="TextBox 111"/>
                <p:cNvSpPr txBox="1"/>
                <p:nvPr/>
              </p:nvSpPr>
              <p:spPr>
                <a:xfrm>
                  <a:off x="9039225" y="5529262"/>
                  <a:ext cx="99941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窗口期：2025-2026</a:t>
                  </a:r>
                </a:p>
              </p:txBody>
            </p:sp>
            <p:sp>
              <p:nvSpPr>
                <p:cNvPr id="112" name="TextBox 112"/>
                <p:cNvSpPr txBox="1"/>
                <p:nvPr/>
              </p:nvSpPr>
              <p:spPr>
                <a:xfrm>
                  <a:off x="9039225" y="5700712"/>
                  <a:ext cx="114728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最佳切入：中端$35-65</a:t>
                  </a:r>
                </a:p>
              </p:txBody>
            </p:sp>
            <p:sp>
              <p:nvSpPr>
                <p:cNvPr id="113" name="TextBox 113"/>
                <p:cNvSpPr txBox="1"/>
                <p:nvPr/>
              </p:nvSpPr>
              <p:spPr>
                <a:xfrm>
                  <a:off x="9039225" y="5872162"/>
                  <a:ext cx="117467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差异化：面料科技+视觉</a:t>
                  </a:r>
                </a:p>
              </p:txBody>
            </p:sp>
            <p:sp>
              <p:nvSpPr>
                <p:cNvPr id="114" name="TextBox 114"/>
                <p:cNvSpPr txBox="1"/>
                <p:nvPr/>
              </p:nvSpPr>
              <p:spPr>
                <a:xfrm>
                  <a:off x="9039225" y="6043612"/>
                  <a:ext cx="95559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壁垒：品牌+供应链</a:t>
                  </a:r>
                </a:p>
              </p:txBody>
            </p:sp>
          </p:grpSp>
        </p:grpSp>
      </p:grpSp>
      <p:sp>
        <p:nvSpPr>
          <p:cNvPr id="118" name="Rectangle 11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91941"/>
            <a:ext cx="6851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550545"/>
            <a:ext cx="337337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未来机遇与入局战略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085374"/>
            <a:ext cx="25879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为品牌入局或升级提供可执行的战略方向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165" y="145827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市场进入建议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71500" y="1905000"/>
            <a:ext cx="5143500" cy="4762500"/>
            <a:chOff x="571500" y="1905000"/>
            <a:chExt cx="5143500" cy="4762500"/>
          </a:xfrm>
        </p:grpSpPr>
        <p:sp>
          <p:nvSpPr>
            <p:cNvPr id="9" name="Rectangle 9"/>
            <p:cNvSpPr/>
            <p:nvPr/>
          </p:nvSpPr>
          <p:spPr>
            <a:xfrm>
              <a:off x="571500" y="1905000"/>
              <a:ext cx="5143500" cy="47625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1905000"/>
              <a:ext cx="57150" cy="476250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0570" y="2093595"/>
              <a:ext cx="8716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1. 从中端切入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522" y="2339816"/>
              <a:ext cx="30693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5F5F7"/>
                  </a:solidFill>
                  <a:latin typeface="Inter"/>
                  <a:ea typeface="Microsoft YaHei"/>
                  <a:cs typeface="Inter"/>
                </a:rPr>
                <a:t>$45-75价格带是最佳起点，有足够利润空间进行品牌建设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569845"/>
              <a:ext cx="14582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2. 城市战术是最大增量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522" y="2816066"/>
              <a:ext cx="35935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5F5F7"/>
                  </a:solidFill>
                  <a:latin typeface="Inter"/>
                  <a:ea typeface="Microsoft YaHei"/>
                  <a:cs typeface="Inter"/>
                </a:rPr>
                <a:t>45%的城市战术需求增长表明军旅风格已从专业领域渗透到日常消费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0570" y="3046095"/>
              <a:ext cx="1651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3. Gorpcore是结构性转变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522" y="3292316"/>
              <a:ext cx="27741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5F5F7"/>
                  </a:solidFill>
                  <a:latin typeface="Inter"/>
                  <a:ea typeface="Microsoft YaHei"/>
                  <a:cs typeface="Inter"/>
                </a:rPr>
                <a:t>Arc'teryx 20亿美元+、Salomon 10亿美元鞋类销售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571875"/>
              <a:ext cx="4762500" cy="2952750"/>
            </a:xfrm>
            <a:prstGeom prst="rect">
              <a:avLst/>
            </a:prstGeom>
            <a:solidFill>
              <a:srgbClr val="252530"/>
            </a:solidFill>
            <a:ln w="9525">
              <a:solidFill>
                <a:srgbClr val="3A3A45"/>
              </a:solidFill>
              <a:custDash>
                <a:ds d="400000" sp="200000"/>
              </a:custDash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052614" y="5030152"/>
              <a:ext cx="21812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[ Gorpcore风格示意 3:4竖版 ]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0" y="1905000"/>
            <a:ext cx="5143500" cy="4762500"/>
            <a:chOff x="5905500" y="1905000"/>
            <a:chExt cx="5143500" cy="4762500"/>
          </a:xfrm>
        </p:grpSpPr>
        <p:sp>
          <p:nvSpPr>
            <p:cNvPr id="20" name="Rectangle 20"/>
            <p:cNvSpPr/>
            <p:nvPr/>
          </p:nvSpPr>
          <p:spPr>
            <a:xfrm>
              <a:off x="5905500" y="1905000"/>
              <a:ext cx="5143500" cy="47625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905500" y="1905000"/>
              <a:ext cx="57150" cy="476250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84570" y="2093595"/>
              <a:ext cx="13202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4. 亚马逊是核心战场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85522" y="2339816"/>
              <a:ext cx="24789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5F5F7"/>
                  </a:solidFill>
                  <a:latin typeface="Inter"/>
                  <a:ea typeface="Microsoft YaHei"/>
                  <a:cs typeface="Inter"/>
                </a:rPr>
                <a:t>线上销售占比超50%，A+内容可提升20%销售额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84570" y="2569845"/>
              <a:ext cx="14582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5. 功能与时尚融合加速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85522" y="2816066"/>
              <a:ext cx="17078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5F5F7"/>
                  </a:solidFill>
                  <a:latin typeface="Inter"/>
                  <a:ea typeface="Microsoft YaHei"/>
                  <a:cs typeface="Inter"/>
                </a:rPr>
                <a:t>技术面料不再仅服务于专业场景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84570" y="3046095"/>
              <a:ext cx="13202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6. 可持续性是必选项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85522" y="3292316"/>
              <a:ext cx="12620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5F5F7"/>
                  </a:solidFill>
                  <a:latin typeface="Inter"/>
                  <a:ea typeface="Microsoft YaHei"/>
                  <a:cs typeface="Inter"/>
                </a:rPr>
                <a:t>40-45%消费者环保偏好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0" y="3571875"/>
              <a:ext cx="4762500" cy="2952750"/>
            </a:xfrm>
            <a:prstGeom prst="rect">
              <a:avLst/>
            </a:prstGeom>
            <a:solidFill>
              <a:srgbClr val="252530"/>
            </a:solidFill>
            <a:ln w="9525">
              <a:solidFill>
                <a:srgbClr val="3A3A45"/>
              </a:solidFill>
              <a:custDash>
                <a:ds d="400000" sp="200000"/>
              </a:custDash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70637" y="5030152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[ 环保产品展示 3:4竖版 ]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44316"/>
            <a:ext cx="10394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05 · 5.2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45910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头部品牌差异化策略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001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0070" y="902970"/>
            <a:ext cx="29146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拆解头部品牌竞争壁垒，找到可复制的差异化路径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71500" y="1190625"/>
            <a:ext cx="5334000" cy="2605087"/>
            <a:chOff x="571500" y="1190625"/>
            <a:chExt cx="5334000" cy="2605087"/>
          </a:xfrm>
        </p:grpSpPr>
        <p:sp>
          <p:nvSpPr>
            <p:cNvPr id="8" name="Rectangle 8"/>
            <p:cNvSpPr/>
            <p:nvPr/>
          </p:nvSpPr>
          <p:spPr>
            <a:xfrm>
              <a:off x="571500" y="1190625"/>
              <a:ext cx="5334000" cy="25717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190625"/>
              <a:ext cx="533400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7712" y="1402556"/>
              <a:ext cx="23662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Carhartt — 工装品类绝对王者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752475" y="1766888"/>
              <a:ext cx="2116693" cy="2028824"/>
              <a:chOff x="752475" y="1766888"/>
              <a:chExt cx="2116693" cy="2028824"/>
            </a:xfrm>
          </p:grpSpPr>
          <p:grpSp>
            <p:nvGrpSpPr>
              <p:cNvPr id="15" name="Group 15"/>
              <p:cNvGrpSpPr/>
              <p:nvPr/>
            </p:nvGrpSpPr>
            <p:grpSpPr>
              <a:xfrm>
                <a:off x="752475" y="1766888"/>
                <a:ext cx="1990725" cy="704850"/>
                <a:chOff x="752475" y="1766888"/>
                <a:chExt cx="1990725" cy="704850"/>
              </a:xfrm>
            </p:grpSpPr>
            <p:sp>
              <p:nvSpPr>
                <p:cNvPr id="11" name="TextBox 11"/>
                <p:cNvSpPr txBox="1"/>
                <p:nvPr/>
              </p:nvSpPr>
              <p:spPr>
                <a:xfrm>
                  <a:off x="752475" y="176688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核心壁垒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752475" y="1976438"/>
                  <a:ext cx="150328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130年品牌历史 · 美国制造标签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752475" y="2147888"/>
                  <a:ext cx="199072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Duck Canvas/Storm Defender面料专利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52475" y="2319338"/>
                  <a:ext cx="156900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蓝领文化符号 · 跨代际品牌认知</a:t>
                  </a:r>
                </a:p>
              </p:txBody>
            </p:sp>
          </p:grpSp>
          <p:grpSp>
            <p:nvGrpSpPr>
              <p:cNvPr id="20" name="Group 20"/>
              <p:cNvGrpSpPr/>
              <p:nvPr/>
            </p:nvGrpSpPr>
            <p:grpSpPr>
              <a:xfrm>
                <a:off x="752475" y="2624138"/>
                <a:ext cx="1601867" cy="704850"/>
                <a:chOff x="752475" y="2624138"/>
                <a:chExt cx="1601867" cy="704850"/>
              </a:xfrm>
            </p:grpSpPr>
            <p:sp>
              <p:nvSpPr>
                <p:cNvPr id="16" name="TextBox 16"/>
                <p:cNvSpPr txBox="1"/>
                <p:nvPr/>
              </p:nvSpPr>
              <p:spPr>
                <a:xfrm>
                  <a:off x="752475" y="2624138"/>
                  <a:ext cx="59412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亚马逊表现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752475" y="2833688"/>
                  <a:ext cx="154162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Work Pants类目BSR Top 5常驻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752475" y="3005138"/>
                  <a:ext cx="136636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平均评分4.5+ · 评论数10K+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752475" y="3176588"/>
                  <a:ext cx="1601867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客单价$50-90 · 品牌搜索量第一</a:t>
                  </a:r>
                </a:p>
              </p:txBody>
            </p:sp>
          </p:grpSp>
          <p:grpSp>
            <p:nvGrpSpPr>
              <p:cNvPr id="23" name="Group 23"/>
              <p:cNvGrpSpPr/>
              <p:nvPr/>
            </p:nvGrpSpPr>
            <p:grpSpPr>
              <a:xfrm>
                <a:off x="752475" y="3433762"/>
                <a:ext cx="2116693" cy="361950"/>
                <a:chOff x="752475" y="3433762"/>
                <a:chExt cx="2116693" cy="361950"/>
              </a:xfrm>
            </p:grpSpPr>
            <p:sp>
              <p:nvSpPr>
                <p:cNvPr id="21" name="TextBox 21"/>
                <p:cNvSpPr txBox="1"/>
                <p:nvPr/>
              </p:nvSpPr>
              <p:spPr>
                <a:xfrm>
                  <a:off x="752475" y="343376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可借鉴点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752475" y="3643312"/>
                  <a:ext cx="2116693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面料科技命名与专利化 · 品牌故事深度挖掘</a:t>
                  </a:r>
                </a:p>
              </p:txBody>
            </p:sp>
          </p:grpSp>
        </p:grpSp>
      </p:grpSp>
      <p:grpSp>
        <p:nvGrpSpPr>
          <p:cNvPr id="43" name="Group 43"/>
          <p:cNvGrpSpPr/>
          <p:nvPr/>
        </p:nvGrpSpPr>
        <p:grpSpPr>
          <a:xfrm>
            <a:off x="6096000" y="1190625"/>
            <a:ext cx="5524500" cy="2605087"/>
            <a:chOff x="6096000" y="1190625"/>
            <a:chExt cx="5524500" cy="2605087"/>
          </a:xfrm>
        </p:grpSpPr>
        <p:sp>
          <p:nvSpPr>
            <p:cNvPr id="26" name="Rectangle 26"/>
            <p:cNvSpPr/>
            <p:nvPr/>
          </p:nvSpPr>
          <p:spPr>
            <a:xfrm>
              <a:off x="6096000" y="1190625"/>
              <a:ext cx="5524500" cy="25717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96000" y="1190625"/>
              <a:ext cx="5524500" cy="57150"/>
            </a:xfrm>
            <a:prstGeom prst="rect">
              <a:avLst/>
            </a:prstGeom>
            <a:solidFill>
              <a:srgbClr val="6B7C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72212" y="1402556"/>
              <a:ext cx="20125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7C5E"/>
                  </a:solidFill>
                  <a:latin typeface="Space Grotesk"/>
                  <a:ea typeface="Microsoft YaHei"/>
                  <a:cs typeface="Space Grotesk"/>
                </a:rPr>
                <a:t>Dickies — 性价比工装标杆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6276975" y="1766888"/>
              <a:ext cx="2352199" cy="2028824"/>
              <a:chOff x="6276975" y="1766888"/>
              <a:chExt cx="2352199" cy="2028824"/>
            </a:xfrm>
          </p:grpSpPr>
          <p:grpSp>
            <p:nvGrpSpPr>
              <p:cNvPr id="33" name="Group 33"/>
              <p:cNvGrpSpPr/>
              <p:nvPr/>
            </p:nvGrpSpPr>
            <p:grpSpPr>
              <a:xfrm>
                <a:off x="6276975" y="1766888"/>
                <a:ext cx="1968818" cy="704850"/>
                <a:chOff x="6276975" y="1766888"/>
                <a:chExt cx="1968818" cy="704850"/>
              </a:xfrm>
            </p:grpSpPr>
            <p:sp>
              <p:nvSpPr>
                <p:cNvPr id="29" name="TextBox 29"/>
                <p:cNvSpPr txBox="1"/>
                <p:nvPr/>
              </p:nvSpPr>
              <p:spPr>
                <a:xfrm>
                  <a:off x="6276975" y="176688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核心壁垒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6276975" y="1976438"/>
                  <a:ext cx="196881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100年品牌历史 · Williamson-Dickie制造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6276975" y="2147888"/>
                  <a:ext cx="153066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874工装裤经典款 · 全品类覆盖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6276975" y="2319338"/>
                  <a:ext cx="156900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性价比心智占位 · 渠道渗透力强</a:t>
                  </a: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6276975" y="2624138"/>
                <a:ext cx="1711404" cy="704850"/>
                <a:chOff x="6276975" y="2624138"/>
                <a:chExt cx="1711404" cy="704850"/>
              </a:xfrm>
            </p:grpSpPr>
            <p:sp>
              <p:nvSpPr>
                <p:cNvPr id="34" name="TextBox 34"/>
                <p:cNvSpPr txBox="1"/>
                <p:nvPr/>
              </p:nvSpPr>
              <p:spPr>
                <a:xfrm>
                  <a:off x="6276975" y="2624138"/>
                  <a:ext cx="59412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亚马逊表现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276975" y="2833688"/>
                  <a:ext cx="157448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Work Pants类目BSR Top 10常驻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6276975" y="3005138"/>
                  <a:ext cx="13335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平均评分4.3+ · 评论数5K+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276975" y="3176588"/>
                  <a:ext cx="171140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客单价$30-60 · 性价比搜索量第一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6276975" y="3433762"/>
                <a:ext cx="2352199" cy="361950"/>
                <a:chOff x="6276975" y="3433762"/>
                <a:chExt cx="2352199" cy="361950"/>
              </a:xfrm>
            </p:grpSpPr>
            <p:sp>
              <p:nvSpPr>
                <p:cNvPr id="39" name="TextBox 39"/>
                <p:cNvSpPr txBox="1"/>
                <p:nvPr/>
              </p:nvSpPr>
              <p:spPr>
                <a:xfrm>
                  <a:off x="6276975" y="343376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可借鉴点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276975" y="3643312"/>
                  <a:ext cx="235219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经典款打造 · 全色系覆盖策略 · 价格带精准定位</a:t>
                  </a:r>
                </a:p>
              </p:txBody>
            </p:sp>
          </p:grpSp>
        </p:grpSp>
      </p:grpSp>
      <p:grpSp>
        <p:nvGrpSpPr>
          <p:cNvPr id="61" name="Group 61"/>
          <p:cNvGrpSpPr/>
          <p:nvPr/>
        </p:nvGrpSpPr>
        <p:grpSpPr>
          <a:xfrm>
            <a:off x="571500" y="3952875"/>
            <a:ext cx="5334000" cy="2605087"/>
            <a:chOff x="571500" y="3952875"/>
            <a:chExt cx="5334000" cy="2605087"/>
          </a:xfrm>
        </p:grpSpPr>
        <p:sp>
          <p:nvSpPr>
            <p:cNvPr id="44" name="Rectangle 44"/>
            <p:cNvSpPr/>
            <p:nvPr/>
          </p:nvSpPr>
          <p:spPr>
            <a:xfrm>
              <a:off x="571500" y="3952875"/>
              <a:ext cx="5334000" cy="25717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71500" y="3952875"/>
              <a:ext cx="5334000" cy="57150"/>
            </a:xfrm>
            <a:prstGeom prst="rect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7712" y="4164806"/>
              <a:ext cx="21247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498DB"/>
                  </a:solidFill>
                  <a:latin typeface="Space Grotesk"/>
                  <a:ea typeface="Microsoft YaHei"/>
                  <a:cs typeface="Space Grotesk"/>
                </a:rPr>
                <a:t>中国出海品牌 — 新势力崛起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752475" y="4529138"/>
              <a:ext cx="2023586" cy="2028824"/>
              <a:chOff x="752475" y="4529138"/>
              <a:chExt cx="2023586" cy="2028824"/>
            </a:xfrm>
          </p:grpSpPr>
          <p:grpSp>
            <p:nvGrpSpPr>
              <p:cNvPr id="51" name="Group 51"/>
              <p:cNvGrpSpPr/>
              <p:nvPr/>
            </p:nvGrpSpPr>
            <p:grpSpPr>
              <a:xfrm>
                <a:off x="752475" y="4529138"/>
                <a:ext cx="1749742" cy="704850"/>
                <a:chOff x="752475" y="4529138"/>
                <a:chExt cx="1749742" cy="704850"/>
              </a:xfrm>
            </p:grpSpPr>
            <p:sp>
              <p:nvSpPr>
                <p:cNvPr id="47" name="TextBox 47"/>
                <p:cNvSpPr txBox="1"/>
                <p:nvPr/>
              </p:nvSpPr>
              <p:spPr>
                <a:xfrm>
                  <a:off x="752475" y="4529138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代表品牌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752475" y="4738688"/>
                  <a:ext cx="174974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Liberty Imports · Hihone · Fodry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752475" y="4910138"/>
                  <a:ext cx="139374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优势：供应链成本+快速迭代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752475" y="5081588"/>
                  <a:ext cx="156352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劣势：品牌力弱/同质化/售后差</a:t>
                  </a:r>
                </a:p>
              </p:txBody>
            </p:sp>
          </p:grpSp>
          <p:grpSp>
            <p:nvGrpSpPr>
              <p:cNvPr id="56" name="Group 56"/>
              <p:cNvGrpSpPr/>
              <p:nvPr/>
            </p:nvGrpSpPr>
            <p:grpSpPr>
              <a:xfrm>
                <a:off x="752475" y="5386388"/>
                <a:ext cx="1694974" cy="704850"/>
                <a:chOff x="752475" y="5386388"/>
                <a:chExt cx="1694974" cy="704850"/>
              </a:xfrm>
            </p:grpSpPr>
            <p:sp>
              <p:nvSpPr>
                <p:cNvPr id="52" name="TextBox 52"/>
                <p:cNvSpPr txBox="1"/>
                <p:nvPr/>
              </p:nvSpPr>
              <p:spPr>
                <a:xfrm>
                  <a:off x="752475" y="5386388"/>
                  <a:ext cx="59412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亚马逊表现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752475" y="5595938"/>
                  <a:ext cx="1601867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Work Pants类目BSR 20-100波动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752475" y="5767388"/>
                  <a:ext cx="169497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平均评分4.0-4.3 · 评论数500-2K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752475" y="5938838"/>
                  <a:ext cx="149232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客单价$20-40 · 依赖广告驱动</a:t>
                  </a:r>
                </a:p>
              </p:txBody>
            </p:sp>
          </p:grpSp>
          <p:grpSp>
            <p:nvGrpSpPr>
              <p:cNvPr id="59" name="Group 59"/>
              <p:cNvGrpSpPr/>
              <p:nvPr/>
            </p:nvGrpSpPr>
            <p:grpSpPr>
              <a:xfrm>
                <a:off x="752475" y="6196012"/>
                <a:ext cx="2023586" cy="361950"/>
                <a:chOff x="752475" y="6196012"/>
                <a:chExt cx="2023586" cy="361950"/>
              </a:xfrm>
            </p:grpSpPr>
            <p:sp>
              <p:nvSpPr>
                <p:cNvPr id="57" name="TextBox 57"/>
                <p:cNvSpPr txBox="1"/>
                <p:nvPr/>
              </p:nvSpPr>
              <p:spPr>
                <a:xfrm>
                  <a:off x="752475" y="6196012"/>
                  <a:ext cx="59412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差异化机会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752475" y="6405562"/>
                  <a:ext cx="202358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品牌化运营 · 面料科技升级 · 视觉差异化</a:t>
                  </a:r>
                </a:p>
              </p:txBody>
            </p:sp>
          </p:grpSp>
        </p:grpSp>
      </p:grpSp>
      <p:grpSp>
        <p:nvGrpSpPr>
          <p:cNvPr id="82" name="Group 82"/>
          <p:cNvGrpSpPr/>
          <p:nvPr/>
        </p:nvGrpSpPr>
        <p:grpSpPr>
          <a:xfrm>
            <a:off x="6096000" y="3952875"/>
            <a:ext cx="5524500" cy="2714625"/>
            <a:chOff x="6096000" y="3952875"/>
            <a:chExt cx="5524500" cy="2714625"/>
          </a:xfrm>
        </p:grpSpPr>
        <p:sp>
          <p:nvSpPr>
            <p:cNvPr id="62" name="Rectangle 62"/>
            <p:cNvSpPr/>
            <p:nvPr/>
          </p:nvSpPr>
          <p:spPr>
            <a:xfrm>
              <a:off x="6096000" y="3952875"/>
              <a:ext cx="5524500" cy="25717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096000" y="3952875"/>
              <a:ext cx="5524500" cy="57150"/>
            </a:xfrm>
            <a:prstGeom prst="rect">
              <a:avLst/>
            </a:prstGeom>
            <a:solidFill>
              <a:srgbClr val="C4704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72212" y="416480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47040"/>
                  </a:solidFill>
                  <a:latin typeface="Space Grotesk"/>
                  <a:ea typeface="Microsoft YaHei"/>
                  <a:cs typeface="Space Grotesk"/>
                </a:rPr>
                <a:t>新入局者差异化路径建议</a:t>
              </a:r>
            </a:p>
          </p:txBody>
        </p:sp>
        <p:grpSp>
          <p:nvGrpSpPr>
            <p:cNvPr id="81" name="Group 81"/>
            <p:cNvGrpSpPr/>
            <p:nvPr/>
          </p:nvGrpSpPr>
          <p:grpSpPr>
            <a:xfrm>
              <a:off x="6286500" y="4476750"/>
              <a:ext cx="5143500" cy="2190750"/>
              <a:chOff x="6286500" y="4476750"/>
              <a:chExt cx="5143500" cy="2190750"/>
            </a:xfrm>
          </p:grpSpPr>
          <p:grpSp>
            <p:nvGrpSpPr>
              <p:cNvPr id="68" name="Group 68"/>
              <p:cNvGrpSpPr/>
              <p:nvPr/>
            </p:nvGrpSpPr>
            <p:grpSpPr>
              <a:xfrm>
                <a:off x="6286500" y="4476750"/>
                <a:ext cx="5143500" cy="476250"/>
                <a:chOff x="6286500" y="4476750"/>
                <a:chExt cx="5143500" cy="476250"/>
              </a:xfrm>
            </p:grpSpPr>
            <p:sp>
              <p:nvSpPr>
                <p:cNvPr id="65" name="Rectangle 65"/>
                <p:cNvSpPr/>
                <p:nvPr/>
              </p:nvSpPr>
              <p:spPr>
                <a:xfrm>
                  <a:off x="6286500" y="4476750"/>
                  <a:ext cx="5143500" cy="47625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6372225" y="4567238"/>
                  <a:ext cx="120369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47040"/>
                      </a:solidFill>
                      <a:latin typeface="Space Grotesk"/>
                      <a:ea typeface="Microsoft YaHei"/>
                      <a:cs typeface="Space Grotesk"/>
                    </a:rPr>
                    <a:t>路径1：面料科技差异化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6372225" y="4738688"/>
                  <a:ext cx="297108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Cordura加固 + Ripstop防撕裂 + 弹力混纺 → 功能溢价$10-20</a:t>
                  </a:r>
                </a:p>
              </p:txBody>
            </p:sp>
          </p:grpSp>
          <p:grpSp>
            <p:nvGrpSpPr>
              <p:cNvPr id="72" name="Group 72"/>
              <p:cNvGrpSpPr/>
              <p:nvPr/>
            </p:nvGrpSpPr>
            <p:grpSpPr>
              <a:xfrm>
                <a:off x="6286500" y="5048250"/>
                <a:ext cx="5143500" cy="476250"/>
                <a:chOff x="6286500" y="5048250"/>
                <a:chExt cx="5143500" cy="476250"/>
              </a:xfrm>
            </p:grpSpPr>
            <p:sp>
              <p:nvSpPr>
                <p:cNvPr id="69" name="Rectangle 69"/>
                <p:cNvSpPr/>
                <p:nvPr/>
              </p:nvSpPr>
              <p:spPr>
                <a:xfrm>
                  <a:off x="6286500" y="5048250"/>
                  <a:ext cx="5143500" cy="47625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6372225" y="5138738"/>
                  <a:ext cx="123245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47040"/>
                      </a:solidFill>
                      <a:latin typeface="Space Grotesk"/>
                      <a:ea typeface="Microsoft YaHei"/>
                      <a:cs typeface="Space Grotesk"/>
                    </a:rPr>
                    <a:t>路径2：风格潮流差异化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6372225" y="5310188"/>
                  <a:ext cx="274653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巴恩风/复古工装 → 潮流溢价$15-30 · 覆盖时尚消费人群</a:t>
                  </a:r>
                </a:p>
              </p:txBody>
            </p:sp>
          </p:grpSp>
          <p:grpSp>
            <p:nvGrpSpPr>
              <p:cNvPr id="76" name="Group 76"/>
              <p:cNvGrpSpPr/>
              <p:nvPr/>
            </p:nvGrpSpPr>
            <p:grpSpPr>
              <a:xfrm>
                <a:off x="6286500" y="5619750"/>
                <a:ext cx="5143500" cy="476250"/>
                <a:chOff x="6286500" y="5619750"/>
                <a:chExt cx="5143500" cy="476250"/>
              </a:xfrm>
            </p:grpSpPr>
            <p:sp>
              <p:nvSpPr>
                <p:cNvPr id="73" name="Rectangle 73"/>
                <p:cNvSpPr/>
                <p:nvPr/>
              </p:nvSpPr>
              <p:spPr>
                <a:xfrm>
                  <a:off x="6286500" y="5619750"/>
                  <a:ext cx="5143500" cy="47625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6372225" y="5710238"/>
                  <a:ext cx="123245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47040"/>
                      </a:solidFill>
                      <a:latin typeface="Space Grotesk"/>
                      <a:ea typeface="Microsoft YaHei"/>
                      <a:cs typeface="Space Grotesk"/>
                    </a:rPr>
                    <a:t>路径3：视觉呈现差异化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6372225" y="5881688"/>
                  <a:ext cx="239601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场景化主图 + A+内容 + 标准色名 → 提升CTR 30%+</a:t>
                  </a:r>
                </a:p>
              </p:txBody>
            </p:sp>
          </p:grpSp>
          <p:grpSp>
            <p:nvGrpSpPr>
              <p:cNvPr id="80" name="Group 80"/>
              <p:cNvGrpSpPr/>
              <p:nvPr/>
            </p:nvGrpSpPr>
            <p:grpSpPr>
              <a:xfrm>
                <a:off x="6286500" y="6191250"/>
                <a:ext cx="5143500" cy="476250"/>
                <a:chOff x="6286500" y="6191250"/>
                <a:chExt cx="5143500" cy="476250"/>
              </a:xfrm>
            </p:grpSpPr>
            <p:sp>
              <p:nvSpPr>
                <p:cNvPr id="77" name="Rectangle 77"/>
                <p:cNvSpPr/>
                <p:nvPr/>
              </p:nvSpPr>
              <p:spPr>
                <a:xfrm>
                  <a:off x="6286500" y="6191250"/>
                  <a:ext cx="5143500" cy="476250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6372225" y="6281738"/>
                  <a:ext cx="123245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47040"/>
                      </a:solidFill>
                      <a:latin typeface="Space Grotesk"/>
                      <a:ea typeface="Microsoft YaHei"/>
                      <a:cs typeface="Space Grotesk"/>
                    </a:rPr>
                    <a:t>路径4：细分场景差异化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6372225" y="6453188"/>
                  <a:ext cx="271914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轻工装/通勤工装/户外工装 → 避开与Carhartt正面竞争</a:t>
                  </a:r>
                </a:p>
              </p:txBody>
            </p:sp>
          </p:grpSp>
        </p:grpSp>
      </p:grpSp>
      <p:sp>
        <p:nvSpPr>
          <p:cNvPr id="83" name="Rectangle 8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81000" y="95250"/>
            <a:ext cx="11430000" cy="6667500"/>
          </a:xfrm>
          <a:prstGeom prst="ellipse">
            <a:avLst/>
          </a:prstGeom>
          <a:gradFill>
            <a:gsLst>
              <a:gs pos="0">
                <a:srgbClr val="C9A962">
                  <a:alpha val="8000"/>
                </a:srgbClr>
              </a:gs>
              <a:gs pos="100000">
                <a:srgbClr val="C9A96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59987" y="2363152"/>
            <a:ext cx="8720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C9A962">
                    <a:alpha val="60000"/>
                  </a:srgbClr>
                </a:solidFill>
                <a:latin typeface="Space Grotesk"/>
                <a:ea typeface="Microsoft YaHei"/>
                <a:cs typeface="Space Grotesk"/>
              </a:rPr>
              <a:t>CHAPTER 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65970" y="2754630"/>
            <a:ext cx="506006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未来机遇与入局战略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3333750"/>
            <a:ext cx="1905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76356" y="3680460"/>
            <a:ext cx="34392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市场机遇 / 切入策略 / 落地建议 / 风险合规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179570" y="4379595"/>
            <a:ext cx="4369213" cy="392430"/>
            <a:chOff x="4179570" y="4379595"/>
            <a:chExt cx="4369213" cy="392430"/>
          </a:xfrm>
        </p:grpSpPr>
        <p:sp>
          <p:nvSpPr>
            <p:cNvPr id="9" name="TextBox 9"/>
            <p:cNvSpPr txBox="1"/>
            <p:nvPr/>
          </p:nvSpPr>
          <p:spPr>
            <a:xfrm>
              <a:off x="4179570" y="4379595"/>
              <a:ext cx="12978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6.1 三大核心市场机遇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79570" y="4589145"/>
              <a:ext cx="10678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6.2 市场切入策略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60820" y="4379595"/>
              <a:ext cx="1987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6.3 产品、营销、供应链落地建议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60820" y="4589145"/>
              <a:ext cx="14621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6.4 市场风险与合规提示</a:t>
              </a:r>
            </a:p>
          </p:txBody>
        </p:sp>
      </p:grpSp>
      <p:sp>
        <p:nvSpPr>
          <p:cNvPr id="14" name="Rectangle 1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44316"/>
            <a:ext cx="10077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06 · 6.1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459105"/>
            <a:ext cx="26296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三大核心市场机遇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001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0070" y="902970"/>
            <a:ext cx="38873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巴恩风爆发 / 面料科技升级 / 轻工装日常化——三大结构性增长机会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571500" y="1190625"/>
            <a:ext cx="11144250" cy="2571750"/>
            <a:chOff x="571500" y="1190625"/>
            <a:chExt cx="11144250" cy="2571750"/>
          </a:xfrm>
        </p:grpSpPr>
        <p:grpSp>
          <p:nvGrpSpPr>
            <p:cNvPr id="22" name="Group 22"/>
            <p:cNvGrpSpPr/>
            <p:nvPr/>
          </p:nvGrpSpPr>
          <p:grpSpPr>
            <a:xfrm>
              <a:off x="571500" y="1190625"/>
              <a:ext cx="3524250" cy="2571750"/>
              <a:chOff x="571500" y="1190625"/>
              <a:chExt cx="3524250" cy="2571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190625"/>
                <a:ext cx="352425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190625"/>
                <a:ext cx="352425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123363" y="1280160"/>
                <a:ext cx="420524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C9A962">
                        <a:alpha val="20000"/>
                      </a:srgbClr>
                    </a:solidFill>
                    <a:latin typeface="Space Grotesk"/>
                    <a:ea typeface="Microsoft YaHei"/>
                    <a:cs typeface="Space Grotesk"/>
                  </a:rPr>
                  <a:t>01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47712" y="1735931"/>
                <a:ext cx="12362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巴恩风潮流爆发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51522" y="1958816"/>
                <a:ext cx="108730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Barn Jacket Trend</a:t>
                </a:r>
              </a:p>
            </p:txBody>
          </p:sp>
          <p:grpSp>
            <p:nvGrpSpPr>
              <p:cNvPr id="17" name="Group 17"/>
              <p:cNvGrpSpPr/>
              <p:nvPr/>
            </p:nvGrpSpPr>
            <p:grpSpPr>
              <a:xfrm>
                <a:off x="752475" y="2290762"/>
                <a:ext cx="1563529" cy="685800"/>
                <a:chOff x="752475" y="2290762"/>
                <a:chExt cx="1563529" cy="685800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752475" y="229076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市场信号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52475" y="2481262"/>
                  <a:ext cx="155805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Google Trends搜索量YoY+280%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52475" y="2652712"/>
                  <a:ext cx="156352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TikTok #barnjacket 2.8亿播放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752475" y="2824162"/>
                  <a:ext cx="136636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亚马逊BSR新品占比提升30%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752475" y="3148012"/>
                <a:ext cx="1317069" cy="514350"/>
                <a:chOff x="752475" y="3148012"/>
                <a:chExt cx="1317069" cy="514350"/>
              </a:xfrm>
            </p:grpSpPr>
            <p:sp>
              <p:nvSpPr>
                <p:cNvPr id="18" name="TextBox 18"/>
                <p:cNvSpPr txBox="1"/>
                <p:nvPr/>
              </p:nvSpPr>
              <p:spPr>
                <a:xfrm>
                  <a:off x="752475" y="314801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机会窗口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752475" y="3338512"/>
                  <a:ext cx="114180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2024-2026 潮流红利期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752475" y="3509962"/>
                  <a:ext cx="131706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预估品类增量$5000万+/年</a:t>
                  </a:r>
                </a:p>
              </p:txBody>
            </p:sp>
          </p:grpSp>
        </p:grpSp>
        <p:grpSp>
          <p:nvGrpSpPr>
            <p:cNvPr id="37" name="Group 37"/>
            <p:cNvGrpSpPr/>
            <p:nvPr/>
          </p:nvGrpSpPr>
          <p:grpSpPr>
            <a:xfrm>
              <a:off x="4381500" y="1190625"/>
              <a:ext cx="3524250" cy="2571750"/>
              <a:chOff x="4381500" y="1190625"/>
              <a:chExt cx="3524250" cy="25717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381500" y="1190625"/>
                <a:ext cx="352425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4381500" y="1190625"/>
                <a:ext cx="3524250" cy="57150"/>
              </a:xfrm>
              <a:prstGeom prst="rect">
                <a:avLst/>
              </a:prstGeom>
              <a:solidFill>
                <a:srgbClr val="6B7C5E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881607" y="1280160"/>
                <a:ext cx="524037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6B7C5E">
                        <a:alpha val="20000"/>
                      </a:srgbClr>
                    </a:solidFill>
                    <a:latin typeface="Space Grotesk"/>
                    <a:ea typeface="Microsoft YaHei"/>
                    <a:cs typeface="Space Grotesk"/>
                  </a:rPr>
                  <a:t>02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557712" y="1735931"/>
                <a:ext cx="106370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6B7C5E"/>
                    </a:solidFill>
                    <a:latin typeface="Space Grotesk"/>
                    <a:ea typeface="Microsoft YaHei"/>
                    <a:cs typeface="Space Grotesk"/>
                  </a:rPr>
                  <a:t>面料科技升级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561522" y="1958816"/>
                <a:ext cx="11897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Fabric Tech Upgrade</a:t>
                </a:r>
              </a:p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4562475" y="2290762"/>
                <a:ext cx="1558052" cy="685800"/>
                <a:chOff x="4562475" y="2290762"/>
                <a:chExt cx="1558052" cy="685800"/>
              </a:xfrm>
            </p:grpSpPr>
            <p:sp>
              <p:nvSpPr>
                <p:cNvPr id="28" name="TextBox 28"/>
                <p:cNvSpPr txBox="1"/>
                <p:nvPr/>
              </p:nvSpPr>
              <p:spPr>
                <a:xfrm>
                  <a:off x="4562475" y="229076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市场信号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4562475" y="2481262"/>
                  <a:ext cx="119110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Cordura搜索量YoY+45%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4562475" y="2652712"/>
                  <a:ext cx="144303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功能面料Listing转化率高20%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4562475" y="2824162"/>
                  <a:ext cx="155805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消费者愿为科技面料多付$10-20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4562475" y="3148012"/>
                <a:ext cx="1399222" cy="514350"/>
                <a:chOff x="4562475" y="3148012"/>
                <a:chExt cx="1399222" cy="514350"/>
              </a:xfrm>
            </p:grpSpPr>
            <p:sp>
              <p:nvSpPr>
                <p:cNvPr id="33" name="TextBox 33"/>
                <p:cNvSpPr txBox="1"/>
                <p:nvPr/>
              </p:nvSpPr>
              <p:spPr>
                <a:xfrm>
                  <a:off x="4562475" y="314801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机会窗口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4562475" y="3338512"/>
                  <a:ext cx="139922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功能面料溢价空间$10-25/件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4562475" y="3509962"/>
                  <a:ext cx="130611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供应链成本增加仅$3-5/件</a:t>
                  </a:r>
                </a:p>
              </p:txBody>
            </p:sp>
          </p:grpSp>
        </p:grpSp>
        <p:grpSp>
          <p:nvGrpSpPr>
            <p:cNvPr id="52" name="Group 52"/>
            <p:cNvGrpSpPr/>
            <p:nvPr/>
          </p:nvGrpSpPr>
          <p:grpSpPr>
            <a:xfrm>
              <a:off x="8191500" y="1190625"/>
              <a:ext cx="3524250" cy="2571750"/>
              <a:chOff x="8191500" y="1190625"/>
              <a:chExt cx="3524250" cy="25717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191500" y="1190625"/>
                <a:ext cx="352425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191500" y="1190625"/>
                <a:ext cx="3524250" cy="57150"/>
              </a:xfrm>
              <a:prstGeom prst="rect">
                <a:avLst/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691607" y="1280160"/>
                <a:ext cx="524037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3498DB">
                        <a:alpha val="20000"/>
                      </a:srgbClr>
                    </a:solidFill>
                    <a:latin typeface="Space Grotesk"/>
                    <a:ea typeface="Microsoft YaHei"/>
                    <a:cs typeface="Space Grotesk"/>
                  </a:rPr>
                  <a:t>03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367712" y="1735931"/>
                <a:ext cx="106370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3498DB"/>
                    </a:solidFill>
                    <a:latin typeface="Space Grotesk"/>
                    <a:ea typeface="Microsoft YaHei"/>
                    <a:cs typeface="Space Grotesk"/>
                  </a:rPr>
                  <a:t>轻工装日常化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371522" y="1958816"/>
                <a:ext cx="150299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Light Workwear Everyday</a:t>
                </a:r>
              </a:p>
            </p:txBody>
          </p:sp>
          <p:grpSp>
            <p:nvGrpSpPr>
              <p:cNvPr id="47" name="Group 47"/>
              <p:cNvGrpSpPr/>
              <p:nvPr/>
            </p:nvGrpSpPr>
            <p:grpSpPr>
              <a:xfrm>
                <a:off x="8372475" y="2290762"/>
                <a:ext cx="1744266" cy="685800"/>
                <a:chOff x="8372475" y="2290762"/>
                <a:chExt cx="1744266" cy="685800"/>
              </a:xfrm>
            </p:grpSpPr>
            <p:sp>
              <p:nvSpPr>
                <p:cNvPr id="43" name="TextBox 43"/>
                <p:cNvSpPr txBox="1"/>
                <p:nvPr/>
              </p:nvSpPr>
              <p:spPr>
                <a:xfrm>
                  <a:off x="8372475" y="229076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市场信号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8372475" y="2481262"/>
                  <a:ext cx="174426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"work pants casual"搜索YoY+60%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8372475" y="2652712"/>
                  <a:ext cx="118562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通勤工装裤BSR持续上升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372475" y="2824162"/>
                  <a:ext cx="129516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轻量化工装新品增长率35%</a:t>
                  </a:r>
                </a:p>
              </p:txBody>
            </p:sp>
          </p:grpSp>
          <p:grpSp>
            <p:nvGrpSpPr>
              <p:cNvPr id="51" name="Group 51"/>
              <p:cNvGrpSpPr/>
              <p:nvPr/>
            </p:nvGrpSpPr>
            <p:grpSpPr>
              <a:xfrm>
                <a:off x="8372475" y="3148012"/>
                <a:ext cx="1552575" cy="514350"/>
                <a:chOff x="8372475" y="3148012"/>
                <a:chExt cx="1552575" cy="514350"/>
              </a:xfrm>
            </p:grpSpPr>
            <p:sp>
              <p:nvSpPr>
                <p:cNvPr id="48" name="TextBox 48"/>
                <p:cNvSpPr txBox="1"/>
                <p:nvPr/>
              </p:nvSpPr>
              <p:spPr>
                <a:xfrm>
                  <a:off x="8372475" y="314801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机会窗口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8372475" y="3338512"/>
                  <a:ext cx="117467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蓝领→白领消费群体扩展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8372475" y="3509962"/>
                  <a:ext cx="155257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轻工装品类竞争度低，蓝海赛道</a:t>
                  </a:r>
                </a:p>
              </p:txBody>
            </p:sp>
          </p:grpSp>
        </p:grpSp>
      </p:grpSp>
      <p:grpSp>
        <p:nvGrpSpPr>
          <p:cNvPr id="88" name="Group 88"/>
          <p:cNvGrpSpPr/>
          <p:nvPr/>
        </p:nvGrpSpPr>
        <p:grpSpPr>
          <a:xfrm>
            <a:off x="571500" y="3952875"/>
            <a:ext cx="11049000" cy="2571750"/>
            <a:chOff x="571500" y="3952875"/>
            <a:chExt cx="11049000" cy="2571750"/>
          </a:xfrm>
        </p:grpSpPr>
        <p:sp>
          <p:nvSpPr>
            <p:cNvPr id="54" name="Rectangle 54"/>
            <p:cNvSpPr/>
            <p:nvPr/>
          </p:nvSpPr>
          <p:spPr>
            <a:xfrm>
              <a:off x="571500" y="3952875"/>
              <a:ext cx="11049000" cy="25717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71500" y="3952875"/>
              <a:ext cx="1104900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8665" y="4172902"/>
              <a:ext cx="130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6.2 市场切入策略</a:t>
              </a:r>
            </a:p>
          </p:txBody>
        </p:sp>
        <p:grpSp>
          <p:nvGrpSpPr>
            <p:cNvPr id="87" name="Group 87"/>
            <p:cNvGrpSpPr/>
            <p:nvPr/>
          </p:nvGrpSpPr>
          <p:grpSpPr>
            <a:xfrm>
              <a:off x="762000" y="4476750"/>
              <a:ext cx="10858500" cy="1857375"/>
              <a:chOff x="762000" y="4476750"/>
              <a:chExt cx="10858500" cy="1857375"/>
            </a:xfrm>
          </p:grpSpPr>
          <p:grpSp>
            <p:nvGrpSpPr>
              <p:cNvPr id="66" name="Group 66"/>
              <p:cNvGrpSpPr/>
              <p:nvPr/>
            </p:nvGrpSpPr>
            <p:grpSpPr>
              <a:xfrm>
                <a:off x="762000" y="4476750"/>
                <a:ext cx="3429000" cy="1857375"/>
                <a:chOff x="762000" y="4476750"/>
                <a:chExt cx="3429000" cy="1857375"/>
              </a:xfrm>
            </p:grpSpPr>
            <p:sp>
              <p:nvSpPr>
                <p:cNvPr id="57" name="Rectangle 57"/>
                <p:cNvSpPr/>
                <p:nvPr/>
              </p:nvSpPr>
              <p:spPr>
                <a:xfrm>
                  <a:off x="762000" y="4476750"/>
                  <a:ext cx="3429000" cy="1857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894398" y="4625816"/>
                  <a:ext cx="653534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价格带切入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895350" y="4872038"/>
                  <a:ext cx="150876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推荐切入：$35-65 中端价格带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895350" y="5043488"/>
                  <a:ext cx="122943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避开$15-30低价红海竞争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895350" y="5214938"/>
                  <a:ext cx="128968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低于$60-120品牌直接竞争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895350" y="549116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利润模型</a:t>
                  </a: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895350" y="5681662"/>
                  <a:ext cx="103774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毛利率目标：45-55%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895350" y="5853112"/>
                  <a:ext cx="110894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FBA费用占比：20-25%</a:t>
                  </a:r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895350" y="6024562"/>
                  <a:ext cx="98298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广告费占比：10-15%</a:t>
                  </a:r>
                </a:p>
              </p:txBody>
            </p:sp>
          </p:grpSp>
          <p:grpSp>
            <p:nvGrpSpPr>
              <p:cNvPr id="76" name="Group 76"/>
              <p:cNvGrpSpPr/>
              <p:nvPr/>
            </p:nvGrpSpPr>
            <p:grpSpPr>
              <a:xfrm>
                <a:off x="4476750" y="4476750"/>
                <a:ext cx="3429000" cy="1857375"/>
                <a:chOff x="4476750" y="4476750"/>
                <a:chExt cx="3429000" cy="1857375"/>
              </a:xfrm>
            </p:grpSpPr>
            <p:sp>
              <p:nvSpPr>
                <p:cNvPr id="67" name="Rectangle 67"/>
                <p:cNvSpPr/>
                <p:nvPr/>
              </p:nvSpPr>
              <p:spPr>
                <a:xfrm>
                  <a:off x="4476750" y="4476750"/>
                  <a:ext cx="3429000" cy="1857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4609148" y="4625816"/>
                  <a:ext cx="527018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赛道选择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4610100" y="4872038"/>
                  <a:ext cx="158543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优先赛道1：工装裤（市场最大）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4610100" y="5043488"/>
                  <a:ext cx="172235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优先赛道2：巴恩夹克（增速最快）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4610100" y="5214938"/>
                  <a:ext cx="1612821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优先赛道3：工装短裤（季节性）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4610100" y="549116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扩展路径</a:t>
                  </a: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4610100" y="5681662"/>
                  <a:ext cx="1273254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裤装 → 外套 → 衬衫 → 配件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4610100" y="5853112"/>
                  <a:ext cx="158543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单品突破 → 系列扩展 → 品牌建设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4610100" y="6024562"/>
                  <a:ext cx="1333500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12个月内SKU目标：15-25个</a:t>
                  </a:r>
                </a:p>
              </p:txBody>
            </p:sp>
          </p:grpSp>
          <p:grpSp>
            <p:nvGrpSpPr>
              <p:cNvPr id="86" name="Group 86"/>
              <p:cNvGrpSpPr/>
              <p:nvPr/>
            </p:nvGrpSpPr>
            <p:grpSpPr>
              <a:xfrm>
                <a:off x="8191500" y="4476750"/>
                <a:ext cx="3429000" cy="1857375"/>
                <a:chOff x="8191500" y="4476750"/>
                <a:chExt cx="3429000" cy="1857375"/>
              </a:xfrm>
            </p:grpSpPr>
            <p:sp>
              <p:nvSpPr>
                <p:cNvPr id="77" name="Rectangle 77"/>
                <p:cNvSpPr/>
                <p:nvPr/>
              </p:nvSpPr>
              <p:spPr>
                <a:xfrm>
                  <a:off x="8191500" y="4476750"/>
                  <a:ext cx="3429000" cy="1857375"/>
                </a:xfrm>
                <a:prstGeom prst="rect">
                  <a:avLst/>
                </a:prstGeom>
                <a:solidFill>
                  <a:srgbClr val="252530"/>
                </a:solidFill>
                <a:ln w="9525">
                  <a:solidFill>
                    <a:srgbClr val="3A3A45"/>
                  </a:solidFill>
                </a:ln>
              </p:spPr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8323898" y="4625816"/>
                  <a:ext cx="653534" cy="167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825" b="1" dirty="0">
                      <a:solidFill>
                        <a:srgbClr val="C9A962"/>
                      </a:solidFill>
                      <a:latin typeface="Space Grotesk"/>
                      <a:ea typeface="Microsoft YaHei"/>
                      <a:cs typeface="Space Grotesk"/>
                    </a:rPr>
                    <a:t>差异化定位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8324850" y="4872038"/>
                  <a:ext cx="1579959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"专业工装品质 × 潮流设计语言"</a:t>
                  </a:r>
                </a:p>
              </p:txBody>
            </p:sp>
            <p:sp>
              <p:nvSpPr>
                <p:cNvPr id="80" name="TextBox 80"/>
                <p:cNvSpPr txBox="1"/>
                <p:nvPr/>
              </p:nvSpPr>
              <p:spPr>
                <a:xfrm>
                  <a:off x="8324850" y="5043488"/>
                  <a:ext cx="158543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功能面料 + 巴恩风设计 = 差异化</a:t>
                  </a:r>
                </a:p>
              </p:txBody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8324850" y="5214938"/>
                  <a:ext cx="1673066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Work × Outdoor × Casual 三场景</a:t>
                  </a:r>
                </a:p>
              </p:txBody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8324850" y="5491162"/>
                  <a:ext cx="47910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b="1" dirty="0">
                      <a:solidFill>
                        <a:srgbClr val="C9A962"/>
                      </a:solidFill>
                      <a:latin typeface="Inter"/>
                      <a:ea typeface="Microsoft YaHei"/>
                      <a:cs typeface="Inter"/>
                    </a:rPr>
                    <a:t>品牌心智</a:t>
                  </a:r>
                </a:p>
              </p:txBody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8324850" y="5681662"/>
                  <a:ext cx="1114425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不是最便宜，但最值得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8324850" y="5853112"/>
                  <a:ext cx="1443038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专业工装品质，日常穿搭风格</a:t>
                  </a:r>
                </a:p>
              </p:txBody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8324850" y="6024562"/>
                  <a:ext cx="1662112" cy="15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750" dirty="0">
                      <a:solidFill>
                        <a:srgbClr val="86868B"/>
                      </a:solidFill>
                      <a:latin typeface="Inter"/>
                      <a:ea typeface="Microsoft YaHei"/>
                      <a:cs typeface="Inter"/>
                    </a:rPr>
                    <a:t>面料科技可感知，功能细节可体验</a:t>
                  </a:r>
                </a:p>
              </p:txBody>
            </p:sp>
          </p:grpSp>
        </p:grpSp>
      </p:grpSp>
      <p:sp>
        <p:nvSpPr>
          <p:cNvPr id="89" name="Rectangle 8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44316"/>
            <a:ext cx="10394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06 · 6.3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459105"/>
            <a:ext cx="42398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产品、营销、供应链落地建议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001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0070" y="902970"/>
            <a:ext cx="24020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从战略到执行——三大维度的具体落地路径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71500" y="1190625"/>
            <a:ext cx="3524250" cy="5143500"/>
            <a:chOff x="571500" y="1190625"/>
            <a:chExt cx="3524250" cy="5143500"/>
          </a:xfrm>
        </p:grpSpPr>
        <p:sp>
          <p:nvSpPr>
            <p:cNvPr id="8" name="Rectangle 8"/>
            <p:cNvSpPr/>
            <p:nvPr/>
          </p:nvSpPr>
          <p:spPr>
            <a:xfrm>
              <a:off x="571500" y="1190625"/>
              <a:ext cx="3524250" cy="51435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190625"/>
              <a:ext cx="352425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74294" y="14025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产品落地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762000" y="1714500"/>
              <a:ext cx="3143250" cy="673894"/>
              <a:chOff x="762000" y="1714500"/>
              <a:chExt cx="3143250" cy="673894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762000" y="1714500"/>
                <a:ext cx="3143250" cy="6667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47725" y="180498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面料策略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48678" y="1984534"/>
                <a:ext cx="187052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主力：Cotton/Poly混纺 + Cordura加固点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48678" y="2117884"/>
                <a:ext cx="165363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升级：Ripstop尼龙 + DWR防泼水处理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48678" y="2251234"/>
                <a:ext cx="168814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克重：8-12oz工装裤 / 6-8oz工装衬衫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62000" y="2476500"/>
              <a:ext cx="3143250" cy="673894"/>
              <a:chOff x="762000" y="2476500"/>
              <a:chExt cx="3143250" cy="673894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762000" y="2476500"/>
                <a:ext cx="3143250" cy="6667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47725" y="256698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版型策略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48678" y="2746534"/>
                <a:ext cx="1767007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Relaxed Fit为主力 · Regular Fit为补充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48678" y="2879884"/>
                <a:ext cx="161913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立体剪裁+活动余量 · 肘部/裆部加固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48678" y="3013234"/>
                <a:ext cx="1264229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多口袋布局：6-8个功能口袋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62000" y="3238500"/>
              <a:ext cx="3143250" cy="673894"/>
              <a:chOff x="762000" y="3238500"/>
              <a:chExt cx="3143250" cy="673894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62000" y="3238500"/>
                <a:ext cx="3143250" cy="6667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47725" y="332898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色彩策略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48678" y="3508534"/>
                <a:ext cx="206275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核心色：Khaki/Olive/Black/Carhartt Brown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48678" y="3641884"/>
                <a:ext cx="147125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潮流色：Barn Jacket Olive/Tan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48678" y="3775234"/>
                <a:ext cx="139731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色名标准化：使用欧美通用色名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62000" y="4000500"/>
              <a:ext cx="3143250" cy="673894"/>
              <a:chOff x="762000" y="4000500"/>
              <a:chExt cx="3143250" cy="673894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762000" y="4000500"/>
                <a:ext cx="3143250" cy="6667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47725" y="4090988"/>
                <a:ext cx="43885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SKU规划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48678" y="4270534"/>
                <a:ext cx="1303663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首发3-5个SPU · 每SPU 3-4色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48678" y="4403884"/>
                <a:ext cx="121493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尺码：S-3XL（核心M-XL）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48678" y="4537234"/>
                <a:ext cx="83539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季度上新2-3个SPU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762000" y="4762500"/>
              <a:ext cx="3143250" cy="673894"/>
              <a:chOff x="762000" y="4762500"/>
              <a:chExt cx="3143250" cy="673894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762000" y="4762500"/>
                <a:ext cx="3143250" cy="6667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47725" y="485298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辅料策略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48678" y="5032534"/>
                <a:ext cx="1062133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拉链：YKK #5黄铜/尼龙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48678" y="5165884"/>
                <a:ext cx="123465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扣具：Duraflex/ITW Nexus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48678" y="5299234"/>
                <a:ext cx="105720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织带/魔术贴：军规标准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762000" y="5524500"/>
              <a:ext cx="3143250" cy="673894"/>
              <a:chOff x="762000" y="5524500"/>
              <a:chExt cx="3143250" cy="673894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62000" y="5524500"/>
                <a:ext cx="3143250" cy="6667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47725" y="561498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质量标准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48678" y="5794534"/>
                <a:ext cx="111142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缝线：3针加固/双线包边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48678" y="5927884"/>
                <a:ext cx="122972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色牢度：4级以上（AATCC）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48678" y="6061234"/>
                <a:ext cx="121000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缩水率：≤3%（AATCC 135）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4286250" y="1190625"/>
            <a:ext cx="3524250" cy="2476500"/>
            <a:chOff x="4286250" y="1190625"/>
            <a:chExt cx="3524250" cy="2476500"/>
          </a:xfrm>
        </p:grpSpPr>
        <p:sp>
          <p:nvSpPr>
            <p:cNvPr id="48" name="Rectangle 48"/>
            <p:cNvSpPr/>
            <p:nvPr/>
          </p:nvSpPr>
          <p:spPr>
            <a:xfrm>
              <a:off x="4286250" y="1190625"/>
              <a:ext cx="3524250" cy="24765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4286250" y="1190625"/>
              <a:ext cx="3524250" cy="57150"/>
            </a:xfrm>
            <a:prstGeom prst="rect">
              <a:avLst/>
            </a:prstGeom>
            <a:solidFill>
              <a:srgbClr val="6B7C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89044" y="14025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6B7C5E"/>
                  </a:solidFill>
                  <a:latin typeface="Space Grotesk"/>
                  <a:ea typeface="Microsoft YaHei"/>
                  <a:cs typeface="Space Grotesk"/>
                </a:rPr>
                <a:t>营销落地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4476750" y="1714500"/>
              <a:ext cx="3143250" cy="540544"/>
              <a:chOff x="4476750" y="1714500"/>
              <a:chExt cx="3143250" cy="540544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4476750" y="1714500"/>
                <a:ext cx="3143250" cy="5238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4562475" y="1804988"/>
                <a:ext cx="63437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Listing优化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563428" y="1984534"/>
                <a:ext cx="207754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标题：Brand+Style+Feature+Material+Color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563428" y="2117884"/>
                <a:ext cx="210712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五点：面料科技/功能细节/场景适配/尺码/护理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4476750" y="2333625"/>
              <a:ext cx="3143250" cy="540544"/>
              <a:chOff x="4476750" y="2333625"/>
              <a:chExt cx="3143250" cy="540544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4476750" y="2333625"/>
                <a:ext cx="3143250" cy="5238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4562475" y="242411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广告策略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563428" y="2603659"/>
                <a:ext cx="187052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SP 60%：核心词+长尾词 · SB 25%：品牌词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4563428" y="2737009"/>
                <a:ext cx="183108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SD 15%：竞品ASIN定向 · ACoS目标25-35%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4476750" y="2952750"/>
              <a:ext cx="3143250" cy="540544"/>
              <a:chOff x="4476750" y="2952750"/>
              <a:chExt cx="3143250" cy="540544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4476750" y="2952750"/>
                <a:ext cx="3143250" cy="5238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4562475" y="304323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站外引流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4563428" y="3222784"/>
                <a:ext cx="1446609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Instagram/TikTok工装穿搭内容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563428" y="3356134"/>
                <a:ext cx="179658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Reddit工装社区互动 · YouTube测评合作</a:t>
                </a: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4286250" y="3857625"/>
            <a:ext cx="3524250" cy="2476500"/>
            <a:chOff x="4286250" y="3857625"/>
            <a:chExt cx="3524250" cy="2476500"/>
          </a:xfrm>
        </p:grpSpPr>
        <p:sp>
          <p:nvSpPr>
            <p:cNvPr id="67" name="Rectangle 67"/>
            <p:cNvSpPr/>
            <p:nvPr/>
          </p:nvSpPr>
          <p:spPr>
            <a:xfrm>
              <a:off x="4286250" y="3857625"/>
              <a:ext cx="3524250" cy="24765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4286250" y="3857625"/>
              <a:ext cx="3524250" cy="57150"/>
            </a:xfrm>
            <a:prstGeom prst="rect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602784" y="406955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3498DB"/>
                  </a:solidFill>
                  <a:latin typeface="Space Grotesk"/>
                  <a:ea typeface="Microsoft YaHei"/>
                  <a:cs typeface="Space Grotesk"/>
                </a:rPr>
                <a:t>供应链落地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4476750" y="4381500"/>
              <a:ext cx="3143250" cy="540544"/>
              <a:chOff x="4476750" y="4381500"/>
              <a:chExt cx="3143250" cy="540544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4476750" y="4381500"/>
                <a:ext cx="3143250" cy="5238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4562475" y="447198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面料采购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4563428" y="4651534"/>
                <a:ext cx="141703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Cordura：Invista授权工厂采购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4563428" y="4784884"/>
                <a:ext cx="1944457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Ripstop：盛泽/长兴面料市场 · MOQ 1000m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4476750" y="5000625"/>
              <a:ext cx="3143250" cy="540544"/>
              <a:chOff x="4476750" y="5000625"/>
              <a:chExt cx="3143250" cy="540544"/>
            </a:xfrm>
          </p:grpSpPr>
          <p:sp>
            <p:nvSpPr>
              <p:cNvPr id="75" name="Rectangle 75"/>
              <p:cNvSpPr/>
              <p:nvPr/>
            </p:nvSpPr>
            <p:spPr>
              <a:xfrm>
                <a:off x="4476750" y="5000625"/>
                <a:ext cx="3143250" cy="5238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4562475" y="509111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生产管理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4563428" y="5270659"/>
                <a:ext cx="119522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首单MOQ：500-1000件/色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4563428" y="5404009"/>
                <a:ext cx="159448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交期：45-60天 · QC标准：AQL 2.5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4476750" y="5619750"/>
              <a:ext cx="3143250" cy="540544"/>
              <a:chOff x="4476750" y="5619750"/>
              <a:chExt cx="3143250" cy="540544"/>
            </a:xfrm>
          </p:grpSpPr>
          <p:sp>
            <p:nvSpPr>
              <p:cNvPr id="80" name="Rectangle 80"/>
              <p:cNvSpPr/>
              <p:nvPr/>
            </p:nvSpPr>
            <p:spPr>
              <a:xfrm>
                <a:off x="4476750" y="5619750"/>
                <a:ext cx="3143250" cy="5238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4562475" y="571023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物流仓储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4563428" y="5889784"/>
                <a:ext cx="128887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FBA为主 · 海运备货周期45天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4563428" y="6023134"/>
                <a:ext cx="1421963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安全库存：45天 · 空运补货应急</a:t>
                </a:r>
              </a:p>
            </p:txBody>
          </p:sp>
        </p:grpSp>
      </p:grpSp>
      <p:grpSp>
        <p:nvGrpSpPr>
          <p:cNvPr id="122" name="Group 122"/>
          <p:cNvGrpSpPr/>
          <p:nvPr/>
        </p:nvGrpSpPr>
        <p:grpSpPr>
          <a:xfrm>
            <a:off x="8001000" y="1190625"/>
            <a:ext cx="3619500" cy="5143500"/>
            <a:chOff x="8001000" y="1190625"/>
            <a:chExt cx="3619500" cy="5143500"/>
          </a:xfrm>
        </p:grpSpPr>
        <p:sp>
          <p:nvSpPr>
            <p:cNvPr id="86" name="Rectangle 86"/>
            <p:cNvSpPr/>
            <p:nvPr/>
          </p:nvSpPr>
          <p:spPr>
            <a:xfrm>
              <a:off x="8001000" y="1190625"/>
              <a:ext cx="3619500" cy="51435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8001000" y="1190625"/>
              <a:ext cx="3619500" cy="57150"/>
            </a:xfrm>
            <a:prstGeom prst="rect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851907" y="1402556"/>
              <a:ext cx="19176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74C3C"/>
                  </a:solidFill>
                  <a:latin typeface="Space Grotesk"/>
                  <a:ea typeface="Microsoft YaHei"/>
                  <a:cs typeface="Space Grotesk"/>
                </a:rPr>
                <a:t>6.4 市场风险与合规提示</a:t>
              </a:r>
            </a:p>
          </p:txBody>
        </p:sp>
        <p:grpSp>
          <p:nvGrpSpPr>
            <p:cNvPr id="94" name="Group 94"/>
            <p:cNvGrpSpPr/>
            <p:nvPr/>
          </p:nvGrpSpPr>
          <p:grpSpPr>
            <a:xfrm>
              <a:off x="8191500" y="1714500"/>
              <a:ext cx="3238500" cy="714375"/>
              <a:chOff x="8191500" y="1714500"/>
              <a:chExt cx="3238500" cy="714375"/>
            </a:xfrm>
          </p:grpSpPr>
          <p:sp>
            <p:nvSpPr>
              <p:cNvPr id="89" name="Rectangle 89"/>
              <p:cNvSpPr/>
              <p:nvPr/>
            </p:nvSpPr>
            <p:spPr>
              <a:xfrm>
                <a:off x="8191500" y="1714500"/>
                <a:ext cx="3238500" cy="7143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8277225" y="1804988"/>
                <a:ext cx="57687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E74C3C"/>
                    </a:solidFill>
                    <a:latin typeface="Space Grotesk"/>
                    <a:ea typeface="Microsoft YaHei"/>
                    <a:cs typeface="Space Grotesk"/>
                  </a:rPr>
                  <a:t>⚠ 关税风险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8278178" y="2003584"/>
                <a:ext cx="1850803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中美关税不确定性：服装类目301关税25%+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8278178" y="2136934"/>
                <a:ext cx="210219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建议：关注关税豁免清单 · 评估东南亚产能转移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8278178" y="2270284"/>
                <a:ext cx="147618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成本模型预留10-15%关税波动空间</a:t>
                </a: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8191500" y="2524125"/>
              <a:ext cx="3238500" cy="714375"/>
              <a:chOff x="8191500" y="2524125"/>
              <a:chExt cx="3238500" cy="714375"/>
            </a:xfrm>
          </p:grpSpPr>
          <p:sp>
            <p:nvSpPr>
              <p:cNvPr id="95" name="Rectangle 95"/>
              <p:cNvSpPr/>
              <p:nvPr/>
            </p:nvSpPr>
            <p:spPr>
              <a:xfrm>
                <a:off x="8191500" y="2524125"/>
                <a:ext cx="3238500" cy="7143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8277225" y="2614612"/>
                <a:ext cx="80689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E74C3C"/>
                    </a:solidFill>
                    <a:latin typeface="Space Grotesk"/>
                    <a:ea typeface="Microsoft YaHei"/>
                    <a:cs typeface="Space Grotesk"/>
                  </a:rPr>
                  <a:t>⚠ 知识产权风险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8278178" y="2813209"/>
                <a:ext cx="162406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Carhartt/Dickies设计专利保护严格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8278178" y="2946559"/>
                <a:ext cx="162406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建议：避免1:1仿款 · 自主设计差异化</a:t>
                </a: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8278178" y="3079909"/>
                <a:ext cx="151561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面料专利：Cordura需Invista授权</a:t>
                </a: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8191500" y="3333750"/>
              <a:ext cx="3238500" cy="714375"/>
              <a:chOff x="8191500" y="3333750"/>
              <a:chExt cx="3238500" cy="714375"/>
            </a:xfrm>
          </p:grpSpPr>
          <p:sp>
            <p:nvSpPr>
              <p:cNvPr id="101" name="Rectangle 101"/>
              <p:cNvSpPr/>
              <p:nvPr/>
            </p:nvSpPr>
            <p:spPr>
              <a:xfrm>
                <a:off x="8191500" y="3333750"/>
                <a:ext cx="3238500" cy="7143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8277225" y="3424238"/>
                <a:ext cx="80689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E74C3C"/>
                    </a:solidFill>
                    <a:latin typeface="Space Grotesk"/>
                    <a:ea typeface="Microsoft YaHei"/>
                    <a:cs typeface="Space Grotesk"/>
                  </a:rPr>
                  <a:t>⚠ 产品合规风险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8278178" y="3622834"/>
                <a:ext cx="174236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CPSIA：儿童服装铅含量限制（如涉及）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8278178" y="3756184"/>
                <a:ext cx="152547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16 CFR Part 1610：纺织品阻燃标准</a:t>
                </a: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8278178" y="3889534"/>
                <a:ext cx="174236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OEKO-TEX 100：有害物质检测（推荐）</a:t>
                </a: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8191500" y="4143375"/>
              <a:ext cx="3238500" cy="714375"/>
              <a:chOff x="8191500" y="4143375"/>
              <a:chExt cx="3238500" cy="714375"/>
            </a:xfrm>
          </p:grpSpPr>
          <p:sp>
            <p:nvSpPr>
              <p:cNvPr id="107" name="Rectangle 107"/>
              <p:cNvSpPr/>
              <p:nvPr/>
            </p:nvSpPr>
            <p:spPr>
              <a:xfrm>
                <a:off x="8191500" y="4143375"/>
                <a:ext cx="3238500" cy="7143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8277225" y="4233862"/>
                <a:ext cx="80689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E74C3C"/>
                    </a:solidFill>
                    <a:latin typeface="Space Grotesk"/>
                    <a:ea typeface="Microsoft YaHei"/>
                    <a:cs typeface="Space Grotesk"/>
                  </a:rPr>
                  <a:t>⚠ 标签合规风险</a:t>
                </a: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8278178" y="4432459"/>
                <a:ext cx="1767007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FTC纺织品标签法：纤维成分/产地/护理</a:t>
                </a:r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8278178" y="4565809"/>
                <a:ext cx="159448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CA Prop 65：加州有害物质警告标签</a:t>
                </a:r>
              </a:p>
            </p:txBody>
          </p:sp>
          <p:sp>
            <p:nvSpPr>
              <p:cNvPr id="111" name="TextBox 111"/>
              <p:cNvSpPr txBox="1"/>
              <p:nvPr/>
            </p:nvSpPr>
            <p:spPr>
              <a:xfrm>
                <a:off x="8278178" y="4699159"/>
                <a:ext cx="180151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建议：标签信息100%准确 · 避免虚假宣传</a:t>
                </a: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8191500" y="4953000"/>
              <a:ext cx="3238500" cy="714375"/>
              <a:chOff x="8191500" y="4953000"/>
              <a:chExt cx="3238500" cy="714375"/>
            </a:xfrm>
          </p:grpSpPr>
          <p:sp>
            <p:nvSpPr>
              <p:cNvPr id="113" name="Rectangle 113"/>
              <p:cNvSpPr/>
              <p:nvPr/>
            </p:nvSpPr>
            <p:spPr>
              <a:xfrm>
                <a:off x="8191500" y="4953000"/>
                <a:ext cx="3238500" cy="7143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8277225" y="5043488"/>
                <a:ext cx="57687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E74C3C"/>
                    </a:solidFill>
                    <a:latin typeface="Space Grotesk"/>
                    <a:ea typeface="Microsoft YaHei"/>
                    <a:cs typeface="Space Grotesk"/>
                  </a:rPr>
                  <a:t>⚠ 竞争风险</a:t>
                </a:r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8278178" y="5242084"/>
                <a:ext cx="141210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白牌卖家价格战 · 头部品牌下沉</a:t>
                </a:r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8278178" y="5375434"/>
                <a:ext cx="141210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巴恩风潮流衰退风险 · 库存积压</a:t>
                </a: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8278178" y="5508784"/>
                <a:ext cx="167335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建议：控制首单量 · 灵活调整SKU结构</a:t>
                </a: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8191500" y="5762625"/>
              <a:ext cx="3238500" cy="428625"/>
              <a:chOff x="8191500" y="5762625"/>
              <a:chExt cx="3238500" cy="428625"/>
            </a:xfrm>
          </p:grpSpPr>
          <p:sp>
            <p:nvSpPr>
              <p:cNvPr id="119" name="Rectangle 119"/>
              <p:cNvSpPr/>
              <p:nvPr/>
            </p:nvSpPr>
            <p:spPr>
              <a:xfrm>
                <a:off x="8191500" y="5762625"/>
                <a:ext cx="3238500" cy="428625"/>
              </a:xfrm>
              <a:prstGeom prst="rect">
                <a:avLst/>
              </a:prstGeom>
              <a:solidFill>
                <a:srgbClr val="E74C3C">
                  <a:alpha val="10000"/>
                </a:srgbClr>
              </a:solidFill>
              <a:ln w="9525">
                <a:solidFill>
                  <a:srgbClr val="E74C3C"/>
                </a:solidFill>
              </a:ln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8610826" y="5948362"/>
                <a:ext cx="239984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 dirty="0">
                    <a:solidFill>
                      <a:srgbClr val="E74C3C"/>
                    </a:solidFill>
                    <a:latin typeface="Space Grotesk"/>
                    <a:ea typeface="Microsoft YaHei"/>
                    <a:cs typeface="Space Grotesk"/>
                  </a:rPr>
                  <a:t>建议：入局前完成合规审计 · 预留6个月现金流</a:t>
                </a:r>
              </a:p>
            </p:txBody>
          </p:sp>
        </p:grpSp>
      </p:grpSp>
      <p:sp>
        <p:nvSpPr>
          <p:cNvPr id="123" name="Rectangle 12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91941"/>
            <a:ext cx="6851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550545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工装风格趋势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085374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四大核心风格定义市场主流方向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571500" y="1476375"/>
            <a:ext cx="10477500" cy="5286375"/>
            <a:chOff x="571500" y="1476375"/>
            <a:chExt cx="10477500" cy="5286375"/>
          </a:xfrm>
        </p:grpSpPr>
        <p:grpSp>
          <p:nvGrpSpPr>
            <p:cNvPr id="25" name="Group 25"/>
            <p:cNvGrpSpPr/>
            <p:nvPr/>
          </p:nvGrpSpPr>
          <p:grpSpPr>
            <a:xfrm>
              <a:off x="571500" y="1476375"/>
              <a:ext cx="5143500" cy="5286375"/>
              <a:chOff x="571500" y="1476375"/>
              <a:chExt cx="5143500" cy="528637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76375"/>
                <a:ext cx="5143500" cy="5191125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476375"/>
                <a:ext cx="5143500" cy="57150"/>
              </a:xfrm>
              <a:prstGeom prst="rect">
                <a:avLst/>
              </a:prstGeom>
              <a:solidFill>
                <a:srgbClr val="B5A88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50570" y="1712595"/>
                <a:ext cx="56112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B5A882"/>
                    </a:solidFill>
                    <a:latin typeface="Space Grotesk"/>
                    <a:ea typeface="Microsoft YaHei"/>
                    <a:cs typeface="Space Grotesk"/>
                  </a:rPr>
                  <a:t>STYLE 01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47712" y="1926431"/>
                <a:ext cx="244387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复古工装风 Vintage Workwear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51522" y="2196941"/>
                <a:ext cx="351520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复刻上世纪工人服饰，绑定阿美咔叽文化，强调历史感与手工痕迹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2475" y="24431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设计元素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2475" y="2614612"/>
                <a:ext cx="19304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丹宁 · 帆布 · 做旧工艺 · 经典版型复刻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2475" y="28241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标志单品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52475" y="2995612"/>
                <a:ext cx="210026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底特律夹克、谷仓夹克、伐木裤、工程师靴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32385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672590" y="410194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丹宁夹克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190875" y="32385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161711" y="4101941"/>
                <a:ext cx="3824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伐木裤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762000" y="5048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672590" y="59116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工程师靴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190875" y="5048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041219" y="5911691"/>
                <a:ext cx="62341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工装背带裤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905500" y="1476375"/>
              <a:ext cx="5143500" cy="5286375"/>
              <a:chOff x="5905500" y="1476375"/>
              <a:chExt cx="5143500" cy="528637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905500" y="1476375"/>
                <a:ext cx="5143500" cy="5191125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905500" y="1476375"/>
                <a:ext cx="5143500" cy="57150"/>
              </a:xfrm>
              <a:prstGeom prst="rect">
                <a:avLst/>
              </a:prstGeom>
              <a:solidFill>
                <a:srgbClr val="6B7C5E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084570" y="1712595"/>
                <a:ext cx="5956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6B7C5E"/>
                    </a:solidFill>
                    <a:latin typeface="Space Grotesk"/>
                    <a:ea typeface="Microsoft YaHei"/>
                    <a:cs typeface="Space Grotesk"/>
                  </a:rPr>
                  <a:t>STYLE 02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081712" y="1926431"/>
                <a:ext cx="248700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军事工装风 Military Workwear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085522" y="2196941"/>
                <a:ext cx="364774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从军服演变而来，从"战斗装备"转化为潮流符号，注重细节与功能性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086475" y="24431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设计元素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86475" y="2614612"/>
                <a:ext cx="147589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迷彩印花 · 多口袋 · 硬朗剪裁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086475" y="28241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标志单品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086475" y="2995612"/>
                <a:ext cx="214955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迷彩工装衬衫、M65野战夹克、MA1飞行夹克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096000" y="32385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895136" y="4101941"/>
                <a:ext cx="7258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M65野战夹克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8524875" y="32385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339072" y="4101941"/>
                <a:ext cx="69570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MA1飞行夹克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6096000" y="5048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946344" y="5911691"/>
                <a:ext cx="62341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军事工装裤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524875" y="5048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435465" y="59116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迷彩背包</a:t>
                </a:r>
              </a:p>
            </p:txBody>
          </p:sp>
        </p:grpSp>
      </p:grpSp>
      <p:sp>
        <p:nvSpPr>
          <p:cNvPr id="45" name="Rectangle 4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91941"/>
            <a:ext cx="6851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550545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工装风格趋势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085374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四大核心风格定义市场主流方向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571500" y="1476375"/>
            <a:ext cx="10477500" cy="5286375"/>
            <a:chOff x="571500" y="1476375"/>
            <a:chExt cx="10477500" cy="5286375"/>
          </a:xfrm>
        </p:grpSpPr>
        <p:grpSp>
          <p:nvGrpSpPr>
            <p:cNvPr id="25" name="Group 25"/>
            <p:cNvGrpSpPr/>
            <p:nvPr/>
          </p:nvGrpSpPr>
          <p:grpSpPr>
            <a:xfrm>
              <a:off x="571500" y="1476375"/>
              <a:ext cx="5143500" cy="5286375"/>
              <a:chOff x="571500" y="1476375"/>
              <a:chExt cx="5143500" cy="528637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76375"/>
                <a:ext cx="5143500" cy="5191125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476375"/>
                <a:ext cx="5143500" cy="57150"/>
              </a:xfrm>
              <a:prstGeom prst="rect">
                <a:avLst/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50570" y="1712595"/>
                <a:ext cx="5956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3498DB"/>
                    </a:solidFill>
                    <a:latin typeface="Space Grotesk"/>
                    <a:ea typeface="Microsoft YaHei"/>
                    <a:cs typeface="Space Grotesk"/>
                  </a:rPr>
                  <a:t>STYLE 03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47712" y="1926431"/>
                <a:ext cx="17365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机能工装风 Techwear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51522" y="2196941"/>
                <a:ext cx="321999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科技面料与时尚设计融合，科技感+未来感，设计走向先锋化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2475" y="24431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核心技术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2475" y="2614612"/>
                <a:ext cx="329422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GORE-TEX、3M反光材质，具备高活动性、多重收纳、防水挡风特性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2475" y="28241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核心优势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52475" y="2995612"/>
                <a:ext cx="286702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功能性远超传统工装，满足现代消费者功能与时尚双重需求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32385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515951" y="4101941"/>
                <a:ext cx="81619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GORE-TEX夹克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190875" y="32385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962900" y="4101941"/>
                <a:ext cx="78005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3M反光工装裤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762000" y="5048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672590" y="59116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机能背包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190875" y="5048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101465" y="59116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防护手套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905500" y="1476375"/>
              <a:ext cx="5143500" cy="5286375"/>
              <a:chOff x="5905500" y="1476375"/>
              <a:chExt cx="5143500" cy="528637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905500" y="1476375"/>
                <a:ext cx="5143500" cy="5191125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5905500" y="1476375"/>
                <a:ext cx="5143500" cy="57150"/>
              </a:xfrm>
              <a:prstGeom prst="rect">
                <a:avLst/>
              </a:prstGeom>
              <a:solidFill>
                <a:srgbClr val="C4704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084570" y="1712595"/>
                <a:ext cx="5956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C47040"/>
                    </a:solidFill>
                    <a:latin typeface="Space Grotesk"/>
                    <a:ea typeface="Microsoft YaHei"/>
                    <a:cs typeface="Space Grotesk"/>
                  </a:rPr>
                  <a:t>STYLE 04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081712" y="1926431"/>
                <a:ext cx="208158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5F5F7"/>
                    </a:solidFill>
                    <a:latin typeface="Space Grotesk"/>
                    <a:ea typeface="Microsoft YaHei"/>
                    <a:cs typeface="Space Grotesk"/>
                  </a:rPr>
                  <a:t>轻工装风 Light Workwear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085522" y="2196941"/>
                <a:ext cx="363569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弱化传统工装复杂功能，聚焦日常舒适与时尚，适配都市快节奏生活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086475" y="24431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设计方向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86475" y="2614612"/>
                <a:ext cx="237958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简化功能，融合通勤+休闲场景，面料选择更多元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086475" y="2824162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市场定位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086475" y="2995612"/>
                <a:ext cx="30861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都市青年日常穿搭首选，多场景适配性极强，市场地位持续提升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096000" y="32385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886099" y="4101941"/>
                <a:ext cx="7439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简约工装衬衫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8524875" y="323850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375219" y="4101941"/>
                <a:ext cx="62341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休闲工装裤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6096000" y="5048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006590" y="59116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轻便马甲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524875" y="5048250"/>
                <a:ext cx="2333625" cy="171450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435465" y="5911691"/>
                <a:ext cx="50292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通勤背包</a:t>
                </a:r>
              </a:p>
            </p:txBody>
          </p:sp>
        </p:grpSp>
      </p:grpSp>
      <p:sp>
        <p:nvSpPr>
          <p:cNvPr id="45" name="Rectangle 4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91941"/>
            <a:ext cx="6851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598170"/>
            <a:ext cx="37414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四大风格趋势要点总结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287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grpSp>
        <p:nvGrpSpPr>
          <p:cNvPr id="63" name="Group 63"/>
          <p:cNvGrpSpPr/>
          <p:nvPr/>
        </p:nvGrpSpPr>
        <p:grpSpPr>
          <a:xfrm>
            <a:off x="571500" y="1285875"/>
            <a:ext cx="11049000" cy="3048000"/>
            <a:chOff x="571500" y="1285875"/>
            <a:chExt cx="11049000" cy="3048000"/>
          </a:xfrm>
        </p:grpSpPr>
        <p:sp>
          <p:nvSpPr>
            <p:cNvPr id="7" name="Rectangle 7"/>
            <p:cNvSpPr/>
            <p:nvPr/>
          </p:nvSpPr>
          <p:spPr>
            <a:xfrm>
              <a:off x="571500" y="1285875"/>
              <a:ext cx="11049000" cy="30480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11049000" cy="428625"/>
            </a:xfrm>
            <a:prstGeom prst="rect">
              <a:avLst/>
            </a:prstGeom>
            <a:solidFill>
              <a:srgbClr val="1E1E2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619250"/>
              <a:ext cx="11049000" cy="95250"/>
            </a:xfrm>
            <a:prstGeom prst="rect">
              <a:avLst/>
            </a:prstGeom>
            <a:solidFill>
              <a:srgbClr val="1E1E2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1070" y="1455420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风格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46070" y="1455420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核心特色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32070" y="1455420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设计元素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18070" y="1455420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关键策略方向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94570" y="1455420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产品图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1714500"/>
              <a:ext cx="11049000" cy="9525"/>
            </a:xfrm>
            <a:prstGeom prst="rect">
              <a:avLst/>
            </a:prstGeom>
            <a:solidFill>
              <a:srgbClr val="2A2A35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941070" y="1857375"/>
              <a:ext cx="10488930" cy="476250"/>
              <a:chOff x="941070" y="1857375"/>
              <a:chExt cx="10488930" cy="47625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41070" y="1903095"/>
                <a:ext cx="71294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B5A882"/>
                    </a:solidFill>
                    <a:latin typeface="Space Grotesk"/>
                    <a:ea typeface="Microsoft YaHei"/>
                    <a:cs typeface="Space Grotesk"/>
                  </a:rPr>
                  <a:t>复古工装风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3928" y="2098834"/>
                <a:ext cx="874824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Vintage Workwear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847022" y="1911191"/>
                <a:ext cx="7439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历史文化特色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848928" y="2098834"/>
                <a:ext cx="80581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阿美咔叽文化绑定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133975" y="1919288"/>
                <a:ext cx="114728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丹宁 · 帆布 · 做旧工艺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133975" y="2090738"/>
                <a:ext cx="67627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经典版型复刻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419975" y="1919288"/>
                <a:ext cx="102131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材质还原 · 工艺复刻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419975" y="2090738"/>
                <a:ext cx="89535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文化叙事 · IP合作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9906000" y="1857375"/>
                <a:ext cx="1524000" cy="4762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  <a:custDash>
                  <a:ds d="300000" sp="200000"/>
                </a:custDash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427756" y="2070259"/>
                <a:ext cx="480489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产品图 ]</a:t>
                </a:r>
              </a:p>
            </p:txBody>
          </p:sp>
        </p:grpSp>
        <p:sp>
          <p:nvSpPr>
            <p:cNvPr id="27" name="Rectangle 27"/>
            <p:cNvSpPr/>
            <p:nvPr/>
          </p:nvSpPr>
          <p:spPr>
            <a:xfrm>
              <a:off x="571500" y="2333625"/>
              <a:ext cx="11049000" cy="9525"/>
            </a:xfrm>
            <a:prstGeom prst="rect">
              <a:avLst/>
            </a:prstGeom>
            <a:solidFill>
              <a:srgbClr val="2A2A35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941070" y="2457450"/>
              <a:ext cx="10488930" cy="476250"/>
              <a:chOff x="941070" y="2457450"/>
              <a:chExt cx="10488930" cy="476250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941070" y="2503170"/>
                <a:ext cx="71294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6B7C5E"/>
                    </a:solidFill>
                    <a:latin typeface="Space Grotesk"/>
                    <a:ea typeface="Microsoft YaHei"/>
                    <a:cs typeface="Space Grotesk"/>
                  </a:rPr>
                  <a:t>军事工装风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43928" y="2698909"/>
                <a:ext cx="89947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Military Workwear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847022" y="2511266"/>
                <a:ext cx="7439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军事背景演变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848928" y="2698909"/>
                <a:ext cx="41148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功能性强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133975" y="2519362"/>
                <a:ext cx="80224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迷彩 · 战术口袋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133975" y="2690812"/>
                <a:ext cx="4572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硬朗剪裁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419975" y="2519362"/>
                <a:ext cx="134993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现代功能转化 · 符号化重构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419975" y="2690812"/>
                <a:ext cx="78581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平衡户外与日常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9906000" y="2457450"/>
                <a:ext cx="1524000" cy="4762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  <a:custDash>
                  <a:ds d="300000" sp="200000"/>
                </a:custDash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427756" y="2670334"/>
                <a:ext cx="480489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产品图 ]</a:t>
                </a:r>
              </a:p>
            </p:txBody>
          </p:sp>
        </p:grpSp>
        <p:sp>
          <p:nvSpPr>
            <p:cNvPr id="39" name="Rectangle 39"/>
            <p:cNvSpPr/>
            <p:nvPr/>
          </p:nvSpPr>
          <p:spPr>
            <a:xfrm>
              <a:off x="571500" y="2952750"/>
              <a:ext cx="11049000" cy="9525"/>
            </a:xfrm>
            <a:prstGeom prst="rect">
              <a:avLst/>
            </a:prstGeom>
            <a:solidFill>
              <a:srgbClr val="2A2A35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941070" y="3076575"/>
              <a:ext cx="10488930" cy="476250"/>
              <a:chOff x="941070" y="3076575"/>
              <a:chExt cx="10488930" cy="476250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941070" y="3122295"/>
                <a:ext cx="71294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3498DB"/>
                    </a:solidFill>
                    <a:latin typeface="Space Grotesk"/>
                    <a:ea typeface="Microsoft YaHei"/>
                    <a:cs typeface="Space Grotesk"/>
                  </a:rPr>
                  <a:t>机能工装风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43928" y="3318034"/>
                <a:ext cx="47063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Techwear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847022" y="3130391"/>
                <a:ext cx="7439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多模块化设计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848928" y="3318034"/>
                <a:ext cx="41148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科技感强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133975" y="3138488"/>
                <a:ext cx="101036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GORE-TEX · 3M反光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133975" y="3309938"/>
                <a:ext cx="56673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模块化设计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419975" y="3138488"/>
                <a:ext cx="113085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场景化拓展 · 科技赋能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419975" y="3309938"/>
                <a:ext cx="4572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用户共创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9906000" y="3076575"/>
                <a:ext cx="1524000" cy="4762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  <a:custDash>
                  <a:ds d="300000" sp="200000"/>
                </a:custDash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427756" y="3289459"/>
                <a:ext cx="480489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产品图 ]</a:t>
                </a:r>
              </a:p>
            </p:txBody>
          </p:sp>
        </p:grpSp>
        <p:sp>
          <p:nvSpPr>
            <p:cNvPr id="51" name="Rectangle 51"/>
            <p:cNvSpPr/>
            <p:nvPr/>
          </p:nvSpPr>
          <p:spPr>
            <a:xfrm>
              <a:off x="571500" y="3571875"/>
              <a:ext cx="11049000" cy="9525"/>
            </a:xfrm>
            <a:prstGeom prst="rect">
              <a:avLst/>
            </a:prstGeom>
            <a:solidFill>
              <a:srgbClr val="2A2A35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941070" y="3695700"/>
              <a:ext cx="10488930" cy="476250"/>
              <a:chOff x="941070" y="3695700"/>
              <a:chExt cx="10488930" cy="476250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941070" y="3741420"/>
                <a:ext cx="57492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C47040"/>
                    </a:solidFill>
                    <a:latin typeface="Space Grotesk"/>
                    <a:ea typeface="Microsoft YaHei"/>
                    <a:cs typeface="Space Grotesk"/>
                  </a:rPr>
                  <a:t>轻工装风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43928" y="3937159"/>
                <a:ext cx="76638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Light Workwear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2847022" y="3749516"/>
                <a:ext cx="62341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现代化融合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2848928" y="3937159"/>
                <a:ext cx="608647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都市化程度高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5133975" y="3757612"/>
                <a:ext cx="91178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简化功能 · 多场景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5133975" y="3929062"/>
                <a:ext cx="4572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多元面料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419975" y="3757612"/>
                <a:ext cx="67627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贴合青年审美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419975" y="3929062"/>
                <a:ext cx="56673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场景化营销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9906000" y="3695700"/>
                <a:ext cx="1524000" cy="476250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  <a:custDash>
                  <a:ds d="300000" sp="200000"/>
                </a:custDash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10427756" y="3908584"/>
                <a:ext cx="480489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[ 产品图 ]</a:t>
                </a:r>
              </a:p>
            </p:txBody>
          </p:sp>
        </p:grpSp>
      </p:grpSp>
      <p:sp>
        <p:nvSpPr>
          <p:cNvPr id="64" name="Rectangle 64"/>
          <p:cNvSpPr/>
          <p:nvPr/>
        </p:nvSpPr>
        <p:spPr>
          <a:xfrm>
            <a:off x="571500" y="4524375"/>
            <a:ext cx="11049000" cy="666750"/>
          </a:xfrm>
          <a:prstGeom prst="rect">
            <a:avLst/>
          </a:prstGeom>
          <a:solidFill>
            <a:srgbClr val="C9A962">
              <a:alpha val="8000"/>
            </a:srgbClr>
          </a:solidFill>
          <a:ln w="9525">
            <a:solidFill>
              <a:srgbClr val="C9A962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50570" y="471297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C9A962"/>
                </a:solidFill>
                <a:latin typeface="Space Grotesk"/>
                <a:ea typeface="Microsoft YaHei"/>
                <a:cs typeface="Space Grotesk"/>
              </a:rPr>
              <a:t>核心结论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50570" y="4903470"/>
            <a:ext cx="73837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F5F7"/>
                </a:solidFill>
                <a:latin typeface="Inter"/>
                <a:ea typeface="Microsoft YaHei"/>
                <a:cs typeface="Inter"/>
              </a:rPr>
              <a:t>四大风格代表了工装文化的多元化演进路径：从历史复刻到军事功能，从科技赋能到都市融合，覆盖从专业到日常的全场景需求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334000"/>
            <a:ext cx="11049000" cy="1238250"/>
          </a:xfrm>
          <a:prstGeom prst="rect">
            <a:avLst/>
          </a:prstGeom>
          <a:solidFill>
            <a:srgbClr val="252530"/>
          </a:solidFill>
          <a:ln w="9525">
            <a:solidFill>
              <a:srgbClr val="3A3A45"/>
            </a:solidFill>
            <a:custDash>
              <a:ds d="400000" sp="200000"/>
            </a:custDash>
          </a:ln>
        </p:spPr>
      </p:sp>
      <p:sp>
        <p:nvSpPr>
          <p:cNvPr id="68" name="TextBox 68"/>
          <p:cNvSpPr txBox="1"/>
          <p:nvPr/>
        </p:nvSpPr>
        <p:spPr>
          <a:xfrm>
            <a:off x="5108591" y="5903595"/>
            <a:ext cx="19748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73"/>
                </a:solidFill>
                <a:latin typeface="Inter"/>
                <a:ea typeface="Microsoft YaHei"/>
                <a:cs typeface="Inter"/>
              </a:rPr>
              <a:t>[ 四大风格对比图 / 市场趋势图 ]</a:t>
            </a:r>
          </a:p>
        </p:txBody>
      </p:sp>
      <p:sp>
        <p:nvSpPr>
          <p:cNvPr id="69" name="Rectangle 6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44316"/>
            <a:ext cx="10394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02 · 2.2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45910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核心面料科技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001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0070" y="902970"/>
            <a:ext cx="30592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工装专用面料体系——功能特性、克重标准与应用场景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571500" y="1190625"/>
            <a:ext cx="10953750" cy="2571750"/>
            <a:chOff x="571500" y="1190625"/>
            <a:chExt cx="10953750" cy="2571750"/>
          </a:xfrm>
        </p:grpSpPr>
        <p:grpSp>
          <p:nvGrpSpPr>
            <p:cNvPr id="22" name="Group 22"/>
            <p:cNvGrpSpPr/>
            <p:nvPr/>
          </p:nvGrpSpPr>
          <p:grpSpPr>
            <a:xfrm>
              <a:off x="571500" y="1190625"/>
              <a:ext cx="3524250" cy="2571750"/>
              <a:chOff x="571500" y="1190625"/>
              <a:chExt cx="3524250" cy="2571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190625"/>
                <a:ext cx="352425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190625"/>
                <a:ext cx="3524250" cy="57150"/>
              </a:xfrm>
              <a:prstGeom prst="rect">
                <a:avLst/>
              </a:prstGeom>
              <a:solidFill>
                <a:srgbClr val="B5A88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01040" y="1410652"/>
                <a:ext cx="10169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B5A882"/>
                    </a:solidFill>
                    <a:latin typeface="Space Grotesk"/>
                    <a:ea typeface="Microsoft YaHei"/>
                    <a:cs typeface="Space Grotesk"/>
                  </a:rPr>
                  <a:t>Cordura 尼龙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03898" y="1654016"/>
                <a:ext cx="265971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Invista旗下高强尼龙面料，耐磨性为标准尼龙3倍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04850" y="189071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克重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3475" y="1890712"/>
                <a:ext cx="213860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200-500D（丹尼尔），工装常用330D/500D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04850" y="206216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功能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33475" y="2062162"/>
                <a:ext cx="118562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耐磨/抗撕裂/轻量/速干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04850" y="223361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应用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33475" y="2233612"/>
                <a:ext cx="134445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工装裤膝盖/口袋/肘部加固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04850" y="249078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价格区间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323975" y="2490788"/>
                <a:ext cx="127325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$8-15/码 | 采购量≥1000码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714375" y="2714625"/>
                <a:ext cx="3238500" cy="9048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729728" y="3149441"/>
                <a:ext cx="120779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Cordura面料纹理特写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4286250" y="1190625"/>
              <a:ext cx="3524250" cy="2571750"/>
              <a:chOff x="4286250" y="1190625"/>
              <a:chExt cx="3524250" cy="25717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286250" y="1190625"/>
                <a:ext cx="352425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4286250" y="1190625"/>
                <a:ext cx="3524250" cy="57150"/>
              </a:xfrm>
              <a:prstGeom prst="rect">
                <a:avLst/>
              </a:prstGeom>
              <a:solidFill>
                <a:srgbClr val="6B7C5E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415790" y="1410652"/>
                <a:ext cx="14597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B7C5E"/>
                    </a:solidFill>
                    <a:latin typeface="Space Grotesk"/>
                    <a:ea typeface="Microsoft YaHei"/>
                    <a:cs typeface="Space Grotesk"/>
                  </a:rPr>
                  <a:t>Ripstop 防撕裂尼龙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418648" y="1654016"/>
                <a:ext cx="18283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十字格纹交织结构，阻止裂口蔓延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419600" y="189071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克重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848225" y="1890712"/>
                <a:ext cx="141017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70-200g/m²，轻量工装首选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419600" y="206216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功能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848225" y="2062162"/>
                <a:ext cx="118562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防撕裂/轻量/透气/速干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19600" y="223361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应用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848225" y="2233612"/>
                <a:ext cx="145399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轻工装衬衫/夏季工装裤/内衬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19600" y="249078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价格区间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038725" y="2490788"/>
                <a:ext cx="124039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$4-8/码 | 采购量≥1000码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4429125" y="2714625"/>
                <a:ext cx="3238500" cy="9048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459539" y="3149441"/>
                <a:ext cx="117767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Ripstop格纹结构特写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8001000" y="1190625"/>
              <a:ext cx="3524250" cy="2571750"/>
              <a:chOff x="8001000" y="1190625"/>
              <a:chExt cx="3524250" cy="25717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8001000" y="1190625"/>
                <a:ext cx="352425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001000" y="1190625"/>
                <a:ext cx="3524250" cy="57150"/>
              </a:xfrm>
              <a:prstGeom prst="rect">
                <a:avLst/>
              </a:prstGeom>
              <a:solidFill>
                <a:srgbClr val="C47040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130540" y="14106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47040"/>
                    </a:solidFill>
                    <a:latin typeface="Space Grotesk"/>
                    <a:ea typeface="Microsoft YaHei"/>
                    <a:cs typeface="Space Grotesk"/>
                  </a:rPr>
                  <a:t>弹力混纺面料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133398" y="1654016"/>
                <a:ext cx="196086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棉+聚酯+氨纶混纺，兼顾舒适与功能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134350" y="189071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克重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562975" y="1890712"/>
                <a:ext cx="157995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240-320g/m²，中厚型工装主力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134350" y="206216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功能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562975" y="2062162"/>
                <a:ext cx="140469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四面弹/吸湿排汗/抗皱/舒适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134350" y="223361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应用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562975" y="2233612"/>
                <a:ext cx="145399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工装裤/工装衬衫/轻工装夹克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134350" y="249078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价格区间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753475" y="2490788"/>
                <a:ext cx="124039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$3-6/码 | 采购量≥1000码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8143875" y="2714625"/>
                <a:ext cx="3238500" cy="9048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150191" y="3149441"/>
                <a:ext cx="122586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弹力混纺面料拉伸特写</a:t>
                </a:r>
              </a:p>
            </p:txBody>
          </p:sp>
        </p:grpSp>
      </p:grpSp>
      <p:grpSp>
        <p:nvGrpSpPr>
          <p:cNvPr id="99" name="Group 99"/>
          <p:cNvGrpSpPr/>
          <p:nvPr/>
        </p:nvGrpSpPr>
        <p:grpSpPr>
          <a:xfrm>
            <a:off x="571500" y="3952875"/>
            <a:ext cx="10953750" cy="2571750"/>
            <a:chOff x="571500" y="3952875"/>
            <a:chExt cx="10953750" cy="2571750"/>
          </a:xfrm>
        </p:grpSpPr>
        <p:grpSp>
          <p:nvGrpSpPr>
            <p:cNvPr id="68" name="Group 68"/>
            <p:cNvGrpSpPr/>
            <p:nvPr/>
          </p:nvGrpSpPr>
          <p:grpSpPr>
            <a:xfrm>
              <a:off x="571500" y="3952875"/>
              <a:ext cx="3524250" cy="2571750"/>
              <a:chOff x="571500" y="3952875"/>
              <a:chExt cx="3524250" cy="25717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571500" y="3952875"/>
                <a:ext cx="352425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571500" y="3952875"/>
                <a:ext cx="3524250" cy="57150"/>
              </a:xfrm>
              <a:prstGeom prst="rect">
                <a:avLst/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01040" y="417290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3498DB"/>
                    </a:solidFill>
                    <a:latin typeface="Space Grotesk"/>
                    <a:ea typeface="Microsoft YaHei"/>
                    <a:cs typeface="Space Grotesk"/>
                  </a:rPr>
                  <a:t>防水透气面料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03898" y="4416266"/>
                <a:ext cx="233438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GORE-TEX/DWR涂层/TPU膜，户外工装必备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04850" y="465296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克重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133475" y="4652962"/>
                <a:ext cx="122396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150-300g/m²，含防水层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04850" y="482441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功能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133475" y="4824412"/>
                <a:ext cx="129516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防水10000mm+/透气/防风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04850" y="499586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应用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133475" y="4995862"/>
                <a:ext cx="134445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工装外套/雨裤/全天候夹克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04850" y="525303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价格区间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323975" y="5253038"/>
                <a:ext cx="130063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$12-30/码 | 采购量≥500码</a:t>
                </a:r>
              </a:p>
            </p:txBody>
          </p:sp>
          <p:sp>
            <p:nvSpPr>
              <p:cNvPr id="66" name="Rectangle 66"/>
              <p:cNvSpPr/>
              <p:nvPr/>
            </p:nvSpPr>
            <p:spPr>
              <a:xfrm>
                <a:off x="714375" y="5476875"/>
                <a:ext cx="3238500" cy="9048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684544" y="5911691"/>
                <a:ext cx="129816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GORE-TEX防水结构示意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4286250" y="3952875"/>
              <a:ext cx="3524250" cy="2571750"/>
              <a:chOff x="4286250" y="3952875"/>
              <a:chExt cx="3524250" cy="257175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4286250" y="3952875"/>
                <a:ext cx="352425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4286250" y="3952875"/>
                <a:ext cx="3524250" cy="57150"/>
              </a:xfrm>
              <a:prstGeom prst="rect">
                <a:avLst/>
              </a:prstGeom>
              <a:solidFill>
                <a:srgbClr val="9B59B6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4415790" y="4172902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9B59B6"/>
                    </a:solidFill>
                    <a:latin typeface="Space Grotesk"/>
                    <a:ea typeface="Microsoft YaHei"/>
                    <a:cs typeface="Space Grotesk"/>
                  </a:rPr>
                  <a:t>抗菌面料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4418648" y="4416266"/>
                <a:ext cx="213557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银离子/锌离子抗菌技术，抑制细菌滋生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4419600" y="465296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克重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4848225" y="4652962"/>
                <a:ext cx="153066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200-280g/m²，棉/涤混纺基材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4419600" y="482441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功能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4848225" y="4824412"/>
                <a:ext cx="143756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抗菌率99%+/防臭/耐洗50次+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4419600" y="499586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应用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4848225" y="4995862"/>
                <a:ext cx="145399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工装衬衫/内层/高温作业工装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4419600" y="525303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价格区间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5038725" y="5253038"/>
                <a:ext cx="127325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$5-10/码 | 采购量≥1000码</a:t>
                </a:r>
              </a:p>
            </p:txBody>
          </p:sp>
          <p:sp>
            <p:nvSpPr>
              <p:cNvPr id="81" name="Rectangle 81"/>
              <p:cNvSpPr/>
              <p:nvPr/>
            </p:nvSpPr>
            <p:spPr>
              <a:xfrm>
                <a:off x="4429125" y="5476875"/>
                <a:ext cx="3238500" cy="9048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5555932" y="5911691"/>
                <a:ext cx="98488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抗菌面料微观结构</a:t>
                </a:r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>
              <a:off x="8001000" y="3952875"/>
              <a:ext cx="3524250" cy="2571750"/>
              <a:chOff x="8001000" y="3952875"/>
              <a:chExt cx="3524250" cy="2571750"/>
            </a:xfrm>
          </p:grpSpPr>
          <p:sp>
            <p:nvSpPr>
              <p:cNvPr id="84" name="Rectangle 84"/>
              <p:cNvSpPr/>
              <p:nvPr/>
            </p:nvSpPr>
            <p:spPr>
              <a:xfrm>
                <a:off x="8001000" y="3952875"/>
                <a:ext cx="352425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85" name="Rectangle 85"/>
              <p:cNvSpPr/>
              <p:nvPr/>
            </p:nvSpPr>
            <p:spPr>
              <a:xfrm>
                <a:off x="8001000" y="3952875"/>
                <a:ext cx="352425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8130540" y="4172902"/>
                <a:ext cx="10813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帆布/丹宁面料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8133398" y="4416266"/>
                <a:ext cx="194881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工装最经典面料，复古工装核心材质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8134350" y="465296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克重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562975" y="4652962"/>
                <a:ext cx="119110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帆布8-18oz 丹宁10-14oz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8134350" y="482441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功能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8562975" y="4824412"/>
                <a:ext cx="151423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耐磨/厚实/越穿越软/经典质感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8134350" y="4995862"/>
                <a:ext cx="2490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应用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8562975" y="4995862"/>
                <a:ext cx="145399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底特律夹克/谷仓夹克/工装裤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8134350" y="5253038"/>
                <a:ext cx="47910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价格区间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8753475" y="5253038"/>
                <a:ext cx="126777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$2-5/码 | 采购量≥2000码</a:t>
                </a:r>
              </a:p>
            </p:txBody>
          </p:sp>
          <p:sp>
            <p:nvSpPr>
              <p:cNvPr id="96" name="Rectangle 96"/>
              <p:cNvSpPr/>
              <p:nvPr/>
            </p:nvSpPr>
            <p:spPr>
              <a:xfrm>
                <a:off x="8143875" y="5476875"/>
                <a:ext cx="3238500" cy="904875"/>
              </a:xfrm>
              <a:prstGeom prst="rect">
                <a:avLst/>
              </a:prstGeom>
              <a:solidFill>
                <a:srgbClr val="252530"/>
              </a:solidFill>
              <a:ln w="9525">
                <a:solidFill>
                  <a:srgbClr val="3A3A45"/>
                </a:solidFill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9237547" y="5911691"/>
                <a:ext cx="105115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E6E73"/>
                    </a:solidFill>
                    <a:latin typeface="Inter"/>
                    <a:ea typeface="Microsoft YaHei"/>
                    <a:cs typeface="Inter"/>
                  </a:rPr>
                  <a:t>帆布/丹宁面料纹理</a:t>
                </a:r>
              </a:p>
            </p:txBody>
          </p:sp>
        </p:grpSp>
      </p:grpSp>
      <p:sp>
        <p:nvSpPr>
          <p:cNvPr id="100" name="Rectangle 10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244316"/>
            <a:ext cx="10394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02 · 2.3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4830" y="45910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版型工学与功能细节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80010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0070" y="902970"/>
            <a:ext cx="345357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工装专属设计——立体剪裁、活动余量、加固结构与收纳系统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571500" y="1190625"/>
            <a:ext cx="11049000" cy="2571750"/>
            <a:chOff x="571500" y="1190625"/>
            <a:chExt cx="11049000" cy="2571750"/>
          </a:xfrm>
        </p:grpSpPr>
        <p:grpSp>
          <p:nvGrpSpPr>
            <p:cNvPr id="31" name="Group 31"/>
            <p:cNvGrpSpPr/>
            <p:nvPr/>
          </p:nvGrpSpPr>
          <p:grpSpPr>
            <a:xfrm>
              <a:off x="571500" y="1190625"/>
              <a:ext cx="5334000" cy="2571750"/>
              <a:chOff x="571500" y="1190625"/>
              <a:chExt cx="5334000" cy="2571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190625"/>
                <a:ext cx="533400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190625"/>
                <a:ext cx="5334000" cy="57150"/>
              </a:xfrm>
              <a:prstGeom prst="rect">
                <a:avLst/>
              </a:prstGeom>
              <a:solidFill>
                <a:srgbClr val="C9A96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46760" y="1394460"/>
                <a:ext cx="1686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9A962"/>
                    </a:solidFill>
                    <a:latin typeface="Space Grotesk"/>
                    <a:ea typeface="Microsoft YaHei"/>
                    <a:cs typeface="Space Grotesk"/>
                  </a:rPr>
                  <a:t>立体剪裁与活动余量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1522" y="1673066"/>
                <a:ext cx="340675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工装版型的核心在于"动得开、穿得住"，区别于时装的修身剪裁</a:t>
                </a:r>
              </a:p>
            </p:txBody>
          </p:sp>
          <p:grpSp>
            <p:nvGrpSpPr>
              <p:cNvPr id="30" name="Group 30"/>
              <p:cNvGrpSpPr/>
              <p:nvPr/>
            </p:nvGrpSpPr>
            <p:grpSpPr>
              <a:xfrm>
                <a:off x="762000" y="1952625"/>
                <a:ext cx="4953000" cy="1619250"/>
                <a:chOff x="762000" y="1952625"/>
                <a:chExt cx="4953000" cy="1619250"/>
              </a:xfrm>
            </p:grpSpPr>
            <p:grpSp>
              <p:nvGrpSpPr>
                <p:cNvPr id="20" name="Group 20"/>
                <p:cNvGrpSpPr/>
                <p:nvPr/>
              </p:nvGrpSpPr>
              <p:grpSpPr>
                <a:xfrm>
                  <a:off x="762000" y="1952625"/>
                  <a:ext cx="2381250" cy="1619250"/>
                  <a:chOff x="762000" y="1952625"/>
                  <a:chExt cx="2381250" cy="1619250"/>
                </a:xfrm>
              </p:grpSpPr>
              <p:sp>
                <p:nvSpPr>
                  <p:cNvPr id="12" name="Rectangle 12"/>
                  <p:cNvSpPr/>
                  <p:nvPr/>
                </p:nvSpPr>
                <p:spPr>
                  <a:xfrm>
                    <a:off x="762000" y="1952625"/>
                    <a:ext cx="2381250" cy="1619250"/>
                  </a:xfrm>
                  <a:prstGeom prst="rect">
                    <a:avLst/>
                  </a:prstGeom>
                  <a:solidFill>
                    <a:srgbClr val="252530"/>
                  </a:solidFill>
                  <a:ln w="9525">
                    <a:solidFill>
                      <a:srgbClr val="3A3A45"/>
                    </a:solidFill>
                  </a:ln>
                </p:spPr>
              </p:sp>
              <p:sp>
                <p:nvSpPr>
                  <p:cNvPr id="13" name="TextBox 13"/>
                  <p:cNvSpPr txBox="1"/>
                  <p:nvPr/>
                </p:nvSpPr>
                <p:spPr>
                  <a:xfrm>
                    <a:off x="894398" y="2101691"/>
                    <a:ext cx="527018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b="1" dirty="0">
                        <a:solidFill>
                          <a:srgbClr val="C9A962"/>
                        </a:solidFill>
                        <a:latin typeface="Space Grotesk"/>
                        <a:ea typeface="Microsoft YaHei"/>
                        <a:cs typeface="Space Grotesk"/>
                      </a:rPr>
                      <a:t>立体剪裁</a:t>
                    </a:r>
                  </a:p>
                </p:txBody>
              </p:sp>
              <p:sp>
                <p:nvSpPr>
                  <p:cNvPr id="14" name="TextBox 14"/>
                  <p:cNvSpPr txBox="1"/>
                  <p:nvPr/>
                </p:nvSpPr>
                <p:spPr>
                  <a:xfrm>
                    <a:off x="895350" y="2328862"/>
                    <a:ext cx="1552575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肩部预弯曲设计，肘部弯曲余量</a:t>
                    </a:r>
                  </a:p>
                </p:txBody>
              </p:sp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895350" y="2500312"/>
                    <a:ext cx="1453991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膝部3D立体剪裁，蹲姿不紧绷</a:t>
                    </a:r>
                  </a:p>
                </p:txBody>
              </p:sp>
              <p:sp>
                <p:nvSpPr>
                  <p:cNvPr id="16" name="TextBox 16"/>
                  <p:cNvSpPr txBox="1"/>
                  <p:nvPr/>
                </p:nvSpPr>
                <p:spPr>
                  <a:xfrm>
                    <a:off x="895350" y="2671762"/>
                    <a:ext cx="1552575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裆部菱形补片，大幅活动无束缚</a:t>
                    </a:r>
                  </a:p>
                </p:txBody>
              </p:sp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895350" y="2919412"/>
                    <a:ext cx="479108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b="1" dirty="0">
                        <a:solidFill>
                          <a:srgbClr val="C9A962"/>
                        </a:solidFill>
                        <a:latin typeface="Inter"/>
                        <a:ea typeface="Microsoft YaHei"/>
                        <a:cs typeface="Inter"/>
                      </a:rPr>
                      <a:t>关键参数</a:t>
                    </a:r>
                  </a:p>
                </p:txBody>
              </p:sp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895350" y="3090862"/>
                    <a:ext cx="1634728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肩部余量+3-5cm 肘部弯曲角120°</a:t>
                    </a:r>
                  </a:p>
                </p:txBody>
              </p:sp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895350" y="3262312"/>
                    <a:ext cx="1574482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膝部弯曲余量+4cm 裆深+2-3cm</a:t>
                    </a:r>
                  </a:p>
                </p:txBody>
              </p:sp>
            </p:grpSp>
            <p:grpSp>
              <p:nvGrpSpPr>
                <p:cNvPr id="29" name="Group 29"/>
                <p:cNvGrpSpPr/>
                <p:nvPr/>
              </p:nvGrpSpPr>
              <p:grpSpPr>
                <a:xfrm>
                  <a:off x="3333750" y="1952625"/>
                  <a:ext cx="2381250" cy="1619250"/>
                  <a:chOff x="3333750" y="1952625"/>
                  <a:chExt cx="2381250" cy="1619250"/>
                </a:xfrm>
              </p:grpSpPr>
              <p:sp>
                <p:nvSpPr>
                  <p:cNvPr id="21" name="Rectangle 21"/>
                  <p:cNvSpPr/>
                  <p:nvPr/>
                </p:nvSpPr>
                <p:spPr>
                  <a:xfrm>
                    <a:off x="3333750" y="1952625"/>
                    <a:ext cx="2381250" cy="1619250"/>
                  </a:xfrm>
                  <a:prstGeom prst="rect">
                    <a:avLst/>
                  </a:prstGeom>
                  <a:solidFill>
                    <a:srgbClr val="252530"/>
                  </a:solidFill>
                  <a:ln w="9525">
                    <a:solidFill>
                      <a:srgbClr val="3A3A45"/>
                    </a:solidFill>
                  </a:ln>
                </p:spPr>
              </p:sp>
              <p:sp>
                <p:nvSpPr>
                  <p:cNvPr id="22" name="TextBox 22"/>
                  <p:cNvSpPr txBox="1"/>
                  <p:nvPr/>
                </p:nvSpPr>
                <p:spPr>
                  <a:xfrm>
                    <a:off x="3466148" y="2101691"/>
                    <a:ext cx="780050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b="1" dirty="0">
                        <a:solidFill>
                          <a:srgbClr val="C9A962"/>
                        </a:solidFill>
                        <a:latin typeface="Space Grotesk"/>
                        <a:ea typeface="Microsoft YaHei"/>
                        <a:cs typeface="Space Grotesk"/>
                      </a:rPr>
                      <a:t>活动余量设计</a:t>
                    </a:r>
                  </a:p>
                </p:txBody>
              </p:sp>
              <p:sp>
                <p:nvSpPr>
                  <p:cNvPr id="23" name="TextBox 23"/>
                  <p:cNvSpPr txBox="1"/>
                  <p:nvPr/>
                </p:nvSpPr>
                <p:spPr>
                  <a:xfrm>
                    <a:off x="3467100" y="2328862"/>
                    <a:ext cx="1443038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背部褶裥：举手时后摆不上缩</a:t>
                    </a:r>
                  </a:p>
                </p:txBody>
              </p:sp>
              <p:sp>
                <p:nvSpPr>
                  <p:cNvPr id="24" name="TextBox 24"/>
                  <p:cNvSpPr txBox="1"/>
                  <p:nvPr/>
                </p:nvSpPr>
                <p:spPr>
                  <a:xfrm>
                    <a:off x="3467100" y="2500312"/>
                    <a:ext cx="1333500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侧缝弧度：坐姿腰部不外露</a:t>
                    </a:r>
                  </a:p>
                </p:txBody>
              </p:sp>
              <p:sp>
                <p:nvSpPr>
                  <p:cNvPr id="25" name="TextBox 25"/>
                  <p:cNvSpPr txBox="1"/>
                  <p:nvPr/>
                </p:nvSpPr>
                <p:spPr>
                  <a:xfrm>
                    <a:off x="3467100" y="2671762"/>
                    <a:ext cx="1333500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下摆弧形：弯腰时背部覆盖</a:t>
                    </a:r>
                  </a:p>
                </p:txBody>
              </p:sp>
              <p:sp>
                <p:nvSpPr>
                  <p:cNvPr id="26" name="TextBox 26"/>
                  <p:cNvSpPr txBox="1"/>
                  <p:nvPr/>
                </p:nvSpPr>
                <p:spPr>
                  <a:xfrm>
                    <a:off x="3467100" y="2919412"/>
                    <a:ext cx="479108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b="1" dirty="0">
                        <a:solidFill>
                          <a:srgbClr val="C9A962"/>
                        </a:solidFill>
                        <a:latin typeface="Inter"/>
                        <a:ea typeface="Microsoft YaHei"/>
                        <a:cs typeface="Inter"/>
                      </a:rPr>
                      <a:t>版型对比</a:t>
                    </a:r>
                  </a:p>
                </p:txBody>
              </p:sp>
              <p:sp>
                <p:nvSpPr>
                  <p:cNvPr id="27" name="TextBox 27"/>
                  <p:cNvSpPr txBox="1"/>
                  <p:nvPr/>
                </p:nvSpPr>
                <p:spPr>
                  <a:xfrm>
                    <a:off x="3467100" y="3090862"/>
                    <a:ext cx="1410176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修身版：胸围+4cm 适合通勤</a:t>
                    </a:r>
                  </a:p>
                </p:txBody>
              </p:sp>
              <p:sp>
                <p:nvSpPr>
                  <p:cNvPr id="28" name="TextBox 28"/>
                  <p:cNvSpPr txBox="1"/>
                  <p:nvPr/>
                </p:nvSpPr>
                <p:spPr>
                  <a:xfrm>
                    <a:off x="3467100" y="3262312"/>
                    <a:ext cx="1410176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宽松版：胸围+8cm 适合作业</a:t>
                    </a:r>
                  </a:p>
                </p:txBody>
              </p:sp>
            </p:grpSp>
          </p:grpSp>
        </p:grpSp>
        <p:grpSp>
          <p:nvGrpSpPr>
            <p:cNvPr id="55" name="Group 55"/>
            <p:cNvGrpSpPr/>
            <p:nvPr/>
          </p:nvGrpSpPr>
          <p:grpSpPr>
            <a:xfrm>
              <a:off x="6286500" y="1190625"/>
              <a:ext cx="5334000" cy="2571750"/>
              <a:chOff x="6286500" y="1190625"/>
              <a:chExt cx="5334000" cy="25717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286500" y="1190625"/>
                <a:ext cx="533400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6286500" y="1190625"/>
                <a:ext cx="5334000" cy="57150"/>
              </a:xfrm>
              <a:prstGeom prst="rect">
                <a:avLst/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461760" y="139446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74C3C"/>
                    </a:solidFill>
                    <a:latin typeface="Space Grotesk"/>
                    <a:ea typeface="Microsoft YaHei"/>
                    <a:cs typeface="Space Grotesk"/>
                  </a:rPr>
                  <a:t>加固结构体系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466522" y="1673066"/>
                <a:ext cx="257536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工装"耐穿"的核心保障——关键部位多重加固工艺</a:t>
                </a:r>
              </a:p>
            </p:txBody>
          </p:sp>
          <p:grpSp>
            <p:nvGrpSpPr>
              <p:cNvPr id="54" name="Group 54"/>
              <p:cNvGrpSpPr/>
              <p:nvPr/>
            </p:nvGrpSpPr>
            <p:grpSpPr>
              <a:xfrm>
                <a:off x="6477000" y="1952625"/>
                <a:ext cx="4953000" cy="1619250"/>
                <a:chOff x="6477000" y="1952625"/>
                <a:chExt cx="4953000" cy="1619250"/>
              </a:xfrm>
            </p:grpSpPr>
            <p:grpSp>
              <p:nvGrpSpPr>
                <p:cNvPr id="44" name="Group 44"/>
                <p:cNvGrpSpPr/>
                <p:nvPr/>
              </p:nvGrpSpPr>
              <p:grpSpPr>
                <a:xfrm>
                  <a:off x="6477000" y="1952625"/>
                  <a:ext cx="2381250" cy="1619250"/>
                  <a:chOff x="6477000" y="1952625"/>
                  <a:chExt cx="2381250" cy="1619250"/>
                </a:xfrm>
              </p:grpSpPr>
              <p:sp>
                <p:nvSpPr>
                  <p:cNvPr id="36" name="Rectangle 36"/>
                  <p:cNvSpPr/>
                  <p:nvPr/>
                </p:nvSpPr>
                <p:spPr>
                  <a:xfrm>
                    <a:off x="6477000" y="1952625"/>
                    <a:ext cx="2381250" cy="1619250"/>
                  </a:xfrm>
                  <a:prstGeom prst="rect">
                    <a:avLst/>
                  </a:prstGeom>
                  <a:solidFill>
                    <a:srgbClr val="252530"/>
                  </a:solidFill>
                  <a:ln w="9525">
                    <a:solidFill>
                      <a:srgbClr val="3A3A45"/>
                    </a:solidFill>
                  </a:ln>
                </p:spPr>
              </p:sp>
              <p:sp>
                <p:nvSpPr>
                  <p:cNvPr id="37" name="TextBox 37"/>
                  <p:cNvSpPr txBox="1"/>
                  <p:nvPr/>
                </p:nvSpPr>
                <p:spPr>
                  <a:xfrm>
                    <a:off x="6609398" y="2101691"/>
                    <a:ext cx="527018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b="1" dirty="0">
                        <a:solidFill>
                          <a:srgbClr val="E74C3C"/>
                        </a:solidFill>
                        <a:latin typeface="Space Grotesk"/>
                        <a:ea typeface="Microsoft YaHei"/>
                        <a:cs typeface="Space Grotesk"/>
                      </a:rPr>
                      <a:t>缝线加固</a:t>
                    </a:r>
                  </a:p>
                </p:txBody>
              </p:sp>
              <p:sp>
                <p:nvSpPr>
                  <p:cNvPr id="38" name="TextBox 38"/>
                  <p:cNvSpPr txBox="1"/>
                  <p:nvPr/>
                </p:nvSpPr>
                <p:spPr>
                  <a:xfrm>
                    <a:off x="6610350" y="2328862"/>
                    <a:ext cx="1344454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双针明线：肩缝/侧缝/袖缝</a:t>
                    </a:r>
                  </a:p>
                </p:txBody>
              </p:sp>
              <p:sp>
                <p:nvSpPr>
                  <p:cNvPr id="39" name="TextBox 39"/>
                  <p:cNvSpPr txBox="1"/>
                  <p:nvPr/>
                </p:nvSpPr>
                <p:spPr>
                  <a:xfrm>
                    <a:off x="6610350" y="2500312"/>
                    <a:ext cx="1344454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三针绷缝：裤裆/下摆/袖口</a:t>
                    </a:r>
                  </a:p>
                </p:txBody>
              </p:sp>
              <p:sp>
                <p:nvSpPr>
                  <p:cNvPr id="40" name="TextBox 40"/>
                  <p:cNvSpPr txBox="1"/>
                  <p:nvPr/>
                </p:nvSpPr>
                <p:spPr>
                  <a:xfrm>
                    <a:off x="6610350" y="2671762"/>
                    <a:ext cx="1563529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打结加固：口袋角/扣眼/应力点</a:t>
                    </a:r>
                  </a:p>
                </p:txBody>
              </p:sp>
              <p:sp>
                <p:nvSpPr>
                  <p:cNvPr id="41" name="TextBox 41"/>
                  <p:cNvSpPr txBox="1"/>
                  <p:nvPr/>
                </p:nvSpPr>
                <p:spPr>
                  <a:xfrm>
                    <a:off x="6610350" y="2919412"/>
                    <a:ext cx="479108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b="1" dirty="0">
                        <a:solidFill>
                          <a:srgbClr val="C9A962"/>
                        </a:solidFill>
                        <a:latin typeface="Inter"/>
                        <a:ea typeface="Microsoft YaHei"/>
                        <a:cs typeface="Inter"/>
                      </a:rPr>
                      <a:t>线材标准</a:t>
                    </a:r>
                  </a:p>
                </p:txBody>
              </p:sp>
              <p:sp>
                <p:nvSpPr>
                  <p:cNvPr id="42" name="TextBox 42"/>
                  <p:cNvSpPr txBox="1"/>
                  <p:nvPr/>
                </p:nvSpPr>
                <p:spPr>
                  <a:xfrm>
                    <a:off x="6610350" y="3090862"/>
                    <a:ext cx="1453991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涤纶线40s/2 或 尼龙线70D/3</a:t>
                    </a:r>
                  </a:p>
                </p:txBody>
              </p:sp>
              <p:sp>
                <p:nvSpPr>
                  <p:cNvPr id="43" name="TextBox 43"/>
                  <p:cNvSpPr txBox="1"/>
                  <p:nvPr/>
                </p:nvSpPr>
                <p:spPr>
                  <a:xfrm>
                    <a:off x="6610350" y="3262312"/>
                    <a:ext cx="1590913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针距：8-10针/3cm（工装标准）</a:t>
                    </a:r>
                  </a:p>
                </p:txBody>
              </p:sp>
            </p:grpSp>
            <p:grpSp>
              <p:nvGrpSpPr>
                <p:cNvPr id="53" name="Group 53"/>
                <p:cNvGrpSpPr/>
                <p:nvPr/>
              </p:nvGrpSpPr>
              <p:grpSpPr>
                <a:xfrm>
                  <a:off x="9048750" y="1952625"/>
                  <a:ext cx="2381250" cy="1619250"/>
                  <a:chOff x="9048750" y="1952625"/>
                  <a:chExt cx="2381250" cy="1619250"/>
                </a:xfrm>
              </p:grpSpPr>
              <p:sp>
                <p:nvSpPr>
                  <p:cNvPr id="45" name="Rectangle 45"/>
                  <p:cNvSpPr/>
                  <p:nvPr/>
                </p:nvSpPr>
                <p:spPr>
                  <a:xfrm>
                    <a:off x="9048750" y="1952625"/>
                    <a:ext cx="2381250" cy="1619250"/>
                  </a:xfrm>
                  <a:prstGeom prst="rect">
                    <a:avLst/>
                  </a:prstGeom>
                  <a:solidFill>
                    <a:srgbClr val="252530"/>
                  </a:solidFill>
                  <a:ln w="9525">
                    <a:solidFill>
                      <a:srgbClr val="3A3A45"/>
                    </a:solidFill>
                  </a:ln>
                </p:spPr>
              </p:sp>
              <p:sp>
                <p:nvSpPr>
                  <p:cNvPr id="46" name="TextBox 46"/>
                  <p:cNvSpPr txBox="1"/>
                  <p:nvPr/>
                </p:nvSpPr>
                <p:spPr>
                  <a:xfrm>
                    <a:off x="9181148" y="2101691"/>
                    <a:ext cx="527018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b="1" dirty="0">
                        <a:solidFill>
                          <a:srgbClr val="E74C3C"/>
                        </a:solidFill>
                        <a:latin typeface="Space Grotesk"/>
                        <a:ea typeface="Microsoft YaHei"/>
                        <a:cs typeface="Space Grotesk"/>
                      </a:rPr>
                      <a:t>部位加固</a:t>
                    </a:r>
                  </a:p>
                </p:txBody>
              </p:sp>
              <p:sp>
                <p:nvSpPr>
                  <p:cNvPr id="47" name="TextBox 47"/>
                  <p:cNvSpPr txBox="1"/>
                  <p:nvPr/>
                </p:nvSpPr>
                <p:spPr>
                  <a:xfrm>
                    <a:off x="9182100" y="2328862"/>
                    <a:ext cx="1393746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肘部补片：额外面料层+缝线</a:t>
                    </a:r>
                  </a:p>
                </p:txBody>
              </p:sp>
              <p:sp>
                <p:nvSpPr>
                  <p:cNvPr id="48" name="TextBox 48"/>
                  <p:cNvSpPr txBox="1"/>
                  <p:nvPr/>
                </p:nvSpPr>
                <p:spPr>
                  <a:xfrm>
                    <a:off x="9182100" y="2500312"/>
                    <a:ext cx="1486852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膝盖补片：Cordura/帆布双层</a:t>
                    </a:r>
                  </a:p>
                </p:txBody>
              </p:sp>
              <p:sp>
                <p:nvSpPr>
                  <p:cNvPr id="49" name="TextBox 49"/>
                  <p:cNvSpPr txBox="1"/>
                  <p:nvPr/>
                </p:nvSpPr>
                <p:spPr>
                  <a:xfrm>
                    <a:off x="9182100" y="2671762"/>
                    <a:ext cx="1393746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裤口加固：防磨条/包边处理</a:t>
                    </a:r>
                  </a:p>
                </p:txBody>
              </p:sp>
              <p:sp>
                <p:nvSpPr>
                  <p:cNvPr id="50" name="TextBox 50"/>
                  <p:cNvSpPr txBox="1"/>
                  <p:nvPr/>
                </p:nvSpPr>
                <p:spPr>
                  <a:xfrm>
                    <a:off x="9182100" y="2919412"/>
                    <a:ext cx="479108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b="1" dirty="0">
                        <a:solidFill>
                          <a:srgbClr val="C9A962"/>
                        </a:solidFill>
                        <a:latin typeface="Inter"/>
                        <a:ea typeface="Microsoft YaHei"/>
                        <a:cs typeface="Inter"/>
                      </a:rPr>
                      <a:t>工艺标准</a:t>
                    </a:r>
                  </a:p>
                </p:txBody>
              </p:sp>
              <p:sp>
                <p:nvSpPr>
                  <p:cNvPr id="51" name="TextBox 51"/>
                  <p:cNvSpPr txBox="1"/>
                  <p:nvPr/>
                </p:nvSpPr>
                <p:spPr>
                  <a:xfrm>
                    <a:off x="9182100" y="3090862"/>
                    <a:ext cx="1169194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补片面积≥受力区域120%</a:t>
                    </a:r>
                  </a:p>
                </p:txBody>
              </p:sp>
              <p:sp>
                <p:nvSpPr>
                  <p:cNvPr id="52" name="TextBox 52"/>
                  <p:cNvSpPr txBox="1"/>
                  <p:nvPr/>
                </p:nvSpPr>
                <p:spPr>
                  <a:xfrm>
                    <a:off x="9182100" y="3262312"/>
                    <a:ext cx="1213009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缝线距边≤3mm 双道缝制</a:t>
                    </a:r>
                  </a:p>
                </p:txBody>
              </p:sp>
            </p:grpSp>
          </p:grpSp>
        </p:grpSp>
      </p:grpSp>
      <p:grpSp>
        <p:nvGrpSpPr>
          <p:cNvPr id="105" name="Group 105"/>
          <p:cNvGrpSpPr/>
          <p:nvPr/>
        </p:nvGrpSpPr>
        <p:grpSpPr>
          <a:xfrm>
            <a:off x="571500" y="3952875"/>
            <a:ext cx="11049000" cy="2571750"/>
            <a:chOff x="571500" y="3952875"/>
            <a:chExt cx="11049000" cy="2571750"/>
          </a:xfrm>
        </p:grpSpPr>
        <p:grpSp>
          <p:nvGrpSpPr>
            <p:cNvPr id="80" name="Group 80"/>
            <p:cNvGrpSpPr/>
            <p:nvPr/>
          </p:nvGrpSpPr>
          <p:grpSpPr>
            <a:xfrm>
              <a:off x="571500" y="3952875"/>
              <a:ext cx="5334000" cy="2571750"/>
              <a:chOff x="571500" y="3952875"/>
              <a:chExt cx="5334000" cy="257175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571500" y="3952875"/>
                <a:ext cx="533400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571500" y="3952875"/>
                <a:ext cx="5334000" cy="57150"/>
              </a:xfrm>
              <a:prstGeom prst="rect">
                <a:avLst/>
              </a:prstGeom>
              <a:solidFill>
                <a:srgbClr val="F39C12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46760" y="4156710"/>
                <a:ext cx="131864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39C12"/>
                    </a:solidFill>
                    <a:latin typeface="Space Grotesk"/>
                    <a:ea typeface="Microsoft YaHei"/>
                    <a:cs typeface="Space Grotesk"/>
                  </a:rPr>
                  <a:t>多口袋布局系统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51522" y="4435316"/>
                <a:ext cx="196086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工装标志性设计——功能与美学的平衡</a:t>
                </a:r>
              </a:p>
            </p:txBody>
          </p:sp>
          <p:grpSp>
            <p:nvGrpSpPr>
              <p:cNvPr id="79" name="Group 79"/>
              <p:cNvGrpSpPr/>
              <p:nvPr/>
            </p:nvGrpSpPr>
            <p:grpSpPr>
              <a:xfrm>
                <a:off x="762000" y="4714875"/>
                <a:ext cx="4953000" cy="1619250"/>
                <a:chOff x="762000" y="4714875"/>
                <a:chExt cx="4953000" cy="1619250"/>
              </a:xfrm>
            </p:grpSpPr>
            <p:grpSp>
              <p:nvGrpSpPr>
                <p:cNvPr id="69" name="Group 69"/>
                <p:cNvGrpSpPr/>
                <p:nvPr/>
              </p:nvGrpSpPr>
              <p:grpSpPr>
                <a:xfrm>
                  <a:off x="762000" y="4714875"/>
                  <a:ext cx="2381250" cy="1619250"/>
                  <a:chOff x="762000" y="4714875"/>
                  <a:chExt cx="2381250" cy="1619250"/>
                </a:xfrm>
              </p:grpSpPr>
              <p:sp>
                <p:nvSpPr>
                  <p:cNvPr id="61" name="Rectangle 61"/>
                  <p:cNvSpPr/>
                  <p:nvPr/>
                </p:nvSpPr>
                <p:spPr>
                  <a:xfrm>
                    <a:off x="762000" y="4714875"/>
                    <a:ext cx="2381250" cy="1619250"/>
                  </a:xfrm>
                  <a:prstGeom prst="rect">
                    <a:avLst/>
                  </a:prstGeom>
                  <a:solidFill>
                    <a:srgbClr val="252530"/>
                  </a:solidFill>
                  <a:ln w="9525">
                    <a:solidFill>
                      <a:srgbClr val="3A3A45"/>
                    </a:solidFill>
                  </a:ln>
                </p:spPr>
              </p:sp>
              <p:sp>
                <p:nvSpPr>
                  <p:cNvPr id="62" name="TextBox 62"/>
                  <p:cNvSpPr txBox="1"/>
                  <p:nvPr/>
                </p:nvSpPr>
                <p:spPr>
                  <a:xfrm>
                    <a:off x="894398" y="4863941"/>
                    <a:ext cx="527018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b="1" dirty="0">
                        <a:solidFill>
                          <a:srgbClr val="F39C12"/>
                        </a:solidFill>
                        <a:latin typeface="Space Grotesk"/>
                        <a:ea typeface="Microsoft YaHei"/>
                        <a:cs typeface="Space Grotesk"/>
                      </a:rPr>
                      <a:t>口袋类型</a:t>
                    </a:r>
                  </a:p>
                </p:txBody>
              </p:sp>
              <p:sp>
                <p:nvSpPr>
                  <p:cNvPr id="63" name="TextBox 63"/>
                  <p:cNvSpPr txBox="1"/>
                  <p:nvPr/>
                </p:nvSpPr>
                <p:spPr>
                  <a:xfrm>
                    <a:off x="895350" y="5091112"/>
                    <a:ext cx="1443038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贴袋：最经典，外露式大容量</a:t>
                    </a:r>
                  </a:p>
                </p:txBody>
              </p:sp>
              <p:sp>
                <p:nvSpPr>
                  <p:cNvPr id="64" name="TextBox 64"/>
                  <p:cNvSpPr txBox="1"/>
                  <p:nvPr/>
                </p:nvSpPr>
                <p:spPr>
                  <a:xfrm>
                    <a:off x="895350" y="5262562"/>
                    <a:ext cx="1333500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插袋：侧缝内置，手插舒适</a:t>
                    </a:r>
                  </a:p>
                </p:txBody>
              </p:sp>
              <p:sp>
                <p:nvSpPr>
                  <p:cNvPr id="65" name="TextBox 65"/>
                  <p:cNvSpPr txBox="1"/>
                  <p:nvPr/>
                </p:nvSpPr>
                <p:spPr>
                  <a:xfrm>
                    <a:off x="895350" y="5434012"/>
                    <a:ext cx="1333500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暗袋：隐蔽收纳，安全存放</a:t>
                    </a:r>
                  </a:p>
                </p:txBody>
              </p:sp>
              <p:sp>
                <p:nvSpPr>
                  <p:cNvPr id="66" name="TextBox 66"/>
                  <p:cNvSpPr txBox="1"/>
                  <p:nvPr/>
                </p:nvSpPr>
                <p:spPr>
                  <a:xfrm>
                    <a:off x="895350" y="5605462"/>
                    <a:ext cx="1453991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工具袋：专用笔插/尺袋/刀袋</a:t>
                    </a:r>
                  </a:p>
                </p:txBody>
              </p:sp>
              <p:sp>
                <p:nvSpPr>
                  <p:cNvPr id="67" name="TextBox 67"/>
                  <p:cNvSpPr txBox="1"/>
                  <p:nvPr/>
                </p:nvSpPr>
                <p:spPr>
                  <a:xfrm>
                    <a:off x="895350" y="5853112"/>
                    <a:ext cx="479108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b="1" dirty="0">
                        <a:solidFill>
                          <a:srgbClr val="C9A962"/>
                        </a:solidFill>
                        <a:latin typeface="Inter"/>
                        <a:ea typeface="Microsoft YaHei"/>
                        <a:cs typeface="Inter"/>
                      </a:rPr>
                      <a:t>布局原则</a:t>
                    </a:r>
                  </a:p>
                </p:txBody>
              </p:sp>
              <p:sp>
                <p:nvSpPr>
                  <p:cNvPr id="68" name="TextBox 68"/>
                  <p:cNvSpPr txBox="1"/>
                  <p:nvPr/>
                </p:nvSpPr>
                <p:spPr>
                  <a:xfrm>
                    <a:off x="895350" y="6024562"/>
                    <a:ext cx="1585436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上轻下重 / 左右对称 / 视觉平衡</a:t>
                    </a:r>
                  </a:p>
                </p:txBody>
              </p:sp>
            </p:grpSp>
            <p:grpSp>
              <p:nvGrpSpPr>
                <p:cNvPr id="78" name="Group 78"/>
                <p:cNvGrpSpPr/>
                <p:nvPr/>
              </p:nvGrpSpPr>
              <p:grpSpPr>
                <a:xfrm>
                  <a:off x="3333750" y="4714875"/>
                  <a:ext cx="2381250" cy="1619250"/>
                  <a:chOff x="3333750" y="4714875"/>
                  <a:chExt cx="2381250" cy="1619250"/>
                </a:xfrm>
              </p:grpSpPr>
              <p:sp>
                <p:nvSpPr>
                  <p:cNvPr id="70" name="Rectangle 70"/>
                  <p:cNvSpPr/>
                  <p:nvPr/>
                </p:nvSpPr>
                <p:spPr>
                  <a:xfrm>
                    <a:off x="3333750" y="4714875"/>
                    <a:ext cx="2381250" cy="1619250"/>
                  </a:xfrm>
                  <a:prstGeom prst="rect">
                    <a:avLst/>
                  </a:prstGeom>
                  <a:solidFill>
                    <a:srgbClr val="252530"/>
                  </a:solidFill>
                  <a:ln w="9525">
                    <a:solidFill>
                      <a:srgbClr val="3A3A45"/>
                    </a:solidFill>
                  </a:ln>
                </p:spPr>
              </p:sp>
              <p:sp>
                <p:nvSpPr>
                  <p:cNvPr id="71" name="TextBox 71"/>
                  <p:cNvSpPr txBox="1"/>
                  <p:nvPr/>
                </p:nvSpPr>
                <p:spPr>
                  <a:xfrm>
                    <a:off x="3466148" y="4863941"/>
                    <a:ext cx="780050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b="1" dirty="0">
                        <a:solidFill>
                          <a:srgbClr val="F39C12"/>
                        </a:solidFill>
                        <a:latin typeface="Space Grotesk"/>
                        <a:ea typeface="Microsoft YaHei"/>
                        <a:cs typeface="Space Grotesk"/>
                      </a:rPr>
                      <a:t>口袋尺寸标准</a:t>
                    </a:r>
                  </a:p>
                </p:txBody>
              </p:sp>
              <p:sp>
                <p:nvSpPr>
                  <p:cNvPr id="72" name="TextBox 72"/>
                  <p:cNvSpPr txBox="1"/>
                  <p:nvPr/>
                </p:nvSpPr>
                <p:spPr>
                  <a:xfrm>
                    <a:off x="3467100" y="5091112"/>
                    <a:ext cx="1344454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胸袋：12×14cm（手机/笔）</a:t>
                    </a:r>
                  </a:p>
                </p:txBody>
              </p:sp>
              <p:sp>
                <p:nvSpPr>
                  <p:cNvPr id="73" name="TextBox 73"/>
                  <p:cNvSpPr txBox="1"/>
                  <p:nvPr/>
                </p:nvSpPr>
                <p:spPr>
                  <a:xfrm>
                    <a:off x="3467100" y="5262562"/>
                    <a:ext cx="1453991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侧袋：16×18cm（工具/手套）</a:t>
                    </a:r>
                  </a:p>
                </p:txBody>
              </p:sp>
              <p:sp>
                <p:nvSpPr>
                  <p:cNvPr id="74" name="TextBox 74"/>
                  <p:cNvSpPr txBox="1"/>
                  <p:nvPr/>
                </p:nvSpPr>
                <p:spPr>
                  <a:xfrm>
                    <a:off x="3467100" y="5434012"/>
                    <a:ext cx="1453991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后袋：14×16cm（钱包/证件）</a:t>
                    </a:r>
                  </a:p>
                </p:txBody>
              </p:sp>
              <p:sp>
                <p:nvSpPr>
                  <p:cNvPr id="75" name="TextBox 75"/>
                  <p:cNvSpPr txBox="1"/>
                  <p:nvPr/>
                </p:nvSpPr>
                <p:spPr>
                  <a:xfrm>
                    <a:off x="3467100" y="5605462"/>
                    <a:ext cx="1421130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腿袋：18×22cm（大件工具）</a:t>
                    </a:r>
                  </a:p>
                </p:txBody>
              </p:sp>
              <p:sp>
                <p:nvSpPr>
                  <p:cNvPr id="76" name="TextBox 76"/>
                  <p:cNvSpPr txBox="1"/>
                  <p:nvPr/>
                </p:nvSpPr>
                <p:spPr>
                  <a:xfrm>
                    <a:off x="3467100" y="5853112"/>
                    <a:ext cx="479108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b="1" dirty="0">
                        <a:solidFill>
                          <a:srgbClr val="C9A962"/>
                        </a:solidFill>
                        <a:latin typeface="Inter"/>
                        <a:ea typeface="Microsoft YaHei"/>
                        <a:cs typeface="Inter"/>
                      </a:rPr>
                      <a:t>口袋封口</a:t>
                    </a:r>
                  </a:p>
                </p:txBody>
              </p:sp>
              <p:sp>
                <p:nvSpPr>
                  <p:cNvPr id="77" name="TextBox 77"/>
                  <p:cNvSpPr txBox="1"/>
                  <p:nvPr/>
                </p:nvSpPr>
                <p:spPr>
                  <a:xfrm>
                    <a:off x="3467100" y="6024562"/>
                    <a:ext cx="1486852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魔术贴/纽扣/拉链 按场景选择</a:t>
                    </a:r>
                  </a:p>
                </p:txBody>
              </p:sp>
            </p:grpSp>
          </p:grpSp>
        </p:grpSp>
        <p:grpSp>
          <p:nvGrpSpPr>
            <p:cNvPr id="104" name="Group 104"/>
            <p:cNvGrpSpPr/>
            <p:nvPr/>
          </p:nvGrpSpPr>
          <p:grpSpPr>
            <a:xfrm>
              <a:off x="6286500" y="3952875"/>
              <a:ext cx="5334000" cy="2571750"/>
              <a:chOff x="6286500" y="3952875"/>
              <a:chExt cx="5334000" cy="257175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6286500" y="3952875"/>
                <a:ext cx="5334000" cy="2571750"/>
              </a:xfrm>
              <a:prstGeom prst="rect">
                <a:avLst/>
              </a:prstGeom>
              <a:solidFill>
                <a:srgbClr val="1A1A20"/>
              </a:solidFill>
              <a:ln w="9525">
                <a:solidFill>
                  <a:srgbClr val="2A2A35"/>
                </a:solidFill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6286500" y="3952875"/>
                <a:ext cx="5334000" cy="57150"/>
              </a:xfrm>
              <a:prstGeom prst="rect">
                <a:avLst/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6461760" y="4156710"/>
                <a:ext cx="131864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498DB"/>
                    </a:solidFill>
                    <a:latin typeface="Space Grotesk"/>
                    <a:ea typeface="Microsoft YaHei"/>
                    <a:cs typeface="Space Grotesk"/>
                  </a:rPr>
                  <a:t>防风与闭合结构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6466522" y="4435316"/>
                <a:ext cx="194881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86868B"/>
                    </a:solidFill>
                    <a:latin typeface="Inter"/>
                    <a:ea typeface="Microsoft YaHei"/>
                    <a:cs typeface="Inter"/>
                  </a:rPr>
                  <a:t>户外与通勤场景下的功能性设计细节</a:t>
                </a:r>
              </a:p>
            </p:txBody>
          </p:sp>
          <p:grpSp>
            <p:nvGrpSpPr>
              <p:cNvPr id="103" name="Group 103"/>
              <p:cNvGrpSpPr/>
              <p:nvPr/>
            </p:nvGrpSpPr>
            <p:grpSpPr>
              <a:xfrm>
                <a:off x="6477000" y="4714875"/>
                <a:ext cx="4953000" cy="1619250"/>
                <a:chOff x="6477000" y="4714875"/>
                <a:chExt cx="4953000" cy="1619250"/>
              </a:xfrm>
            </p:grpSpPr>
            <p:grpSp>
              <p:nvGrpSpPr>
                <p:cNvPr id="93" name="Group 93"/>
                <p:cNvGrpSpPr/>
                <p:nvPr/>
              </p:nvGrpSpPr>
              <p:grpSpPr>
                <a:xfrm>
                  <a:off x="6477000" y="4714875"/>
                  <a:ext cx="2381250" cy="1619250"/>
                  <a:chOff x="6477000" y="4714875"/>
                  <a:chExt cx="2381250" cy="1619250"/>
                </a:xfrm>
              </p:grpSpPr>
              <p:sp>
                <p:nvSpPr>
                  <p:cNvPr id="85" name="Rectangle 85"/>
                  <p:cNvSpPr/>
                  <p:nvPr/>
                </p:nvSpPr>
                <p:spPr>
                  <a:xfrm>
                    <a:off x="6477000" y="4714875"/>
                    <a:ext cx="2381250" cy="1619250"/>
                  </a:xfrm>
                  <a:prstGeom prst="rect">
                    <a:avLst/>
                  </a:prstGeom>
                  <a:solidFill>
                    <a:srgbClr val="252530"/>
                  </a:solidFill>
                  <a:ln w="9525">
                    <a:solidFill>
                      <a:srgbClr val="3A3A45"/>
                    </a:solidFill>
                  </a:ln>
                </p:spPr>
              </p:sp>
              <p:sp>
                <p:nvSpPr>
                  <p:cNvPr id="86" name="TextBox 86"/>
                  <p:cNvSpPr txBox="1"/>
                  <p:nvPr/>
                </p:nvSpPr>
                <p:spPr>
                  <a:xfrm>
                    <a:off x="6609398" y="4863941"/>
                    <a:ext cx="527018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b="1" dirty="0">
                        <a:solidFill>
                          <a:srgbClr val="3498DB"/>
                        </a:solidFill>
                        <a:latin typeface="Space Grotesk"/>
                        <a:ea typeface="Microsoft YaHei"/>
                        <a:cs typeface="Space Grotesk"/>
                      </a:rPr>
                      <a:t>防风结构</a:t>
                    </a:r>
                  </a:p>
                </p:txBody>
              </p:sp>
              <p:sp>
                <p:nvSpPr>
                  <p:cNvPr id="87" name="TextBox 87"/>
                  <p:cNvSpPr txBox="1"/>
                  <p:nvPr/>
                </p:nvSpPr>
                <p:spPr>
                  <a:xfrm>
                    <a:off x="6610350" y="5091112"/>
                    <a:ext cx="1503283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门襟挡风条：双层门襟+挡风片</a:t>
                    </a:r>
                  </a:p>
                </p:txBody>
              </p:sp>
              <p:sp>
                <p:nvSpPr>
                  <p:cNvPr id="88" name="TextBox 88"/>
                  <p:cNvSpPr txBox="1"/>
                  <p:nvPr/>
                </p:nvSpPr>
                <p:spPr>
                  <a:xfrm>
                    <a:off x="6610350" y="5262562"/>
                    <a:ext cx="1453991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袖口收紧：魔术贴/松紧/纽扣</a:t>
                    </a:r>
                  </a:p>
                </p:txBody>
              </p:sp>
              <p:sp>
                <p:nvSpPr>
                  <p:cNvPr id="89" name="TextBox 89"/>
                  <p:cNvSpPr txBox="1"/>
                  <p:nvPr/>
                </p:nvSpPr>
                <p:spPr>
                  <a:xfrm>
                    <a:off x="6610350" y="5434012"/>
                    <a:ext cx="1284208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下摆抽绳：弹力绳+止滑扣</a:t>
                    </a:r>
                  </a:p>
                </p:txBody>
              </p:sp>
              <p:sp>
                <p:nvSpPr>
                  <p:cNvPr id="90" name="TextBox 90"/>
                  <p:cNvSpPr txBox="1"/>
                  <p:nvPr/>
                </p:nvSpPr>
                <p:spPr>
                  <a:xfrm>
                    <a:off x="6610350" y="5605462"/>
                    <a:ext cx="1443038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领口立领：高领设计挡风保暖</a:t>
                    </a:r>
                  </a:p>
                </p:txBody>
              </p:sp>
              <p:sp>
                <p:nvSpPr>
                  <p:cNvPr id="91" name="TextBox 91"/>
                  <p:cNvSpPr txBox="1"/>
                  <p:nvPr/>
                </p:nvSpPr>
                <p:spPr>
                  <a:xfrm>
                    <a:off x="6610350" y="5853112"/>
                    <a:ext cx="479108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b="1" dirty="0">
                        <a:solidFill>
                          <a:srgbClr val="C9A962"/>
                        </a:solidFill>
                        <a:latin typeface="Inter"/>
                        <a:ea typeface="Microsoft YaHei"/>
                        <a:cs typeface="Inter"/>
                      </a:rPr>
                      <a:t>防风等级</a:t>
                    </a:r>
                  </a:p>
                </p:txBody>
              </p:sp>
              <p:sp>
                <p:nvSpPr>
                  <p:cNvPr id="92" name="TextBox 92"/>
                  <p:cNvSpPr txBox="1"/>
                  <p:nvPr/>
                </p:nvSpPr>
                <p:spPr>
                  <a:xfrm>
                    <a:off x="6610350" y="6024562"/>
                    <a:ext cx="1475899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基础防风 / 中度防风 / 全防风</a:t>
                    </a:r>
                  </a:p>
                </p:txBody>
              </p:sp>
            </p:grpSp>
            <p:grpSp>
              <p:nvGrpSpPr>
                <p:cNvPr id="102" name="Group 102"/>
                <p:cNvGrpSpPr/>
                <p:nvPr/>
              </p:nvGrpSpPr>
              <p:grpSpPr>
                <a:xfrm>
                  <a:off x="9048750" y="4714875"/>
                  <a:ext cx="2381250" cy="1619250"/>
                  <a:chOff x="9048750" y="4714875"/>
                  <a:chExt cx="2381250" cy="1619250"/>
                </a:xfrm>
              </p:grpSpPr>
              <p:sp>
                <p:nvSpPr>
                  <p:cNvPr id="94" name="Rectangle 94"/>
                  <p:cNvSpPr/>
                  <p:nvPr/>
                </p:nvSpPr>
                <p:spPr>
                  <a:xfrm>
                    <a:off x="9048750" y="4714875"/>
                    <a:ext cx="2381250" cy="1619250"/>
                  </a:xfrm>
                  <a:prstGeom prst="rect">
                    <a:avLst/>
                  </a:prstGeom>
                  <a:solidFill>
                    <a:srgbClr val="252530"/>
                  </a:solidFill>
                  <a:ln w="9525">
                    <a:solidFill>
                      <a:srgbClr val="3A3A45"/>
                    </a:solidFill>
                  </a:ln>
                </p:spPr>
              </p:sp>
              <p:sp>
                <p:nvSpPr>
                  <p:cNvPr id="95" name="TextBox 95"/>
                  <p:cNvSpPr txBox="1"/>
                  <p:nvPr/>
                </p:nvSpPr>
                <p:spPr>
                  <a:xfrm>
                    <a:off x="9181148" y="4863941"/>
                    <a:ext cx="527018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825" b="1" dirty="0">
                        <a:solidFill>
                          <a:srgbClr val="3498DB"/>
                        </a:solidFill>
                        <a:latin typeface="Space Grotesk"/>
                        <a:ea typeface="Microsoft YaHei"/>
                        <a:cs typeface="Space Grotesk"/>
                      </a:rPr>
                      <a:t>闭合系统</a:t>
                    </a:r>
                  </a:p>
                </p:txBody>
              </p:sp>
              <p:sp>
                <p:nvSpPr>
                  <p:cNvPr id="96" name="TextBox 96"/>
                  <p:cNvSpPr txBox="1"/>
                  <p:nvPr/>
                </p:nvSpPr>
                <p:spPr>
                  <a:xfrm>
                    <a:off x="9182100" y="5091112"/>
                    <a:ext cx="1552575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拉链闭合：YKK #5/#8 金属拉链</a:t>
                    </a:r>
                  </a:p>
                </p:txBody>
              </p:sp>
              <p:sp>
                <p:nvSpPr>
                  <p:cNvPr id="97" name="TextBox 97"/>
                  <p:cNvSpPr txBox="1"/>
                  <p:nvPr/>
                </p:nvSpPr>
                <p:spPr>
                  <a:xfrm>
                    <a:off x="9182100" y="5262562"/>
                    <a:ext cx="1563529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纽扣闭合：工字扣/四合扣/暗扣</a:t>
                    </a:r>
                  </a:p>
                </p:txBody>
              </p:sp>
              <p:sp>
                <p:nvSpPr>
                  <p:cNvPr id="98" name="TextBox 98"/>
                  <p:cNvSpPr txBox="1"/>
                  <p:nvPr/>
                </p:nvSpPr>
                <p:spPr>
                  <a:xfrm>
                    <a:off x="9182100" y="5434012"/>
                    <a:ext cx="1563529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魔术贴：Velcro 25mm/50mm宽</a:t>
                    </a:r>
                  </a:p>
                </p:txBody>
              </p:sp>
              <p:sp>
                <p:nvSpPr>
                  <p:cNvPr id="99" name="TextBox 99"/>
                  <p:cNvSpPr txBox="1"/>
                  <p:nvPr/>
                </p:nvSpPr>
                <p:spPr>
                  <a:xfrm>
                    <a:off x="9182100" y="5605462"/>
                    <a:ext cx="1453991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松紧带：腰部/袖口/下摆调节</a:t>
                    </a:r>
                  </a:p>
                </p:txBody>
              </p:sp>
              <p:sp>
                <p:nvSpPr>
                  <p:cNvPr id="100" name="TextBox 100"/>
                  <p:cNvSpPr txBox="1"/>
                  <p:nvPr/>
                </p:nvSpPr>
                <p:spPr>
                  <a:xfrm>
                    <a:off x="9182100" y="5853112"/>
                    <a:ext cx="479108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b="1" dirty="0">
                        <a:solidFill>
                          <a:srgbClr val="C9A962"/>
                        </a:solidFill>
                        <a:latin typeface="Inter"/>
                        <a:ea typeface="Microsoft YaHei"/>
                        <a:cs typeface="Inter"/>
                      </a:rPr>
                      <a:t>选择原则</a:t>
                    </a:r>
                  </a:p>
                </p:txBody>
              </p:sp>
              <p:sp>
                <p:nvSpPr>
                  <p:cNvPr id="101" name="TextBox 101"/>
                  <p:cNvSpPr txBox="1"/>
                  <p:nvPr/>
                </p:nvSpPr>
                <p:spPr>
                  <a:xfrm>
                    <a:off x="9182100" y="6024562"/>
                    <a:ext cx="1585436" cy="152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750" dirty="0">
                        <a:solidFill>
                          <a:srgbClr val="86868B"/>
                        </a:solidFill>
                        <a:latin typeface="Inter"/>
                        <a:ea typeface="Microsoft YaHei"/>
                        <a:cs typeface="Inter"/>
                      </a:rPr>
                      <a:t>功能优先 / 操作便捷 / 视觉统一</a:t>
                    </a:r>
                  </a:p>
                </p:txBody>
              </p:sp>
            </p:grpSp>
          </p:grpSp>
        </p:grpSp>
      </p:grpSp>
      <p:sp>
        <p:nvSpPr>
          <p:cNvPr id="106" name="Rectangle 10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1022" y="387191"/>
            <a:ext cx="10394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CHAPTER 06 · 6.4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1020" y="693420"/>
            <a:ext cx="374142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工装风格生命周期分析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23950"/>
            <a:ext cx="762000" cy="28575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323499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基于社媒热度、市场数据与行业观察的周期判断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71500" y="1762125"/>
            <a:ext cx="2095500" cy="1905000"/>
            <a:chOff x="571500" y="1762125"/>
            <a:chExt cx="2095500" cy="1905000"/>
          </a:xfrm>
        </p:grpSpPr>
        <p:sp>
          <p:nvSpPr>
            <p:cNvPr id="8" name="Rectangle 8"/>
            <p:cNvSpPr/>
            <p:nvPr/>
          </p:nvSpPr>
          <p:spPr>
            <a:xfrm>
              <a:off x="571500" y="1762125"/>
              <a:ext cx="2095500" cy="19050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762125"/>
              <a:ext cx="2095500" cy="57150"/>
            </a:xfrm>
            <a:prstGeom prst="rect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1522" y="2006441"/>
              <a:ext cx="6472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74C3C"/>
                  </a:solidFill>
                  <a:latin typeface="Space Grotesk"/>
                  <a:ea typeface="Microsoft YaHei"/>
                  <a:cs typeface="Space Grotesk"/>
                </a:rPr>
                <a:t>2023-2024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7712" y="22598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F5F7"/>
                  </a:solidFill>
                  <a:latin typeface="Space Grotesk"/>
                  <a:ea typeface="Microsoft YaHei"/>
                  <a:cs typeface="Space Grotesk"/>
                </a:rPr>
                <a:t>爆发阶段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2617470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巴恩风等社媒声量暴涨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8555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工装产品市场飞速增长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522" y="3101816"/>
              <a:ext cx="13523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#巴恩风穿搭 7.5亿+浏览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522" y="3311366"/>
              <a:ext cx="123791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#工装穿搭 1715万+浏览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809875" y="1762125"/>
            <a:ext cx="2095500" cy="1905000"/>
            <a:chOff x="2809875" y="1762125"/>
            <a:chExt cx="2095500" cy="1905000"/>
          </a:xfrm>
        </p:grpSpPr>
        <p:sp>
          <p:nvSpPr>
            <p:cNvPr id="17" name="Rectangle 17"/>
            <p:cNvSpPr/>
            <p:nvPr/>
          </p:nvSpPr>
          <p:spPr>
            <a:xfrm>
              <a:off x="2809875" y="1762125"/>
              <a:ext cx="2095500" cy="19050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809875" y="1762125"/>
              <a:ext cx="2095500" cy="57150"/>
            </a:xfrm>
            <a:prstGeom prst="rect">
              <a:avLst/>
            </a:prstGeom>
            <a:solidFill>
              <a:srgbClr val="F39C1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89898" y="2006441"/>
              <a:ext cx="2992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F39C12"/>
                  </a:solidFill>
                  <a:latin typeface="Space Grotesk"/>
                  <a:ea typeface="Microsoft YaHei"/>
                  <a:cs typeface="Space Grotesk"/>
                </a:rPr>
                <a:t>2025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86088" y="22598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F5F7"/>
                  </a:solidFill>
                  <a:latin typeface="Space Grotesk"/>
                  <a:ea typeface="Microsoft YaHei"/>
                  <a:cs typeface="Space Grotesk"/>
                </a:rPr>
                <a:t>中期阶段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88945" y="261747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品牌创新与市场分化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88945" y="28555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秀场工装露出绑定品牌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89898" y="3101816"/>
              <a:ext cx="9848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创新设计驱动增长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89898" y="3311366"/>
              <a:ext cx="8643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季度主题化运营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048250" y="1762125"/>
            <a:ext cx="2095500" cy="1905000"/>
            <a:chOff x="5048250" y="1762125"/>
            <a:chExt cx="2095500" cy="1905000"/>
          </a:xfrm>
        </p:grpSpPr>
        <p:sp>
          <p:nvSpPr>
            <p:cNvPr id="26" name="Rectangle 26"/>
            <p:cNvSpPr/>
            <p:nvPr/>
          </p:nvSpPr>
          <p:spPr>
            <a:xfrm>
              <a:off x="5048250" y="1762125"/>
              <a:ext cx="2095500" cy="19050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048250" y="1762125"/>
              <a:ext cx="2095500" cy="571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28272" y="2006441"/>
              <a:ext cx="6472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2026-2027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24462" y="22598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F5F7"/>
                  </a:solidFill>
                  <a:latin typeface="Space Grotesk"/>
                  <a:ea typeface="Microsoft YaHei"/>
                  <a:cs typeface="Space Grotesk"/>
                </a:rPr>
                <a:t>后期阶段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27320" y="261747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全面渗透多场景生活方式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27320" y="28555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进入成熟阶段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28272" y="310181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设计升级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28272" y="3311366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多元材质应用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286625" y="1762125"/>
            <a:ext cx="2095500" cy="1905000"/>
            <a:chOff x="7286625" y="1762125"/>
            <a:chExt cx="2095500" cy="1905000"/>
          </a:xfrm>
        </p:grpSpPr>
        <p:sp>
          <p:nvSpPr>
            <p:cNvPr id="35" name="Rectangle 35"/>
            <p:cNvSpPr/>
            <p:nvPr/>
          </p:nvSpPr>
          <p:spPr>
            <a:xfrm>
              <a:off x="7286625" y="1762125"/>
              <a:ext cx="2095500" cy="190500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86625" y="1762125"/>
              <a:ext cx="2095500" cy="57150"/>
            </a:xfrm>
            <a:prstGeom prst="rect">
              <a:avLst/>
            </a:prstGeom>
            <a:solidFill>
              <a:srgbClr val="6B7C5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66648" y="2006441"/>
              <a:ext cx="3688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6B7C5E"/>
                  </a:solidFill>
                  <a:latin typeface="Space Grotesk"/>
                  <a:ea typeface="Microsoft YaHei"/>
                  <a:cs typeface="Space Grotesk"/>
                </a:rPr>
                <a:t>2028+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62838" y="22598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F5F7"/>
                  </a:solidFill>
                  <a:latin typeface="Space Grotesk"/>
                  <a:ea typeface="Microsoft YaHei"/>
                  <a:cs typeface="Space Grotesk"/>
                </a:rPr>
                <a:t>长期阶段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65695" y="26174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经典风格延续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65695" y="2855595"/>
              <a:ext cx="11467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技术升级+文化赋能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66648" y="3101816"/>
              <a:ext cx="9969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形成"新工装"生态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66648" y="3311366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E6E73"/>
                  </a:solidFill>
                  <a:latin typeface="Inter"/>
                  <a:ea typeface="Microsoft YaHei"/>
                  <a:cs typeface="Inter"/>
                </a:rPr>
                <a:t>持续迭代发展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525000" y="1762125"/>
            <a:ext cx="2095500" cy="1905000"/>
            <a:chOff x="9525000" y="1762125"/>
            <a:chExt cx="2095500" cy="1905000"/>
          </a:xfrm>
        </p:grpSpPr>
        <p:sp>
          <p:nvSpPr>
            <p:cNvPr id="44" name="Rectangle 44"/>
            <p:cNvSpPr/>
            <p:nvPr/>
          </p:nvSpPr>
          <p:spPr>
            <a:xfrm>
              <a:off x="9525000" y="1762125"/>
              <a:ext cx="2095500" cy="1905000"/>
            </a:xfrm>
            <a:prstGeom prst="rect">
              <a:avLst/>
            </a:prstGeom>
            <a:solidFill>
              <a:srgbClr val="C9A962">
                <a:alpha val="10000"/>
              </a:srgbClr>
            </a:solidFill>
            <a:ln w="9525">
              <a:solidFill>
                <a:srgbClr val="C9A962">
                  <a:alpha val="50000"/>
                </a:srgbClr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525000" y="1762125"/>
              <a:ext cx="2095500" cy="57150"/>
            </a:xfrm>
            <a:prstGeom prst="rect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705022" y="2006441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498DB"/>
                  </a:solidFill>
                  <a:latin typeface="Space Grotesk"/>
                  <a:ea typeface="Microsoft YaHei"/>
                  <a:cs typeface="Space Grotesk"/>
                </a:rPr>
                <a:t>品牌周期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01212" y="22598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F5F7"/>
                  </a:solidFill>
                  <a:latin typeface="Space Grotesk"/>
                  <a:ea typeface="Microsoft YaHei"/>
                  <a:cs typeface="Space Grotesk"/>
                </a:rPr>
                <a:t>产品周期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04070" y="261747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工装类产品市场露出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04070" y="2855595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可延续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88830" y="3107055"/>
              <a:ext cx="90674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3-5季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552450" y="3933825"/>
            <a:ext cx="23383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工装未来核心发展策略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571500" y="4381500"/>
            <a:ext cx="5334000" cy="1238250"/>
            <a:chOff x="571500" y="4381500"/>
            <a:chExt cx="5334000" cy="1238250"/>
          </a:xfrm>
        </p:grpSpPr>
        <p:sp>
          <p:nvSpPr>
            <p:cNvPr id="53" name="Rectangle 53"/>
            <p:cNvSpPr/>
            <p:nvPr/>
          </p:nvSpPr>
          <p:spPr>
            <a:xfrm>
              <a:off x="571500" y="4381500"/>
              <a:ext cx="5334000" cy="12382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71500" y="4381500"/>
              <a:ext cx="57150" cy="12382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7242" y="4561999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产品端：创新功能与设计融合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8195" y="4855845"/>
              <a:ext cx="33089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创意设计：混搭多元风格元素，邀请消费者参与设计共创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98195" y="5093970"/>
              <a:ext cx="31775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可持续升级：提升再生纤维使用比例，推广可回收工装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8195" y="533209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建立闭环回收机制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096000" y="4381500"/>
            <a:ext cx="5334000" cy="1238250"/>
            <a:chOff x="6096000" y="4381500"/>
            <a:chExt cx="5334000" cy="1238250"/>
          </a:xfrm>
        </p:grpSpPr>
        <p:sp>
          <p:nvSpPr>
            <p:cNvPr id="60" name="Rectangle 60"/>
            <p:cNvSpPr/>
            <p:nvPr/>
          </p:nvSpPr>
          <p:spPr>
            <a:xfrm>
              <a:off x="6096000" y="4381500"/>
              <a:ext cx="5334000" cy="1238250"/>
            </a:xfrm>
            <a:prstGeom prst="rect">
              <a:avLst/>
            </a:prstGeom>
            <a:solidFill>
              <a:srgbClr val="1A1A20"/>
            </a:solidFill>
            <a:ln w="9525">
              <a:solidFill>
                <a:srgbClr val="2A2A35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96000" y="4381500"/>
              <a:ext cx="57150" cy="1238250"/>
            </a:xfrm>
            <a:prstGeom prst="rect">
              <a:avLst/>
            </a:prstGeom>
            <a:solidFill>
              <a:srgbClr val="C9A96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21742" y="4561999"/>
              <a:ext cx="21180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营销端：精准触达与价值观共鸣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22695" y="4855845"/>
              <a:ext cx="35850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品牌塑造：深挖工装历史、地域、行业文化，打造"工匠精神"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22695" y="5093970"/>
              <a:ext cx="23297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社群连接：构建场景化+圈层化社群体系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22695" y="533209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强化品牌与用户情感连接</a:t>
              </a:r>
            </a:p>
          </p:txBody>
        </p:sp>
      </p:grpSp>
      <p:sp>
        <p:nvSpPr>
          <p:cNvPr id="67" name="Rectangle 67"/>
          <p:cNvSpPr/>
          <p:nvPr/>
        </p:nvSpPr>
        <p:spPr>
          <a:xfrm>
            <a:off x="571500" y="5810250"/>
            <a:ext cx="11049000" cy="762000"/>
          </a:xfrm>
          <a:prstGeom prst="rect">
            <a:avLst/>
          </a:prstGeom>
          <a:solidFill>
            <a:srgbClr val="C9A962">
              <a:alpha val="8000"/>
            </a:srgbClr>
          </a:solidFill>
          <a:ln w="9525">
            <a:solidFill>
              <a:srgbClr val="C9A962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749618" y="6038374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9A962"/>
                </a:solidFill>
                <a:latin typeface="Space Grotesk"/>
                <a:ea typeface="Microsoft YaHei"/>
                <a:cs typeface="Space Grotesk"/>
              </a:rPr>
              <a:t>行业前景判断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49618" y="6276499"/>
            <a:ext cx="54359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5F5F7"/>
                </a:solidFill>
                <a:latin typeface="Inter"/>
                <a:ea typeface="Microsoft YaHei"/>
                <a:cs typeface="Inter"/>
              </a:rPr>
              <a:t>工装行业前景广阔、潜力巨大，</a:t>
            </a:r>
            <a:r>
              <a:rPr lang="zh-CN" sz="975" dirty="0">
                <a:solidFill>
                  <a:srgbClr val="C9A962"/>
                </a:solidFill>
                <a:latin typeface="Inter"/>
                <a:ea typeface="Microsoft YaHei"/>
                <a:cs typeface="Inter"/>
              </a:rPr>
              <a:t>技术创新、市场需求、政策支持</a:t>
            </a:r>
            <a:r>
              <a:rPr lang="zh-CN" sz="975" dirty="0">
                <a:solidFill>
                  <a:srgbClr val="F5F5F7"/>
                </a:solidFill>
                <a:latin typeface="Inter"/>
                <a:ea typeface="Microsoft YaHei"/>
                <a:cs typeface="Inter"/>
              </a:rPr>
              <a:t>将推动行业高质量发展</a:t>
            </a:r>
          </a:p>
        </p:txBody>
      </p:sp>
      <p:sp>
        <p:nvSpPr>
          <p:cNvPr id="70" name="Rectangle 7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C9A962">
                  <a:alpha val="5000"/>
                </a:srgbClr>
              </a:gs>
              <a:gs pos="100000">
                <a:srgbClr val="C9A962">
                  <a:alpha val="0"/>
                </a:srgbClr>
              </a:gs>
            </a:gsLst>
            <a:path path="circle">
              <a:fillToRect l="25000" t="40000" r="75000" b="6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C9A962">
                  <a:alpha val="3000"/>
                </a:srgbClr>
              </a:gs>
              <a:gs pos="100000">
                <a:srgbClr val="C9A962">
                  <a:alpha val="0"/>
                </a:srgbClr>
              </a:gs>
            </a:gsLst>
            <a:path path="circle">
              <a:fillToRect l="75000" t="60000" r="25000" b="40000"/>
            </a:path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57150" cy="102870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381000" y="381000"/>
            <a:ext cx="5524500" cy="9525000"/>
          </a:xfrm>
          <a:custGeom>
            <a:avLst/>
            <a:gdLst/>
            <a:ahLst/>
            <a:cxnLst/>
            <a:rect l="l" t="t" r="r" b="b"/>
            <a:pathLst>
              <a:path w="5524500" h="9525000">
                <a:moveTo>
                  <a:pt x="133350" y="0"/>
                </a:moveTo>
                <a:lnTo>
                  <a:pt x="5391150" y="0"/>
                </a:lnTo>
                <a:cubicBezTo>
                  <a:pt x="5464797" y="0"/>
                  <a:pt x="5524500" y="59703"/>
                  <a:pt x="5524500" y="133350"/>
                </a:cubicBezTo>
                <a:lnTo>
                  <a:pt x="5524500" y="9391650"/>
                </a:lnTo>
                <a:cubicBezTo>
                  <a:pt x="5524500" y="9465297"/>
                  <a:pt x="5464797" y="9525000"/>
                  <a:pt x="5391150" y="9525000"/>
                </a:cubicBezTo>
                <a:lnTo>
                  <a:pt x="133350" y="9525000"/>
                </a:lnTo>
                <a:cubicBezTo>
                  <a:pt x="59703" y="9525000"/>
                  <a:pt x="0" y="9465297"/>
                  <a:pt x="0" y="9391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gradFill>
            <a:gsLst>
              <a:gs pos="0">
                <a:srgbClr val="141419"/>
              </a:gs>
              <a:gs pos="100000">
                <a:srgbClr val="0F0F14"/>
              </a:gs>
            </a:gsLst>
            <a:lin ang="0" scaled="1"/>
          </a:gradFill>
          <a:ln w="9525">
            <a:solidFill>
              <a:srgbClr val="C9A962">
                <a:alpha val="12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533400" y="533400"/>
            <a:ext cx="5219700" cy="9220200"/>
          </a:xfrm>
          <a:custGeom>
            <a:avLst/>
            <a:gdLst/>
            <a:ahLst/>
            <a:cxnLst/>
            <a:rect l="l" t="t" r="r" b="b"/>
            <a:pathLst>
              <a:path w="5219700" h="922020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9124950"/>
                </a:lnTo>
                <a:cubicBezTo>
                  <a:pt x="5219700" y="9177555"/>
                  <a:pt x="5177055" y="9220200"/>
                  <a:pt x="5124450" y="9220200"/>
                </a:cubicBezTo>
                <a:lnTo>
                  <a:pt x="95250" y="9220200"/>
                </a:lnTo>
                <a:cubicBezTo>
                  <a:pt x="42645" y="9220200"/>
                  <a:pt x="0" y="9177555"/>
                  <a:pt x="0" y="9124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noFill/>
          <a:ln w="14288">
            <a:solidFill>
              <a:srgbClr val="C9A962">
                <a:alpha val="20000"/>
              </a:srgbClr>
            </a:solidFill>
            <a:custDash>
              <a:ds d="666666" sp="333333"/>
            </a:custDash>
          </a:ln>
        </p:spPr>
      </p:sp>
      <p:sp>
        <p:nvSpPr>
          <p:cNvPr id="9" name="Freeform 9"/>
          <p:cNvSpPr/>
          <p:nvPr/>
        </p:nvSpPr>
        <p:spPr>
          <a:xfrm>
            <a:off x="685800" y="685800"/>
            <a:ext cx="4914900" cy="8915400"/>
          </a:xfrm>
          <a:custGeom>
            <a:avLst/>
            <a:gdLst/>
            <a:ahLst/>
            <a:cxnLst/>
            <a:rect l="l" t="t" r="r" b="b"/>
            <a:pathLst>
              <a:path w="4914900" h="8915400">
                <a:moveTo>
                  <a:pt x="57150" y="0"/>
                </a:moveTo>
                <a:lnTo>
                  <a:pt x="4857750" y="0"/>
                </a:lnTo>
                <a:cubicBezTo>
                  <a:pt x="4889313" y="0"/>
                  <a:pt x="4914900" y="25587"/>
                  <a:pt x="4914900" y="57150"/>
                </a:cubicBezTo>
                <a:lnTo>
                  <a:pt x="4914900" y="8858250"/>
                </a:lnTo>
                <a:cubicBezTo>
                  <a:pt x="4914900" y="8889813"/>
                  <a:pt x="4889313" y="8915400"/>
                  <a:pt x="4857750" y="8915400"/>
                </a:cubicBezTo>
                <a:lnTo>
                  <a:pt x="57150" y="8915400"/>
                </a:lnTo>
                <a:cubicBezTo>
                  <a:pt x="25587" y="8915400"/>
                  <a:pt x="0" y="8889813"/>
                  <a:pt x="0" y="88582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noFill/>
          <a:ln w="9525">
            <a:solidFill>
              <a:srgbClr val="C9A962">
                <a:alpha val="8000"/>
              </a:srgbClr>
            </a:solidFill>
            <a:custDash>
              <a:ds d="400000" sp="800000"/>
            </a:custDash>
          </a:ln>
        </p:spPr>
      </p:sp>
      <p:sp>
        <p:nvSpPr>
          <p:cNvPr id="10" name="Freeform 10"/>
          <p:cNvSpPr/>
          <p:nvPr/>
        </p:nvSpPr>
        <p:spPr>
          <a:xfrm>
            <a:off x="2852738" y="4033838"/>
            <a:ext cx="466725" cy="466725"/>
          </a:xfrm>
          <a:custGeom>
            <a:avLst/>
            <a:gdLst/>
            <a:ahLst/>
            <a:cxnLst/>
            <a:rect l="l" t="t" r="r" b="b"/>
            <a:pathLst>
              <a:path w="466725" h="466725">
                <a:moveTo>
                  <a:pt x="0" y="0"/>
                </a:moveTo>
                <a:lnTo>
                  <a:pt x="466725" y="0"/>
                </a:lnTo>
                <a:lnTo>
                  <a:pt x="466725" y="466725"/>
                </a:lnTo>
                <a:lnTo>
                  <a:pt x="0" y="466725"/>
                </a:lnTo>
                <a:lnTo>
                  <a:pt x="0" y="0"/>
                </a:lnTo>
                <a:close/>
                <a:moveTo>
                  <a:pt x="166688" y="266700"/>
                </a:moveTo>
                <a:lnTo>
                  <a:pt x="233362" y="333375"/>
                </a:lnTo>
                <a:lnTo>
                  <a:pt x="400050" y="166688"/>
                </a:lnTo>
                <a:lnTo>
                  <a:pt x="400050" y="400050"/>
                </a:lnTo>
                <a:lnTo>
                  <a:pt x="66675" y="400050"/>
                </a:lnTo>
                <a:lnTo>
                  <a:pt x="66675" y="366712"/>
                </a:lnTo>
                <a:lnTo>
                  <a:pt x="166688" y="266700"/>
                </a:lnTo>
                <a:close/>
                <a:moveTo>
                  <a:pt x="183356" y="200025"/>
                </a:moveTo>
                <a:cubicBezTo>
                  <a:pt x="210974" y="200025"/>
                  <a:pt x="233362" y="177637"/>
                  <a:pt x="233362" y="150019"/>
                </a:cubicBezTo>
                <a:cubicBezTo>
                  <a:pt x="233362" y="122401"/>
                  <a:pt x="210974" y="100012"/>
                  <a:pt x="183356" y="100012"/>
                </a:cubicBezTo>
                <a:cubicBezTo>
                  <a:pt x="155738" y="100012"/>
                  <a:pt x="133350" y="122401"/>
                  <a:pt x="133350" y="150019"/>
                </a:cubicBezTo>
                <a:cubicBezTo>
                  <a:pt x="133350" y="177637"/>
                  <a:pt x="155738" y="200025"/>
                  <a:pt x="183356" y="200025"/>
                </a:cubicBezTo>
                <a:close/>
              </a:path>
            </a:pathLst>
          </a:custGeom>
          <a:solidFill>
            <a:srgbClr val="C9A96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477452" y="471201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产品图展示区</a:t>
            </a:r>
          </a:p>
        </p:txBody>
      </p:sp>
      <p:sp>
        <p:nvSpPr>
          <p:cNvPr id="12" name="Line 12"/>
          <p:cNvSpPr/>
          <p:nvPr/>
        </p:nvSpPr>
        <p:spPr>
          <a:xfrm>
            <a:off x="2419350" y="50482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9525">
            <a:solidFill>
              <a:srgbClr val="C9A962">
                <a:alpha val="20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005727" y="53049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Inter"/>
                <a:ea typeface="Microsoft YaHei"/>
                <a:cs typeface="Inter"/>
              </a:rPr>
              <a:t>请在此处放置我司现有工装款式的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48126" y="551449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Inter"/>
                <a:ea typeface="Microsoft YaHei"/>
                <a:cs typeface="Inter"/>
              </a:rPr>
              <a:t>产品实拍图或系列款式截图，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90524" y="572404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E6E73"/>
                </a:solidFill>
                <a:latin typeface="Inter"/>
                <a:ea typeface="Microsoft YaHei"/>
                <a:cs typeface="Inter"/>
              </a:rPr>
              <a:t>直观呈现当前产品风貌。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381000"/>
            <a:ext cx="19050" cy="9525000"/>
          </a:xfrm>
          <a:prstGeom prst="rect">
            <a:avLst/>
          </a:prstGeom>
          <a:gradFill>
            <a:gsLst>
              <a:gs pos="0">
                <a:srgbClr val="C9A962">
                  <a:alpha val="0"/>
                </a:srgbClr>
              </a:gs>
              <a:gs pos="20000">
                <a:srgbClr val="C9A962">
                  <a:alpha val="40000"/>
                </a:srgbClr>
              </a:gs>
              <a:gs pos="80000">
                <a:srgbClr val="C9A962">
                  <a:alpha val="40000"/>
                </a:srgbClr>
              </a:gs>
              <a:gs pos="100000">
                <a:srgbClr val="C9A962">
                  <a:alpha val="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6667500" y="381000"/>
            <a:ext cx="11239500" cy="9525000"/>
          </a:xfrm>
          <a:custGeom>
            <a:avLst/>
            <a:gdLst/>
            <a:ahLst/>
            <a:cxnLst/>
            <a:rect l="l" t="t" r="r" b="b"/>
            <a:pathLst>
              <a:path w="11239500" h="9525000">
                <a:moveTo>
                  <a:pt x="133350" y="0"/>
                </a:moveTo>
                <a:lnTo>
                  <a:pt x="11106150" y="0"/>
                </a:lnTo>
                <a:cubicBezTo>
                  <a:pt x="11179797" y="0"/>
                  <a:pt x="11239500" y="59703"/>
                  <a:pt x="11239500" y="133350"/>
                </a:cubicBezTo>
                <a:lnTo>
                  <a:pt x="11239500" y="9391650"/>
                </a:lnTo>
                <a:cubicBezTo>
                  <a:pt x="11239500" y="9465297"/>
                  <a:pt x="11179797" y="9525000"/>
                  <a:pt x="11106150" y="9525000"/>
                </a:cubicBezTo>
                <a:lnTo>
                  <a:pt x="133350" y="9525000"/>
                </a:lnTo>
                <a:cubicBezTo>
                  <a:pt x="59703" y="9525000"/>
                  <a:pt x="0" y="9465297"/>
                  <a:pt x="0" y="9391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0A0A0F">
              <a:alpha val="30000"/>
            </a:srgbClr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6896100" y="57150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97" y="0"/>
                  <a:pt x="762000" y="59703"/>
                  <a:pt x="762000" y="133350"/>
                </a:cubicBezTo>
                <a:lnTo>
                  <a:pt x="762000" y="133350"/>
                </a:lnTo>
                <a:cubicBezTo>
                  <a:pt x="762000" y="206997"/>
                  <a:pt x="702297" y="266700"/>
                  <a:pt x="6286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C9A962">
              <a:alpha val="10000"/>
            </a:srgbClr>
          </a:solidFill>
          <a:ln w="9525">
            <a:solidFill>
              <a:srgbClr val="C9A962">
                <a:alpha val="3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004102" y="663416"/>
            <a:ext cx="5459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C9A962"/>
                </a:solidFill>
                <a:latin typeface="Space Grotesk"/>
                <a:ea typeface="Microsoft YaHei"/>
                <a:cs typeface="Space Grotesk"/>
              </a:rPr>
              <a:t>ANALYSIS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61810" y="85153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gradFill>
                  <a:gsLst>
                    <a:gs pos="0">
                      <a:srgbClr val="C9A962"/>
                    </a:gs>
                    <a:gs pos="100000">
                      <a:srgbClr val="E0C882"/>
                    </a:gs>
                  </a:gsLst>
                  <a:lin ang="2700000" scaled="1"/>
                </a:gradFill>
                <a:latin typeface="Space Grotesk"/>
                <a:ea typeface="Microsoft YaHei"/>
                <a:cs typeface="Space Grotesk"/>
              </a:rPr>
              <a:t>我司老品分析</a:t>
            </a:r>
          </a:p>
        </p:txBody>
      </p:sp>
      <p:sp>
        <p:nvSpPr>
          <p:cNvPr id="21" name="Line 21"/>
          <p:cNvSpPr/>
          <p:nvPr/>
        </p:nvSpPr>
        <p:spPr>
          <a:xfrm>
            <a:off x="6896100" y="1314450"/>
            <a:ext cx="2247900" cy="9525"/>
          </a:xfrm>
          <a:custGeom>
            <a:avLst/>
            <a:gdLst/>
            <a:ahLst/>
            <a:cxnLst/>
            <a:rect l="l" t="t" r="r" b="b"/>
            <a:pathLst>
              <a:path w="2247900" h="9525">
                <a:moveTo>
                  <a:pt x="0" y="0"/>
                </a:moveTo>
                <a:lnTo>
                  <a:pt x="2247900" y="0"/>
                </a:lnTo>
              </a:path>
            </a:pathLst>
          </a:custGeom>
          <a:noFill/>
          <a:ln w="19050">
            <a:solidFill>
              <a:srgbClr val="C9A962">
                <a:alpha val="30000"/>
              </a:srgbClr>
            </a:solidFill>
          </a:ln>
        </p:spPr>
      </p:sp>
      <p:sp>
        <p:nvSpPr>
          <p:cNvPr id="22" name="Ellipse 22"/>
          <p:cNvSpPr/>
          <p:nvPr/>
        </p:nvSpPr>
        <p:spPr>
          <a:xfrm>
            <a:off x="9115425" y="1285875"/>
            <a:ext cx="57150" cy="57150"/>
          </a:xfrm>
          <a:prstGeom prst="ellipse">
            <a:avLst/>
          </a:prstGeom>
          <a:solidFill>
            <a:srgbClr val="C9A962">
              <a:alpha val="50000"/>
            </a:srgbClr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6896100" y="1543050"/>
            <a:ext cx="10820400" cy="381000"/>
          </a:xfrm>
          <a:custGeom>
            <a:avLst/>
            <a:gdLst/>
            <a:ahLst/>
            <a:cxnLst/>
            <a:rect l="l" t="t" r="r" b="b"/>
            <a:pathLst>
              <a:path w="10820400" h="381000">
                <a:moveTo>
                  <a:pt x="57150" y="0"/>
                </a:moveTo>
                <a:lnTo>
                  <a:pt x="10763250" y="0"/>
                </a:lnTo>
                <a:cubicBezTo>
                  <a:pt x="10794813" y="0"/>
                  <a:pt x="10820400" y="25587"/>
                  <a:pt x="10820400" y="57150"/>
                </a:cubicBezTo>
                <a:lnTo>
                  <a:pt x="10820400" y="323850"/>
                </a:lnTo>
                <a:cubicBezTo>
                  <a:pt x="10820400" y="355413"/>
                  <a:pt x="10794813" y="381000"/>
                  <a:pt x="107632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74C3C">
              <a:alpha val="6000"/>
            </a:srgbClr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6896100" y="154305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361950"/>
                </a:lnTo>
                <a:cubicBezTo>
                  <a:pt x="38100" y="372471"/>
                  <a:pt x="29571" y="381000"/>
                  <a:pt x="19050" y="381000"/>
                </a:cubicBezTo>
                <a:lnTo>
                  <a:pt x="19050" y="381000"/>
                </a:lnTo>
                <a:cubicBezTo>
                  <a:pt x="8529" y="381000"/>
                  <a:pt x="0" y="372471"/>
                  <a:pt x="0" y="361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E74C3C"/>
              </a:gs>
              <a:gs pos="100000">
                <a:srgbClr val="C0392B"/>
              </a:gs>
            </a:gsLst>
            <a:lin ang="0" scaled="1"/>
          </a:gra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7086600" y="1619250"/>
            <a:ext cx="228600" cy="214312"/>
          </a:xfrm>
          <a:custGeom>
            <a:avLst/>
            <a:gdLst/>
            <a:ahLst/>
            <a:cxnLst/>
            <a:rect l="l" t="t" r="r" b="b"/>
            <a:pathLst>
              <a:path w="228600" h="214312">
                <a:moveTo>
                  <a:pt x="228600" y="214312"/>
                </a:moveTo>
                <a:lnTo>
                  <a:pt x="0" y="214312"/>
                </a:lnTo>
                <a:lnTo>
                  <a:pt x="0" y="171450"/>
                </a:lnTo>
                <a:lnTo>
                  <a:pt x="100012" y="0"/>
                </a:lnTo>
                <a:lnTo>
                  <a:pt x="128588" y="0"/>
                </a:lnTo>
                <a:lnTo>
                  <a:pt x="228600" y="171450"/>
                </a:lnTo>
                <a:lnTo>
                  <a:pt x="228600" y="214312"/>
                </a:lnTo>
                <a:close/>
                <a:moveTo>
                  <a:pt x="100012" y="57150"/>
                </a:moveTo>
                <a:lnTo>
                  <a:pt x="128588" y="57150"/>
                </a:lnTo>
                <a:lnTo>
                  <a:pt x="128588" y="128588"/>
                </a:lnTo>
                <a:lnTo>
                  <a:pt x="100012" y="128588"/>
                </a:lnTo>
                <a:lnTo>
                  <a:pt x="100012" y="57150"/>
                </a:lnTo>
                <a:close/>
                <a:moveTo>
                  <a:pt x="100012" y="157162"/>
                </a:moveTo>
                <a:lnTo>
                  <a:pt x="128588" y="157162"/>
                </a:lnTo>
                <a:lnTo>
                  <a:pt x="128588" y="185738"/>
                </a:lnTo>
                <a:lnTo>
                  <a:pt x="100012" y="185738"/>
                </a:lnTo>
                <a:lnTo>
                  <a:pt x="100012" y="157162"/>
                </a:lnTo>
                <a:close/>
              </a:path>
            </a:pathLst>
          </a:custGeom>
          <a:solidFill>
            <a:srgbClr val="E74C3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413308" y="165306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E74C3C"/>
                </a:solidFill>
                <a:latin typeface="Space Grotesk"/>
                <a:ea typeface="Microsoft YaHei"/>
                <a:cs typeface="Space Grotesk"/>
              </a:rPr>
              <a:t>核心问题诊断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51570" y="1693545"/>
            <a:ext cx="7786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74C3C">
                    <a:alpha val="40000"/>
                  </a:srgbClr>
                </a:solidFill>
                <a:latin typeface="Space Grotesk"/>
                <a:ea typeface="Microsoft YaHei"/>
                <a:cs typeface="Space Grotesk"/>
              </a:rPr>
              <a:t>CORE ISSUES</a:t>
            </a:r>
          </a:p>
        </p:txBody>
      </p:sp>
      <p:sp>
        <p:nvSpPr>
          <p:cNvPr id="28" name="Freeform 28"/>
          <p:cNvSpPr/>
          <p:nvPr/>
        </p:nvSpPr>
        <p:spPr>
          <a:xfrm>
            <a:off x="6896100" y="20764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41419"/>
          </a:solidFill>
          <a:ln w="9525">
            <a:solidFill>
              <a:srgbClr val="E74C3C">
                <a:alpha val="12000"/>
              </a:srgbClr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896100" y="20764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74C3C">
              <a:alpha val="2000"/>
            </a:srgbClr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7048500" y="220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7150" y="0"/>
                </a:moveTo>
                <a:lnTo>
                  <a:pt x="247650" y="0"/>
                </a:lnTo>
                <a:cubicBezTo>
                  <a:pt x="279213" y="0"/>
                  <a:pt x="304800" y="25587"/>
                  <a:pt x="304800" y="57150"/>
                </a:cubicBezTo>
                <a:lnTo>
                  <a:pt x="304800" y="247650"/>
                </a:lnTo>
                <a:cubicBezTo>
                  <a:pt x="304800" y="279213"/>
                  <a:pt x="279213" y="304800"/>
                  <a:pt x="24765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74C3C">
              <a:alpha val="12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119131" y="230600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74C3C"/>
                </a:solidFill>
                <a:latin typeface="Space Grotesk"/>
                <a:ea typeface="Microsoft YaHei"/>
                <a:cs typeface="Space Grotesk"/>
              </a:rPr>
              <a:t>01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467600" y="2243138"/>
            <a:ext cx="228600" cy="200025"/>
            <a:chOff x="7467600" y="2243138"/>
            <a:chExt cx="228600" cy="200025"/>
          </a:xfrm>
        </p:grpSpPr>
        <p:sp>
          <p:nvSpPr>
            <p:cNvPr id="32" name="Freeform 32"/>
            <p:cNvSpPr/>
            <p:nvPr/>
          </p:nvSpPr>
          <p:spPr>
            <a:xfrm>
              <a:off x="7639050" y="2243138"/>
              <a:ext cx="57150" cy="200025"/>
            </a:xfrm>
            <a:custGeom>
              <a:avLst/>
              <a:gdLst/>
              <a:ahLst/>
              <a:cxnLst/>
              <a:rect l="l" t="t" r="r" b="b"/>
              <a:pathLst>
                <a:path w="57150" h="200025">
                  <a:moveTo>
                    <a:pt x="57150" y="0"/>
                  </a:moveTo>
                  <a:lnTo>
                    <a:pt x="0" y="0"/>
                  </a:lnTo>
                  <a:lnTo>
                    <a:pt x="0" y="200025"/>
                  </a:lnTo>
                  <a:lnTo>
                    <a:pt x="57150" y="2000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553325" y="2300288"/>
              <a:ext cx="57150" cy="142875"/>
            </a:xfrm>
            <a:custGeom>
              <a:avLst/>
              <a:gdLst/>
              <a:ahLst/>
              <a:cxnLst/>
              <a:rect l="l" t="t" r="r" b="b"/>
              <a:pathLst>
                <a:path w="57150" h="142875">
                  <a:moveTo>
                    <a:pt x="0" y="0"/>
                  </a:moveTo>
                  <a:lnTo>
                    <a:pt x="57150" y="0"/>
                  </a:lnTo>
                  <a:lnTo>
                    <a:pt x="57150" y="142875"/>
                  </a:lnTo>
                  <a:lnTo>
                    <a:pt x="0" y="142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467600" y="2357438"/>
              <a:ext cx="57150" cy="85725"/>
            </a:xfrm>
            <a:custGeom>
              <a:avLst/>
              <a:gdLst/>
              <a:ahLst/>
              <a:cxnLst/>
              <a:rect l="l" t="t" r="r" b="b"/>
              <a:pathLst>
                <a:path w="57150" h="85725">
                  <a:moveTo>
                    <a:pt x="0" y="0"/>
                  </a:moveTo>
                  <a:lnTo>
                    <a:pt x="57150" y="0"/>
                  </a:lnTo>
                  <a:lnTo>
                    <a:pt x="57150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7776210" y="22707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品类结构失衡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112318" y="2580799"/>
            <a:ext cx="24384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下装 SKU 占比过低（约 15%），与工装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12318" y="2771299"/>
            <a:ext cx="22177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"上下搭配" 的核心消费场景脱节。</a:t>
            </a:r>
          </a:p>
        </p:txBody>
      </p:sp>
      <p:sp>
        <p:nvSpPr>
          <p:cNvPr id="39" name="Freeform 39"/>
          <p:cNvSpPr/>
          <p:nvPr/>
        </p:nvSpPr>
        <p:spPr>
          <a:xfrm>
            <a:off x="12496800" y="20764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41419"/>
          </a:solidFill>
          <a:ln w="9525">
            <a:solidFill>
              <a:srgbClr val="E74C3C">
                <a:alpha val="12000"/>
              </a:srgbClr>
            </a:solidFill>
          </a:ln>
        </p:spPr>
      </p:sp>
      <p:sp>
        <p:nvSpPr>
          <p:cNvPr id="40" name="Freeform 40"/>
          <p:cNvSpPr/>
          <p:nvPr/>
        </p:nvSpPr>
        <p:spPr>
          <a:xfrm>
            <a:off x="12496800" y="20764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74C3C">
              <a:alpha val="2000"/>
            </a:srgbClr>
          </a:soli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12649200" y="220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7150" y="0"/>
                </a:moveTo>
                <a:lnTo>
                  <a:pt x="247650" y="0"/>
                </a:lnTo>
                <a:cubicBezTo>
                  <a:pt x="279213" y="0"/>
                  <a:pt x="304800" y="25587"/>
                  <a:pt x="304800" y="57150"/>
                </a:cubicBezTo>
                <a:lnTo>
                  <a:pt x="304800" y="247650"/>
                </a:lnTo>
                <a:cubicBezTo>
                  <a:pt x="304800" y="279213"/>
                  <a:pt x="279213" y="304800"/>
                  <a:pt x="24765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74C3C">
              <a:alpha val="12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2699704" y="23060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74C3C"/>
                </a:solidFill>
                <a:latin typeface="Space Grotesk"/>
                <a:ea typeface="Microsoft YaHei"/>
                <a:cs typeface="Space Grotesk"/>
              </a:rPr>
              <a:t>02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3068300" y="2228850"/>
            <a:ext cx="228600" cy="228600"/>
            <a:chOff x="13068300" y="2228850"/>
            <a:chExt cx="228600" cy="228600"/>
          </a:xfrm>
        </p:grpSpPr>
        <p:sp>
          <p:nvSpPr>
            <p:cNvPr id="43" name="Freeform 43"/>
            <p:cNvSpPr/>
            <p:nvPr/>
          </p:nvSpPr>
          <p:spPr>
            <a:xfrm>
              <a:off x="13125450" y="22860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0"/>
                  </a:moveTo>
                  <a:cubicBezTo>
                    <a:pt x="25587" y="0"/>
                    <a:pt x="0" y="25587"/>
                    <a:pt x="0" y="57150"/>
                  </a:cubicBezTo>
                  <a:cubicBezTo>
                    <a:pt x="0" y="88713"/>
                    <a:pt x="25587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7"/>
                    <a:pt x="88713" y="0"/>
                    <a:pt x="57150" y="0"/>
                  </a:cubicBezTo>
                  <a:close/>
                  <a:moveTo>
                    <a:pt x="28575" y="57150"/>
                  </a:moveTo>
                  <a:cubicBezTo>
                    <a:pt x="28575" y="41368"/>
                    <a:pt x="41368" y="28575"/>
                    <a:pt x="57150" y="28575"/>
                  </a:cubicBezTo>
                  <a:cubicBezTo>
                    <a:pt x="72932" y="28575"/>
                    <a:pt x="85725" y="41368"/>
                    <a:pt x="85725" y="57150"/>
                  </a:cubicBezTo>
                  <a:cubicBezTo>
                    <a:pt x="85725" y="72932"/>
                    <a:pt x="72932" y="85725"/>
                    <a:pt x="57150" y="85725"/>
                  </a:cubicBezTo>
                  <a:cubicBezTo>
                    <a:pt x="41368" y="85725"/>
                    <a:pt x="28575" y="72932"/>
                    <a:pt x="28575" y="57150"/>
                  </a:cubicBez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3068300" y="22288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lose/>
                  <a:moveTo>
                    <a:pt x="28575" y="114300"/>
                  </a:moveTo>
                  <a:cubicBezTo>
                    <a:pt x="28575" y="66955"/>
                    <a:pt x="66955" y="28575"/>
                    <a:pt x="114300" y="28575"/>
                  </a:cubicBezTo>
                  <a:cubicBezTo>
                    <a:pt x="161644" y="28575"/>
                    <a:pt x="200025" y="66955"/>
                    <a:pt x="200025" y="114300"/>
                  </a:cubicBezTo>
                  <a:cubicBezTo>
                    <a:pt x="200025" y="161644"/>
                    <a:pt x="161644" y="200025"/>
                    <a:pt x="114300" y="200025"/>
                  </a:cubicBezTo>
                  <a:cubicBezTo>
                    <a:pt x="66955" y="200025"/>
                    <a:pt x="28575" y="161644"/>
                    <a:pt x="28575" y="114300"/>
                  </a:cubicBez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13376910" y="227076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风格与市场错位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713018" y="2580799"/>
            <a:ext cx="24669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偏向日系 / 轻工装，与美国市场主流的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713018" y="2771299"/>
            <a:ext cx="17905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"硬核实用工装" 偏好不符。</a:t>
            </a:r>
          </a:p>
        </p:txBody>
      </p:sp>
      <p:sp>
        <p:nvSpPr>
          <p:cNvPr id="49" name="Freeform 49"/>
          <p:cNvSpPr/>
          <p:nvPr/>
        </p:nvSpPr>
        <p:spPr>
          <a:xfrm>
            <a:off x="6896100" y="34861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41419"/>
          </a:solidFill>
          <a:ln w="9525">
            <a:solidFill>
              <a:srgbClr val="E74C3C">
                <a:alpha val="12000"/>
              </a:srgbClr>
            </a:solidFill>
          </a:ln>
        </p:spPr>
      </p:sp>
      <p:sp>
        <p:nvSpPr>
          <p:cNvPr id="50" name="Freeform 50"/>
          <p:cNvSpPr/>
          <p:nvPr/>
        </p:nvSpPr>
        <p:spPr>
          <a:xfrm>
            <a:off x="6896100" y="34861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74C3C">
              <a:alpha val="2000"/>
            </a:srgbClr>
          </a:solidFill>
          <a:ln>
            <a:noFill/>
          </a:ln>
        </p:spPr>
      </p:sp>
      <p:sp>
        <p:nvSpPr>
          <p:cNvPr id="51" name="Freeform 51"/>
          <p:cNvSpPr/>
          <p:nvPr/>
        </p:nvSpPr>
        <p:spPr>
          <a:xfrm>
            <a:off x="7048500" y="361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7150" y="0"/>
                </a:moveTo>
                <a:lnTo>
                  <a:pt x="247650" y="0"/>
                </a:lnTo>
                <a:cubicBezTo>
                  <a:pt x="279213" y="0"/>
                  <a:pt x="304800" y="25587"/>
                  <a:pt x="304800" y="57150"/>
                </a:cubicBezTo>
                <a:lnTo>
                  <a:pt x="304800" y="247650"/>
                </a:lnTo>
                <a:cubicBezTo>
                  <a:pt x="304800" y="279213"/>
                  <a:pt x="279213" y="304800"/>
                  <a:pt x="24765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74C3C">
              <a:alpha val="12000"/>
            </a:srgbClr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099004" y="37157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74C3C"/>
                </a:solidFill>
                <a:latin typeface="Space Grotesk"/>
                <a:ea typeface="Microsoft YaHei"/>
                <a:cs typeface="Space Grotesk"/>
              </a:rPr>
              <a:t>03</a:t>
            </a:r>
          </a:p>
        </p:txBody>
      </p:sp>
      <p:sp>
        <p:nvSpPr>
          <p:cNvPr id="53" name="Freeform 53"/>
          <p:cNvSpPr/>
          <p:nvPr/>
        </p:nvSpPr>
        <p:spPr>
          <a:xfrm>
            <a:off x="7481888" y="36385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47864" y="191351"/>
                </a:moveTo>
                <a:lnTo>
                  <a:pt x="100012" y="228600"/>
                </a:lnTo>
                <a:lnTo>
                  <a:pt x="152160" y="191351"/>
                </a:lnTo>
                <a:cubicBezTo>
                  <a:pt x="182198" y="169896"/>
                  <a:pt x="200025" y="135255"/>
                  <a:pt x="200025" y="98342"/>
                </a:cubicBezTo>
                <a:lnTo>
                  <a:pt x="200025" y="42862"/>
                </a:lnTo>
                <a:lnTo>
                  <a:pt x="100012" y="0"/>
                </a:lnTo>
                <a:lnTo>
                  <a:pt x="0" y="42862"/>
                </a:lnTo>
                <a:lnTo>
                  <a:pt x="0" y="98342"/>
                </a:lnTo>
                <a:cubicBezTo>
                  <a:pt x="0" y="135255"/>
                  <a:pt x="17827" y="169896"/>
                  <a:pt x="47864" y="191351"/>
                </a:cubicBezTo>
                <a:close/>
              </a:path>
            </a:pathLst>
          </a:custGeom>
          <a:solidFill>
            <a:srgbClr val="E74C3C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76210" y="3680460"/>
            <a:ext cx="1686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功能与场景覆盖不全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112318" y="3990499"/>
            <a:ext cx="2445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季节分布不均，缺少户外、战术等细分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12318" y="418099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场景款式，功能属性薄弱。</a:t>
            </a:r>
          </a:p>
        </p:txBody>
      </p:sp>
      <p:sp>
        <p:nvSpPr>
          <p:cNvPr id="57" name="Freeform 57"/>
          <p:cNvSpPr/>
          <p:nvPr/>
        </p:nvSpPr>
        <p:spPr>
          <a:xfrm>
            <a:off x="12496800" y="34861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41419"/>
          </a:solidFill>
          <a:ln w="9525">
            <a:solidFill>
              <a:srgbClr val="E74C3C">
                <a:alpha val="12000"/>
              </a:srgbClr>
            </a:solidFill>
          </a:ln>
        </p:spPr>
      </p:sp>
      <p:sp>
        <p:nvSpPr>
          <p:cNvPr id="58" name="Freeform 58"/>
          <p:cNvSpPr/>
          <p:nvPr/>
        </p:nvSpPr>
        <p:spPr>
          <a:xfrm>
            <a:off x="12496800" y="34861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74C3C">
              <a:alpha val="2000"/>
            </a:srgbClr>
          </a:solidFill>
          <a:ln>
            <a:noFill/>
          </a:ln>
        </p:spPr>
      </p:sp>
      <p:sp>
        <p:nvSpPr>
          <p:cNvPr id="59" name="Freeform 59"/>
          <p:cNvSpPr/>
          <p:nvPr/>
        </p:nvSpPr>
        <p:spPr>
          <a:xfrm>
            <a:off x="12649200" y="361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7150" y="0"/>
                </a:moveTo>
                <a:lnTo>
                  <a:pt x="247650" y="0"/>
                </a:lnTo>
                <a:cubicBezTo>
                  <a:pt x="279213" y="0"/>
                  <a:pt x="304800" y="25587"/>
                  <a:pt x="304800" y="57150"/>
                </a:cubicBezTo>
                <a:lnTo>
                  <a:pt x="304800" y="247650"/>
                </a:lnTo>
                <a:cubicBezTo>
                  <a:pt x="304800" y="279213"/>
                  <a:pt x="279213" y="304800"/>
                  <a:pt x="24765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74C3C">
              <a:alpha val="12000"/>
            </a:srgbClr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2699704" y="37157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74C3C"/>
                </a:solidFill>
                <a:latin typeface="Space Grotesk"/>
                <a:ea typeface="Microsoft YaHei"/>
                <a:cs typeface="Space Grotesk"/>
              </a:rPr>
              <a:t>04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3068300" y="3638550"/>
            <a:ext cx="228600" cy="228600"/>
            <a:chOff x="13068300" y="3638550"/>
            <a:chExt cx="228600" cy="228600"/>
          </a:xfrm>
        </p:grpSpPr>
        <p:sp>
          <p:nvSpPr>
            <p:cNvPr id="61" name="Freeform 61"/>
            <p:cNvSpPr/>
            <p:nvPr/>
          </p:nvSpPr>
          <p:spPr>
            <a:xfrm>
              <a:off x="13068300" y="3638550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0" y="0"/>
                  </a:moveTo>
                  <a:lnTo>
                    <a:pt x="142875" y="0"/>
                  </a:lnTo>
                  <a:lnTo>
                    <a:pt x="142875" y="57150"/>
                  </a:lnTo>
                  <a:lnTo>
                    <a:pt x="57150" y="57150"/>
                  </a:lnTo>
                  <a:lnTo>
                    <a:pt x="57150" y="142875"/>
                  </a:lnTo>
                  <a:lnTo>
                    <a:pt x="0" y="142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13154025" y="3724275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0"/>
                  </a:lnTo>
                  <a:lnTo>
                    <a:pt x="0" y="142875"/>
                  </a:lnTo>
                  <a:lnTo>
                    <a:pt x="142875" y="142875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</p:grpSp>
      <p:sp>
        <p:nvSpPr>
          <p:cNvPr id="64" name="TextBox 64"/>
          <p:cNvSpPr txBox="1"/>
          <p:nvPr/>
        </p:nvSpPr>
        <p:spPr>
          <a:xfrm>
            <a:off x="13376910" y="368046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款式同质化严重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2713018" y="3990499"/>
            <a:ext cx="2445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上衣款式高度相似，缺少差异化卖点，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713018" y="41809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无法形成记忆点。</a:t>
            </a:r>
          </a:p>
        </p:txBody>
      </p:sp>
      <p:sp>
        <p:nvSpPr>
          <p:cNvPr id="67" name="Line 67"/>
          <p:cNvSpPr/>
          <p:nvPr/>
        </p:nvSpPr>
        <p:spPr>
          <a:xfrm>
            <a:off x="6896100" y="4953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C9A962">
                <a:alpha val="8000"/>
              </a:srgbClr>
            </a:solidFill>
          </a:ln>
        </p:spPr>
      </p:sp>
      <p:sp>
        <p:nvSpPr>
          <p:cNvPr id="68" name="Freeform 68"/>
          <p:cNvSpPr/>
          <p:nvPr/>
        </p:nvSpPr>
        <p:spPr>
          <a:xfrm>
            <a:off x="11715750" y="5086350"/>
            <a:ext cx="952500" cy="342900"/>
          </a:xfrm>
          <a:custGeom>
            <a:avLst/>
            <a:gdLst/>
            <a:ahLst/>
            <a:cxnLst/>
            <a:rect l="l" t="t" r="r" b="b"/>
            <a:pathLst>
              <a:path w="952500" h="342900">
                <a:moveTo>
                  <a:pt x="171450" y="0"/>
                </a:moveTo>
                <a:lnTo>
                  <a:pt x="781050" y="0"/>
                </a:lnTo>
                <a:cubicBezTo>
                  <a:pt x="875739" y="0"/>
                  <a:pt x="952500" y="76761"/>
                  <a:pt x="952500" y="171450"/>
                </a:cubicBezTo>
                <a:lnTo>
                  <a:pt x="952500" y="171450"/>
                </a:lnTo>
                <a:cubicBezTo>
                  <a:pt x="952500" y="266139"/>
                  <a:pt x="875739" y="342900"/>
                  <a:pt x="781050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C9A962">
              <a:alpha val="8000"/>
            </a:srgbClr>
          </a:solidFill>
          <a:ln w="9525">
            <a:solidFill>
              <a:srgbClr val="C9A962">
                <a:alpha val="20000"/>
              </a:srgbClr>
            </a:solidFill>
          </a:ln>
        </p:spPr>
      </p:sp>
      <p:sp>
        <p:nvSpPr>
          <p:cNvPr id="69" name="Freeform 69"/>
          <p:cNvSpPr/>
          <p:nvPr/>
        </p:nvSpPr>
        <p:spPr>
          <a:xfrm>
            <a:off x="12020550" y="5200650"/>
            <a:ext cx="190500" cy="57150"/>
          </a:xfrm>
          <a:custGeom>
            <a:avLst/>
            <a:gdLst/>
            <a:ahLst/>
            <a:cxnLst/>
            <a:rect l="l" t="t" r="r" b="b"/>
            <a:pathLst>
              <a:path w="190500" h="57150">
                <a:moveTo>
                  <a:pt x="0" y="57150"/>
                </a:moveTo>
                <a:lnTo>
                  <a:pt x="95250" y="0"/>
                </a:lnTo>
                <a:lnTo>
                  <a:pt x="190500" y="57150"/>
                </a:lnTo>
              </a:path>
            </a:pathLst>
          </a:custGeom>
          <a:noFill/>
          <a:ln w="19050" cap="rnd">
            <a:solidFill>
              <a:srgbClr val="C9A962">
                <a:alpha val="60000"/>
              </a:srgbClr>
            </a:solidFill>
            <a:round/>
          </a:ln>
        </p:spPr>
      </p:sp>
      <p:sp>
        <p:nvSpPr>
          <p:cNvPr id="70" name="Freeform 70"/>
          <p:cNvSpPr/>
          <p:nvPr/>
        </p:nvSpPr>
        <p:spPr>
          <a:xfrm>
            <a:off x="12115800" y="5200650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 cap="rnd">
            <a:solidFill>
              <a:srgbClr val="C9A962">
                <a:alpha val="60000"/>
              </a:srgbClr>
            </a:solidFill>
          </a:ln>
        </p:spPr>
      </p:sp>
      <p:sp>
        <p:nvSpPr>
          <p:cNvPr id="71" name="Freeform 71"/>
          <p:cNvSpPr/>
          <p:nvPr/>
        </p:nvSpPr>
        <p:spPr>
          <a:xfrm>
            <a:off x="6896100" y="5581650"/>
            <a:ext cx="10820400" cy="381000"/>
          </a:xfrm>
          <a:custGeom>
            <a:avLst/>
            <a:gdLst/>
            <a:ahLst/>
            <a:cxnLst/>
            <a:rect l="l" t="t" r="r" b="b"/>
            <a:pathLst>
              <a:path w="10820400" h="381000">
                <a:moveTo>
                  <a:pt x="57150" y="0"/>
                </a:moveTo>
                <a:lnTo>
                  <a:pt x="10763250" y="0"/>
                </a:lnTo>
                <a:cubicBezTo>
                  <a:pt x="10794813" y="0"/>
                  <a:pt x="10820400" y="25587"/>
                  <a:pt x="10820400" y="57150"/>
                </a:cubicBezTo>
                <a:lnTo>
                  <a:pt x="10820400" y="323850"/>
                </a:lnTo>
                <a:cubicBezTo>
                  <a:pt x="10820400" y="355413"/>
                  <a:pt x="10794813" y="381000"/>
                  <a:pt x="107632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C71">
              <a:alpha val="6000"/>
            </a:srgbClr>
          </a:solidFill>
          <a:ln>
            <a:noFill/>
          </a:ln>
        </p:spPr>
      </p:sp>
      <p:sp>
        <p:nvSpPr>
          <p:cNvPr id="72" name="Freeform 72"/>
          <p:cNvSpPr/>
          <p:nvPr/>
        </p:nvSpPr>
        <p:spPr>
          <a:xfrm>
            <a:off x="6896100" y="558165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361950"/>
                </a:lnTo>
                <a:cubicBezTo>
                  <a:pt x="38100" y="372471"/>
                  <a:pt x="29571" y="381000"/>
                  <a:pt x="19050" y="381000"/>
                </a:cubicBezTo>
                <a:lnTo>
                  <a:pt x="19050" y="381000"/>
                </a:lnTo>
                <a:cubicBezTo>
                  <a:pt x="8529" y="381000"/>
                  <a:pt x="0" y="372471"/>
                  <a:pt x="0" y="361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2ECC71"/>
              </a:gs>
              <a:gs pos="100000">
                <a:srgbClr val="27AE60"/>
              </a:gs>
            </a:gsLst>
            <a:lin ang="0" scaled="1"/>
          </a:gradFill>
          <a:ln>
            <a:noFill/>
          </a:ln>
        </p:spPr>
      </p:sp>
      <p:sp>
        <p:nvSpPr>
          <p:cNvPr id="73" name="Freeform 73"/>
          <p:cNvSpPr/>
          <p:nvPr/>
        </p:nvSpPr>
        <p:spPr>
          <a:xfrm>
            <a:off x="7115175" y="56578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42862" y="164306"/>
                </a:moveTo>
                <a:lnTo>
                  <a:pt x="42862" y="207169"/>
                </a:lnTo>
                <a:lnTo>
                  <a:pt x="64294" y="228600"/>
                </a:lnTo>
                <a:lnTo>
                  <a:pt x="107156" y="228600"/>
                </a:lnTo>
                <a:lnTo>
                  <a:pt x="128588" y="207169"/>
                </a:lnTo>
                <a:lnTo>
                  <a:pt x="128588" y="164306"/>
                </a:lnTo>
                <a:lnTo>
                  <a:pt x="146298" y="146595"/>
                </a:lnTo>
                <a:cubicBezTo>
                  <a:pt x="162403" y="130491"/>
                  <a:pt x="171450" y="108605"/>
                  <a:pt x="171450" y="85830"/>
                </a:cubicBezTo>
                <a:cubicBezTo>
                  <a:pt x="171450" y="38486"/>
                  <a:pt x="133069" y="0"/>
                  <a:pt x="85725" y="0"/>
                </a:cubicBezTo>
                <a:cubicBezTo>
                  <a:pt x="38380" y="0"/>
                  <a:pt x="0" y="38486"/>
                  <a:pt x="0" y="85830"/>
                </a:cubicBezTo>
                <a:cubicBezTo>
                  <a:pt x="0" y="108605"/>
                  <a:pt x="9047" y="130491"/>
                  <a:pt x="25152" y="146595"/>
                </a:cubicBezTo>
                <a:lnTo>
                  <a:pt x="42862" y="164306"/>
                </a:lnTo>
                <a:close/>
                <a:moveTo>
                  <a:pt x="71438" y="141074"/>
                </a:moveTo>
                <a:lnTo>
                  <a:pt x="71438" y="85725"/>
                </a:lnTo>
                <a:lnTo>
                  <a:pt x="100012" y="85725"/>
                </a:lnTo>
                <a:lnTo>
                  <a:pt x="100012" y="141074"/>
                </a:lnTo>
                <a:cubicBezTo>
                  <a:pt x="124661" y="134730"/>
                  <a:pt x="142875" y="112355"/>
                  <a:pt x="142875" y="85725"/>
                </a:cubicBezTo>
                <a:cubicBezTo>
                  <a:pt x="142875" y="54162"/>
                  <a:pt x="117288" y="28575"/>
                  <a:pt x="85725" y="28575"/>
                </a:cubicBezTo>
                <a:cubicBezTo>
                  <a:pt x="54162" y="28575"/>
                  <a:pt x="28575" y="54162"/>
                  <a:pt x="28575" y="85725"/>
                </a:cubicBezTo>
                <a:cubicBezTo>
                  <a:pt x="28575" y="112355"/>
                  <a:pt x="46788" y="134730"/>
                  <a:pt x="71438" y="141074"/>
                </a:cubicBezTo>
                <a:close/>
              </a:path>
            </a:pathLst>
          </a:custGeom>
          <a:solidFill>
            <a:srgbClr val="2ECC71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7413308" y="5691664"/>
            <a:ext cx="17921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2ECC71"/>
                </a:solidFill>
                <a:latin typeface="Space Grotesk"/>
                <a:ea typeface="Microsoft YaHei"/>
                <a:cs typeface="Space Grotesk"/>
              </a:rPr>
              <a:t>优化方向与解决方案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227820" y="5732145"/>
            <a:ext cx="6932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ECC71">
                    <a:alpha val="40000"/>
                  </a:srgbClr>
                </a:solidFill>
                <a:latin typeface="Space Grotesk"/>
                <a:ea typeface="Microsoft YaHei"/>
                <a:cs typeface="Space Grotesk"/>
              </a:rPr>
              <a:t>SOLUTIONS</a:t>
            </a:r>
          </a:p>
        </p:txBody>
      </p:sp>
      <p:sp>
        <p:nvSpPr>
          <p:cNvPr id="76" name="Freeform 76"/>
          <p:cNvSpPr/>
          <p:nvPr/>
        </p:nvSpPr>
        <p:spPr>
          <a:xfrm>
            <a:off x="6896100" y="61150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41419"/>
          </a:solidFill>
          <a:ln w="9525">
            <a:solidFill>
              <a:srgbClr val="2ECC71">
                <a:alpha val="12000"/>
              </a:srgbClr>
            </a:solidFill>
          </a:ln>
        </p:spPr>
      </p:sp>
      <p:sp>
        <p:nvSpPr>
          <p:cNvPr id="77" name="Freeform 77"/>
          <p:cNvSpPr/>
          <p:nvPr/>
        </p:nvSpPr>
        <p:spPr>
          <a:xfrm>
            <a:off x="6896100" y="61150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ECC71">
              <a:alpha val="2000"/>
            </a:srgbClr>
          </a:solidFill>
          <a:ln>
            <a:noFill/>
          </a:ln>
        </p:spPr>
      </p:sp>
      <p:sp>
        <p:nvSpPr>
          <p:cNvPr id="78" name="Freeform 78"/>
          <p:cNvSpPr/>
          <p:nvPr/>
        </p:nvSpPr>
        <p:spPr>
          <a:xfrm>
            <a:off x="7048500" y="624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7150" y="0"/>
                </a:moveTo>
                <a:lnTo>
                  <a:pt x="247650" y="0"/>
                </a:lnTo>
                <a:cubicBezTo>
                  <a:pt x="279213" y="0"/>
                  <a:pt x="304800" y="25587"/>
                  <a:pt x="304800" y="57150"/>
                </a:cubicBezTo>
                <a:lnTo>
                  <a:pt x="304800" y="247650"/>
                </a:lnTo>
                <a:cubicBezTo>
                  <a:pt x="304800" y="279213"/>
                  <a:pt x="279213" y="304800"/>
                  <a:pt x="24765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C71">
              <a:alpha val="12000"/>
            </a:srgbClr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7119131" y="634460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CC71"/>
                </a:solidFill>
                <a:latin typeface="Space Grotesk"/>
                <a:ea typeface="Microsoft YaHei"/>
                <a:cs typeface="Space Grotesk"/>
              </a:rPr>
              <a:t>01</a:t>
            </a:r>
          </a:p>
        </p:txBody>
      </p:sp>
      <p:sp>
        <p:nvSpPr>
          <p:cNvPr id="80" name="Freeform 80"/>
          <p:cNvSpPr/>
          <p:nvPr/>
        </p:nvSpPr>
        <p:spPr>
          <a:xfrm>
            <a:off x="7481888" y="6281738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85725" y="0"/>
                </a:moveTo>
                <a:lnTo>
                  <a:pt x="0" y="0"/>
                </a:lnTo>
                <a:lnTo>
                  <a:pt x="0" y="85725"/>
                </a:lnTo>
                <a:lnTo>
                  <a:pt x="85725" y="85725"/>
                </a:lnTo>
                <a:lnTo>
                  <a:pt x="85725" y="0"/>
                </a:lnTo>
                <a:close/>
                <a:moveTo>
                  <a:pt x="85725" y="114300"/>
                </a:moveTo>
                <a:lnTo>
                  <a:pt x="0" y="114300"/>
                </a:lnTo>
                <a:lnTo>
                  <a:pt x="0" y="200025"/>
                </a:lnTo>
                <a:lnTo>
                  <a:pt x="85725" y="200025"/>
                </a:lnTo>
                <a:lnTo>
                  <a:pt x="85725" y="114300"/>
                </a:lnTo>
                <a:close/>
                <a:moveTo>
                  <a:pt x="114300" y="0"/>
                </a:moveTo>
                <a:lnTo>
                  <a:pt x="200025" y="0"/>
                </a:lnTo>
                <a:lnTo>
                  <a:pt x="200025" y="85725"/>
                </a:lnTo>
                <a:lnTo>
                  <a:pt x="114300" y="85725"/>
                </a:lnTo>
                <a:lnTo>
                  <a:pt x="114300" y="0"/>
                </a:lnTo>
                <a:close/>
                <a:moveTo>
                  <a:pt x="200025" y="114300"/>
                </a:moveTo>
                <a:lnTo>
                  <a:pt x="114300" y="114300"/>
                </a:lnTo>
                <a:lnTo>
                  <a:pt x="114300" y="200025"/>
                </a:lnTo>
                <a:lnTo>
                  <a:pt x="200025" y="200025"/>
                </a:lnTo>
                <a:lnTo>
                  <a:pt x="200025" y="114300"/>
                </a:lnTo>
                <a:close/>
              </a:path>
            </a:pathLst>
          </a:custGeom>
          <a:solidFill>
            <a:srgbClr val="2ECC71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7776210" y="63093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重构品类结构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112318" y="6619399"/>
            <a:ext cx="22177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将下装 SKU 占比提升至 30%-40%，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112318" y="6809899"/>
            <a:ext cx="26876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打造 "上下装联动" 搭配款，提升客单价。</a:t>
            </a:r>
          </a:p>
        </p:txBody>
      </p:sp>
      <p:sp>
        <p:nvSpPr>
          <p:cNvPr id="84" name="Freeform 84"/>
          <p:cNvSpPr/>
          <p:nvPr/>
        </p:nvSpPr>
        <p:spPr>
          <a:xfrm>
            <a:off x="12496800" y="61150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41419"/>
          </a:solidFill>
          <a:ln w="9525">
            <a:solidFill>
              <a:srgbClr val="2ECC71">
                <a:alpha val="12000"/>
              </a:srgbClr>
            </a:solidFill>
          </a:ln>
        </p:spPr>
      </p:sp>
      <p:sp>
        <p:nvSpPr>
          <p:cNvPr id="85" name="Freeform 85"/>
          <p:cNvSpPr/>
          <p:nvPr/>
        </p:nvSpPr>
        <p:spPr>
          <a:xfrm>
            <a:off x="12496800" y="61150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ECC71">
              <a:alpha val="2000"/>
            </a:srgbClr>
          </a:solidFill>
          <a:ln>
            <a:noFill/>
          </a:ln>
        </p:spPr>
      </p:sp>
      <p:sp>
        <p:nvSpPr>
          <p:cNvPr id="86" name="Freeform 86"/>
          <p:cNvSpPr/>
          <p:nvPr/>
        </p:nvSpPr>
        <p:spPr>
          <a:xfrm>
            <a:off x="12649200" y="624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7150" y="0"/>
                </a:moveTo>
                <a:lnTo>
                  <a:pt x="247650" y="0"/>
                </a:lnTo>
                <a:cubicBezTo>
                  <a:pt x="279213" y="0"/>
                  <a:pt x="304800" y="25587"/>
                  <a:pt x="304800" y="57150"/>
                </a:cubicBezTo>
                <a:lnTo>
                  <a:pt x="304800" y="247650"/>
                </a:lnTo>
                <a:cubicBezTo>
                  <a:pt x="304800" y="279213"/>
                  <a:pt x="279213" y="304800"/>
                  <a:pt x="24765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C71">
              <a:alpha val="12000"/>
            </a:srgbClr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12699704" y="63446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CC71"/>
                </a:solidFill>
                <a:latin typeface="Space Grotesk"/>
                <a:ea typeface="Microsoft YaHei"/>
                <a:cs typeface="Space Grotesk"/>
              </a:rPr>
              <a:t>02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13068300" y="6267450"/>
            <a:ext cx="228600" cy="228600"/>
            <a:chOff x="13068300" y="6267450"/>
            <a:chExt cx="228600" cy="228600"/>
          </a:xfrm>
        </p:grpSpPr>
        <p:sp>
          <p:nvSpPr>
            <p:cNvPr id="88" name="Freeform 88"/>
            <p:cNvSpPr/>
            <p:nvPr/>
          </p:nvSpPr>
          <p:spPr>
            <a:xfrm>
              <a:off x="13168312" y="6367462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14288" y="28575"/>
                  </a:moveTo>
                  <a:cubicBezTo>
                    <a:pt x="22178" y="28575"/>
                    <a:pt x="28575" y="22178"/>
                    <a:pt x="28575" y="14288"/>
                  </a:cubicBezTo>
                  <a:cubicBezTo>
                    <a:pt x="28575" y="6397"/>
                    <a:pt x="22178" y="0"/>
                    <a:pt x="14288" y="0"/>
                  </a:cubicBezTo>
                  <a:cubicBezTo>
                    <a:pt x="6397" y="0"/>
                    <a:pt x="0" y="6397"/>
                    <a:pt x="0" y="14288"/>
                  </a:cubicBezTo>
                  <a:cubicBezTo>
                    <a:pt x="0" y="22178"/>
                    <a:pt x="6397" y="28575"/>
                    <a:pt x="14288" y="28575"/>
                  </a:cubicBezTo>
                  <a:close/>
                </a:path>
              </a:pathLst>
            </a:custGeom>
            <a:solidFill>
              <a:srgbClr val="2ECC71"/>
            </a:solidFill>
            <a:ln>
              <a:noFill/>
            </a:ln>
          </p:spPr>
        </p:sp>
        <p:sp>
          <p:nvSpPr>
            <p:cNvPr id="89" name="Freeform 89"/>
            <p:cNvSpPr/>
            <p:nvPr/>
          </p:nvSpPr>
          <p:spPr>
            <a:xfrm>
              <a:off x="13068300" y="62674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114300"/>
                  </a:move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ubicBezTo>
                    <a:pt x="177426" y="0"/>
                    <a:pt x="228600" y="51174"/>
                    <a:pt x="228600" y="114300"/>
                  </a:cubicBezTo>
                  <a:close/>
                  <a:moveTo>
                    <a:pt x="85725" y="85725"/>
                  </a:moveTo>
                  <a:lnTo>
                    <a:pt x="57150" y="157162"/>
                  </a:lnTo>
                  <a:lnTo>
                    <a:pt x="71438" y="171450"/>
                  </a:lnTo>
                  <a:lnTo>
                    <a:pt x="142875" y="142875"/>
                  </a:lnTo>
                  <a:lnTo>
                    <a:pt x="171450" y="71438"/>
                  </a:lnTo>
                  <a:lnTo>
                    <a:pt x="157162" y="57150"/>
                  </a:lnTo>
                  <a:lnTo>
                    <a:pt x="85725" y="85725"/>
                  </a:lnTo>
                  <a:close/>
                </a:path>
              </a:pathLst>
            </a:custGeom>
            <a:solidFill>
              <a:srgbClr val="2ECC71"/>
            </a:solidFill>
            <a:ln>
              <a:noFill/>
            </a:ln>
          </p:spPr>
        </p:sp>
      </p:grpSp>
      <p:sp>
        <p:nvSpPr>
          <p:cNvPr id="91" name="TextBox 91"/>
          <p:cNvSpPr txBox="1"/>
          <p:nvPr/>
        </p:nvSpPr>
        <p:spPr>
          <a:xfrm>
            <a:off x="13376910" y="63093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对齐市场风格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2713018" y="6619399"/>
            <a:ext cx="25025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转向 "实用硬核工装"，引入重磅帆布、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2713018" y="6809899"/>
            <a:ext cx="18759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加固缝线等核心面料与工艺。</a:t>
            </a:r>
          </a:p>
        </p:txBody>
      </p:sp>
      <p:sp>
        <p:nvSpPr>
          <p:cNvPr id="94" name="Freeform 94"/>
          <p:cNvSpPr/>
          <p:nvPr/>
        </p:nvSpPr>
        <p:spPr>
          <a:xfrm>
            <a:off x="6896100" y="75247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41419"/>
          </a:solidFill>
          <a:ln w="9525">
            <a:solidFill>
              <a:srgbClr val="2ECC71">
                <a:alpha val="12000"/>
              </a:srgbClr>
            </a:solidFill>
          </a:ln>
        </p:spPr>
      </p:sp>
      <p:sp>
        <p:nvSpPr>
          <p:cNvPr id="95" name="Freeform 95"/>
          <p:cNvSpPr/>
          <p:nvPr/>
        </p:nvSpPr>
        <p:spPr>
          <a:xfrm>
            <a:off x="6896100" y="75247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ECC71">
              <a:alpha val="2000"/>
            </a:srgbClr>
          </a:solidFill>
          <a:ln>
            <a:noFill/>
          </a:ln>
        </p:spPr>
      </p:sp>
      <p:sp>
        <p:nvSpPr>
          <p:cNvPr id="96" name="Freeform 96"/>
          <p:cNvSpPr/>
          <p:nvPr/>
        </p:nvSpPr>
        <p:spPr>
          <a:xfrm>
            <a:off x="7048500" y="7658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7150" y="0"/>
                </a:moveTo>
                <a:lnTo>
                  <a:pt x="247650" y="0"/>
                </a:lnTo>
                <a:cubicBezTo>
                  <a:pt x="279213" y="0"/>
                  <a:pt x="304800" y="25587"/>
                  <a:pt x="304800" y="57150"/>
                </a:cubicBezTo>
                <a:lnTo>
                  <a:pt x="304800" y="247650"/>
                </a:lnTo>
                <a:cubicBezTo>
                  <a:pt x="304800" y="279213"/>
                  <a:pt x="279213" y="304800"/>
                  <a:pt x="24765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C71">
              <a:alpha val="12000"/>
            </a:srgbClr>
          </a:solidFill>
          <a:ln>
            <a:noFill/>
          </a:ln>
        </p:spPr>
      </p:sp>
      <p:sp>
        <p:nvSpPr>
          <p:cNvPr id="97" name="TextBox 97"/>
          <p:cNvSpPr txBox="1"/>
          <p:nvPr/>
        </p:nvSpPr>
        <p:spPr>
          <a:xfrm>
            <a:off x="7099004" y="77543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CC71"/>
                </a:solidFill>
                <a:latin typeface="Space Grotesk"/>
                <a:ea typeface="Microsoft YaHei"/>
                <a:cs typeface="Space Grotesk"/>
              </a:rPr>
              <a:t>03</a:t>
            </a:r>
          </a:p>
        </p:txBody>
      </p:sp>
      <p:sp>
        <p:nvSpPr>
          <p:cNvPr id="98" name="Freeform 98"/>
          <p:cNvSpPr/>
          <p:nvPr/>
        </p:nvSpPr>
        <p:spPr>
          <a:xfrm>
            <a:off x="7496175" y="76771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00012" y="100012"/>
                </a:moveTo>
                <a:lnTo>
                  <a:pt x="114300" y="0"/>
                </a:lnTo>
                <a:lnTo>
                  <a:pt x="85725" y="0"/>
                </a:lnTo>
                <a:lnTo>
                  <a:pt x="0" y="100012"/>
                </a:lnTo>
                <a:lnTo>
                  <a:pt x="0" y="128588"/>
                </a:lnTo>
                <a:lnTo>
                  <a:pt x="71438" y="128588"/>
                </a:lnTo>
                <a:lnTo>
                  <a:pt x="57150" y="228600"/>
                </a:lnTo>
                <a:lnTo>
                  <a:pt x="85725" y="228600"/>
                </a:lnTo>
                <a:lnTo>
                  <a:pt x="171450" y="128588"/>
                </a:lnTo>
                <a:lnTo>
                  <a:pt x="171450" y="100012"/>
                </a:lnTo>
                <a:lnTo>
                  <a:pt x="100012" y="100012"/>
                </a:lnTo>
                <a:close/>
              </a:path>
            </a:pathLst>
          </a:custGeom>
          <a:solidFill>
            <a:srgbClr val="2ECC71"/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7776210" y="77190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覆盖全场景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7112318" y="802909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开发全季节、多场景款式（如加绒、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7112318" y="821959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防泼、战术系列），强化功能属性。</a:t>
            </a:r>
          </a:p>
        </p:txBody>
      </p:sp>
      <p:sp>
        <p:nvSpPr>
          <p:cNvPr id="102" name="Freeform 102"/>
          <p:cNvSpPr/>
          <p:nvPr/>
        </p:nvSpPr>
        <p:spPr>
          <a:xfrm>
            <a:off x="12496800" y="75247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141419"/>
          </a:solidFill>
          <a:ln w="9525">
            <a:solidFill>
              <a:srgbClr val="2ECC71">
                <a:alpha val="12000"/>
              </a:srgbClr>
            </a:solidFill>
          </a:ln>
        </p:spPr>
      </p:sp>
      <p:sp>
        <p:nvSpPr>
          <p:cNvPr id="103" name="Freeform 103"/>
          <p:cNvSpPr/>
          <p:nvPr/>
        </p:nvSpPr>
        <p:spPr>
          <a:xfrm>
            <a:off x="12496800" y="7524750"/>
            <a:ext cx="5219700" cy="1238250"/>
          </a:xfrm>
          <a:custGeom>
            <a:avLst/>
            <a:gdLst/>
            <a:ahLst/>
            <a:cxnLst/>
            <a:rect l="l" t="t" r="r" b="b"/>
            <a:pathLst>
              <a:path w="5219700" h="1238250">
                <a:moveTo>
                  <a:pt x="95250" y="0"/>
                </a:moveTo>
                <a:lnTo>
                  <a:pt x="5124450" y="0"/>
                </a:lnTo>
                <a:cubicBezTo>
                  <a:pt x="5177055" y="0"/>
                  <a:pt x="5219700" y="42645"/>
                  <a:pt x="5219700" y="95250"/>
                </a:cubicBezTo>
                <a:lnTo>
                  <a:pt x="5219700" y="1143000"/>
                </a:lnTo>
                <a:cubicBezTo>
                  <a:pt x="5219700" y="1195605"/>
                  <a:pt x="5177055" y="1238250"/>
                  <a:pt x="51244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ECC71">
              <a:alpha val="2000"/>
            </a:srgbClr>
          </a:solidFill>
          <a:ln>
            <a:noFill/>
          </a:ln>
        </p:spPr>
      </p:sp>
      <p:sp>
        <p:nvSpPr>
          <p:cNvPr id="104" name="Freeform 104"/>
          <p:cNvSpPr/>
          <p:nvPr/>
        </p:nvSpPr>
        <p:spPr>
          <a:xfrm>
            <a:off x="12649200" y="7658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7150" y="0"/>
                </a:moveTo>
                <a:lnTo>
                  <a:pt x="247650" y="0"/>
                </a:lnTo>
                <a:cubicBezTo>
                  <a:pt x="279213" y="0"/>
                  <a:pt x="304800" y="25587"/>
                  <a:pt x="304800" y="57150"/>
                </a:cubicBezTo>
                <a:lnTo>
                  <a:pt x="304800" y="247650"/>
                </a:lnTo>
                <a:cubicBezTo>
                  <a:pt x="304800" y="279213"/>
                  <a:pt x="279213" y="304800"/>
                  <a:pt x="247650" y="304800"/>
                </a:cubicBezTo>
                <a:lnTo>
                  <a:pt x="57150" y="304800"/>
                </a:lnTo>
                <a:cubicBezTo>
                  <a:pt x="25587" y="304800"/>
                  <a:pt x="0" y="279213"/>
                  <a:pt x="0" y="2476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ECC71">
              <a:alpha val="12000"/>
            </a:srgbClr>
          </a:solidFill>
          <a:ln>
            <a:noFill/>
          </a:ln>
        </p:spPr>
      </p:sp>
      <p:sp>
        <p:nvSpPr>
          <p:cNvPr id="105" name="TextBox 105"/>
          <p:cNvSpPr txBox="1"/>
          <p:nvPr/>
        </p:nvSpPr>
        <p:spPr>
          <a:xfrm>
            <a:off x="12699704" y="77543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CC71"/>
                </a:solidFill>
                <a:latin typeface="Space Grotesk"/>
                <a:ea typeface="Microsoft YaHei"/>
                <a:cs typeface="Space Grotesk"/>
              </a:rPr>
              <a:t>04</a:t>
            </a:r>
          </a:p>
        </p:txBody>
      </p:sp>
      <p:sp>
        <p:nvSpPr>
          <p:cNvPr id="106" name="Freeform 106"/>
          <p:cNvSpPr/>
          <p:nvPr/>
        </p:nvSpPr>
        <p:spPr>
          <a:xfrm>
            <a:off x="13069479" y="7677150"/>
            <a:ext cx="226242" cy="215168"/>
          </a:xfrm>
          <a:custGeom>
            <a:avLst/>
            <a:gdLst/>
            <a:ahLst/>
            <a:cxnLst/>
            <a:rect l="l" t="t" r="r" b="b"/>
            <a:pathLst>
              <a:path w="226242" h="215168">
                <a:moveTo>
                  <a:pt x="127409" y="0"/>
                </a:moveTo>
                <a:lnTo>
                  <a:pt x="98834" y="0"/>
                </a:lnTo>
                <a:lnTo>
                  <a:pt x="77587" y="65391"/>
                </a:lnTo>
                <a:lnTo>
                  <a:pt x="8830" y="65391"/>
                </a:lnTo>
                <a:lnTo>
                  <a:pt x="0" y="92568"/>
                </a:lnTo>
                <a:lnTo>
                  <a:pt x="55625" y="132982"/>
                </a:lnTo>
                <a:lnTo>
                  <a:pt x="34379" y="198372"/>
                </a:lnTo>
                <a:lnTo>
                  <a:pt x="57496" y="215168"/>
                </a:lnTo>
                <a:lnTo>
                  <a:pt x="113121" y="174755"/>
                </a:lnTo>
                <a:lnTo>
                  <a:pt x="168747" y="215168"/>
                </a:lnTo>
                <a:lnTo>
                  <a:pt x="191864" y="198372"/>
                </a:lnTo>
                <a:lnTo>
                  <a:pt x="170617" y="132981"/>
                </a:lnTo>
                <a:lnTo>
                  <a:pt x="226242" y="92568"/>
                </a:lnTo>
                <a:lnTo>
                  <a:pt x="217411" y="65391"/>
                </a:lnTo>
                <a:lnTo>
                  <a:pt x="148655" y="65391"/>
                </a:lnTo>
                <a:lnTo>
                  <a:pt x="127409" y="0"/>
                </a:lnTo>
                <a:close/>
              </a:path>
            </a:pathLst>
          </a:custGeom>
          <a:solidFill>
            <a:srgbClr val="2ECC71"/>
          </a:solidFill>
          <a:ln>
            <a:noFill/>
          </a:ln>
        </p:spPr>
      </p:sp>
      <p:sp>
        <p:nvSpPr>
          <p:cNvPr id="107" name="TextBox 107"/>
          <p:cNvSpPr txBox="1"/>
          <p:nvPr/>
        </p:nvSpPr>
        <p:spPr>
          <a:xfrm>
            <a:off x="13376910" y="771906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F5F7"/>
                </a:solidFill>
                <a:latin typeface="Space Grotesk"/>
                <a:ea typeface="Microsoft YaHei"/>
                <a:cs typeface="Space Grotesk"/>
              </a:rPr>
              <a:t>打造差异化爆款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2713018" y="8029099"/>
            <a:ext cx="24455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聚焦工装衬衫、加绒系列、战术系列等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2713018" y="821959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高潜力款，打造记忆点。</a:t>
            </a:r>
          </a:p>
        </p:txBody>
      </p:sp>
      <p:sp>
        <p:nvSpPr>
          <p:cNvPr id="110" name="Freeform 110"/>
          <p:cNvSpPr/>
          <p:nvPr/>
        </p:nvSpPr>
        <p:spPr>
          <a:xfrm>
            <a:off x="6896100" y="9029700"/>
            <a:ext cx="10820400" cy="533400"/>
          </a:xfrm>
          <a:custGeom>
            <a:avLst/>
            <a:gdLst/>
            <a:ahLst/>
            <a:cxnLst/>
            <a:rect l="l" t="t" r="r" b="b"/>
            <a:pathLst>
              <a:path w="10820400" h="533400">
                <a:moveTo>
                  <a:pt x="95250" y="0"/>
                </a:moveTo>
                <a:lnTo>
                  <a:pt x="10725150" y="0"/>
                </a:lnTo>
                <a:cubicBezTo>
                  <a:pt x="10777755" y="0"/>
                  <a:pt x="10820400" y="42645"/>
                  <a:pt x="10820400" y="95250"/>
                </a:cubicBezTo>
                <a:lnTo>
                  <a:pt x="10820400" y="438150"/>
                </a:lnTo>
                <a:cubicBezTo>
                  <a:pt x="10820400" y="490755"/>
                  <a:pt x="10777755" y="533400"/>
                  <a:pt x="10725150" y="533400"/>
                </a:cubicBezTo>
                <a:lnTo>
                  <a:pt x="95250" y="533400"/>
                </a:lnTo>
                <a:cubicBezTo>
                  <a:pt x="42645" y="533400"/>
                  <a:pt x="0" y="490755"/>
                  <a:pt x="0" y="4381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C9A962">
              <a:alpha val="5000"/>
            </a:srgbClr>
          </a:solidFill>
          <a:ln w="9525">
            <a:solidFill>
              <a:srgbClr val="C9A962">
                <a:alpha val="15000"/>
              </a:srgbClr>
            </a:solidFill>
          </a:ln>
        </p:spPr>
      </p:sp>
      <p:sp>
        <p:nvSpPr>
          <p:cNvPr id="111" name="Freeform 111"/>
          <p:cNvSpPr/>
          <p:nvPr/>
        </p:nvSpPr>
        <p:spPr>
          <a:xfrm>
            <a:off x="6896100" y="9029700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14350"/>
                </a:lnTo>
                <a:cubicBezTo>
                  <a:pt x="38100" y="524871"/>
                  <a:pt x="29571" y="533400"/>
                  <a:pt x="19050" y="533400"/>
                </a:cubicBezTo>
                <a:lnTo>
                  <a:pt x="19050" y="533400"/>
                </a:lnTo>
                <a:cubicBezTo>
                  <a:pt x="8529" y="533400"/>
                  <a:pt x="0" y="524871"/>
                  <a:pt x="0" y="5143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112" name="Freeform 112"/>
          <p:cNvSpPr/>
          <p:nvPr/>
        </p:nvSpPr>
        <p:spPr>
          <a:xfrm>
            <a:off x="7090785" y="9224962"/>
            <a:ext cx="224415" cy="138690"/>
          </a:xfrm>
          <a:custGeom>
            <a:avLst/>
            <a:gdLst/>
            <a:ahLst/>
            <a:cxnLst/>
            <a:rect l="l" t="t" r="r" b="b"/>
            <a:pathLst>
              <a:path w="224415" h="138690">
                <a:moveTo>
                  <a:pt x="138690" y="0"/>
                </a:moveTo>
                <a:lnTo>
                  <a:pt x="124403" y="14288"/>
                </a:lnTo>
                <a:lnTo>
                  <a:pt x="157162" y="47047"/>
                </a:lnTo>
                <a:lnTo>
                  <a:pt x="117259" y="86951"/>
                </a:lnTo>
                <a:lnTo>
                  <a:pt x="74396" y="44088"/>
                </a:lnTo>
                <a:lnTo>
                  <a:pt x="0" y="118485"/>
                </a:lnTo>
                <a:lnTo>
                  <a:pt x="20206" y="138690"/>
                </a:lnTo>
                <a:lnTo>
                  <a:pt x="74396" y="84499"/>
                </a:lnTo>
                <a:lnTo>
                  <a:pt x="117259" y="127362"/>
                </a:lnTo>
                <a:lnTo>
                  <a:pt x="177368" y="67253"/>
                </a:lnTo>
                <a:lnTo>
                  <a:pt x="210128" y="100012"/>
                </a:lnTo>
                <a:lnTo>
                  <a:pt x="224415" y="85725"/>
                </a:lnTo>
                <a:lnTo>
                  <a:pt x="224415" y="0"/>
                </a:lnTo>
                <a:lnTo>
                  <a:pt x="138690" y="0"/>
                </a:lnTo>
                <a:close/>
              </a:path>
            </a:pathLst>
          </a:custGeom>
          <a:solidFill>
            <a:srgbClr val="C9A962"/>
          </a:solidFill>
          <a:ln>
            <a:noFill/>
          </a:ln>
        </p:spPr>
      </p:sp>
      <p:sp>
        <p:nvSpPr>
          <p:cNvPr id="113" name="TextBox 113"/>
          <p:cNvSpPr txBox="1"/>
          <p:nvPr/>
        </p:nvSpPr>
        <p:spPr>
          <a:xfrm>
            <a:off x="7417118" y="91530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C9A962"/>
                </a:solidFill>
                <a:latin typeface="Space Grotesk"/>
                <a:ea typeface="Microsoft YaHei"/>
                <a:cs typeface="Space Grotesk"/>
              </a:rPr>
              <a:t>核心策略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7416165" y="9354502"/>
            <a:ext cx="25416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F5F7"/>
                </a:solidFill>
                <a:latin typeface="Inter"/>
                <a:ea typeface="Microsoft YaHei"/>
                <a:cs typeface="Inter"/>
              </a:rPr>
              <a:t>从 "轻工装" 向 "硬核实用工装" 转型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0464165" y="9354502"/>
            <a:ext cx="3162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9A962"/>
                </a:solidFill>
                <a:latin typeface="Space Grotesk"/>
                <a:ea typeface="Microsoft YaHei"/>
                <a:cs typeface="Space Grotesk"/>
              </a:rPr>
              <a:t>品类重构 × 风格对齐 × 场景覆盖 × 差异化爆款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5717917" y="9912191"/>
            <a:ext cx="20090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E6E73"/>
                </a:solidFill>
                <a:latin typeface="Inter"/>
                <a:ea typeface="Microsoft YaHei"/>
                <a:cs typeface="Inter"/>
              </a:rPr>
              <a:t>内部策略评审 · 我司老品分析 · 2026</a:t>
            </a:r>
          </a:p>
        </p:txBody>
      </p:sp>
    </p:spTree>
  </p:cSld>
  <p:clrMapOvr>
    <a:masterClrMapping/>
  </p:clrMapOvr>
  <p:transition 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0A0F"/>
              </a:gs>
              <a:gs pos="100000">
                <a:srgbClr val="141419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464663" y="2213610"/>
            <a:ext cx="326267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gradFill>
                  <a:gsLst>
                    <a:gs pos="0">
                      <a:srgbClr val="C9A962"/>
                    </a:gs>
                    <a:gs pos="100000">
                      <a:srgbClr val="E0C882"/>
                    </a:gs>
                  </a:gsLst>
                  <a:lin ang="2700000" scaled="1"/>
                </a:gradFill>
                <a:latin typeface="Space Grotesk"/>
                <a:ea typeface="Microsoft YaHei"/>
                <a:cs typeface="Space Grotesk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15016" y="3013710"/>
            <a:ext cx="35619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E6E73"/>
                </a:solidFill>
                <a:latin typeface="Inter"/>
                <a:ea typeface="Microsoft YaHei"/>
                <a:cs typeface="Inter"/>
              </a:rPr>
              <a:t>亚马逊美国站 · 男休闲工装服装市场深度分析</a:t>
            </a:r>
          </a:p>
        </p:txBody>
      </p:sp>
      <p:sp>
        <p:nvSpPr>
          <p:cNvPr id="6" name="Line 6"/>
          <p:cNvSpPr/>
          <p:nvPr/>
        </p:nvSpPr>
        <p:spPr>
          <a:xfrm>
            <a:off x="5143500" y="34290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2A2A35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776758" y="3704749"/>
            <a:ext cx="46384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6868B"/>
                </a:solidFill>
                <a:latin typeface="Inter"/>
                <a:ea typeface="Microsoft YaHei"/>
                <a:cs typeface="Inter"/>
              </a:rPr>
              <a:t>市场现状 → 产品设计DNA → 视觉呈现 → 消费者洞察 → 竞争格局 → 入局战略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178618" y="4363402"/>
            <a:ext cx="3834765" cy="903923"/>
            <a:chOff x="4178618" y="4363402"/>
            <a:chExt cx="3834765" cy="903923"/>
          </a:xfrm>
        </p:grpSpPr>
        <p:sp>
          <p:nvSpPr>
            <p:cNvPr id="8" name="TextBox 8"/>
            <p:cNvSpPr txBox="1"/>
            <p:nvPr/>
          </p:nvSpPr>
          <p:spPr>
            <a:xfrm>
              <a:off x="5760625" y="43634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9A962"/>
                  </a:solidFill>
                  <a:latin typeface="Space Grotesk"/>
                  <a:ea typeface="Microsoft YaHei"/>
                  <a:cs typeface="Space Grotesk"/>
                </a:rPr>
                <a:t>核心结论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78618" y="4665345"/>
              <a:ext cx="38347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男休闲工装市场处于成长期后期，巴恩风潮流带来结构性增长机会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95048" y="4874895"/>
              <a:ext cx="38019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中端价格带$35-65 + 面料科技差异化 + 视觉升级 = 最佳入局策略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22244" y="5084445"/>
              <a:ext cx="29475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6868B"/>
                  </a:solidFill>
                  <a:latin typeface="Inter"/>
                  <a:ea typeface="Microsoft YaHei"/>
                  <a:cs typeface="Inter"/>
                </a:rPr>
                <a:t>窗口期2025-2026 · 品牌化运营 · 供应链壁垒构建</a:t>
              </a:r>
            </a:p>
          </p:txBody>
        </p:sp>
      </p:grpSp>
      <p:sp>
        <p:nvSpPr>
          <p:cNvPr id="13" name="Rectangle 1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C9A962"/>
              </a:gs>
              <a:gs pos="100000">
                <a:srgbClr val="E0C882"/>
              </a:gs>
            </a:gsLst>
            <a:lin ang="270000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